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02" r:id="rId2"/>
    <p:sldId id="303" r:id="rId3"/>
    <p:sldId id="304" r:id="rId4"/>
    <p:sldId id="306" r:id="rId5"/>
    <p:sldId id="307" r:id="rId6"/>
    <p:sldId id="308" r:id="rId7"/>
    <p:sldId id="309" r:id="rId8"/>
    <p:sldId id="311" r:id="rId9"/>
    <p:sldId id="310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0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0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9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0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9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33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83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9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8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02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2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9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DC872-0E0F-4B71-97B1-1CA7CAEBA243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raspberrypi.com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1301-DF23-EDC5-AA59-0048FD9A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B2DAE7-B487-80C9-452C-30917B35A51F}"/>
              </a:ext>
            </a:extLst>
          </p:cNvPr>
          <p:cNvSpPr/>
          <p:nvPr/>
        </p:nvSpPr>
        <p:spPr>
          <a:xfrm>
            <a:off x="0" y="0"/>
            <a:ext cx="12192000" cy="32004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6600" b="1" dirty="0"/>
              <a:t>Linux Programming</a:t>
            </a:r>
            <a:endParaRPr lang="en-US" altLang="ko-KR" sz="4800" b="1" dirty="0"/>
          </a:p>
          <a:p>
            <a:pPr algn="ctr"/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</a:rPr>
              <a:t>1. </a:t>
            </a:r>
            <a:r>
              <a:rPr lang="ko-KR" altLang="en-US" sz="4800" b="1" dirty="0">
                <a:solidFill>
                  <a:schemeClr val="bg1">
                    <a:lumMod val="85000"/>
                  </a:schemeClr>
                </a:solidFill>
              </a:rPr>
              <a:t>개발환경 구축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0CBAB-261B-204C-8A19-A024BE86B2B3}"/>
              </a:ext>
            </a:extLst>
          </p:cNvPr>
          <p:cNvSpPr txBox="1"/>
          <p:nvPr/>
        </p:nvSpPr>
        <p:spPr>
          <a:xfrm>
            <a:off x="5061117" y="4325227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학년 공통 선택 과정</a:t>
            </a:r>
          </a:p>
        </p:txBody>
      </p:sp>
    </p:spTree>
    <p:extLst>
      <p:ext uri="{BB962C8B-B14F-4D97-AF65-F5344CB8AC3E}">
        <p14:creationId xmlns:p14="http://schemas.microsoft.com/office/powerpoint/2010/main" val="404511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5483-6FF1-EB22-80BB-541D163D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CF16B01-DB72-42E4-74D2-6E952DB272E7}"/>
              </a:ext>
            </a:extLst>
          </p:cNvPr>
          <p:cNvSpPr/>
          <p:nvPr/>
        </p:nvSpPr>
        <p:spPr>
          <a:xfrm>
            <a:off x="0" y="0"/>
            <a:ext cx="12192000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개발환경 구축 순서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92531-084E-9FD1-2E8C-4CE3E29AD39F}"/>
              </a:ext>
            </a:extLst>
          </p:cNvPr>
          <p:cNvSpPr txBox="1"/>
          <p:nvPr/>
        </p:nvSpPr>
        <p:spPr>
          <a:xfrm>
            <a:off x="325574" y="1018572"/>
            <a:ext cx="5770426" cy="208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4000"/>
              </a:lnSpc>
              <a:buAutoNum type="arabicPeriod"/>
            </a:pPr>
            <a:r>
              <a:rPr lang="en-US" altLang="ko-KR" sz="2400" dirty="0">
                <a:latin typeface="+mn-ea"/>
              </a:rPr>
              <a:t>Raspberry Pi Imager OS </a:t>
            </a:r>
            <a:r>
              <a:rPr lang="ko-KR" altLang="en-US" sz="2400" dirty="0">
                <a:latin typeface="+mn-ea"/>
              </a:rPr>
              <a:t>굽기</a:t>
            </a:r>
            <a:endParaRPr lang="en-US" altLang="ko-KR" sz="2400" dirty="0">
              <a:latin typeface="+mn-ea"/>
            </a:endParaRPr>
          </a:p>
          <a:p>
            <a:pPr marL="342900" indent="-342900">
              <a:lnSpc>
                <a:spcPts val="4000"/>
              </a:lnSpc>
              <a:buAutoNum type="arabicPeriod"/>
            </a:pPr>
            <a:r>
              <a:rPr lang="en-US" altLang="ko-KR" sz="2400" dirty="0">
                <a:latin typeface="+mn-ea"/>
              </a:rPr>
              <a:t>microSD Card </a:t>
            </a:r>
            <a:r>
              <a:rPr lang="ko-KR" altLang="en-US" sz="2400" dirty="0">
                <a:latin typeface="+mn-ea"/>
              </a:rPr>
              <a:t>삽입 및 초기 환경 설정</a:t>
            </a:r>
            <a:endParaRPr lang="en-US" altLang="ko-KR" sz="2400" dirty="0">
              <a:latin typeface="+mn-ea"/>
            </a:endParaRPr>
          </a:p>
          <a:p>
            <a:pPr marL="342900" indent="-342900">
              <a:lnSpc>
                <a:spcPts val="4000"/>
              </a:lnSpc>
              <a:buAutoNum type="arabicPeriod"/>
            </a:pPr>
            <a:r>
              <a:rPr lang="ko-KR" altLang="en-US" sz="2400" dirty="0">
                <a:latin typeface="+mn-ea"/>
              </a:rPr>
              <a:t>리눅스 명령어</a:t>
            </a:r>
            <a:endParaRPr lang="en-US" altLang="ko-KR" sz="2400" dirty="0">
              <a:latin typeface="+mn-ea"/>
            </a:endParaRPr>
          </a:p>
          <a:p>
            <a:pPr marL="342900" indent="-342900">
              <a:lnSpc>
                <a:spcPts val="4000"/>
              </a:lnSpc>
              <a:buAutoNum type="arabicPeriod"/>
            </a:pPr>
            <a:r>
              <a:rPr lang="en-US" altLang="ko-KR" sz="2400" dirty="0">
                <a:latin typeface="+mn-ea"/>
              </a:rPr>
              <a:t>VS Code, ssh </a:t>
            </a:r>
            <a:r>
              <a:rPr lang="ko-KR" altLang="en-US" sz="2400" dirty="0">
                <a:latin typeface="+mn-ea"/>
              </a:rPr>
              <a:t>원격 개발 환경 구축</a:t>
            </a:r>
          </a:p>
        </p:txBody>
      </p:sp>
    </p:spTree>
    <p:extLst>
      <p:ext uri="{BB962C8B-B14F-4D97-AF65-F5344CB8AC3E}">
        <p14:creationId xmlns:p14="http://schemas.microsoft.com/office/powerpoint/2010/main" val="214284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F7C9-66EB-D3CF-D1DD-A1F2BE03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5E183349-AE70-244C-758F-45C9602DA320}"/>
              </a:ext>
            </a:extLst>
          </p:cNvPr>
          <p:cNvGrpSpPr/>
          <p:nvPr/>
        </p:nvGrpSpPr>
        <p:grpSpPr>
          <a:xfrm>
            <a:off x="2125889" y="4436824"/>
            <a:ext cx="989373" cy="900617"/>
            <a:chOff x="871670" y="2040700"/>
            <a:chExt cx="989373" cy="9006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4EB309D-34E0-DF61-261F-30BD74083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3248428">
              <a:off x="931234" y="2040700"/>
              <a:ext cx="870246" cy="81833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4B1669-3B14-CA02-EE59-E9B3D9162523}"/>
                </a:ext>
              </a:extLst>
            </p:cNvPr>
            <p:cNvSpPr txBox="1"/>
            <p:nvPr/>
          </p:nvSpPr>
          <p:spPr>
            <a:xfrm>
              <a:off x="871670" y="2664318"/>
              <a:ext cx="9893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온습도 센서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EC7B039E-A4CD-680C-D738-D2574FFBE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569450" y="3402761"/>
            <a:ext cx="472426" cy="393688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D513AF-E523-8F0F-74AA-42BE9F328718}"/>
              </a:ext>
            </a:extLst>
          </p:cNvPr>
          <p:cNvCxnSpPr>
            <a:cxnSpLocks/>
          </p:cNvCxnSpPr>
          <p:nvPr/>
        </p:nvCxnSpPr>
        <p:spPr>
          <a:xfrm>
            <a:off x="3009467" y="3429538"/>
            <a:ext cx="80400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D32B61-E957-3B22-5818-98EA244684E8}"/>
              </a:ext>
            </a:extLst>
          </p:cNvPr>
          <p:cNvSpPr txBox="1"/>
          <p:nvPr/>
        </p:nvSpPr>
        <p:spPr>
          <a:xfrm>
            <a:off x="3009467" y="3446155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2060"/>
                </a:solidFill>
                <a:latin typeface="+mn-ea"/>
              </a:rPr>
              <a:t>GPIO/LED</a:t>
            </a:r>
            <a:endParaRPr lang="ko-KR" altLang="en-US" sz="1200" b="1" dirty="0">
              <a:solidFill>
                <a:srgbClr val="002060"/>
              </a:solidFill>
              <a:latin typeface="+mn-ea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D315440-21EF-D6AE-E110-AC42A44829C3}"/>
              </a:ext>
            </a:extLst>
          </p:cNvPr>
          <p:cNvCxnSpPr>
            <a:cxnSpLocks/>
          </p:cNvCxnSpPr>
          <p:nvPr/>
        </p:nvCxnSpPr>
        <p:spPr>
          <a:xfrm>
            <a:off x="3009467" y="3747177"/>
            <a:ext cx="80400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88D2FFA-08EE-C2D3-BADD-E224243FCEEB}"/>
              </a:ext>
            </a:extLst>
          </p:cNvPr>
          <p:cNvCxnSpPr>
            <a:cxnSpLocks/>
          </p:cNvCxnSpPr>
          <p:nvPr/>
        </p:nvCxnSpPr>
        <p:spPr>
          <a:xfrm>
            <a:off x="3053589" y="4870588"/>
            <a:ext cx="804005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FEF251C-5DFE-5532-F4FB-1B46283EF434}"/>
              </a:ext>
            </a:extLst>
          </p:cNvPr>
          <p:cNvSpPr txBox="1"/>
          <p:nvPr/>
        </p:nvSpPr>
        <p:spPr>
          <a:xfrm>
            <a:off x="3205472" y="4644389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2060"/>
                </a:solidFill>
                <a:latin typeface="+mn-ea"/>
              </a:rPr>
              <a:t>I2C</a:t>
            </a:r>
            <a:endParaRPr lang="ko-KR" altLang="en-US" sz="1200" b="1" dirty="0">
              <a:solidFill>
                <a:srgbClr val="002060"/>
              </a:solidFill>
              <a:latin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4299105-ABE1-4503-D891-E8BBC77F7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011" y="4048200"/>
            <a:ext cx="440994" cy="3693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D6C28C4-7206-66E6-6BEC-9E80983BE5D4}"/>
              </a:ext>
            </a:extLst>
          </p:cNvPr>
          <p:cNvSpPr txBox="1"/>
          <p:nvPr/>
        </p:nvSpPr>
        <p:spPr>
          <a:xfrm>
            <a:off x="3002525" y="4042335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2060"/>
                </a:solidFill>
                <a:latin typeface="+mn-ea"/>
              </a:rPr>
              <a:t>GPIO/SW</a:t>
            </a:r>
            <a:endParaRPr lang="ko-KR" altLang="en-US" sz="1200" b="1" dirty="0">
              <a:solidFill>
                <a:srgbClr val="002060"/>
              </a:solidFill>
              <a:latin typeface="+mn-ea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0FD55A6-5EDB-135C-04D4-0C808000A3B9}"/>
              </a:ext>
            </a:extLst>
          </p:cNvPr>
          <p:cNvCxnSpPr>
            <a:cxnSpLocks/>
          </p:cNvCxnSpPr>
          <p:nvPr/>
        </p:nvCxnSpPr>
        <p:spPr>
          <a:xfrm>
            <a:off x="3043682" y="4278694"/>
            <a:ext cx="80400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그림 80">
            <a:extLst>
              <a:ext uri="{FF2B5EF4-FFF2-40B4-BE49-F238E27FC236}">
                <a16:creationId xmlns:a16="http://schemas.microsoft.com/office/drawing/2014/main" id="{0C8BAFBA-B181-1307-69E4-71ED1C273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301434" y="2942256"/>
            <a:ext cx="2865962" cy="177345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5C6B3A3-64A8-0473-A043-327F60AFA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469" y="1064127"/>
            <a:ext cx="2914133" cy="8266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2B29385-D4DD-F421-71BA-A4DBB74DC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033" y="4689544"/>
            <a:ext cx="861213" cy="786325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BE8520F9-1A41-5BDB-E1A9-8C3E0B9BBA3F}"/>
              </a:ext>
            </a:extLst>
          </p:cNvPr>
          <p:cNvGrpSpPr/>
          <p:nvPr/>
        </p:nvGrpSpPr>
        <p:grpSpPr>
          <a:xfrm>
            <a:off x="8565637" y="4595667"/>
            <a:ext cx="1786660" cy="1188130"/>
            <a:chOff x="3614630" y="4129754"/>
            <a:chExt cx="1786660" cy="1188130"/>
          </a:xfrm>
        </p:grpSpPr>
        <p:pic>
          <p:nvPicPr>
            <p:cNvPr id="4" name="Picture 6" descr="삼성전자, 갤럭시 북 3종·노트북 플러스 2 출시 - 전자부품 전문 미디어 디일렉">
              <a:extLst>
                <a:ext uri="{FF2B5EF4-FFF2-40B4-BE49-F238E27FC236}">
                  <a16:creationId xmlns:a16="http://schemas.microsoft.com/office/drawing/2014/main" id="{02B29017-6A69-45DE-FA58-EB38A4340C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4630" y="4129754"/>
              <a:ext cx="1786660" cy="1188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40303622-5616-7190-B332-CDE8882AC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8778" y="4185890"/>
              <a:ext cx="1223728" cy="733586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E30C4573-5402-4EE4-D9C8-993D70E1CEB2}"/>
              </a:ext>
            </a:extLst>
          </p:cNvPr>
          <p:cNvSpPr txBox="1"/>
          <p:nvPr/>
        </p:nvSpPr>
        <p:spPr>
          <a:xfrm>
            <a:off x="5966750" y="4785424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WiFi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63D8FA0-CD35-3F08-FBD0-794530966265}"/>
              </a:ext>
            </a:extLst>
          </p:cNvPr>
          <p:cNvCxnSpPr>
            <a:cxnSpLocks/>
          </p:cNvCxnSpPr>
          <p:nvPr/>
        </p:nvCxnSpPr>
        <p:spPr>
          <a:xfrm>
            <a:off x="5966750" y="5093201"/>
            <a:ext cx="488648" cy="257"/>
          </a:xfrm>
          <a:prstGeom prst="straightConnector1">
            <a:avLst/>
          </a:prstGeom>
          <a:ln w="31750" cmpd="dbl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E49D7C9-DCB3-D2C2-78E5-66B16C63BA63}"/>
              </a:ext>
            </a:extLst>
          </p:cNvPr>
          <p:cNvSpPr txBox="1"/>
          <p:nvPr/>
        </p:nvSpPr>
        <p:spPr>
          <a:xfrm>
            <a:off x="7968760" y="4735211"/>
            <a:ext cx="460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SSH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4594E2B-F615-F13F-445F-73C0821D4F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0697" y="2063320"/>
            <a:ext cx="1366680" cy="1223538"/>
          </a:xfrm>
          <a:prstGeom prst="rect">
            <a:avLst/>
          </a:prstGeom>
        </p:spPr>
      </p:pic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201771E8-4ACB-7443-CABD-B2DD13F927FD}"/>
              </a:ext>
            </a:extLst>
          </p:cNvPr>
          <p:cNvCxnSpPr>
            <a:cxnSpLocks/>
          </p:cNvCxnSpPr>
          <p:nvPr/>
        </p:nvCxnSpPr>
        <p:spPr>
          <a:xfrm>
            <a:off x="7794707" y="5076936"/>
            <a:ext cx="775861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0FFE27-35BF-B0E9-1D83-1AD3190E5417}"/>
              </a:ext>
            </a:extLst>
          </p:cNvPr>
          <p:cNvSpPr/>
          <p:nvPr/>
        </p:nvSpPr>
        <p:spPr>
          <a:xfrm>
            <a:off x="0" y="0"/>
            <a:ext cx="12192000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실습 환경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C963C61-EC72-4A5A-D6D8-B15CAB865F38}"/>
              </a:ext>
            </a:extLst>
          </p:cNvPr>
          <p:cNvCxnSpPr>
            <a:cxnSpLocks/>
          </p:cNvCxnSpPr>
          <p:nvPr/>
        </p:nvCxnSpPr>
        <p:spPr>
          <a:xfrm>
            <a:off x="4659609" y="1971796"/>
            <a:ext cx="0" cy="42420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381F80-2532-4A79-D0A4-19C4436BD04A}"/>
              </a:ext>
            </a:extLst>
          </p:cNvPr>
          <p:cNvSpPr txBox="1"/>
          <p:nvPr/>
        </p:nvSpPr>
        <p:spPr>
          <a:xfrm>
            <a:off x="4156119" y="2010091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USB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39EA444-BDE6-C0A2-571C-685D092394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5808566" y="3717857"/>
            <a:ext cx="297784" cy="6840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E798DFC-AFDC-128C-9C52-569CC91AE537}"/>
              </a:ext>
            </a:extLst>
          </p:cNvPr>
          <p:cNvSpPr txBox="1"/>
          <p:nvPr/>
        </p:nvSpPr>
        <p:spPr>
          <a:xfrm>
            <a:off x="5679999" y="3526293"/>
            <a:ext cx="653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2060"/>
                </a:solidFill>
                <a:latin typeface="+mn-ea"/>
              </a:rPr>
              <a:t>micro </a:t>
            </a:r>
          </a:p>
          <a:p>
            <a:r>
              <a:rPr lang="en-US" altLang="ko-KR" sz="1200" b="1" dirty="0">
                <a:solidFill>
                  <a:srgbClr val="002060"/>
                </a:solidFill>
                <a:latin typeface="+mn-ea"/>
              </a:rPr>
              <a:t>HDMI</a:t>
            </a:r>
            <a:endParaRPr lang="ko-KR" altLang="en-US" sz="1200" b="1" dirty="0">
              <a:solidFill>
                <a:srgbClr val="002060"/>
              </a:solidFill>
              <a:latin typeface="+mn-ea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D707820-2665-FEBA-BD3A-324670CC08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7382525" y="2310289"/>
            <a:ext cx="430607" cy="88147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488CAC2-A25D-9D3A-8BCA-CCCE37891879}"/>
              </a:ext>
            </a:extLst>
          </p:cNvPr>
          <p:cNvSpPr txBox="1"/>
          <p:nvPr/>
        </p:nvSpPr>
        <p:spPr>
          <a:xfrm>
            <a:off x="7216640" y="222477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2060"/>
                </a:solidFill>
                <a:latin typeface="+mn-ea"/>
              </a:rPr>
              <a:t>HDMI</a:t>
            </a:r>
            <a:endParaRPr lang="ko-KR" altLang="en-US" sz="1200" b="1" dirty="0">
              <a:solidFill>
                <a:srgbClr val="002060"/>
              </a:solidFill>
              <a:latin typeface="+mn-ea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1BBA6A34-A529-6390-85E1-B38CCF735D99}"/>
              </a:ext>
            </a:extLst>
          </p:cNvPr>
          <p:cNvCxnSpPr>
            <a:cxnSpLocks/>
            <a:stCxn id="22" idx="2"/>
          </p:cNvCxnSpPr>
          <p:nvPr/>
        </p:nvCxnSpPr>
        <p:spPr>
          <a:xfrm rot="10800000" flipV="1">
            <a:off x="6638572" y="2751028"/>
            <a:ext cx="518519" cy="1308877"/>
          </a:xfrm>
          <a:prstGeom prst="bentConnector2">
            <a:avLst/>
          </a:prstGeom>
          <a:ln w="66675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B7F0C0A-39C1-AF95-A833-510722398AC5}"/>
              </a:ext>
            </a:extLst>
          </p:cNvPr>
          <p:cNvCxnSpPr>
            <a:stCxn id="15" idx="2"/>
          </p:cNvCxnSpPr>
          <p:nvPr/>
        </p:nvCxnSpPr>
        <p:spPr>
          <a:xfrm flipV="1">
            <a:off x="6299508" y="4059906"/>
            <a:ext cx="339063" cy="1"/>
          </a:xfrm>
          <a:prstGeom prst="line">
            <a:avLst/>
          </a:prstGeom>
          <a:ln w="63500" cmpd="dbl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955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AB68-0F96-BE6E-8790-37B9CEDE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046DF2C-D456-73FB-F770-C379F7DA9EF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실습 환경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A3383-AC0A-AB07-4E9E-4B51463A33AF}"/>
              </a:ext>
            </a:extLst>
          </p:cNvPr>
          <p:cNvSpPr txBox="1"/>
          <p:nvPr/>
        </p:nvSpPr>
        <p:spPr>
          <a:xfrm>
            <a:off x="630820" y="136475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ea"/>
                <a:hlinkClick r:id="rId2"/>
              </a:rPr>
              <a:t>Raspberry Pi</a:t>
            </a:r>
            <a:endParaRPr lang="ko-KR" altLang="en-US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F34A1-AB36-5E34-81EE-277ACD1C2B6C}"/>
              </a:ext>
            </a:extLst>
          </p:cNvPr>
          <p:cNvSpPr txBox="1"/>
          <p:nvPr/>
        </p:nvSpPr>
        <p:spPr>
          <a:xfrm>
            <a:off x="393539" y="995423"/>
            <a:ext cx="395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1. Raspberry Pi OS(64bit) Download</a:t>
            </a:r>
            <a:endParaRPr lang="ko-KR" altLang="en-US" dirty="0">
              <a:latin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3FA69BD-7F92-9012-DDEE-3E40BEAD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4" y="1915407"/>
            <a:ext cx="10652567" cy="3577838"/>
          </a:xfrm>
          <a:prstGeom prst="rect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B54F3471-9AB1-D143-5A9C-6B98AFD647EA}"/>
              </a:ext>
            </a:extLst>
          </p:cNvPr>
          <p:cNvSpPr/>
          <p:nvPr/>
        </p:nvSpPr>
        <p:spPr>
          <a:xfrm>
            <a:off x="9896354" y="2407534"/>
            <a:ext cx="277793" cy="28936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89750D-EFED-EAFB-5C6B-3199E5265C0E}"/>
              </a:ext>
            </a:extLst>
          </p:cNvPr>
          <p:cNvSpPr/>
          <p:nvPr/>
        </p:nvSpPr>
        <p:spPr>
          <a:xfrm>
            <a:off x="3789058" y="-3715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8" indent="-3429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Raspberry Pi OS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2008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3107-A7FC-242D-B91F-0DDC222F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3285F98-1121-59E5-12DE-FF525A1671B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실습 환경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8F2DC-41EF-033A-2840-FB81D86A2C36}"/>
              </a:ext>
            </a:extLst>
          </p:cNvPr>
          <p:cNvSpPr txBox="1"/>
          <p:nvPr/>
        </p:nvSpPr>
        <p:spPr>
          <a:xfrm>
            <a:off x="393539" y="771903"/>
            <a:ext cx="2573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2. Raspberry Pi Imager</a:t>
            </a:r>
            <a:endParaRPr lang="ko-KR" altLang="en-US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1B7B79-E5B3-85A3-DDBF-DA6EE468D833}"/>
              </a:ext>
            </a:extLst>
          </p:cNvPr>
          <p:cNvSpPr/>
          <p:nvPr/>
        </p:nvSpPr>
        <p:spPr>
          <a:xfrm>
            <a:off x="3789058" y="-3715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8" indent="-3429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Raspberry Pi OS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0462E8-228C-458E-5FA0-B264F2B8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44" y="1281542"/>
            <a:ext cx="5167536" cy="21203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A5C0FA-4639-E901-1D32-1698FFDF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2" y="1281542"/>
            <a:ext cx="4790242" cy="14778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A8E43B2-FC17-A7F0-29CD-0574AE27FB79}"/>
              </a:ext>
            </a:extLst>
          </p:cNvPr>
          <p:cNvSpPr/>
          <p:nvPr/>
        </p:nvSpPr>
        <p:spPr>
          <a:xfrm>
            <a:off x="6096000" y="1717040"/>
            <a:ext cx="162560" cy="631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6A68F4B-6FBF-E987-DB05-E90169375CF8}"/>
              </a:ext>
            </a:extLst>
          </p:cNvPr>
          <p:cNvSpPr/>
          <p:nvPr/>
        </p:nvSpPr>
        <p:spPr>
          <a:xfrm rot="5400000">
            <a:off x="7514699" y="2066781"/>
            <a:ext cx="335112" cy="22859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A95EE1A-C14A-6C34-3519-981945E5F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44" y="3627119"/>
            <a:ext cx="3743435" cy="30681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34F4E294-EE94-5D8F-6EB8-6210BDC00106}"/>
              </a:ext>
            </a:extLst>
          </p:cNvPr>
          <p:cNvSpPr/>
          <p:nvPr/>
        </p:nvSpPr>
        <p:spPr>
          <a:xfrm rot="5400000">
            <a:off x="1042779" y="3597122"/>
            <a:ext cx="335112" cy="22859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205200E-6090-D5B3-F174-8D56D412D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911" y="3636749"/>
            <a:ext cx="3664449" cy="301375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C742BBF-EAA0-023F-D545-134C7D2D2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5040" y="3627119"/>
            <a:ext cx="3483961" cy="1168401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366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FCA8-293D-0C7B-C317-DF3C6FBB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DFBAC87-6C7D-E833-0E19-BC879A0BCFD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실습 환경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891A5B-C50F-49F4-0CF7-1B9457A2B90C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2288" indent="-3429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Raspberry Pi  </a:t>
            </a:r>
            <a:r>
              <a:rPr lang="ko-KR" altLang="en-US" sz="2000" b="1" dirty="0"/>
              <a:t>개발 환경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19ECA3-AD73-AB5B-75EE-F2F54473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8" y="956590"/>
            <a:ext cx="4579478" cy="41030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D4981F-E7D1-C347-1B0D-A81F5CDE5A5A}"/>
              </a:ext>
            </a:extLst>
          </p:cNvPr>
          <p:cNvSpPr txBox="1"/>
          <p:nvPr/>
        </p:nvSpPr>
        <p:spPr>
          <a:xfrm>
            <a:off x="4948758" y="840768"/>
            <a:ext cx="2571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putty</a:t>
            </a:r>
            <a:r>
              <a:rPr lang="ko-KR" altLang="en-US" dirty="0"/>
              <a:t> 연결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가상 환경 설치 </a:t>
            </a:r>
            <a:r>
              <a:rPr lang="en-US" altLang="ko-KR" dirty="0"/>
              <a:t>: </a:t>
            </a:r>
            <a:r>
              <a:rPr lang="en-US" altLang="ko-KR" dirty="0" err="1"/>
              <a:t>venv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87C47F-C300-A15C-4D0F-57D3AD02BCAD}"/>
              </a:ext>
            </a:extLst>
          </p:cNvPr>
          <p:cNvSpPr txBox="1"/>
          <p:nvPr/>
        </p:nvSpPr>
        <p:spPr>
          <a:xfrm>
            <a:off x="4907280" y="1562298"/>
            <a:ext cx="6685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sudo apt update</a:t>
            </a:r>
          </a:p>
          <a:p>
            <a:r>
              <a:rPr lang="en-US" altLang="ko-KR" dirty="0"/>
              <a:t>sudo apt full-upgrade</a:t>
            </a:r>
          </a:p>
          <a:p>
            <a:r>
              <a:rPr lang="en-US" altLang="ko-KR" dirty="0"/>
              <a:t>sudo apt install -y python3-venv python3-pip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DAEA7C3-17AB-94A0-CEC9-A700C30C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758" y="2602706"/>
            <a:ext cx="6602324" cy="16525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638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E998-77D9-D7C8-C1CB-9C80F242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03A58A0-3662-5B90-02BA-42268D3773A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실습 환경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0E3BF3-3F80-0090-6B17-2717BC2C2D08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가상 환경 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8AC454-F331-63AC-95F9-927FA118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25" y="1268330"/>
            <a:ext cx="7811590" cy="117173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F5AB1E-0306-B743-6865-65FD84884687}"/>
              </a:ext>
            </a:extLst>
          </p:cNvPr>
          <p:cNvSpPr txBox="1"/>
          <p:nvPr/>
        </p:nvSpPr>
        <p:spPr>
          <a:xfrm flipH="1">
            <a:off x="290285" y="848198"/>
            <a:ext cx="3337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폴더 내용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D1DC8-52B4-F025-7F73-308E1A97666F}"/>
              </a:ext>
            </a:extLst>
          </p:cNvPr>
          <p:cNvSpPr txBox="1"/>
          <p:nvPr/>
        </p:nvSpPr>
        <p:spPr>
          <a:xfrm flipH="1">
            <a:off x="310605" y="2707471"/>
            <a:ext cx="3337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work </a:t>
            </a:r>
            <a:r>
              <a:rPr lang="ko-KR" altLang="en-US" dirty="0"/>
              <a:t>폴더 생성 </a:t>
            </a:r>
            <a:r>
              <a:rPr lang="en-US" altLang="ko-KR" dirty="0"/>
              <a:t>: </a:t>
            </a:r>
            <a:r>
              <a:rPr lang="en-US" altLang="ko-KR" dirty="0" err="1"/>
              <a:t>mkdir</a:t>
            </a:r>
            <a:r>
              <a:rPr lang="en-US" altLang="ko-KR" dirty="0"/>
              <a:t> work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135896-A706-0150-7861-8A03E1570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84" y="3076802"/>
            <a:ext cx="5999785" cy="1341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B387DC-A12F-0628-FD0A-B19F0B00AF58}"/>
              </a:ext>
            </a:extLst>
          </p:cNvPr>
          <p:cNvSpPr txBox="1"/>
          <p:nvPr/>
        </p:nvSpPr>
        <p:spPr>
          <a:xfrm flipH="1">
            <a:off x="290285" y="4566743"/>
            <a:ext cx="813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python3.11</a:t>
            </a:r>
            <a:r>
              <a:rPr lang="ko-KR" altLang="en-US" dirty="0"/>
              <a:t> 버전으로 가상환경 만들기 </a:t>
            </a:r>
            <a:r>
              <a:rPr lang="en-US" altLang="ko-KR" dirty="0"/>
              <a:t>:  python3.11 -m </a:t>
            </a:r>
            <a:r>
              <a:rPr lang="en-US" altLang="ko-KR" dirty="0" err="1"/>
              <a:t>venv</a:t>
            </a:r>
            <a:r>
              <a:rPr lang="en-US" altLang="ko-KR" dirty="0"/>
              <a:t> .</a:t>
            </a:r>
            <a:r>
              <a:rPr lang="en-US" altLang="ko-KR" dirty="0" err="1"/>
              <a:t>venv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27A72D3-C3C8-82CB-43DD-0E532341C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93" y="4976714"/>
            <a:ext cx="3841807" cy="1200565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3854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8027B-10CD-6622-3BBD-2176FA2E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B8BCF29-8100-0B16-7AFA-B25C1C7D424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실습 환경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99EDBA-701A-808B-913E-705484D7D39E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가상 환경 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73B5AF-EDF6-DE72-FC41-2BE9DE48370D}"/>
              </a:ext>
            </a:extLst>
          </p:cNvPr>
          <p:cNvSpPr txBox="1"/>
          <p:nvPr/>
        </p:nvSpPr>
        <p:spPr>
          <a:xfrm flipH="1">
            <a:off x="290285" y="848198"/>
            <a:ext cx="3337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가상환경 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8BE4D6-5A77-1E57-E15A-5A1323F8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08" y="1852031"/>
            <a:ext cx="6687483" cy="180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732013-9003-4745-D051-D09DD62A6122}"/>
              </a:ext>
            </a:extLst>
          </p:cNvPr>
          <p:cNvSpPr txBox="1"/>
          <p:nvPr/>
        </p:nvSpPr>
        <p:spPr>
          <a:xfrm>
            <a:off x="538908" y="1205700"/>
            <a:ext cx="2558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source .</a:t>
            </a:r>
            <a:r>
              <a:rPr lang="en-US" altLang="ko-KR" dirty="0" err="1"/>
              <a:t>venv</a:t>
            </a:r>
            <a:r>
              <a:rPr lang="en-US" altLang="ko-KR" dirty="0"/>
              <a:t>/bin/activate</a:t>
            </a:r>
          </a:p>
          <a:p>
            <a:r>
              <a:rPr lang="en-US" altLang="ko-KR" dirty="0"/>
              <a:t>deactivate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30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FDCF-7AF7-FCD8-0E9F-F4F6F6C8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0940FF2-ED9B-05A8-4358-545E721CCE2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리눅스 명령어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868EAB-4E9D-6684-A1AD-4E738536865F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파일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디렉토리 관련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C03A567-C988-2425-6772-36DF9B744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93527"/>
              </p:ext>
            </p:extLst>
          </p:nvPr>
        </p:nvGraphicFramePr>
        <p:xfrm>
          <a:off x="446729" y="912654"/>
          <a:ext cx="10515600" cy="468957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0391">
                  <a:extLst>
                    <a:ext uri="{9D8B030D-6E8A-4147-A177-3AD203B41FA5}">
                      <a16:colId xmlns:a16="http://schemas.microsoft.com/office/drawing/2014/main" val="220936529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1765637"/>
                    </a:ext>
                  </a:extLst>
                </a:gridCol>
                <a:gridCol w="3233109">
                  <a:extLst>
                    <a:ext uri="{9D8B030D-6E8A-4147-A177-3AD203B41FA5}">
                      <a16:colId xmlns:a16="http://schemas.microsoft.com/office/drawing/2014/main" val="26869321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7572290"/>
                    </a:ext>
                  </a:extLst>
                </a:gridCol>
              </a:tblGrid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용도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자주 쓰는 옵션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예시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24081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pwd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현재 경로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pwd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228950"/>
                  </a:ext>
                </a:extLst>
              </a:tr>
              <a:tr h="769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파일 목록 보기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-a</a:t>
                      </a:r>
                      <a:r>
                        <a:rPr lang="ko-KR" altLang="en-US" dirty="0"/>
                        <a:t> 숨김 파일 보기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altLang="ko-KR" dirty="0"/>
                        <a:t>-l</a:t>
                      </a:r>
                      <a:r>
                        <a:rPr lang="ko-KR" altLang="en-US" dirty="0"/>
                        <a:t> 자세히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ls -la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089344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디렉터리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  </a:t>
                      </a:r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cd ~/projects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98751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mkdir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디렉터리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-p </a:t>
                      </a:r>
                      <a:r>
                        <a:rPr lang="ko-KR" altLang="en-US"/>
                        <a:t>상위까지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mkdir -p data/raw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742331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폴더 복사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-r </a:t>
                      </a:r>
                      <a:r>
                        <a:rPr lang="ko-KR" altLang="en-US" dirty="0"/>
                        <a:t>폴더와 모든 내용 복사</a:t>
                      </a:r>
                      <a:endParaRPr lang="en-US" altLang="ko-KR" dirty="0"/>
                    </a:p>
                    <a:p>
                      <a:pPr>
                        <a:buNone/>
                      </a:pPr>
                      <a:r>
                        <a:rPr lang="en-US" altLang="ko-KR" dirty="0"/>
                        <a:t>-</a:t>
                      </a:r>
                      <a:r>
                        <a:rPr lang="en-US" dirty="0"/>
                        <a:t>a </a:t>
                      </a:r>
                      <a:r>
                        <a:rPr lang="ko-KR" altLang="en-US" dirty="0"/>
                        <a:t>속성 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 -a src/ dst/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834447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파일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폴더 이동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이름변경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mv app.py app.old.py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10595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-r </a:t>
                      </a:r>
                      <a:r>
                        <a:rPr lang="ko-KR" altLang="en-US" dirty="0"/>
                        <a:t>하위 내용 포함 폴더 삭제</a:t>
                      </a:r>
                      <a:endParaRPr lang="en-US" altLang="ko-KR" dirty="0"/>
                    </a:p>
                    <a:p>
                      <a:pPr>
                        <a:buNone/>
                      </a:pPr>
                      <a:r>
                        <a:rPr lang="en-US" altLang="ko-KR" dirty="0"/>
                        <a:t>-</a:t>
                      </a:r>
                      <a:r>
                        <a:rPr lang="en-US" dirty="0"/>
                        <a:t>f </a:t>
                      </a:r>
                      <a:r>
                        <a:rPr lang="ko-KR" altLang="en-US" dirty="0"/>
                        <a:t>강제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묻지 않음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 -rf build/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908987"/>
                  </a:ext>
                </a:extLst>
              </a:tr>
              <a:tr h="43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트리 구조로 보기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-L </a:t>
                      </a:r>
                      <a:r>
                        <a:rPr lang="ko-KR" altLang="en-US"/>
                        <a:t>깊이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tree -L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553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304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E4E8-2D06-DF7B-3262-20CB5DF1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1098AF3-957B-1154-B63A-DBAC2F97407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리눅스 명령어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20795D-5231-F4E6-E653-9C415E3257BF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파일 내용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검색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726BD88-23FD-1F03-177B-81D3FF6BA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678988"/>
              </p:ext>
            </p:extLst>
          </p:nvPr>
        </p:nvGraphicFramePr>
        <p:xfrm>
          <a:off x="259449" y="909714"/>
          <a:ext cx="11012080" cy="47697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53020">
                  <a:extLst>
                    <a:ext uri="{9D8B030D-6E8A-4147-A177-3AD203B41FA5}">
                      <a16:colId xmlns:a16="http://schemas.microsoft.com/office/drawing/2014/main" val="2744779815"/>
                    </a:ext>
                  </a:extLst>
                </a:gridCol>
                <a:gridCol w="2753020">
                  <a:extLst>
                    <a:ext uri="{9D8B030D-6E8A-4147-A177-3AD203B41FA5}">
                      <a16:colId xmlns:a16="http://schemas.microsoft.com/office/drawing/2014/main" val="1626302170"/>
                    </a:ext>
                  </a:extLst>
                </a:gridCol>
                <a:gridCol w="2753020">
                  <a:extLst>
                    <a:ext uri="{9D8B030D-6E8A-4147-A177-3AD203B41FA5}">
                      <a16:colId xmlns:a16="http://schemas.microsoft.com/office/drawing/2014/main" val="506785700"/>
                    </a:ext>
                  </a:extLst>
                </a:gridCol>
                <a:gridCol w="2753020">
                  <a:extLst>
                    <a:ext uri="{9D8B030D-6E8A-4147-A177-3AD203B41FA5}">
                      <a16:colId xmlns:a16="http://schemas.microsoft.com/office/drawing/2014/main" val="1833027346"/>
                    </a:ext>
                  </a:extLst>
                </a:gridCol>
              </a:tblGrid>
              <a:tr h="374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>
                          <a:latin typeface="+mn-ea"/>
                          <a:ea typeface="+mn-ea"/>
                        </a:rPr>
                        <a:t>명령어</a:t>
                      </a:r>
                    </a:p>
                  </a:txBody>
                  <a:tcPr marL="85320" marR="85320" marT="42660" marB="4266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marL="85320" marR="85320" marT="42660" marB="4266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>
                          <a:latin typeface="+mn-ea"/>
                          <a:ea typeface="+mn-ea"/>
                        </a:rPr>
                        <a:t>자주 쓰는 옵션</a:t>
                      </a:r>
                    </a:p>
                  </a:txBody>
                  <a:tcPr marL="85320" marR="85320" marT="42660" marB="4266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b="1" dirty="0">
                          <a:latin typeface="+mn-ea"/>
                          <a:ea typeface="+mn-ea"/>
                        </a:rPr>
                        <a:t>예시</a:t>
                      </a:r>
                    </a:p>
                  </a:txBody>
                  <a:tcPr marL="85320" marR="85320" marT="42660" marB="4266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04334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cat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파일 출력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7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cat config.yaml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55724171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less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dirty="0">
                          <a:latin typeface="+mn-ea"/>
                          <a:ea typeface="+mn-ea"/>
                        </a:rPr>
                        <a:t>페이지 단위 보기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-S 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줄바꿈 금지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less -S logs.txt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486559717"/>
                  </a:ext>
                </a:extLst>
              </a:tr>
              <a:tr h="650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head/tail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앞</a:t>
                      </a:r>
                      <a:r>
                        <a:rPr lang="en-US" altLang="ko-KR" sz="17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뒤 </a:t>
                      </a:r>
                      <a:r>
                        <a:rPr lang="en-US" sz="1700">
                          <a:latin typeface="+mn-ea"/>
                          <a:ea typeface="+mn-ea"/>
                        </a:rPr>
                        <a:t>N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줄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-n </a:t>
                      </a:r>
                      <a:r>
                        <a:rPr lang="ko-KR" altLang="en-US" sz="1700" dirty="0" err="1">
                          <a:latin typeface="+mn-ea"/>
                          <a:ea typeface="+mn-ea"/>
                        </a:rPr>
                        <a:t>줄수</a:t>
                      </a:r>
                      <a:endParaRPr lang="en-US" altLang="ko-KR" sz="1700" dirty="0">
                        <a:latin typeface="+mn-ea"/>
                        <a:ea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7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sz="1700" dirty="0">
                          <a:latin typeface="+mn-ea"/>
                          <a:ea typeface="+mn-ea"/>
                        </a:rPr>
                        <a:t>f </a:t>
                      </a:r>
                      <a:r>
                        <a:rPr lang="ko-KR" altLang="en-US" sz="1700" dirty="0">
                          <a:latin typeface="+mn-ea"/>
                          <a:ea typeface="+mn-ea"/>
                        </a:rPr>
                        <a:t>실시간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700">
                          <a:latin typeface="+mn-ea"/>
                          <a:ea typeface="+mn-ea"/>
                        </a:rPr>
                        <a:t>tail -f /var/log/syslog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013744524"/>
                  </a:ext>
                </a:extLst>
              </a:tr>
              <a:tr h="656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grep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문자열 검색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7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1700" dirty="0" err="1">
                          <a:latin typeface="+mn-ea"/>
                          <a:ea typeface="+mn-ea"/>
                        </a:rPr>
                        <a:t>i</a:t>
                      </a:r>
                      <a:r>
                        <a:rPr lang="ko-KR" altLang="en-US" sz="1700" dirty="0">
                          <a:latin typeface="+mn-ea"/>
                          <a:ea typeface="+mn-ea"/>
                        </a:rPr>
                        <a:t> 대소문자무시</a:t>
                      </a:r>
                      <a:r>
                        <a:rPr lang="en-US" altLang="ko-KR" sz="1700" dirty="0">
                          <a:latin typeface="+mn-ea"/>
                          <a:ea typeface="+mn-ea"/>
                        </a:rPr>
                        <a:t>, -r</a:t>
                      </a:r>
                      <a:r>
                        <a:rPr lang="ko-KR" altLang="en-US" sz="1700" dirty="0">
                          <a:latin typeface="+mn-ea"/>
                          <a:ea typeface="+mn-ea"/>
                        </a:rPr>
                        <a:t> 재귀</a:t>
                      </a:r>
                      <a:r>
                        <a:rPr lang="en-US" altLang="ko-KR" sz="170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700" dirty="0">
                          <a:latin typeface="+mn-ea"/>
                          <a:ea typeface="+mn-ea"/>
                        </a:rPr>
                        <a:t>-n</a:t>
                      </a:r>
                      <a:r>
                        <a:rPr lang="ko-KR" altLang="en-US" sz="17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700" dirty="0" err="1">
                          <a:latin typeface="+mn-ea"/>
                          <a:ea typeface="+mn-ea"/>
                        </a:rPr>
                        <a:t>줄번호</a:t>
                      </a:r>
                      <a:endParaRPr lang="ko-KR" altLang="en-US" sz="1700" dirty="0">
                        <a:latin typeface="+mn-ea"/>
                        <a:ea typeface="+mn-ea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grep -rin "error" .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870430410"/>
                  </a:ext>
                </a:extLst>
              </a:tr>
              <a:tr h="374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wc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7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단어</a:t>
                      </a:r>
                      <a:r>
                        <a:rPr lang="en-US" altLang="ko-KR" sz="17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바이트 수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-l 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줄수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wc -l data.csv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781661255"/>
                  </a:ext>
                </a:extLst>
              </a:tr>
              <a:tr h="650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diff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파일 비교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-u 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통합형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diff -u a.txt b.txt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167400573"/>
                  </a:ext>
                </a:extLst>
              </a:tr>
              <a:tr h="656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sed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스트림 편집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-i 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덮어쓰기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sed -</a:t>
                      </a:r>
                      <a:r>
                        <a:rPr lang="en-US" sz="1700" dirty="0" err="1"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sz="1700" dirty="0">
                          <a:latin typeface="+mn-ea"/>
                          <a:ea typeface="+mn-ea"/>
                        </a:rPr>
                        <a:t> 's/foo/bar/g' </a:t>
                      </a:r>
                      <a:r>
                        <a:rPr lang="en-US" sz="1700" dirty="0" err="1">
                          <a:latin typeface="+mn-ea"/>
                          <a:ea typeface="+mn-ea"/>
                        </a:rPr>
                        <a:t>app.conf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185313513"/>
                  </a:ext>
                </a:extLst>
              </a:tr>
              <a:tr h="656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awk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>
                          <a:latin typeface="+mn-ea"/>
                          <a:ea typeface="+mn-ea"/>
                        </a:rPr>
                        <a:t>컬럼 처리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+mn-ea"/>
                          <a:ea typeface="+mn-ea"/>
                        </a:rPr>
                        <a:t>-F </a:t>
                      </a:r>
                      <a:r>
                        <a:rPr lang="ko-KR" altLang="en-US" sz="1700">
                          <a:latin typeface="+mn-ea"/>
                          <a:ea typeface="+mn-ea"/>
                        </a:rPr>
                        <a:t>구분자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+mn-ea"/>
                          <a:ea typeface="+mn-ea"/>
                        </a:rPr>
                        <a:t>awk -F, '{print $1,$3}' file.csv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43291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251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7AE31-6187-EE14-A9FA-5F522706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A470B08-7F68-768E-B193-C988C9AB452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리눅스 명령어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BF325-1AE5-343A-42BD-BA15583CF732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권한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5F39AF-745C-1271-4477-98A3C5F8B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81879"/>
              </p:ext>
            </p:extLst>
          </p:nvPr>
        </p:nvGraphicFramePr>
        <p:xfrm>
          <a:off x="482600" y="968534"/>
          <a:ext cx="10515600" cy="15172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573805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59892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787907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11075335"/>
                    </a:ext>
                  </a:extLst>
                </a:gridCol>
              </a:tblGrid>
              <a:tr h="505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명령어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용도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자주 쓰는 옵션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예시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618797"/>
                  </a:ext>
                </a:extLst>
              </a:tr>
              <a:tr h="505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chmod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권한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+x </a:t>
                      </a:r>
                      <a:r>
                        <a:rPr lang="ko-KR" altLang="en-US"/>
                        <a:t>실행</a:t>
                      </a:r>
                      <a:r>
                        <a:rPr lang="en-US" altLang="ko-KR"/>
                        <a:t>, -</a:t>
                      </a:r>
                      <a:r>
                        <a:rPr lang="en-US"/>
                        <a:t>R </a:t>
                      </a:r>
                      <a:r>
                        <a:rPr lang="ko-KR" altLang="en-US"/>
                        <a:t>재귀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chmod +x run.sh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069389"/>
                  </a:ext>
                </a:extLst>
              </a:tr>
              <a:tr h="505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소유자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-R </a:t>
                      </a:r>
                      <a:r>
                        <a:rPr lang="ko-KR" altLang="en-US"/>
                        <a:t>재귀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sudo </a:t>
                      </a:r>
                      <a:r>
                        <a:rPr lang="en-US" dirty="0" err="1"/>
                        <a:t>chown</a:t>
                      </a:r>
                      <a:r>
                        <a:rPr lang="en-US" dirty="0"/>
                        <a:t> -R </a:t>
                      </a:r>
                      <a:r>
                        <a:rPr lang="en-US" dirty="0" err="1"/>
                        <a:t>pi:pi</a:t>
                      </a:r>
                      <a:r>
                        <a:rPr lang="en-US" dirty="0"/>
                        <a:t> /data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95485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287EF7-C4B0-F8DE-569C-6559FB258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502106"/>
              </p:ext>
            </p:extLst>
          </p:nvPr>
        </p:nvGraphicFramePr>
        <p:xfrm>
          <a:off x="482600" y="3239294"/>
          <a:ext cx="7929879" cy="134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43293">
                  <a:extLst>
                    <a:ext uri="{9D8B030D-6E8A-4147-A177-3AD203B41FA5}">
                      <a16:colId xmlns:a16="http://schemas.microsoft.com/office/drawing/2014/main" val="2961614433"/>
                    </a:ext>
                  </a:extLst>
                </a:gridCol>
                <a:gridCol w="2643293">
                  <a:extLst>
                    <a:ext uri="{9D8B030D-6E8A-4147-A177-3AD203B41FA5}">
                      <a16:colId xmlns:a16="http://schemas.microsoft.com/office/drawing/2014/main" val="4102632224"/>
                    </a:ext>
                  </a:extLst>
                </a:gridCol>
                <a:gridCol w="2643293">
                  <a:extLst>
                    <a:ext uri="{9D8B030D-6E8A-4147-A177-3AD203B41FA5}">
                      <a16:colId xmlns:a16="http://schemas.microsoft.com/office/drawing/2014/main" val="443454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 err="1">
                          <a:latin typeface="+mn-ea"/>
                          <a:ea typeface="+mn-ea"/>
                        </a:rPr>
                        <a:t>자리수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+mn-ea"/>
                          <a:ea typeface="+mn-ea"/>
                        </a:rPr>
                        <a:t>값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942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첫째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r=4, w=2, x=1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83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>
                          <a:latin typeface="+mn-ea"/>
                          <a:ea typeface="+mn-ea"/>
                        </a:rPr>
                        <a:t>둘째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그룹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r=4, w=2, x=1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644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셋째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dirty="0">
                          <a:latin typeface="+mn-ea"/>
                          <a:ea typeface="+mn-ea"/>
                        </a:rPr>
                        <a:t>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r=4, w=2, x=1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9430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9EF19A-82AA-02DC-2653-FC15172A0A5C}"/>
              </a:ext>
            </a:extLst>
          </p:cNvPr>
          <p:cNvSpPr txBox="1"/>
          <p:nvPr/>
        </p:nvSpPr>
        <p:spPr>
          <a:xfrm>
            <a:off x="385768" y="2822725"/>
            <a:ext cx="322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sudo </a:t>
            </a:r>
            <a:r>
              <a:rPr lang="en-US" altLang="ko-KR" dirty="0" err="1"/>
              <a:t>chmod</a:t>
            </a:r>
            <a:r>
              <a:rPr lang="en-US" altLang="ko-KR" dirty="0"/>
              <a:t>  777 test.py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975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F018-E6CB-B1C8-A94F-6568EF50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A6D7384-CE73-558F-840A-391BCD48311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리눅스 명령어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57EF14-A6F5-F824-8863-101B6F845992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프로세스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서비스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로그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33585BE-A57B-3EAC-E82F-4970DE1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56677"/>
              </p:ext>
            </p:extLst>
          </p:nvPr>
        </p:nvGraphicFramePr>
        <p:xfrm>
          <a:off x="538169" y="1019334"/>
          <a:ext cx="10515600" cy="33494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076512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8767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91621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6861981"/>
                    </a:ext>
                  </a:extLst>
                </a:gridCol>
              </a:tblGrid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/>
                        <a:t>명령어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/>
                        <a:t>용도</a:t>
                      </a:r>
                      <a:endParaRPr lang="ko-KR" altLang="en-US" b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/>
                        <a:t>자주 쓰는 옵션</a:t>
                      </a:r>
                      <a:endParaRPr lang="ko-KR" altLang="en-US" b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0" dirty="0"/>
                        <a:t>예시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119903"/>
                  </a:ext>
                </a:extLst>
              </a:tr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ps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프로세스 조회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aux </a:t>
                      </a:r>
                      <a:r>
                        <a:rPr lang="ko-KR" altLang="en-US"/>
                        <a:t>전체</a:t>
                      </a:r>
                      <a:r>
                        <a:rPr lang="en-US" altLang="ko-KR"/>
                        <a:t>, -</a:t>
                      </a:r>
                      <a:r>
                        <a:rPr lang="en-US"/>
                        <a:t>ef </a:t>
                      </a:r>
                      <a:r>
                        <a:rPr lang="ko-KR" altLang="en-US"/>
                        <a:t>전체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`ps aux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156057"/>
                  </a:ext>
                </a:extLst>
              </a:tr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top / htop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실시간 모니터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htop</a:t>
                      </a:r>
                      <a:r>
                        <a:rPr lang="ko-KR" altLang="en-US"/>
                        <a:t>은 더 편리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설치필요</a:t>
                      </a:r>
                      <a:r>
                        <a:rPr lang="en-US" altLang="ko-KR"/>
                        <a:t>)</a:t>
                      </a:r>
                      <a:endParaRPr lang="en-US" altLang="ko-KR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htop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596138"/>
                  </a:ext>
                </a:extLst>
              </a:tr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kill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프로세스 종료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-9</a:t>
                      </a:r>
                      <a:r>
                        <a:rPr lang="ko-KR" altLang="en-US"/>
                        <a:t> 강제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kill 1234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095711"/>
                  </a:ext>
                </a:extLst>
              </a:tr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systemctl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서비스 제어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start/stop/status/enable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sudo systemctl status ssh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966093"/>
                  </a:ext>
                </a:extLst>
              </a:tr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journalctl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systemd </a:t>
                      </a:r>
                      <a:r>
                        <a:rPr lang="ko-KR" altLang="en-US"/>
                        <a:t>로그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-u &lt;svc&gt;, -f tail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journalctl -u nodered -f</a:t>
                      </a:r>
                      <a:endParaRPr 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51152"/>
                  </a:ext>
                </a:extLst>
              </a:tr>
              <a:tr h="478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crontab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스케줄러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-e </a:t>
                      </a:r>
                      <a:r>
                        <a:rPr lang="ko-KR" altLang="en-US"/>
                        <a:t>편집</a:t>
                      </a:r>
                      <a:r>
                        <a:rPr lang="en-US" altLang="ko-KR"/>
                        <a:t>, -</a:t>
                      </a:r>
                      <a:r>
                        <a:rPr lang="en-US"/>
                        <a:t>l </a:t>
                      </a:r>
                      <a:r>
                        <a:rPr lang="ko-KR" altLang="en-US"/>
                        <a:t>목록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crontab -e</a:t>
                      </a:r>
                      <a:endParaRPr lang="en-US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903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855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E677-99D5-023D-0D30-C98487F0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1A3857F-8213-56F5-9568-84DEEF247C6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리눅스 명령어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F57B19-7110-C8D7-E02F-A6EE7403B3A4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ko-KR" altLang="en-US" sz="2000" b="1" dirty="0"/>
              <a:t>네트워크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5E7BE53-3A70-596B-AC22-C67DE8505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003685"/>
              </p:ext>
            </p:extLst>
          </p:nvPr>
        </p:nvGraphicFramePr>
        <p:xfrm>
          <a:off x="350282" y="951864"/>
          <a:ext cx="10846037" cy="38741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3750">
                  <a:extLst>
                    <a:ext uri="{9D8B030D-6E8A-4147-A177-3AD203B41FA5}">
                      <a16:colId xmlns:a16="http://schemas.microsoft.com/office/drawing/2014/main" val="1307072660"/>
                    </a:ext>
                  </a:extLst>
                </a:gridCol>
                <a:gridCol w="2169104">
                  <a:extLst>
                    <a:ext uri="{9D8B030D-6E8A-4147-A177-3AD203B41FA5}">
                      <a16:colId xmlns:a16="http://schemas.microsoft.com/office/drawing/2014/main" val="1065065863"/>
                    </a:ext>
                  </a:extLst>
                </a:gridCol>
                <a:gridCol w="2664585">
                  <a:extLst>
                    <a:ext uri="{9D8B030D-6E8A-4147-A177-3AD203B41FA5}">
                      <a16:colId xmlns:a16="http://schemas.microsoft.com/office/drawing/2014/main" val="2200821819"/>
                    </a:ext>
                  </a:extLst>
                </a:gridCol>
                <a:gridCol w="3958598">
                  <a:extLst>
                    <a:ext uri="{9D8B030D-6E8A-4147-A177-3AD203B41FA5}">
                      <a16:colId xmlns:a16="http://schemas.microsoft.com/office/drawing/2014/main" val="3735418530"/>
                    </a:ext>
                  </a:extLst>
                </a:gridCol>
              </a:tblGrid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명령어</a:t>
                      </a:r>
                      <a:endParaRPr lang="ko-KR" alt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/>
                        <a:t>용도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/>
                        <a:t>자주 쓰는 옵션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700" dirty="0"/>
                        <a:t>예시</a:t>
                      </a:r>
                      <a:endParaRPr lang="ko-KR" alt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756695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 err="1">
                          <a:latin typeface="+mn-ea"/>
                          <a:ea typeface="+mn-ea"/>
                        </a:rPr>
                        <a:t>ifconfig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 dirty="0">
                          <a:latin typeface="+mn-ea"/>
                          <a:ea typeface="+mn-ea"/>
                        </a:rPr>
                        <a:t>네트워크 조회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 err="1">
                          <a:latin typeface="+mn-ea"/>
                          <a:ea typeface="+mn-ea"/>
                        </a:rPr>
                        <a:t>ifconfig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328164574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ping</a:t>
                      </a:r>
                      <a:endParaRPr 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/>
                        <a:t>연결 확인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-c </a:t>
                      </a:r>
                      <a:r>
                        <a:rPr lang="ko-KR" altLang="en-US" sz="1700"/>
                        <a:t>횟수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ping -c 4 www.google.com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679895421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/>
                        <a:t>curl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HTTP </a:t>
                      </a:r>
                      <a:r>
                        <a:rPr lang="ko-KR" altLang="en-US" sz="1700"/>
                        <a:t>요청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700"/>
                        <a:t>-I</a:t>
                      </a:r>
                      <a:r>
                        <a:rPr lang="ko-KR" altLang="en-US" sz="1700"/>
                        <a:t> 헤더만</a:t>
                      </a:r>
                      <a:r>
                        <a:rPr lang="en-US" altLang="ko-KR" sz="1700"/>
                        <a:t>, -L</a:t>
                      </a:r>
                      <a:r>
                        <a:rPr lang="ko-KR" altLang="en-US" sz="1700"/>
                        <a:t> 리다이렉트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700" dirty="0"/>
                        <a:t>curl -I https://example.com</a:t>
                      </a:r>
                      <a:endParaRPr lang="nn-NO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94383531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 err="1"/>
                        <a:t>wget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/>
                        <a:t>파일 다운로드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-O </a:t>
                      </a:r>
                      <a:r>
                        <a:rPr lang="ko-KR" altLang="en-US" sz="1700"/>
                        <a:t>파일명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wget -O cam.jpg http://.../shot.jpg</a:t>
                      </a:r>
                      <a:endParaRPr lang="pt-BR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093895894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ss</a:t>
                      </a:r>
                      <a:endParaRPr 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/>
                        <a:t>소켓</a:t>
                      </a:r>
                      <a:r>
                        <a:rPr lang="en-US" altLang="ko-KR" sz="1700"/>
                        <a:t>/</a:t>
                      </a:r>
                      <a:r>
                        <a:rPr lang="ko-KR" altLang="en-US" sz="1700"/>
                        <a:t>포트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-tulpn </a:t>
                      </a:r>
                      <a:r>
                        <a:rPr lang="ko-KR" altLang="en-US" sz="1700"/>
                        <a:t>리슨중 포트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ss -tulpn</a:t>
                      </a:r>
                      <a:endParaRPr 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4417299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 err="1"/>
                        <a:t>scp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/>
                        <a:t>원격 복사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-r </a:t>
                      </a:r>
                      <a:r>
                        <a:rPr lang="ko-KR" altLang="en-US" sz="1700"/>
                        <a:t>재귀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scp -r pi@raspi:/var/log ./logs</a:t>
                      </a:r>
                      <a:endParaRPr lang="pt-BR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657191199"/>
                  </a:ext>
                </a:extLst>
              </a:tr>
              <a:tr h="484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/>
                        <a:t>ssh</a:t>
                      </a:r>
                      <a:endParaRPr lang="en-US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700"/>
                        <a:t>원격 접속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-i </a:t>
                      </a:r>
                      <a:r>
                        <a:rPr lang="ko-KR" altLang="en-US" sz="1700"/>
                        <a:t>키</a:t>
                      </a:r>
                      <a:r>
                        <a:rPr lang="en-US" altLang="ko-KR" sz="1700"/>
                        <a:t>, -</a:t>
                      </a:r>
                      <a:r>
                        <a:rPr lang="en-US" sz="1700"/>
                        <a:t>p </a:t>
                      </a:r>
                      <a:r>
                        <a:rPr lang="ko-KR" altLang="en-US" sz="1700"/>
                        <a:t>포트</a:t>
                      </a:r>
                      <a:endParaRPr lang="ko-KR" altLang="en-US" sz="170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700" dirty="0"/>
                        <a:t>ssh -i ~/.ssh/id_rsa pi@192.168.0.20</a:t>
                      </a:r>
                      <a:endParaRPr lang="sv-SE" sz="1700" dirty="0">
                        <a:latin typeface="+mn-ea"/>
                        <a:ea typeface="+mn-ea"/>
                      </a:endParaRP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375818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34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B870-B3B2-8131-2E2C-4DBEFF3F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95D38A-448F-1D31-20A6-CC309034619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VS Code  ssh </a:t>
            </a:r>
            <a:r>
              <a:rPr lang="ko-KR" altLang="en-US" sz="2000" b="1" dirty="0"/>
              <a:t>환경 설정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78EBD5-6880-3B13-B7CF-A1C70DDFEEAB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Open a remote window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DB5168-E27C-9DDE-938B-3A1A8EA86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466" y="782320"/>
            <a:ext cx="7939534" cy="60756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94594D-6076-F559-B1F3-972C1B5F4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2320"/>
            <a:ext cx="4220164" cy="4639322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FA400F6E-7ED0-A333-3575-25F3689608C8}"/>
              </a:ext>
            </a:extLst>
          </p:cNvPr>
          <p:cNvSpPr/>
          <p:nvPr/>
        </p:nvSpPr>
        <p:spPr>
          <a:xfrm>
            <a:off x="4333240" y="5902960"/>
            <a:ext cx="193040" cy="670560"/>
          </a:xfrm>
          <a:prstGeom prst="downArrow">
            <a:avLst/>
          </a:prstGeom>
          <a:solidFill>
            <a:srgbClr val="FF0000"/>
          </a:solidFill>
          <a:ln w="222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76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C597-ECB9-F5A2-F5E2-2575918E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BD13BB4-6C2A-A6FE-589E-2CD1F1E31E3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VS Code  ssh </a:t>
            </a:r>
            <a:r>
              <a:rPr lang="ko-KR" altLang="en-US" sz="2000" b="1" dirty="0"/>
              <a:t>환경 설정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ABBA02-2B97-8B3B-9404-F297685C306C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Open a remote window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835A15-18A8-FA9C-DEAE-36ECAE733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77" y="810654"/>
            <a:ext cx="6268325" cy="10860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B01C4C9-A141-0A88-4CF2-9BB07F212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77" y="1978706"/>
            <a:ext cx="4429743" cy="11241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0DCB0E2-4806-51CE-8169-0FA836C4E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77" y="3184863"/>
            <a:ext cx="5020376" cy="152421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2904A6E-98AB-01D9-172D-27D556CC1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77" y="4791126"/>
            <a:ext cx="3524742" cy="10955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332A80-C73C-509E-E696-5E5378CDA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351" y="4791126"/>
            <a:ext cx="5210902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57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2C51-160B-719D-09E8-FE6F2B20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706D121-421D-8782-EE00-F8C22296CEA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VS Code  ssh </a:t>
            </a:r>
            <a:r>
              <a:rPr lang="ko-KR" altLang="en-US" sz="2000" b="1" dirty="0"/>
              <a:t>환경 설정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2C1855-F02A-6CCE-323E-98C70BF98E00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Open a remote window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A39CAB-4E2F-53C1-5203-246E8020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01" y="777882"/>
            <a:ext cx="4417100" cy="38413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41D27CC-C5C0-8E79-B2A8-92CE8B4AF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262" y="777882"/>
            <a:ext cx="6501018" cy="3066367"/>
          </a:xfrm>
          <a:prstGeom prst="rect">
            <a:avLst/>
          </a:prstGeom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0C540CE0-2E37-CA6B-693A-4743644629F8}"/>
              </a:ext>
            </a:extLst>
          </p:cNvPr>
          <p:cNvSpPr/>
          <p:nvPr/>
        </p:nvSpPr>
        <p:spPr>
          <a:xfrm>
            <a:off x="10012680" y="777882"/>
            <a:ext cx="350520" cy="355600"/>
          </a:xfrm>
          <a:prstGeom prst="downArrow">
            <a:avLst/>
          </a:prstGeom>
          <a:solidFill>
            <a:srgbClr val="FF0000"/>
          </a:solidFill>
          <a:ln w="222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8FB9302-4E1A-B5F0-32F1-B7D04269E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582" y="3867902"/>
            <a:ext cx="5586618" cy="28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86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9169-11DB-0A25-9035-81DE825A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ED1FAA-22C0-9FA2-30F6-17B308CA190D}"/>
              </a:ext>
            </a:extLst>
          </p:cNvPr>
          <p:cNvSpPr txBox="1"/>
          <p:nvPr/>
        </p:nvSpPr>
        <p:spPr>
          <a:xfrm>
            <a:off x="10720799" y="5949864"/>
            <a:ext cx="101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u="sng" dirty="0">
                <a:solidFill>
                  <a:schemeClr val="accent1">
                    <a:lumMod val="50000"/>
                  </a:schemeClr>
                </a:solidFill>
              </a:rPr>
              <a:t>END.</a:t>
            </a:r>
            <a:endParaRPr lang="ko-KR" altLang="en-US" sz="32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38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2209</TotalTime>
  <Words>746</Words>
  <Application>Microsoft Office PowerPoint</Application>
  <PresentationFormat>와이드스크린</PresentationFormat>
  <Paragraphs>220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 영달</dc:creator>
  <cp:lastModifiedBy>Dev DW</cp:lastModifiedBy>
  <cp:revision>154</cp:revision>
  <dcterms:created xsi:type="dcterms:W3CDTF">2024-07-30T13:51:44Z</dcterms:created>
  <dcterms:modified xsi:type="dcterms:W3CDTF">2025-10-26T14:54:57Z</dcterms:modified>
</cp:coreProperties>
</file>