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8" r:id="rId1"/>
  </p:sldMasterIdLst>
  <p:sldIdLst>
    <p:sldId id="302" r:id="rId2"/>
    <p:sldId id="303" r:id="rId3"/>
    <p:sldId id="304" r:id="rId4"/>
    <p:sldId id="306" r:id="rId5"/>
    <p:sldId id="307" r:id="rId6"/>
    <p:sldId id="326" r:id="rId7"/>
    <p:sldId id="327" r:id="rId8"/>
    <p:sldId id="308" r:id="rId9"/>
    <p:sldId id="328" r:id="rId10"/>
    <p:sldId id="309" r:id="rId11"/>
    <p:sldId id="311" r:id="rId12"/>
    <p:sldId id="310" r:id="rId13"/>
    <p:sldId id="312" r:id="rId14"/>
    <p:sldId id="313" r:id="rId15"/>
    <p:sldId id="314" r:id="rId16"/>
    <p:sldId id="315" r:id="rId17"/>
    <p:sldId id="316" r:id="rId18"/>
    <p:sldId id="317" r:id="rId19"/>
    <p:sldId id="318" r:id="rId20"/>
    <p:sldId id="319" r:id="rId21"/>
    <p:sldId id="305" r:id="rId22"/>
    <p:sldId id="321" r:id="rId23"/>
    <p:sldId id="322" r:id="rId24"/>
    <p:sldId id="323" r:id="rId25"/>
    <p:sldId id="324" r:id="rId26"/>
    <p:sldId id="325" r:id="rId27"/>
    <p:sldId id="320" r:id="rId2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21E4AEA4-8DFA-4A89-87EB-49C32662AFE0}" styleName="보통 스타일 2 - 강조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0A15C55-8517-42AA-B614-E9B94910E393}" styleName="보통 스타일 2 - 강조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보통 스타일 2 - 강조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93296810-A885-4BE3-A3E7-6D5BEEA58F35}" styleName="보통 스타일 2 - 강조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8030" autoAdjust="0"/>
    <p:restoredTop sz="94660"/>
  </p:normalViewPr>
  <p:slideViewPr>
    <p:cSldViewPr snapToGrid="0">
      <p:cViewPr varScale="1">
        <p:scale>
          <a:sx n="86" d="100"/>
          <a:sy n="86" d="100"/>
        </p:scale>
        <p:origin x="531" y="9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563465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9619556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4540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6929160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03301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758315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758973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2368838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360213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79263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07296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6DC872-0E0F-4B71-97B1-1CA7CAEBA243}" type="datetimeFigureOut">
              <a:rPr lang="ko-KR" altLang="en-US" smtClean="0"/>
              <a:t>2025-11-02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26FA5A3-FC38-43A1-9656-A35F1BAD725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5814236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9" r:id="rId1"/>
    <p:sldLayoutId id="2147483710" r:id="rId2"/>
    <p:sldLayoutId id="2147483711" r:id="rId3"/>
    <p:sldLayoutId id="2147483712" r:id="rId4"/>
    <p:sldLayoutId id="2147483713" r:id="rId5"/>
    <p:sldLayoutId id="2147483714" r:id="rId6"/>
    <p:sldLayoutId id="2147483715" r:id="rId7"/>
    <p:sldLayoutId id="2147483716" r:id="rId8"/>
    <p:sldLayoutId id="2147483717" r:id="rId9"/>
    <p:sldLayoutId id="2147483718" r:id="rId10"/>
    <p:sldLayoutId id="214748371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heartcom/Linux-Program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jpe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hyperlink" Target="https://www.raspberrypi.com/" TargetMode="Externa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0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www.anaconda.com/download/success" TargetMode="Externa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hyperlink" Target="https://repo.anaconda.com/pkgs/msys2" TargetMode="Externa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6.png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E1301-DF23-EDC5-AA59-0048FD9A1F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BB2DAE7-B487-80C9-452C-30917B35A51F}"/>
              </a:ext>
            </a:extLst>
          </p:cNvPr>
          <p:cNvSpPr/>
          <p:nvPr/>
        </p:nvSpPr>
        <p:spPr>
          <a:xfrm>
            <a:off x="0" y="0"/>
            <a:ext cx="12192000" cy="3200401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spcAft>
                <a:spcPts val="600"/>
              </a:spcAft>
            </a:pPr>
            <a:r>
              <a:rPr lang="en-US" altLang="ko-KR" sz="6600" b="1" dirty="0"/>
              <a:t>Linux Programming</a:t>
            </a:r>
            <a:endParaRPr lang="en-US" altLang="ko-KR" sz="4800" b="1" dirty="0"/>
          </a:p>
          <a:p>
            <a:pPr algn="ctr"/>
            <a:r>
              <a:rPr lang="en-US" altLang="ko-KR" sz="4800" b="1" dirty="0">
                <a:solidFill>
                  <a:schemeClr val="bg1">
                    <a:lumMod val="85000"/>
                  </a:schemeClr>
                </a:solidFill>
              </a:rPr>
              <a:t>1. </a:t>
            </a:r>
            <a:r>
              <a:rPr lang="ko-KR" altLang="en-US" sz="4800" b="1" dirty="0">
                <a:solidFill>
                  <a:schemeClr val="bg1">
                    <a:lumMod val="85000"/>
                  </a:schemeClr>
                </a:solidFill>
              </a:rPr>
              <a:t>개발환경 구축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29D0CBAB-261B-204C-8A19-A024BE86B2B3}"/>
              </a:ext>
            </a:extLst>
          </p:cNvPr>
          <p:cNvSpPr txBox="1"/>
          <p:nvPr/>
        </p:nvSpPr>
        <p:spPr>
          <a:xfrm>
            <a:off x="5061117" y="4325227"/>
            <a:ext cx="230704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2</a:t>
            </a:r>
            <a:r>
              <a:rPr lang="ko-KR" altLang="en-US" dirty="0"/>
              <a:t>학년 공통 선택 과정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E73DD-0E49-C4C1-020C-407C6BC55F04}"/>
              </a:ext>
            </a:extLst>
          </p:cNvPr>
          <p:cNvSpPr txBox="1"/>
          <p:nvPr/>
        </p:nvSpPr>
        <p:spPr>
          <a:xfrm>
            <a:off x="522514" y="6164815"/>
            <a:ext cx="281784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2"/>
              </a:rPr>
              <a:t>heartcom/Linux-Program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04511343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AA5483-6FF1-EB22-80BB-541D163D66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CF16B01-DB72-42E4-74D2-6E952DB272E7}"/>
              </a:ext>
            </a:extLst>
          </p:cNvPr>
          <p:cNvSpPr/>
          <p:nvPr/>
        </p:nvSpPr>
        <p:spPr>
          <a:xfrm>
            <a:off x="0" y="0"/>
            <a:ext cx="12192000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개발환경 구축 순서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DC92531-084E-9FD1-2E8C-4CE3E29AD39F}"/>
              </a:ext>
            </a:extLst>
          </p:cNvPr>
          <p:cNvSpPr txBox="1"/>
          <p:nvPr/>
        </p:nvSpPr>
        <p:spPr>
          <a:xfrm>
            <a:off x="325574" y="1018572"/>
            <a:ext cx="5770426" cy="208307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Raspberry Pi Imager OS </a:t>
            </a:r>
            <a:r>
              <a:rPr lang="ko-KR" altLang="en-US" sz="2400" dirty="0">
                <a:latin typeface="+mn-ea"/>
              </a:rPr>
              <a:t>굽기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microSD Card </a:t>
            </a:r>
            <a:r>
              <a:rPr lang="ko-KR" altLang="en-US" sz="2400" dirty="0">
                <a:latin typeface="+mn-ea"/>
              </a:rPr>
              <a:t>삽입 및 초기 환경 설정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ko-KR" altLang="en-US" sz="2400" dirty="0">
                <a:latin typeface="+mn-ea"/>
              </a:rPr>
              <a:t>리눅스 명령어</a:t>
            </a:r>
            <a:endParaRPr lang="en-US" altLang="ko-KR" sz="2400" dirty="0">
              <a:latin typeface="+mn-ea"/>
            </a:endParaRPr>
          </a:p>
          <a:p>
            <a:pPr marL="342900" indent="-342900">
              <a:lnSpc>
                <a:spcPts val="4000"/>
              </a:lnSpc>
              <a:buAutoNum type="arabicPeriod"/>
            </a:pPr>
            <a:r>
              <a:rPr lang="en-US" altLang="ko-KR" sz="2400" dirty="0">
                <a:latin typeface="+mn-ea"/>
              </a:rPr>
              <a:t>VS Code, ssh </a:t>
            </a:r>
            <a:r>
              <a:rPr lang="ko-KR" altLang="en-US" sz="2400" dirty="0">
                <a:latin typeface="+mn-ea"/>
              </a:rPr>
              <a:t>원격 개발 환경 구축</a:t>
            </a:r>
          </a:p>
        </p:txBody>
      </p:sp>
    </p:spTree>
    <p:extLst>
      <p:ext uri="{BB962C8B-B14F-4D97-AF65-F5344CB8AC3E}">
        <p14:creationId xmlns:p14="http://schemas.microsoft.com/office/powerpoint/2010/main" val="21428459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07F7C9-66EB-D3CF-D1DD-A1F2BE03F1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그룹 12">
            <a:extLst>
              <a:ext uri="{FF2B5EF4-FFF2-40B4-BE49-F238E27FC236}">
                <a16:creationId xmlns:a16="http://schemas.microsoft.com/office/drawing/2014/main" id="{5E183349-AE70-244C-758F-45C9602DA320}"/>
              </a:ext>
            </a:extLst>
          </p:cNvPr>
          <p:cNvGrpSpPr/>
          <p:nvPr/>
        </p:nvGrpSpPr>
        <p:grpSpPr>
          <a:xfrm>
            <a:off x="2125889" y="4436824"/>
            <a:ext cx="989373" cy="900617"/>
            <a:chOff x="871670" y="2040700"/>
            <a:chExt cx="989373" cy="900617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74EB309D-34E0-DF61-261F-30BD74083697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 rot="13248428">
              <a:off x="931234" y="2040700"/>
              <a:ext cx="870246" cy="818337"/>
            </a:xfrm>
            <a:prstGeom prst="rect">
              <a:avLst/>
            </a:prstGeom>
          </p:spPr>
        </p:pic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F94B1669-3B14-CA02-EE59-E9B3D9162523}"/>
                </a:ext>
              </a:extLst>
            </p:cNvPr>
            <p:cNvSpPr txBox="1"/>
            <p:nvPr/>
          </p:nvSpPr>
          <p:spPr>
            <a:xfrm>
              <a:off x="871670" y="2664318"/>
              <a:ext cx="989373" cy="27699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ko-KR" altLang="en-US" sz="1200" b="1" dirty="0"/>
                <a:t>온습도 센서</a:t>
              </a:r>
            </a:p>
          </p:txBody>
        </p:sp>
      </p:grpSp>
      <p:pic>
        <p:nvPicPr>
          <p:cNvPr id="12" name="그림 11">
            <a:extLst>
              <a:ext uri="{FF2B5EF4-FFF2-40B4-BE49-F238E27FC236}">
                <a16:creationId xmlns:a16="http://schemas.microsoft.com/office/drawing/2014/main" id="{EC7B039E-A4CD-680C-D738-D2574FFBED6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2569450" y="3402761"/>
            <a:ext cx="472426" cy="393688"/>
          </a:xfrm>
          <a:prstGeom prst="rect">
            <a:avLst/>
          </a:prstGeom>
        </p:spPr>
      </p:pic>
      <p:cxnSp>
        <p:nvCxnSpPr>
          <p:cNvPr id="16" name="직선 화살표 연결선 15">
            <a:extLst>
              <a:ext uri="{FF2B5EF4-FFF2-40B4-BE49-F238E27FC236}">
                <a16:creationId xmlns:a16="http://schemas.microsoft.com/office/drawing/2014/main" id="{58D513AF-E523-8F0F-74AA-42BE9F328718}"/>
              </a:ext>
            </a:extLst>
          </p:cNvPr>
          <p:cNvCxnSpPr>
            <a:cxnSpLocks/>
          </p:cNvCxnSpPr>
          <p:nvPr/>
        </p:nvCxnSpPr>
        <p:spPr>
          <a:xfrm>
            <a:off x="3009467" y="3429538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E4D32B61-E957-3B22-5818-98EA244684E8}"/>
              </a:ext>
            </a:extLst>
          </p:cNvPr>
          <p:cNvSpPr txBox="1"/>
          <p:nvPr/>
        </p:nvSpPr>
        <p:spPr>
          <a:xfrm>
            <a:off x="3009467" y="3446155"/>
            <a:ext cx="902811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GPIO/LED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21" name="직선 화살표 연결선 20">
            <a:extLst>
              <a:ext uri="{FF2B5EF4-FFF2-40B4-BE49-F238E27FC236}">
                <a16:creationId xmlns:a16="http://schemas.microsoft.com/office/drawing/2014/main" id="{4D315440-21EF-D6AE-E110-AC42A44829C3}"/>
              </a:ext>
            </a:extLst>
          </p:cNvPr>
          <p:cNvCxnSpPr>
            <a:cxnSpLocks/>
          </p:cNvCxnSpPr>
          <p:nvPr/>
        </p:nvCxnSpPr>
        <p:spPr>
          <a:xfrm>
            <a:off x="3009467" y="3747177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headEnd type="triangl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직선 화살표 연결선 26">
            <a:extLst>
              <a:ext uri="{FF2B5EF4-FFF2-40B4-BE49-F238E27FC236}">
                <a16:creationId xmlns:a16="http://schemas.microsoft.com/office/drawing/2014/main" id="{388D2FFA-08EE-C2D3-BADD-E224243FCEEB}"/>
              </a:ext>
            </a:extLst>
          </p:cNvPr>
          <p:cNvCxnSpPr>
            <a:cxnSpLocks/>
          </p:cNvCxnSpPr>
          <p:nvPr/>
        </p:nvCxnSpPr>
        <p:spPr>
          <a:xfrm>
            <a:off x="3053589" y="4870588"/>
            <a:ext cx="804005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TextBox 27">
            <a:extLst>
              <a:ext uri="{FF2B5EF4-FFF2-40B4-BE49-F238E27FC236}">
                <a16:creationId xmlns:a16="http://schemas.microsoft.com/office/drawing/2014/main" id="{9FEF251C-5DFE-5532-F4FB-1B46283EF434}"/>
              </a:ext>
            </a:extLst>
          </p:cNvPr>
          <p:cNvSpPr txBox="1"/>
          <p:nvPr/>
        </p:nvSpPr>
        <p:spPr>
          <a:xfrm>
            <a:off x="3205472" y="4644389"/>
            <a:ext cx="420308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I2C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E4299105-ABE1-4503-D891-E8BBC77F7F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92011" y="4048200"/>
            <a:ext cx="440994" cy="369332"/>
          </a:xfrm>
          <a:prstGeom prst="rect">
            <a:avLst/>
          </a:prstGeom>
        </p:spPr>
      </p:pic>
      <p:sp>
        <p:nvSpPr>
          <p:cNvPr id="32" name="TextBox 31">
            <a:extLst>
              <a:ext uri="{FF2B5EF4-FFF2-40B4-BE49-F238E27FC236}">
                <a16:creationId xmlns:a16="http://schemas.microsoft.com/office/drawing/2014/main" id="{5D6C28C4-7206-66E6-6BEC-9E80983BE5D4}"/>
              </a:ext>
            </a:extLst>
          </p:cNvPr>
          <p:cNvSpPr txBox="1"/>
          <p:nvPr/>
        </p:nvSpPr>
        <p:spPr>
          <a:xfrm>
            <a:off x="3002525" y="4042335"/>
            <a:ext cx="867545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GPIO/SW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33" name="직선 화살표 연결선 32">
            <a:extLst>
              <a:ext uri="{FF2B5EF4-FFF2-40B4-BE49-F238E27FC236}">
                <a16:creationId xmlns:a16="http://schemas.microsoft.com/office/drawing/2014/main" id="{D0FD55A6-5EDB-135C-04D4-0C808000A3B9}"/>
              </a:ext>
            </a:extLst>
          </p:cNvPr>
          <p:cNvCxnSpPr>
            <a:cxnSpLocks/>
          </p:cNvCxnSpPr>
          <p:nvPr/>
        </p:nvCxnSpPr>
        <p:spPr>
          <a:xfrm>
            <a:off x="3043682" y="4278694"/>
            <a:ext cx="804005" cy="0"/>
          </a:xfrm>
          <a:prstGeom prst="straightConnector1">
            <a:avLst/>
          </a:prstGeom>
          <a:ln w="12700">
            <a:solidFill>
              <a:schemeClr val="tx1">
                <a:lumMod val="50000"/>
                <a:lumOff val="50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1" name="그림 80">
            <a:extLst>
              <a:ext uri="{FF2B5EF4-FFF2-40B4-BE49-F238E27FC236}">
                <a16:creationId xmlns:a16="http://schemas.microsoft.com/office/drawing/2014/main" id="{0C8BAFBA-B181-1307-69E4-71ED1C273C0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 rot="16200000">
            <a:off x="3301434" y="2942256"/>
            <a:ext cx="2865962" cy="1773455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25C6B3A3-64A8-0473-A043-327F60AFAAE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11469" y="1064127"/>
            <a:ext cx="2914133" cy="826600"/>
          </a:xfrm>
          <a:prstGeom prst="rect">
            <a:avLst/>
          </a:prstGeom>
        </p:spPr>
      </p:pic>
      <p:pic>
        <p:nvPicPr>
          <p:cNvPr id="17" name="그림 16">
            <a:extLst>
              <a:ext uri="{FF2B5EF4-FFF2-40B4-BE49-F238E27FC236}">
                <a16:creationId xmlns:a16="http://schemas.microsoft.com/office/drawing/2014/main" id="{62B29385-D4DD-F421-71BA-A4DBB74DCF2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786033" y="4689544"/>
            <a:ext cx="861213" cy="786325"/>
          </a:xfrm>
          <a:prstGeom prst="rect">
            <a:avLst/>
          </a:prstGeom>
        </p:spPr>
      </p:pic>
      <p:grpSp>
        <p:nvGrpSpPr>
          <p:cNvPr id="44" name="그룹 43">
            <a:extLst>
              <a:ext uri="{FF2B5EF4-FFF2-40B4-BE49-F238E27FC236}">
                <a16:creationId xmlns:a16="http://schemas.microsoft.com/office/drawing/2014/main" id="{BE8520F9-1A41-5BDB-E1A9-8C3E0B9BBA3F}"/>
              </a:ext>
            </a:extLst>
          </p:cNvPr>
          <p:cNvGrpSpPr/>
          <p:nvPr/>
        </p:nvGrpSpPr>
        <p:grpSpPr>
          <a:xfrm>
            <a:off x="8565637" y="4595667"/>
            <a:ext cx="1786660" cy="1188130"/>
            <a:chOff x="3614630" y="4129754"/>
            <a:chExt cx="1786660" cy="1188130"/>
          </a:xfrm>
        </p:grpSpPr>
        <p:pic>
          <p:nvPicPr>
            <p:cNvPr id="4" name="Picture 6" descr="삼성전자, 갤럭시 북 3종·노트북 플러스 2 출시 - 전자부품 전문 미디어 디일렉">
              <a:extLst>
                <a:ext uri="{FF2B5EF4-FFF2-40B4-BE49-F238E27FC236}">
                  <a16:creationId xmlns:a16="http://schemas.microsoft.com/office/drawing/2014/main" id="{02B29017-6A69-45DE-FA58-EB38A4340CB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614630" y="4129754"/>
              <a:ext cx="1786660" cy="11881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p:pic>
          <p:nvPicPr>
            <p:cNvPr id="42" name="그림 41">
              <a:extLst>
                <a:ext uri="{FF2B5EF4-FFF2-40B4-BE49-F238E27FC236}">
                  <a16:creationId xmlns:a16="http://schemas.microsoft.com/office/drawing/2014/main" id="{40303622-5616-7190-B332-CDE8882ACFA9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3898778" y="4185890"/>
              <a:ext cx="1223728" cy="733586"/>
            </a:xfrm>
            <a:prstGeom prst="rect">
              <a:avLst/>
            </a:prstGeom>
          </p:spPr>
        </p:pic>
      </p:grpSp>
      <p:sp>
        <p:nvSpPr>
          <p:cNvPr id="50" name="TextBox 49">
            <a:extLst>
              <a:ext uri="{FF2B5EF4-FFF2-40B4-BE49-F238E27FC236}">
                <a16:creationId xmlns:a16="http://schemas.microsoft.com/office/drawing/2014/main" id="{E30C4573-5402-4EE4-D9C8-993D70E1CEB2}"/>
              </a:ext>
            </a:extLst>
          </p:cNvPr>
          <p:cNvSpPr txBox="1"/>
          <p:nvPr/>
        </p:nvSpPr>
        <p:spPr>
          <a:xfrm>
            <a:off x="5966750" y="4785424"/>
            <a:ext cx="5100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0000FF"/>
                </a:solidFill>
              </a:rPr>
              <a:t>WiFi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cxnSp>
        <p:nvCxnSpPr>
          <p:cNvPr id="51" name="직선 화살표 연결선 50">
            <a:extLst>
              <a:ext uri="{FF2B5EF4-FFF2-40B4-BE49-F238E27FC236}">
                <a16:creationId xmlns:a16="http://schemas.microsoft.com/office/drawing/2014/main" id="{163D8FA0-CD35-3F08-FBD0-794530966265}"/>
              </a:ext>
            </a:extLst>
          </p:cNvPr>
          <p:cNvCxnSpPr>
            <a:cxnSpLocks/>
          </p:cNvCxnSpPr>
          <p:nvPr/>
        </p:nvCxnSpPr>
        <p:spPr>
          <a:xfrm>
            <a:off x="5966750" y="5093201"/>
            <a:ext cx="488648" cy="257"/>
          </a:xfrm>
          <a:prstGeom prst="straightConnector1">
            <a:avLst/>
          </a:prstGeom>
          <a:ln w="31750" cmpd="dbl">
            <a:solidFill>
              <a:srgbClr val="0070C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9" name="TextBox 58">
            <a:extLst>
              <a:ext uri="{FF2B5EF4-FFF2-40B4-BE49-F238E27FC236}">
                <a16:creationId xmlns:a16="http://schemas.microsoft.com/office/drawing/2014/main" id="{0E49D7C9-DCB3-D2C2-78E5-66B16C63BA63}"/>
              </a:ext>
            </a:extLst>
          </p:cNvPr>
          <p:cNvSpPr txBox="1"/>
          <p:nvPr/>
        </p:nvSpPr>
        <p:spPr>
          <a:xfrm>
            <a:off x="7968760" y="4735211"/>
            <a:ext cx="46038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dirty="0">
                <a:solidFill>
                  <a:srgbClr val="0000FF"/>
                </a:solidFill>
              </a:rPr>
              <a:t>SSH</a:t>
            </a:r>
            <a:endParaRPr lang="ko-KR" altLang="en-US" sz="1400" dirty="0">
              <a:solidFill>
                <a:srgbClr val="0000FF"/>
              </a:solidFill>
            </a:endParaRPr>
          </a:p>
        </p:txBody>
      </p:sp>
      <p:pic>
        <p:nvPicPr>
          <p:cNvPr id="76" name="그림 75">
            <a:extLst>
              <a:ext uri="{FF2B5EF4-FFF2-40B4-BE49-F238E27FC236}">
                <a16:creationId xmlns:a16="http://schemas.microsoft.com/office/drawing/2014/main" id="{F4594E2B-F615-F13F-445F-73C0821D4FB2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50697" y="2063320"/>
            <a:ext cx="1366680" cy="1223538"/>
          </a:xfrm>
          <a:prstGeom prst="rect">
            <a:avLst/>
          </a:prstGeom>
        </p:spPr>
      </p:pic>
      <p:cxnSp>
        <p:nvCxnSpPr>
          <p:cNvPr id="160" name="직선 화살표 연결선 159">
            <a:extLst>
              <a:ext uri="{FF2B5EF4-FFF2-40B4-BE49-F238E27FC236}">
                <a16:creationId xmlns:a16="http://schemas.microsoft.com/office/drawing/2014/main" id="{201771E8-4ACB-7443-CABD-B2DD13F927FD}"/>
              </a:ext>
            </a:extLst>
          </p:cNvPr>
          <p:cNvCxnSpPr>
            <a:cxnSpLocks/>
          </p:cNvCxnSpPr>
          <p:nvPr/>
        </p:nvCxnSpPr>
        <p:spPr>
          <a:xfrm>
            <a:off x="7794707" y="5076936"/>
            <a:ext cx="775861" cy="0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직사각형 2">
            <a:extLst>
              <a:ext uri="{FF2B5EF4-FFF2-40B4-BE49-F238E27FC236}">
                <a16:creationId xmlns:a16="http://schemas.microsoft.com/office/drawing/2014/main" id="{340FFE27-35BF-B0E9-1D83-1AD3190E5417}"/>
              </a:ext>
            </a:extLst>
          </p:cNvPr>
          <p:cNvSpPr/>
          <p:nvPr/>
        </p:nvSpPr>
        <p:spPr>
          <a:xfrm>
            <a:off x="0" y="0"/>
            <a:ext cx="12192000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cxnSp>
        <p:nvCxnSpPr>
          <p:cNvPr id="6" name="직선 화살표 연결선 5">
            <a:extLst>
              <a:ext uri="{FF2B5EF4-FFF2-40B4-BE49-F238E27FC236}">
                <a16:creationId xmlns:a16="http://schemas.microsoft.com/office/drawing/2014/main" id="{AC963C61-EC72-4A5A-D6D8-B15CAB865F38}"/>
              </a:ext>
            </a:extLst>
          </p:cNvPr>
          <p:cNvCxnSpPr>
            <a:cxnSpLocks/>
          </p:cNvCxnSpPr>
          <p:nvPr/>
        </p:nvCxnSpPr>
        <p:spPr>
          <a:xfrm>
            <a:off x="4659609" y="1971796"/>
            <a:ext cx="0" cy="424206"/>
          </a:xfrm>
          <a:prstGeom prst="straightConnector1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9381F80-2532-4A79-D0A4-19C4436BD04A}"/>
              </a:ext>
            </a:extLst>
          </p:cNvPr>
          <p:cNvSpPr txBox="1"/>
          <p:nvPr/>
        </p:nvSpPr>
        <p:spPr>
          <a:xfrm>
            <a:off x="4156119" y="2010091"/>
            <a:ext cx="48763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00FF"/>
                </a:solidFill>
              </a:rPr>
              <a:t>USB</a:t>
            </a:r>
            <a:endParaRPr lang="ko-KR" altLang="en-US" sz="1400" b="1" dirty="0">
              <a:solidFill>
                <a:srgbClr val="0000FF"/>
              </a:solidFill>
            </a:endParaRPr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939EA444-BDE6-C0A2-571C-685D092394E4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 rot="16200000">
            <a:off x="5808566" y="3717857"/>
            <a:ext cx="297784" cy="684099"/>
          </a:xfrm>
          <a:prstGeom prst="rect">
            <a:avLst/>
          </a:prstGeom>
        </p:spPr>
      </p:pic>
      <p:sp>
        <p:nvSpPr>
          <p:cNvPr id="18" name="TextBox 17">
            <a:extLst>
              <a:ext uri="{FF2B5EF4-FFF2-40B4-BE49-F238E27FC236}">
                <a16:creationId xmlns:a16="http://schemas.microsoft.com/office/drawing/2014/main" id="{4E798DFC-AFDC-128C-9C52-569CC91AE537}"/>
              </a:ext>
            </a:extLst>
          </p:cNvPr>
          <p:cNvSpPr txBox="1"/>
          <p:nvPr/>
        </p:nvSpPr>
        <p:spPr>
          <a:xfrm>
            <a:off x="5679999" y="3526293"/>
            <a:ext cx="6535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micro </a:t>
            </a:r>
          </a:p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HDMI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CD707820-2665-FEBA-BD3A-324670CC0895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 rot="5400000">
            <a:off x="7382525" y="2310289"/>
            <a:ext cx="430607" cy="881478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B488CAC2-A25D-9D3A-8BCA-CCCE37891879}"/>
              </a:ext>
            </a:extLst>
          </p:cNvPr>
          <p:cNvSpPr txBox="1"/>
          <p:nvPr/>
        </p:nvSpPr>
        <p:spPr>
          <a:xfrm>
            <a:off x="7216640" y="2224777"/>
            <a:ext cx="615874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200" b="1" dirty="0">
                <a:solidFill>
                  <a:srgbClr val="002060"/>
                </a:solidFill>
                <a:latin typeface="+mn-ea"/>
              </a:rPr>
              <a:t>HDMI</a:t>
            </a:r>
            <a:endParaRPr lang="ko-KR" altLang="en-US" sz="1200" b="1" dirty="0">
              <a:solidFill>
                <a:srgbClr val="002060"/>
              </a:solidFill>
              <a:latin typeface="+mn-ea"/>
            </a:endParaRPr>
          </a:p>
        </p:txBody>
      </p:sp>
      <p:cxnSp>
        <p:nvCxnSpPr>
          <p:cNvPr id="26" name="연결선: 꺾임 25">
            <a:extLst>
              <a:ext uri="{FF2B5EF4-FFF2-40B4-BE49-F238E27FC236}">
                <a16:creationId xmlns:a16="http://schemas.microsoft.com/office/drawing/2014/main" id="{1BBA6A34-A529-6390-85E1-B38CCF735D99}"/>
              </a:ext>
            </a:extLst>
          </p:cNvPr>
          <p:cNvCxnSpPr>
            <a:cxnSpLocks/>
            <a:stCxn id="22" idx="2"/>
          </p:cNvCxnSpPr>
          <p:nvPr/>
        </p:nvCxnSpPr>
        <p:spPr>
          <a:xfrm rot="10800000" flipV="1">
            <a:off x="6638572" y="2751028"/>
            <a:ext cx="518519" cy="1308877"/>
          </a:xfrm>
          <a:prstGeom prst="bentConnector2">
            <a:avLst/>
          </a:prstGeom>
          <a:ln w="66675" cmpd="dbl">
            <a:solidFill>
              <a:schemeClr val="tx1">
                <a:lumMod val="75000"/>
                <a:lumOff val="2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직선 연결선 30">
            <a:extLst>
              <a:ext uri="{FF2B5EF4-FFF2-40B4-BE49-F238E27FC236}">
                <a16:creationId xmlns:a16="http://schemas.microsoft.com/office/drawing/2014/main" id="{CB7F0C0A-39C1-AF95-A833-510722398AC5}"/>
              </a:ext>
            </a:extLst>
          </p:cNvPr>
          <p:cNvCxnSpPr>
            <a:stCxn id="15" idx="2"/>
          </p:cNvCxnSpPr>
          <p:nvPr/>
        </p:nvCxnSpPr>
        <p:spPr>
          <a:xfrm flipV="1">
            <a:off x="6299508" y="4059906"/>
            <a:ext cx="339063" cy="1"/>
          </a:xfrm>
          <a:prstGeom prst="line">
            <a:avLst/>
          </a:prstGeom>
          <a:ln w="63500" cmpd="dbl">
            <a:solidFill>
              <a:schemeClr val="tx1">
                <a:lumMod val="85000"/>
                <a:lumOff val="1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7195556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CAB68-0F96-BE6E-8790-37B9CEDECF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46DF2C-D456-73FB-F770-C379F7DA9EF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D73A3383-AC0A-AB07-4E9E-4B51463A33AF}"/>
              </a:ext>
            </a:extLst>
          </p:cNvPr>
          <p:cNvSpPr txBox="1"/>
          <p:nvPr/>
        </p:nvSpPr>
        <p:spPr>
          <a:xfrm>
            <a:off x="630820" y="1364755"/>
            <a:ext cx="609985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latin typeface="+mn-ea"/>
                <a:hlinkClick r:id="rId2"/>
              </a:rPr>
              <a:t>Raspberry Pi</a:t>
            </a:r>
            <a:endParaRPr lang="ko-KR" altLang="en-US" dirty="0">
              <a:latin typeface="+mn-ea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D4F34A1-AB36-5E34-81EE-277ACD1C2B6C}"/>
              </a:ext>
            </a:extLst>
          </p:cNvPr>
          <p:cNvSpPr txBox="1"/>
          <p:nvPr/>
        </p:nvSpPr>
        <p:spPr>
          <a:xfrm>
            <a:off x="393539" y="995423"/>
            <a:ext cx="395204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1. Raspberry Pi OS(64bit) Download</a:t>
            </a:r>
            <a:endParaRPr lang="ko-KR" altLang="en-US" dirty="0">
              <a:latin typeface="+mn-ea"/>
            </a:endParaRPr>
          </a:p>
        </p:txBody>
      </p:sp>
      <p:pic>
        <p:nvPicPr>
          <p:cNvPr id="19" name="그림 18">
            <a:extLst>
              <a:ext uri="{FF2B5EF4-FFF2-40B4-BE49-F238E27FC236}">
                <a16:creationId xmlns:a16="http://schemas.microsoft.com/office/drawing/2014/main" id="{13FA69BD-7F92-9012-DDEE-3E40BEADFD8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2434" y="1915407"/>
            <a:ext cx="10652567" cy="3577838"/>
          </a:xfrm>
          <a:prstGeom prst="rect">
            <a:avLst/>
          </a:prstGeom>
          <a:ln w="22225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24" name="화살표: 아래쪽 23">
            <a:extLst>
              <a:ext uri="{FF2B5EF4-FFF2-40B4-BE49-F238E27FC236}">
                <a16:creationId xmlns:a16="http://schemas.microsoft.com/office/drawing/2014/main" id="{B54F3471-9AB1-D143-5A9C-6B98AFD647EA}"/>
              </a:ext>
            </a:extLst>
          </p:cNvPr>
          <p:cNvSpPr/>
          <p:nvPr/>
        </p:nvSpPr>
        <p:spPr>
          <a:xfrm>
            <a:off x="9896354" y="2407534"/>
            <a:ext cx="277793" cy="289367"/>
          </a:xfrm>
          <a:prstGeom prst="down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89750D-EFED-EAFB-5C6B-3199E5265C0E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OS</a:t>
            </a:r>
            <a:endParaRPr lang="ko-KR" altLang="en-US" sz="2000" b="1" dirty="0"/>
          </a:p>
        </p:txBody>
      </p:sp>
    </p:spTree>
    <p:extLst>
      <p:ext uri="{BB962C8B-B14F-4D97-AF65-F5344CB8AC3E}">
        <p14:creationId xmlns:p14="http://schemas.microsoft.com/office/powerpoint/2010/main" val="17200806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F23107-A7FC-242D-B91F-0DDC222F58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3285F98-1121-59E5-12DE-FF525A1671B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618F2DC-41EF-033A-2840-FB81D86A2C36}"/>
              </a:ext>
            </a:extLst>
          </p:cNvPr>
          <p:cNvSpPr txBox="1"/>
          <p:nvPr/>
        </p:nvSpPr>
        <p:spPr>
          <a:xfrm>
            <a:off x="393539" y="771903"/>
            <a:ext cx="257352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latin typeface="+mn-ea"/>
              </a:rPr>
              <a:t>2. Raspberry Pi Imager</a:t>
            </a:r>
            <a:endParaRPr lang="ko-KR" altLang="en-US" dirty="0">
              <a:latin typeface="+mn-ea"/>
            </a:endParaRP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71B7B79-E5B3-85A3-DDBF-DA6EE468D833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OS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1C0462E8-228C-458E-5FA0-B264F2B803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3344" y="1281542"/>
            <a:ext cx="5167536" cy="212034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EAA5C0FA-4639-E901-1D32-1698FFDF0D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3202" y="1281542"/>
            <a:ext cx="4790242" cy="1477841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0" name="화살표: 오른쪽 9">
            <a:extLst>
              <a:ext uri="{FF2B5EF4-FFF2-40B4-BE49-F238E27FC236}">
                <a16:creationId xmlns:a16="http://schemas.microsoft.com/office/drawing/2014/main" id="{DA8E43B2-FC17-A7F0-29CD-0574AE27FB79}"/>
              </a:ext>
            </a:extLst>
          </p:cNvPr>
          <p:cNvSpPr/>
          <p:nvPr/>
        </p:nvSpPr>
        <p:spPr>
          <a:xfrm>
            <a:off x="6096000" y="1717040"/>
            <a:ext cx="162560" cy="631596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화살표: 오른쪽 10">
            <a:extLst>
              <a:ext uri="{FF2B5EF4-FFF2-40B4-BE49-F238E27FC236}">
                <a16:creationId xmlns:a16="http://schemas.microsoft.com/office/drawing/2014/main" id="{36A68F4B-6FBF-E987-DB05-E90169375CF8}"/>
              </a:ext>
            </a:extLst>
          </p:cNvPr>
          <p:cNvSpPr/>
          <p:nvPr/>
        </p:nvSpPr>
        <p:spPr>
          <a:xfrm rot="5400000">
            <a:off x="7514699" y="2066781"/>
            <a:ext cx="335112" cy="228598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3" name="그림 12">
            <a:extLst>
              <a:ext uri="{FF2B5EF4-FFF2-40B4-BE49-F238E27FC236}">
                <a16:creationId xmlns:a16="http://schemas.microsoft.com/office/drawing/2014/main" id="{8A95EE1A-C14A-6C34-3519-981945E5FBB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3344" y="3627119"/>
            <a:ext cx="3743435" cy="3068103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4" name="화살표: 오른쪽 13">
            <a:extLst>
              <a:ext uri="{FF2B5EF4-FFF2-40B4-BE49-F238E27FC236}">
                <a16:creationId xmlns:a16="http://schemas.microsoft.com/office/drawing/2014/main" id="{34F4E294-EE94-5D8F-6EB8-6210BDC00106}"/>
              </a:ext>
            </a:extLst>
          </p:cNvPr>
          <p:cNvSpPr/>
          <p:nvPr/>
        </p:nvSpPr>
        <p:spPr>
          <a:xfrm rot="5400000">
            <a:off x="1042779" y="3597122"/>
            <a:ext cx="335112" cy="228598"/>
          </a:xfrm>
          <a:prstGeom prst="rightArrow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6" name="그림 15">
            <a:extLst>
              <a:ext uri="{FF2B5EF4-FFF2-40B4-BE49-F238E27FC236}">
                <a16:creationId xmlns:a16="http://schemas.microsoft.com/office/drawing/2014/main" id="{D205200E-6090-D5B3-F174-8D56D412DE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911" y="3636749"/>
            <a:ext cx="3664449" cy="3013752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pic>
        <p:nvPicPr>
          <p:cNvPr id="18" name="그림 17">
            <a:extLst>
              <a:ext uri="{FF2B5EF4-FFF2-40B4-BE49-F238E27FC236}">
                <a16:creationId xmlns:a16="http://schemas.microsoft.com/office/drawing/2014/main" id="{3C742BBF-EAA0-023F-D545-134C7D2D203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5040" y="3627119"/>
            <a:ext cx="3483961" cy="1168401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7636654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AD1BDB9-EAC3-AFF6-9820-1C9E317295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A7F14F2-192A-FEAE-0AD9-BF540C759D3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2999EA47-AA53-3F8F-4D91-911EEAF8D58D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wifi</a:t>
            </a:r>
            <a:endParaRPr lang="ko-KR" altLang="en-US" sz="2000" b="1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33256934-8072-5279-2FF9-EC827E1F20F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1182" y="1118304"/>
            <a:ext cx="4521128" cy="284403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CF6E2F3-4BBC-13D4-7B59-6E3CA0FF5154}"/>
              </a:ext>
            </a:extLst>
          </p:cNvPr>
          <p:cNvSpPr txBox="1"/>
          <p:nvPr/>
        </p:nvSpPr>
        <p:spPr>
          <a:xfrm>
            <a:off x="301182" y="748972"/>
            <a:ext cx="260840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2060"/>
                </a:solidFill>
              </a:rPr>
              <a:t>1. </a:t>
            </a:r>
            <a:r>
              <a:rPr lang="ko-KR" altLang="en-US" sz="1400" b="1" dirty="0">
                <a:solidFill>
                  <a:srgbClr val="002060"/>
                </a:solidFill>
              </a:rPr>
              <a:t>부팅 후</a:t>
            </a:r>
            <a:r>
              <a:rPr lang="en-US" altLang="ko-KR" sz="1400" b="1" dirty="0">
                <a:solidFill>
                  <a:srgbClr val="002060"/>
                </a:solidFill>
              </a:rPr>
              <a:t>,  WiFi </a:t>
            </a:r>
            <a:r>
              <a:rPr lang="ko-KR" altLang="en-US" sz="1400" b="1" dirty="0">
                <a:solidFill>
                  <a:srgbClr val="002060"/>
                </a:solidFill>
              </a:rPr>
              <a:t>연결 안된다면</a:t>
            </a:r>
            <a:r>
              <a:rPr lang="en-US" altLang="ko-KR" sz="1400" b="1" dirty="0">
                <a:solidFill>
                  <a:srgbClr val="002060"/>
                </a:solidFill>
              </a:rPr>
              <a:t>,</a:t>
            </a:r>
            <a:endParaRPr lang="ko-KR" altLang="en-US" sz="1400" b="1" dirty="0">
              <a:solidFill>
                <a:srgbClr val="002060"/>
              </a:solidFill>
            </a:endParaRPr>
          </a:p>
        </p:txBody>
      </p:sp>
      <p:pic>
        <p:nvPicPr>
          <p:cNvPr id="7" name="그림 6">
            <a:extLst>
              <a:ext uri="{FF2B5EF4-FFF2-40B4-BE49-F238E27FC236}">
                <a16:creationId xmlns:a16="http://schemas.microsoft.com/office/drawing/2014/main" id="{351C01D1-B1D0-8898-18B7-E57E921C59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74205" y="939192"/>
            <a:ext cx="6077798" cy="3486637"/>
          </a:xfrm>
          <a:prstGeom prst="rect">
            <a:avLst/>
          </a:prstGeom>
        </p:spPr>
      </p:pic>
      <p:sp>
        <p:nvSpPr>
          <p:cNvPr id="12" name="화살표: 오른쪽 11">
            <a:extLst>
              <a:ext uri="{FF2B5EF4-FFF2-40B4-BE49-F238E27FC236}">
                <a16:creationId xmlns:a16="http://schemas.microsoft.com/office/drawing/2014/main" id="{0C8E3A84-993A-14DC-C1F7-B66E7901ED90}"/>
              </a:ext>
            </a:extLst>
          </p:cNvPr>
          <p:cNvSpPr/>
          <p:nvPr/>
        </p:nvSpPr>
        <p:spPr>
          <a:xfrm>
            <a:off x="4972622" y="1989763"/>
            <a:ext cx="237994" cy="100208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CA1C472-3714-4011-6E5B-1EA288F40656}"/>
              </a:ext>
            </a:extLst>
          </p:cNvPr>
          <p:cNvSpPr txBox="1"/>
          <p:nvPr/>
        </p:nvSpPr>
        <p:spPr>
          <a:xfrm>
            <a:off x="5413160" y="600096"/>
            <a:ext cx="1649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2060"/>
                </a:solidFill>
              </a:rPr>
              <a:t>2. WiFi SSID </a:t>
            </a:r>
            <a:r>
              <a:rPr lang="ko-KR" altLang="en-US" sz="1400" b="1" dirty="0">
                <a:solidFill>
                  <a:srgbClr val="002060"/>
                </a:solidFill>
              </a:rPr>
              <a:t>선택</a:t>
            </a:r>
          </a:p>
        </p:txBody>
      </p:sp>
      <p:pic>
        <p:nvPicPr>
          <p:cNvPr id="17" name="그림 16">
            <a:extLst>
              <a:ext uri="{FF2B5EF4-FFF2-40B4-BE49-F238E27FC236}">
                <a16:creationId xmlns:a16="http://schemas.microsoft.com/office/drawing/2014/main" id="{A0F838F9-12B3-0AFC-C0B0-7355EB41406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13160" y="5008726"/>
            <a:ext cx="3528221" cy="1849274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8DB8C5F6-D4F1-06F5-C634-9777BB832D35}"/>
              </a:ext>
            </a:extLst>
          </p:cNvPr>
          <p:cNvSpPr txBox="1"/>
          <p:nvPr/>
        </p:nvSpPr>
        <p:spPr>
          <a:xfrm>
            <a:off x="5413160" y="4642356"/>
            <a:ext cx="162377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2060"/>
                </a:solidFill>
              </a:rPr>
              <a:t>3. Password</a:t>
            </a:r>
            <a:r>
              <a:rPr lang="ko-KR" altLang="en-US" sz="1400" b="1" dirty="0">
                <a:solidFill>
                  <a:srgbClr val="002060"/>
                </a:solidFill>
              </a:rPr>
              <a:t> 입력</a:t>
            </a:r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602617BC-530A-F6C3-06A6-028240EF5734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8257" y="4950133"/>
            <a:ext cx="3954250" cy="1742442"/>
          </a:xfrm>
          <a:prstGeom prst="rect">
            <a:avLst/>
          </a:prstGeom>
        </p:spPr>
      </p:pic>
      <p:sp>
        <p:nvSpPr>
          <p:cNvPr id="21" name="TextBox 20">
            <a:extLst>
              <a:ext uri="{FF2B5EF4-FFF2-40B4-BE49-F238E27FC236}">
                <a16:creationId xmlns:a16="http://schemas.microsoft.com/office/drawing/2014/main" id="{DF42259B-707E-472B-D1C2-7011FD8FF1DC}"/>
              </a:ext>
            </a:extLst>
          </p:cNvPr>
          <p:cNvSpPr txBox="1"/>
          <p:nvPr/>
        </p:nvSpPr>
        <p:spPr>
          <a:xfrm>
            <a:off x="348808" y="4634229"/>
            <a:ext cx="161614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1400" b="1" dirty="0">
                <a:solidFill>
                  <a:srgbClr val="002060"/>
                </a:solidFill>
              </a:rPr>
              <a:t>4. WiFi </a:t>
            </a:r>
            <a:r>
              <a:rPr lang="ko-KR" altLang="en-US" sz="1400" b="1" dirty="0">
                <a:solidFill>
                  <a:srgbClr val="002060"/>
                </a:solidFill>
              </a:rPr>
              <a:t>연결 성공</a:t>
            </a:r>
          </a:p>
        </p:txBody>
      </p:sp>
      <p:sp>
        <p:nvSpPr>
          <p:cNvPr id="22" name="화살표: 오른쪽 21">
            <a:extLst>
              <a:ext uri="{FF2B5EF4-FFF2-40B4-BE49-F238E27FC236}">
                <a16:creationId xmlns:a16="http://schemas.microsoft.com/office/drawing/2014/main" id="{9F36EA13-2DC1-AD9C-C5D8-965CCBFFC4F6}"/>
              </a:ext>
            </a:extLst>
          </p:cNvPr>
          <p:cNvSpPr/>
          <p:nvPr/>
        </p:nvSpPr>
        <p:spPr>
          <a:xfrm flipH="1">
            <a:off x="4797258" y="5320313"/>
            <a:ext cx="300624" cy="100208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화살표: 오른쪽 22">
            <a:extLst>
              <a:ext uri="{FF2B5EF4-FFF2-40B4-BE49-F238E27FC236}">
                <a16:creationId xmlns:a16="http://schemas.microsoft.com/office/drawing/2014/main" id="{F13A484B-98E5-8BE3-FB39-41139821F67D}"/>
              </a:ext>
            </a:extLst>
          </p:cNvPr>
          <p:cNvSpPr/>
          <p:nvPr/>
        </p:nvSpPr>
        <p:spPr>
          <a:xfrm rot="16200000" flipH="1">
            <a:off x="7891187" y="4216236"/>
            <a:ext cx="300624" cy="1002082"/>
          </a:xfrm>
          <a:prstGeom prst="rightArrow">
            <a:avLst/>
          </a:prstGeom>
          <a:solidFill>
            <a:schemeClr val="tx1">
              <a:lumMod val="50000"/>
              <a:lumOff val="5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9324441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46BEB4-F89D-951A-B483-2C7C7D1A78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DF6610E4-3D85-1D37-863B-3C9A9639B4E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D3DDF1DA-7239-F844-D112-978D04804793}"/>
              </a:ext>
            </a:extLst>
          </p:cNvPr>
          <p:cNvSpPr/>
          <p:nvPr/>
        </p:nvSpPr>
        <p:spPr>
          <a:xfrm>
            <a:off x="3789058" y="-3715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wifi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61BED1C0-FAC1-2C89-AD81-BA8E9F52037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72" y="817280"/>
            <a:ext cx="8420734" cy="5807404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B210F68-56E5-F529-E9D8-B60DE6B4FAEB}"/>
              </a:ext>
            </a:extLst>
          </p:cNvPr>
          <p:cNvSpPr txBox="1"/>
          <p:nvPr/>
        </p:nvSpPr>
        <p:spPr>
          <a:xfrm>
            <a:off x="7701698" y="168583"/>
            <a:ext cx="39244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WiFi </a:t>
            </a:r>
            <a:r>
              <a:rPr lang="ko-KR" altLang="en-US" dirty="0"/>
              <a:t>연결 안되면</a:t>
            </a:r>
            <a:r>
              <a:rPr lang="en-US" altLang="ko-KR" dirty="0"/>
              <a:t>, </a:t>
            </a:r>
            <a:r>
              <a:rPr lang="ko-KR" altLang="en-US" dirty="0"/>
              <a:t>모바일 핫스팟 사용</a:t>
            </a:r>
          </a:p>
        </p:txBody>
      </p:sp>
    </p:spTree>
    <p:extLst>
      <p:ext uri="{BB962C8B-B14F-4D97-AF65-F5344CB8AC3E}">
        <p14:creationId xmlns:p14="http://schemas.microsoft.com/office/powerpoint/2010/main" val="847487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49FCA8-293D-0C7B-C317-DF3C6FBBF8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DFBAC87-6C7D-E833-0E19-BC879A0BCFD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F891A5B-C50F-49F4-0CF7-1B9457A2B90C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 </a:t>
            </a:r>
            <a:r>
              <a:rPr lang="ko-KR" altLang="en-US" sz="2000" b="1" dirty="0"/>
              <a:t>개발 환경 설정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8319ECA3-AD73-AB5B-75EE-F2F5447377E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348" y="956590"/>
            <a:ext cx="4579478" cy="4103090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5DD4981F-E7D1-C347-1B0D-A81F5CDE5A5A}"/>
              </a:ext>
            </a:extLst>
          </p:cNvPr>
          <p:cNvSpPr txBox="1"/>
          <p:nvPr/>
        </p:nvSpPr>
        <p:spPr>
          <a:xfrm>
            <a:off x="4948758" y="840768"/>
            <a:ext cx="2571858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putty</a:t>
            </a:r>
            <a:r>
              <a:rPr lang="ko-KR" altLang="en-US" dirty="0"/>
              <a:t> 연결</a:t>
            </a:r>
            <a:endParaRPr lang="en-US" altLang="ko-KR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 환경 설치 </a:t>
            </a:r>
            <a:r>
              <a:rPr lang="en-US" altLang="ko-KR" dirty="0"/>
              <a:t>: </a:t>
            </a:r>
            <a:r>
              <a:rPr lang="en-US" altLang="ko-KR" dirty="0" err="1"/>
              <a:t>venv</a:t>
            </a:r>
            <a:endParaRPr lang="ko-KR" altLang="en-US" dirty="0"/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487C47F-C300-A15C-4D0F-57D3AD02BCAD}"/>
              </a:ext>
            </a:extLst>
          </p:cNvPr>
          <p:cNvSpPr txBox="1"/>
          <p:nvPr/>
        </p:nvSpPr>
        <p:spPr>
          <a:xfrm>
            <a:off x="4907280" y="1562298"/>
            <a:ext cx="668528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/>
              <a:t>sudo apt update</a:t>
            </a:r>
          </a:p>
          <a:p>
            <a:r>
              <a:rPr lang="en-US" altLang="ko-KR" dirty="0"/>
              <a:t>sudo apt full-upgrade</a:t>
            </a:r>
          </a:p>
          <a:p>
            <a:r>
              <a:rPr lang="en-US" altLang="ko-KR" dirty="0"/>
              <a:t>sudo apt install -y python3-venv python3-pip</a:t>
            </a:r>
            <a:endParaRPr lang="ko-KR" altLang="en-US" dirty="0"/>
          </a:p>
        </p:txBody>
      </p:sp>
      <p:pic>
        <p:nvPicPr>
          <p:cNvPr id="20" name="그림 19">
            <a:extLst>
              <a:ext uri="{FF2B5EF4-FFF2-40B4-BE49-F238E27FC236}">
                <a16:creationId xmlns:a16="http://schemas.microsoft.com/office/drawing/2014/main" id="{1DAEA7C3-17AB-94A0-CEC9-A700C30C559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48758" y="2602706"/>
            <a:ext cx="6602324" cy="1652587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1563852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7D99FAF-37DE-9550-3512-78C6F2D61D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A9ABAA8C-4718-3ED0-2460-A5652DF1F0B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89E46074-E61D-8C75-75E6-D5F62A3C7C41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522288" indent="-342900">
              <a:buFont typeface="Arial" panose="020B0604020202020204" pitchFamily="34" charset="0"/>
              <a:buChar char="•"/>
            </a:pPr>
            <a:r>
              <a:rPr lang="en-US" altLang="ko-KR" sz="2000" b="1" dirty="0"/>
              <a:t>Raspberry Pi  </a:t>
            </a:r>
            <a:r>
              <a:rPr lang="ko-KR" altLang="en-US" sz="2000" b="1" dirty="0"/>
              <a:t>개발 환경 설정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139B052-4E1F-FBCC-25AA-F945664D3760}"/>
              </a:ext>
            </a:extLst>
          </p:cNvPr>
          <p:cNvSpPr txBox="1"/>
          <p:nvPr/>
        </p:nvSpPr>
        <p:spPr>
          <a:xfrm>
            <a:off x="88555" y="741457"/>
            <a:ext cx="19928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1. </a:t>
            </a:r>
            <a:r>
              <a:rPr lang="ko-KR" altLang="en-US" dirty="0">
                <a:solidFill>
                  <a:srgbClr val="0000FF"/>
                </a:solidFill>
              </a:rPr>
              <a:t>한글 폰트 설치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B7A7E1-36EB-4F34-EE63-1497A9B9DF4B}"/>
              </a:ext>
            </a:extLst>
          </p:cNvPr>
          <p:cNvSpPr txBox="1"/>
          <p:nvPr/>
        </p:nvSpPr>
        <p:spPr>
          <a:xfrm>
            <a:off x="293077" y="1110789"/>
            <a:ext cx="6096000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Consolas" panose="020B0609020204030204" pitchFamily="49" charset="0"/>
              </a:rPr>
              <a:t>sudo </a:t>
            </a:r>
            <a:r>
              <a:rPr lang="ko-KR" altLang="en-US" dirty="0" err="1">
                <a:latin typeface="Consolas" panose="020B0609020204030204" pitchFamily="49" charset="0"/>
              </a:rPr>
              <a:t>apt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update</a:t>
            </a:r>
            <a:endParaRPr lang="en-US" altLang="ko-KR" dirty="0">
              <a:latin typeface="Consolas" panose="020B0609020204030204" pitchFamily="49" charset="0"/>
            </a:endParaRPr>
          </a:p>
          <a:p>
            <a:r>
              <a:rPr lang="en-US" altLang="ko-KR" dirty="0">
                <a:latin typeface="Consolas" panose="020B0609020204030204" pitchFamily="49" charset="0"/>
              </a:rPr>
              <a:t>sudo apt upgrade</a:t>
            </a:r>
            <a:endParaRPr lang="ko-KR" altLang="en-US" dirty="0">
              <a:latin typeface="Consolas" panose="020B0609020204030204" pitchFamily="49" charset="0"/>
            </a:endParaRPr>
          </a:p>
          <a:p>
            <a:r>
              <a:rPr lang="ko-KR" altLang="en-US" dirty="0">
                <a:latin typeface="Consolas" panose="020B0609020204030204" pitchFamily="49" charset="0"/>
              </a:rPr>
              <a:t>sudo </a:t>
            </a:r>
            <a:r>
              <a:rPr lang="ko-KR" altLang="en-US" dirty="0" err="1">
                <a:latin typeface="Consolas" panose="020B0609020204030204" pitchFamily="49" charset="0"/>
              </a:rPr>
              <a:t>apt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install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fonts-unfonts-core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fonts-nanum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A8A0E2E-CEF8-6B64-5520-5C7A94377BD3}"/>
              </a:ext>
            </a:extLst>
          </p:cNvPr>
          <p:cNvSpPr txBox="1"/>
          <p:nvPr/>
        </p:nvSpPr>
        <p:spPr>
          <a:xfrm>
            <a:off x="147224" y="2092617"/>
            <a:ext cx="38683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2. </a:t>
            </a:r>
            <a:r>
              <a:rPr lang="ko-KR" altLang="en-US" dirty="0">
                <a:solidFill>
                  <a:srgbClr val="0000FF"/>
                </a:solidFill>
              </a:rPr>
              <a:t>한글 </a:t>
            </a:r>
            <a:r>
              <a:rPr lang="ko-KR" altLang="en-US" dirty="0" err="1">
                <a:solidFill>
                  <a:srgbClr val="0000FF"/>
                </a:solidFill>
              </a:rPr>
              <a:t>입력기</a:t>
            </a:r>
            <a:r>
              <a:rPr lang="ko-KR" altLang="en-US" dirty="0">
                <a:solidFill>
                  <a:srgbClr val="0000FF"/>
                </a:solidFill>
              </a:rPr>
              <a:t> 설치</a:t>
            </a:r>
            <a:r>
              <a:rPr lang="en-US" altLang="ko-KR" dirty="0">
                <a:solidFill>
                  <a:srgbClr val="0000FF"/>
                </a:solidFill>
              </a:rPr>
              <a:t>(</a:t>
            </a:r>
            <a:r>
              <a:rPr lang="en-US" altLang="ko-KR" dirty="0" err="1">
                <a:solidFill>
                  <a:srgbClr val="0000FF"/>
                </a:solidFill>
              </a:rPr>
              <a:t>IBus</a:t>
            </a:r>
            <a:r>
              <a:rPr lang="en-US" altLang="ko-KR" dirty="0">
                <a:solidFill>
                  <a:srgbClr val="0000FF"/>
                </a:solidFill>
              </a:rPr>
              <a:t> + Hangul)</a:t>
            </a:r>
            <a:endParaRPr lang="ko-KR" altLang="en-US" dirty="0">
              <a:solidFill>
                <a:srgbClr val="0000FF"/>
              </a:solidFill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A917EAF-5202-E98A-7607-59FA076B6B77}"/>
              </a:ext>
            </a:extLst>
          </p:cNvPr>
          <p:cNvSpPr txBox="1"/>
          <p:nvPr/>
        </p:nvSpPr>
        <p:spPr>
          <a:xfrm>
            <a:off x="293077" y="2433668"/>
            <a:ext cx="609600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dirty="0">
                <a:latin typeface="Consolas" panose="020B0609020204030204" pitchFamily="49" charset="0"/>
              </a:rPr>
              <a:t>sudo </a:t>
            </a:r>
            <a:r>
              <a:rPr lang="ko-KR" altLang="en-US" dirty="0" err="1">
                <a:latin typeface="Consolas" panose="020B0609020204030204" pitchFamily="49" charset="0"/>
              </a:rPr>
              <a:t>apt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install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ibus</a:t>
            </a:r>
            <a:r>
              <a:rPr lang="ko-KR" altLang="en-US" dirty="0">
                <a:latin typeface="Consolas" panose="020B0609020204030204" pitchFamily="49" charset="0"/>
              </a:rPr>
              <a:t> </a:t>
            </a:r>
            <a:r>
              <a:rPr lang="ko-KR" altLang="en-US" dirty="0" err="1">
                <a:latin typeface="Consolas" panose="020B0609020204030204" pitchFamily="49" charset="0"/>
              </a:rPr>
              <a:t>ibus-hangul</a:t>
            </a:r>
            <a:endParaRPr lang="ko-KR" altLang="en-US" dirty="0"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5817E2E-9362-C0A0-DF36-A01DE20FE6E2}"/>
              </a:ext>
            </a:extLst>
          </p:cNvPr>
          <p:cNvSpPr txBox="1"/>
          <p:nvPr/>
        </p:nvSpPr>
        <p:spPr>
          <a:xfrm>
            <a:off x="147224" y="2957449"/>
            <a:ext cx="490268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3. </a:t>
            </a:r>
            <a:r>
              <a:rPr lang="ko-KR" altLang="en-US" dirty="0" err="1">
                <a:solidFill>
                  <a:srgbClr val="0000FF"/>
                </a:solidFill>
              </a:rPr>
              <a:t>입력기</a:t>
            </a:r>
            <a:r>
              <a:rPr lang="ko-KR" altLang="en-US" dirty="0">
                <a:solidFill>
                  <a:srgbClr val="0000FF"/>
                </a:solidFill>
              </a:rPr>
              <a:t> 설정 </a:t>
            </a:r>
            <a:r>
              <a:rPr lang="en-US" altLang="ko-KR" dirty="0">
                <a:solidFill>
                  <a:srgbClr val="0000FF"/>
                </a:solidFill>
                <a:sym typeface="Wingdings" panose="05000000000000000000" pitchFamily="2" charset="2"/>
              </a:rPr>
              <a:t> Raspberry pi Configuration</a:t>
            </a:r>
            <a:endParaRPr lang="ko-KR" altLang="en-US" dirty="0">
              <a:solidFill>
                <a:srgbClr val="0000FF"/>
              </a:solidFill>
            </a:endParaRPr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BE86D085-6C55-5F0D-1A46-C035EE2B36F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3493625"/>
            <a:ext cx="3591426" cy="1971950"/>
          </a:xfrm>
          <a:prstGeom prst="rect">
            <a:avLst/>
          </a:prstGeom>
        </p:spPr>
      </p:pic>
      <p:pic>
        <p:nvPicPr>
          <p:cNvPr id="11" name="그림 10">
            <a:extLst>
              <a:ext uri="{FF2B5EF4-FFF2-40B4-BE49-F238E27FC236}">
                <a16:creationId xmlns:a16="http://schemas.microsoft.com/office/drawing/2014/main" id="{E45F2BDA-6252-59B4-E360-D1CFC69C53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4433" y="3493625"/>
            <a:ext cx="4515480" cy="1810003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590F5ECB-9051-146A-C8D7-2BC43AD9C046}"/>
              </a:ext>
            </a:extLst>
          </p:cNvPr>
          <p:cNvSpPr txBox="1"/>
          <p:nvPr/>
        </p:nvSpPr>
        <p:spPr>
          <a:xfrm>
            <a:off x="581325" y="5465575"/>
            <a:ext cx="31678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 err="1"/>
              <a:t>IBus</a:t>
            </a:r>
            <a:r>
              <a:rPr lang="en-US" altLang="ko-KR" dirty="0"/>
              <a:t> </a:t>
            </a:r>
            <a:r>
              <a:rPr lang="ko-KR" altLang="en-US" dirty="0"/>
              <a:t>입력기에서 한국어 추가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3BF9B1F9-D40F-3C36-96ED-54695B6AB511}"/>
              </a:ext>
            </a:extLst>
          </p:cNvPr>
          <p:cNvSpPr txBox="1"/>
          <p:nvPr/>
        </p:nvSpPr>
        <p:spPr>
          <a:xfrm>
            <a:off x="5704310" y="5465575"/>
            <a:ext cx="281827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Locale  Korean </a:t>
            </a:r>
            <a:r>
              <a:rPr lang="ko-KR" altLang="en-US" dirty="0"/>
              <a:t>으로 설정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643FD907-D4FD-1AE0-6822-ED4BDEDD7AE7}"/>
              </a:ext>
            </a:extLst>
          </p:cNvPr>
          <p:cNvSpPr txBox="1"/>
          <p:nvPr/>
        </p:nvSpPr>
        <p:spPr>
          <a:xfrm>
            <a:off x="147224" y="6116543"/>
            <a:ext cx="42765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>
                <a:solidFill>
                  <a:srgbClr val="0000FF"/>
                </a:solidFill>
              </a:rPr>
              <a:t>4. Reboot </a:t>
            </a:r>
            <a:r>
              <a:rPr lang="ko-KR" altLang="en-US" dirty="0">
                <a:solidFill>
                  <a:srgbClr val="0000FF"/>
                </a:solidFill>
              </a:rPr>
              <a:t>하면 한글 쓰기</a:t>
            </a:r>
            <a:r>
              <a:rPr lang="en-US" altLang="ko-KR" dirty="0">
                <a:solidFill>
                  <a:srgbClr val="0000FF"/>
                </a:solidFill>
              </a:rPr>
              <a:t>, </a:t>
            </a:r>
            <a:r>
              <a:rPr lang="ko-KR" altLang="en-US" dirty="0">
                <a:solidFill>
                  <a:srgbClr val="0000FF"/>
                </a:solidFill>
              </a:rPr>
              <a:t>보기 모두 됨</a:t>
            </a:r>
          </a:p>
        </p:txBody>
      </p:sp>
    </p:spTree>
    <p:extLst>
      <p:ext uri="{BB962C8B-B14F-4D97-AF65-F5344CB8AC3E}">
        <p14:creationId xmlns:p14="http://schemas.microsoft.com/office/powerpoint/2010/main" val="155037407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04E998-77D9-D7C8-C1CB-9C80F2428B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003A58A0-3662-5B90-02BA-42268D3773A6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BE0E3BF3-3F80-0090-6B17-2717BC2C2D08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가상 환경 설치</a:t>
            </a: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4C8AC454-F331-63AC-95F9-927FA1183FB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84925" y="1268330"/>
            <a:ext cx="7811590" cy="1171739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D2F5AB1E-0306-B743-6865-65FD84884687}"/>
              </a:ext>
            </a:extLst>
          </p:cNvPr>
          <p:cNvSpPr txBox="1"/>
          <p:nvPr/>
        </p:nvSpPr>
        <p:spPr>
          <a:xfrm flipH="1">
            <a:off x="290285" y="848198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현재 폴더 내용 확인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DCD1DC8-52B4-F025-7F73-308E1A97666F}"/>
              </a:ext>
            </a:extLst>
          </p:cNvPr>
          <p:cNvSpPr txBox="1"/>
          <p:nvPr/>
        </p:nvSpPr>
        <p:spPr>
          <a:xfrm flipH="1">
            <a:off x="310605" y="2707471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work </a:t>
            </a:r>
            <a:r>
              <a:rPr lang="ko-KR" altLang="en-US" dirty="0"/>
              <a:t>폴더 생성 </a:t>
            </a:r>
            <a:r>
              <a:rPr lang="en-US" altLang="ko-KR" dirty="0"/>
              <a:t>: </a:t>
            </a:r>
            <a:r>
              <a:rPr lang="en-US" altLang="ko-KR" dirty="0" err="1"/>
              <a:t>mkdir</a:t>
            </a:r>
            <a:r>
              <a:rPr lang="en-US" altLang="ko-KR" dirty="0"/>
              <a:t> work</a:t>
            </a:r>
            <a:endParaRPr lang="ko-KR" altLang="en-US" dirty="0"/>
          </a:p>
        </p:txBody>
      </p:sp>
      <p:pic>
        <p:nvPicPr>
          <p:cNvPr id="10" name="그림 9">
            <a:extLst>
              <a:ext uri="{FF2B5EF4-FFF2-40B4-BE49-F238E27FC236}">
                <a16:creationId xmlns:a16="http://schemas.microsoft.com/office/drawing/2014/main" id="{FD135896-A706-0150-7861-8A03E1570B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84" y="3076802"/>
            <a:ext cx="5999785" cy="134112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A0B387DC-A12F-0628-FD0A-B19F0B00AF58}"/>
              </a:ext>
            </a:extLst>
          </p:cNvPr>
          <p:cNvSpPr txBox="1"/>
          <p:nvPr/>
        </p:nvSpPr>
        <p:spPr>
          <a:xfrm flipH="1">
            <a:off x="290285" y="4566743"/>
            <a:ext cx="81323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python3.11</a:t>
            </a:r>
            <a:r>
              <a:rPr lang="ko-KR" altLang="en-US" dirty="0"/>
              <a:t> 버전으로 가상환경 만들기 </a:t>
            </a:r>
            <a:r>
              <a:rPr lang="en-US" altLang="ko-KR" dirty="0"/>
              <a:t>:  python3.11 -m </a:t>
            </a:r>
            <a:r>
              <a:rPr lang="en-US" altLang="ko-KR" dirty="0" err="1"/>
              <a:t>venv</a:t>
            </a:r>
            <a:r>
              <a:rPr lang="en-US" altLang="ko-KR" dirty="0"/>
              <a:t> .</a:t>
            </a:r>
            <a:r>
              <a:rPr lang="en-US" altLang="ko-KR" dirty="0" err="1"/>
              <a:t>venv</a:t>
            </a:r>
            <a:endParaRPr lang="ko-KR" altLang="en-US" dirty="0"/>
          </a:p>
        </p:txBody>
      </p:sp>
      <p:pic>
        <p:nvPicPr>
          <p:cNvPr id="14" name="그림 13">
            <a:extLst>
              <a:ext uri="{FF2B5EF4-FFF2-40B4-BE49-F238E27FC236}">
                <a16:creationId xmlns:a16="http://schemas.microsoft.com/office/drawing/2014/main" id="{027A72D3-C3C8-82CB-43DD-0E532341C2B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7593" y="4976714"/>
            <a:ext cx="3841807" cy="1200565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  <p:extLst>
      <p:ext uri="{BB962C8B-B14F-4D97-AF65-F5344CB8AC3E}">
        <p14:creationId xmlns:p14="http://schemas.microsoft.com/office/powerpoint/2010/main" val="39738543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B8027B-10CD-6622-3BBD-2176FA2EF4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7B8BCF29-8100-0B16-7AFA-B25C1C7D4248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rgbClr val="00206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실습 환경</a:t>
            </a:r>
          </a:p>
        </p:txBody>
      </p:sp>
      <p:sp>
        <p:nvSpPr>
          <p:cNvPr id="2" name="직사각형 1">
            <a:extLst>
              <a:ext uri="{FF2B5EF4-FFF2-40B4-BE49-F238E27FC236}">
                <a16:creationId xmlns:a16="http://schemas.microsoft.com/office/drawing/2014/main" id="{0699EDBA-701A-808B-913E-705484D7D39E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가상 환경 설치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173B5AF-EDF6-DE72-FC41-2BE9DE48370D}"/>
              </a:ext>
            </a:extLst>
          </p:cNvPr>
          <p:cNvSpPr txBox="1"/>
          <p:nvPr/>
        </p:nvSpPr>
        <p:spPr>
          <a:xfrm flipH="1">
            <a:off x="290285" y="848198"/>
            <a:ext cx="33375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ko-KR" altLang="en-US" dirty="0"/>
              <a:t>가상환경 실행</a:t>
            </a: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BD8BE4D6-5A77-1E57-E15A-5A1323F814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38908" y="1852031"/>
            <a:ext cx="6687483" cy="1800476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A0732013-9003-4745-D051-D09DD62A6122}"/>
              </a:ext>
            </a:extLst>
          </p:cNvPr>
          <p:cNvSpPr txBox="1"/>
          <p:nvPr/>
        </p:nvSpPr>
        <p:spPr>
          <a:xfrm>
            <a:off x="538908" y="1205700"/>
            <a:ext cx="255884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dirty="0"/>
              <a:t>source .</a:t>
            </a:r>
            <a:r>
              <a:rPr lang="en-US" altLang="ko-KR" dirty="0" err="1"/>
              <a:t>venv</a:t>
            </a:r>
            <a:r>
              <a:rPr lang="en-US" altLang="ko-KR" dirty="0"/>
              <a:t>/bin/activate</a:t>
            </a:r>
          </a:p>
          <a:p>
            <a:r>
              <a:rPr lang="en-US" altLang="ko-KR" dirty="0"/>
              <a:t>deactivate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7030672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C3FDCF-7AF7-FCD8-0E9F-F4F6F6C8C6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40940FF2-ED9B-05A8-4358-545E721CCE2B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1868EAB-4E9D-6684-A1AD-4E738536865F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파일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디렉토리 관련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C03A567-C988-2425-6772-36DF9B744CD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41293527"/>
              </p:ext>
            </p:extLst>
          </p:nvPr>
        </p:nvGraphicFramePr>
        <p:xfrm>
          <a:off x="446729" y="912654"/>
          <a:ext cx="10515600" cy="4689578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1910391">
                  <a:extLst>
                    <a:ext uri="{9D8B030D-6E8A-4147-A177-3AD203B41FA5}">
                      <a16:colId xmlns:a16="http://schemas.microsoft.com/office/drawing/2014/main" val="220936529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81765637"/>
                    </a:ext>
                  </a:extLst>
                </a:gridCol>
                <a:gridCol w="3233109">
                  <a:extLst>
                    <a:ext uri="{9D8B030D-6E8A-4147-A177-3AD203B41FA5}">
                      <a16:colId xmlns:a16="http://schemas.microsoft.com/office/drawing/2014/main" val="2686932100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137572290"/>
                    </a:ext>
                  </a:extLst>
                </a:gridCol>
              </a:tblGrid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명령어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자주 쓰는 옵션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예시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7032408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pwd</a:t>
                      </a:r>
                      <a:endParaRPr 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현재 경로 출력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pwd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83228950"/>
                  </a:ext>
                </a:extLst>
              </a:tr>
              <a:tr h="76986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ls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파일 목록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-a</a:t>
                      </a:r>
                      <a:r>
                        <a:rPr lang="ko-KR" altLang="en-US" dirty="0"/>
                        <a:t> 숨김 파일 보기</a:t>
                      </a:r>
                      <a:r>
                        <a:rPr lang="en-US" altLang="ko-KR" dirty="0"/>
                        <a:t> </a:t>
                      </a:r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-l</a:t>
                      </a:r>
                      <a:r>
                        <a:rPr lang="ko-KR" altLang="en-US" dirty="0"/>
                        <a:t> 자세히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ls -la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85089344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cd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디렉터리 이동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ko-KR" altLang="en-US" dirty="0"/>
                        <a:t>  </a:t>
                      </a:r>
                      <a:r>
                        <a:rPr lang="en-US" altLang="ko-KR" dirty="0"/>
                        <a:t>..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cd ~/projects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5559875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mkdir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디렉터리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-p </a:t>
                      </a:r>
                      <a:r>
                        <a:rPr lang="ko-KR" altLang="en-US"/>
                        <a:t>상위까지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mkdir -p data/raw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4742331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cp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폴더 복사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-r </a:t>
                      </a:r>
                      <a:r>
                        <a:rPr lang="ko-KR" altLang="en-US" dirty="0"/>
                        <a:t>폴더와 모든 내용 복사</a:t>
                      </a:r>
                      <a:endParaRPr lang="en-US" altLang="ko-KR" dirty="0"/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en-US" dirty="0"/>
                        <a:t>a </a:t>
                      </a:r>
                      <a:r>
                        <a:rPr lang="ko-KR" altLang="en-US" dirty="0"/>
                        <a:t>속성 유지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cp -a src/ dst/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46834447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mv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파일</a:t>
                      </a:r>
                      <a:r>
                        <a:rPr lang="en-US" altLang="ko-KR" dirty="0"/>
                        <a:t>,</a:t>
                      </a:r>
                      <a:r>
                        <a:rPr lang="ko-KR" altLang="en-US" dirty="0"/>
                        <a:t>폴더 이동</a:t>
                      </a:r>
                      <a:r>
                        <a:rPr lang="en-US" altLang="ko-KR" dirty="0"/>
                        <a:t>/</a:t>
                      </a:r>
                      <a:r>
                        <a:rPr lang="ko-KR" altLang="en-US" dirty="0"/>
                        <a:t>이름변경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ko-KR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mv app.py app.old.py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831110595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rm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-r </a:t>
                      </a:r>
                      <a:r>
                        <a:rPr lang="ko-KR" altLang="en-US" dirty="0"/>
                        <a:t>하위 내용 포함 폴더 삭제</a:t>
                      </a:r>
                      <a:endParaRPr lang="en-US" altLang="ko-KR" dirty="0"/>
                    </a:p>
                    <a:p>
                      <a:pPr>
                        <a:buNone/>
                      </a:pPr>
                      <a:r>
                        <a:rPr lang="en-US" altLang="ko-KR" dirty="0"/>
                        <a:t>-</a:t>
                      </a:r>
                      <a:r>
                        <a:rPr lang="en-US" dirty="0"/>
                        <a:t>f </a:t>
                      </a:r>
                      <a:r>
                        <a:rPr lang="ko-KR" altLang="en-US" dirty="0"/>
                        <a:t>강제</a:t>
                      </a:r>
                      <a:r>
                        <a:rPr lang="en-US" altLang="ko-KR" dirty="0"/>
                        <a:t>(</a:t>
                      </a:r>
                      <a:r>
                        <a:rPr lang="ko-KR" altLang="en-US" dirty="0"/>
                        <a:t>묻지 않음</a:t>
                      </a:r>
                      <a:r>
                        <a:rPr lang="en-US" altLang="ko-KR" dirty="0"/>
                        <a:t>)</a:t>
                      </a:r>
                      <a:endParaRPr lang="ko-KR" altLang="en-US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rm -rf build/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37908987"/>
                  </a:ext>
                </a:extLst>
              </a:tr>
              <a:tr h="43992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tree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트리 구조로 보기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-L </a:t>
                      </a:r>
                      <a:r>
                        <a:rPr lang="ko-KR" altLang="en-US"/>
                        <a:t>깊이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tree -L 2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9255339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77830445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0B5E4E8-2D06-DF7B-3262-20CB5DF18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61098AF3-957B-1154-B63A-DBAC2F97407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420795D-5231-F4E6-E653-9C415E3257BF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파일 내용</a:t>
            </a:r>
            <a:r>
              <a:rPr lang="en-US" altLang="ko-KR" sz="2000" b="1" dirty="0"/>
              <a:t>, </a:t>
            </a:r>
            <a:r>
              <a:rPr lang="ko-KR" altLang="en-US" sz="2000" b="1" dirty="0"/>
              <a:t>검색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F726BD88-23FD-1F03-177B-81D3FF6BA39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678988"/>
              </p:ext>
            </p:extLst>
          </p:nvPr>
        </p:nvGraphicFramePr>
        <p:xfrm>
          <a:off x="259449" y="909714"/>
          <a:ext cx="11012080" cy="4769724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753020">
                  <a:extLst>
                    <a:ext uri="{9D8B030D-6E8A-4147-A177-3AD203B41FA5}">
                      <a16:colId xmlns:a16="http://schemas.microsoft.com/office/drawing/2014/main" val="2744779815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1626302170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506785700"/>
                    </a:ext>
                  </a:extLst>
                </a:gridCol>
                <a:gridCol w="2753020">
                  <a:extLst>
                    <a:ext uri="{9D8B030D-6E8A-4147-A177-3AD203B41FA5}">
                      <a16:colId xmlns:a16="http://schemas.microsoft.com/office/drawing/2014/main" val="1833027346"/>
                    </a:ext>
                  </a:extLst>
                </a:gridCol>
              </a:tblGrid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용도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자주 쓰는 옵션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b="1" dirty="0">
                          <a:latin typeface="+mn-ea"/>
                          <a:ea typeface="+mn-ea"/>
                        </a:rPr>
                        <a:t>예시</a:t>
                      </a:r>
                    </a:p>
                  </a:txBody>
                  <a:tcPr marL="85320" marR="85320" marT="42660" marB="42660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57804334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cat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파일 출력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cat config.yaml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055724171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less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페이지 단위 보기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-S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줄바꿈 금지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less -S logs.txt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486559717"/>
                  </a:ext>
                </a:extLst>
              </a:tr>
              <a:tr h="6500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head/tail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앞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뒤 </a:t>
                      </a:r>
                      <a:r>
                        <a:rPr lang="en-US" sz="1700">
                          <a:latin typeface="+mn-ea"/>
                          <a:ea typeface="+mn-ea"/>
                        </a:rPr>
                        <a:t>N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-n </a:t>
                      </a:r>
                      <a:r>
                        <a:rPr lang="ko-KR" altLang="en-US" sz="1700" dirty="0" err="1">
                          <a:latin typeface="+mn-ea"/>
                          <a:ea typeface="+mn-ea"/>
                        </a:rPr>
                        <a:t>줄수</a:t>
                      </a:r>
                      <a:endParaRPr lang="en-US" altLang="ko-KR" sz="1700" dirty="0">
                        <a:latin typeface="+mn-ea"/>
                        <a:ea typeface="+mn-ea"/>
                      </a:endParaRPr>
                    </a:p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en-US" sz="1700" dirty="0">
                          <a:latin typeface="+mn-ea"/>
                          <a:ea typeface="+mn-ea"/>
                        </a:rPr>
                        <a:t>f 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실시간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da-DK" sz="1700">
                          <a:latin typeface="+mn-ea"/>
                          <a:ea typeface="+mn-ea"/>
                        </a:rPr>
                        <a:t>tail -f /var/log/syslog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013744524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grep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문자열 검색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</a:t>
                      </a:r>
                      <a:r>
                        <a:rPr lang="en-US" altLang="ko-KR" sz="1700" dirty="0" err="1">
                          <a:latin typeface="+mn-ea"/>
                          <a:ea typeface="+mn-ea"/>
                        </a:rPr>
                        <a:t>i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대소문자무시</a:t>
                      </a: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, -r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재귀</a:t>
                      </a: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, </a:t>
                      </a:r>
                    </a:p>
                    <a:p>
                      <a:pPr>
                        <a:buNone/>
                      </a:pPr>
                      <a:r>
                        <a:rPr lang="en-US" altLang="ko-KR" sz="1700" dirty="0">
                          <a:latin typeface="+mn-ea"/>
                          <a:ea typeface="+mn-ea"/>
                        </a:rPr>
                        <a:t>-n</a:t>
                      </a: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ko-KR" altLang="en-US" sz="1700" dirty="0" err="1">
                          <a:latin typeface="+mn-ea"/>
                          <a:ea typeface="+mn-ea"/>
                        </a:rPr>
                        <a:t>줄번호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grep -rin "error" .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870430410"/>
                  </a:ext>
                </a:extLst>
              </a:tr>
              <a:tr h="37482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wc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줄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단어</a:t>
                      </a:r>
                      <a:r>
                        <a:rPr lang="en-US" altLang="ko-KR" sz="1700">
                          <a:latin typeface="+mn-ea"/>
                          <a:ea typeface="+mn-ea"/>
                        </a:rPr>
                        <a:t>/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바이트 수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-l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줄수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wc -l data.csv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2781661255"/>
                  </a:ext>
                </a:extLst>
              </a:tr>
              <a:tr h="650009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diff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파일 비교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-u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통합형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diff -u a.txt b.txt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67400573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sed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스트림 편집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-i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덮어쓰기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sed -</a:t>
                      </a:r>
                      <a:r>
                        <a:rPr lang="en-US" sz="1700" dirty="0" err="1">
                          <a:latin typeface="+mn-ea"/>
                          <a:ea typeface="+mn-ea"/>
                        </a:rPr>
                        <a:t>i</a:t>
                      </a:r>
                      <a:r>
                        <a:rPr lang="en-US" sz="1700" dirty="0">
                          <a:latin typeface="+mn-ea"/>
                          <a:ea typeface="+mn-ea"/>
                        </a:rPr>
                        <a:t> 's/foo/bar/g' </a:t>
                      </a:r>
                      <a:r>
                        <a:rPr lang="en-US" sz="1700" dirty="0" err="1">
                          <a:latin typeface="+mn-ea"/>
                          <a:ea typeface="+mn-ea"/>
                        </a:rPr>
                        <a:t>app.conf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185313513"/>
                  </a:ext>
                </a:extLst>
              </a:tr>
              <a:tr h="656798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awk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>
                          <a:latin typeface="+mn-ea"/>
                          <a:ea typeface="+mn-ea"/>
                        </a:rPr>
                        <a:t>컬럼 처리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>
                          <a:latin typeface="+mn-ea"/>
                          <a:ea typeface="+mn-ea"/>
                        </a:rPr>
                        <a:t>-F </a:t>
                      </a:r>
                      <a:r>
                        <a:rPr lang="ko-KR" altLang="en-US" sz="1700">
                          <a:latin typeface="+mn-ea"/>
                          <a:ea typeface="+mn-ea"/>
                        </a:rPr>
                        <a:t>구분자</a:t>
                      </a:r>
                    </a:p>
                  </a:txBody>
                  <a:tcPr marL="85320" marR="85320" marT="42660" marB="42660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>
                          <a:latin typeface="+mn-ea"/>
                          <a:ea typeface="+mn-ea"/>
                        </a:rPr>
                        <a:t>awk -F, '{print $1,$3}' file.csv</a:t>
                      </a:r>
                    </a:p>
                  </a:txBody>
                  <a:tcPr marL="85320" marR="85320" marT="42660" marB="42660" anchor="ctr"/>
                </a:tc>
                <a:extLst>
                  <a:ext uri="{0D108BD9-81ED-4DB2-BD59-A6C34878D82A}">
                    <a16:rowId xmlns:a16="http://schemas.microsoft.com/office/drawing/2014/main" val="184329109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022515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087AE31-6187-EE14-A9FA-5F522706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A470B08-7F68-768E-B193-C988C9AB452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C9BBF325-1AE5-343A-42BD-BA15583CF732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권한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175F39AF-745C-1271-4477-98A3C5F8B40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06081879"/>
              </p:ext>
            </p:extLst>
          </p:nvPr>
        </p:nvGraphicFramePr>
        <p:xfrm>
          <a:off x="482600" y="968534"/>
          <a:ext cx="10515600" cy="1517253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75738051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17598925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1378790774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211075335"/>
                    </a:ext>
                  </a:extLst>
                </a:gridCol>
              </a:tblGrid>
              <a:tr h="505751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명령어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용도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자주 쓰는 옵션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dirty="0"/>
                        <a:t>예시</a:t>
                      </a: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29618797"/>
                  </a:ext>
                </a:extLst>
              </a:tr>
              <a:tr h="5057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chmod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dirty="0"/>
                        <a:t>권한 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+x </a:t>
                      </a:r>
                      <a:r>
                        <a:rPr lang="ko-KR" altLang="en-US"/>
                        <a:t>실행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R </a:t>
                      </a:r>
                      <a:r>
                        <a:rPr lang="ko-KR" altLang="en-US"/>
                        <a:t>재귀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chmod +x run.sh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49069389"/>
                  </a:ext>
                </a:extLst>
              </a:tr>
              <a:tr h="50575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chown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소유자 변경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-R </a:t>
                      </a:r>
                      <a:r>
                        <a:rPr lang="ko-KR" altLang="en-US"/>
                        <a:t>재귀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sudo </a:t>
                      </a:r>
                      <a:r>
                        <a:rPr lang="en-US" dirty="0" err="1"/>
                        <a:t>chown</a:t>
                      </a:r>
                      <a:r>
                        <a:rPr lang="en-US" dirty="0"/>
                        <a:t> -R </a:t>
                      </a:r>
                      <a:r>
                        <a:rPr lang="en-US" dirty="0" err="1"/>
                        <a:t>pi:pi</a:t>
                      </a:r>
                      <a:r>
                        <a:rPr lang="en-US" dirty="0"/>
                        <a:t> /data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343954852"/>
                  </a:ext>
                </a:extLst>
              </a:tr>
            </a:tbl>
          </a:graphicData>
        </a:graphic>
      </p:graphicFrame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EF287EF7-C4B0-F8DE-569C-6559FB25871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23502106"/>
              </p:ext>
            </p:extLst>
          </p:nvPr>
        </p:nvGraphicFramePr>
        <p:xfrm>
          <a:off x="482600" y="3239294"/>
          <a:ext cx="7929879" cy="13411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43293">
                  <a:extLst>
                    <a:ext uri="{9D8B030D-6E8A-4147-A177-3AD203B41FA5}">
                      <a16:colId xmlns:a16="http://schemas.microsoft.com/office/drawing/2014/main" val="2961614433"/>
                    </a:ext>
                  </a:extLst>
                </a:gridCol>
                <a:gridCol w="2643293">
                  <a:extLst>
                    <a:ext uri="{9D8B030D-6E8A-4147-A177-3AD203B41FA5}">
                      <a16:colId xmlns:a16="http://schemas.microsoft.com/office/drawing/2014/main" val="4102632224"/>
                    </a:ext>
                  </a:extLst>
                </a:gridCol>
                <a:gridCol w="2643293">
                  <a:extLst>
                    <a:ext uri="{9D8B030D-6E8A-4147-A177-3AD203B41FA5}">
                      <a16:colId xmlns:a16="http://schemas.microsoft.com/office/drawing/2014/main" val="443454405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 err="1">
                          <a:latin typeface="+mn-ea"/>
                          <a:ea typeface="+mn-ea"/>
                        </a:rPr>
                        <a:t>자리수</a:t>
                      </a:r>
                      <a:endParaRPr lang="ko-KR" altLang="en-US" sz="1600" b="1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의미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b="1" dirty="0">
                          <a:latin typeface="+mn-ea"/>
                          <a:ea typeface="+mn-ea"/>
                        </a:rPr>
                        <a:t>값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52942196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첫째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사용자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u)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89083901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>
                          <a:latin typeface="+mn-ea"/>
                          <a:ea typeface="+mn-ea"/>
                        </a:rPr>
                        <a:t>둘째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그룹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g)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16444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셋째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600" dirty="0">
                          <a:latin typeface="+mn-ea"/>
                          <a:ea typeface="+mn-ea"/>
                        </a:rPr>
                        <a:t>기타</a:t>
                      </a:r>
                      <a:r>
                        <a:rPr lang="en-US" altLang="ko-KR" sz="16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en-US" sz="1600" dirty="0">
                          <a:latin typeface="+mn-ea"/>
                          <a:ea typeface="+mn-ea"/>
                        </a:rPr>
                        <a:t>o)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600" dirty="0">
                          <a:latin typeface="+mn-ea"/>
                          <a:ea typeface="+mn-ea"/>
                        </a:rPr>
                        <a:t>r=4, w=2, x=1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66943026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DA9EF19A-82AA-02DC-2653-FC15172A0A5C}"/>
              </a:ext>
            </a:extLst>
          </p:cNvPr>
          <p:cNvSpPr txBox="1"/>
          <p:nvPr/>
        </p:nvSpPr>
        <p:spPr>
          <a:xfrm>
            <a:off x="385768" y="2822725"/>
            <a:ext cx="322103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altLang="ko-KR" dirty="0"/>
              <a:t>sudo </a:t>
            </a:r>
            <a:r>
              <a:rPr lang="en-US" altLang="ko-KR" dirty="0" err="1"/>
              <a:t>chmod</a:t>
            </a:r>
            <a:r>
              <a:rPr lang="en-US" altLang="ko-KR" dirty="0"/>
              <a:t>  777 test.py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32975679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72EF018-E6CB-B1C8-A94F-6568EF5030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FA6D7384-CE73-558F-840A-391BCD48311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057EF14-A6F5-F824-8863-101B6F845992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프로세스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서비스</a:t>
            </a:r>
            <a:r>
              <a:rPr lang="en-US" altLang="ko-KR" sz="2000" b="1" dirty="0"/>
              <a:t>/</a:t>
            </a:r>
            <a:r>
              <a:rPr lang="ko-KR" altLang="en-US" sz="2000" b="1" dirty="0"/>
              <a:t>로그</a:t>
            </a:r>
          </a:p>
        </p:txBody>
      </p:sp>
      <p:graphicFrame>
        <p:nvGraphicFramePr>
          <p:cNvPr id="2" name="표 1">
            <a:extLst>
              <a:ext uri="{FF2B5EF4-FFF2-40B4-BE49-F238E27FC236}">
                <a16:creationId xmlns:a16="http://schemas.microsoft.com/office/drawing/2014/main" id="{033585BE-A57B-3EAC-E82F-4970DE1A75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2508201"/>
              </p:ext>
            </p:extLst>
          </p:nvPr>
        </p:nvGraphicFramePr>
        <p:xfrm>
          <a:off x="538169" y="1019334"/>
          <a:ext cx="10515600" cy="3349465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307651207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8876733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559162125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2496861981"/>
                    </a:ext>
                  </a:extLst>
                </a:gridCol>
              </a:tblGrid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/>
                        <a:t>명령어</a:t>
                      </a:r>
                      <a:endParaRPr lang="ko-KR" altLang="en-US" b="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/>
                        <a:t>용도</a:t>
                      </a:r>
                      <a:endParaRPr lang="ko-KR" altLang="en-US" b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/>
                        <a:t>자주 쓰는 옵션</a:t>
                      </a:r>
                      <a:endParaRPr lang="ko-KR" altLang="en-US" b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b="0" dirty="0"/>
                        <a:t>예시</a:t>
                      </a:r>
                      <a:endParaRPr lang="ko-KR" altLang="en-US" b="0" dirty="0">
                        <a:latin typeface="+mn-ea"/>
                        <a:ea typeface="+mn-ea"/>
                      </a:endParaRPr>
                    </a:p>
                  </a:txBody>
                  <a:tcPr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77119903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ps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프로세스 조회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aux </a:t>
                      </a:r>
                      <a:r>
                        <a:rPr lang="ko-KR" altLang="en-US"/>
                        <a:t>전체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ef </a:t>
                      </a:r>
                      <a:r>
                        <a:rPr lang="ko-KR" altLang="en-US"/>
                        <a:t>전체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 err="1"/>
                        <a:t>ps</a:t>
                      </a:r>
                      <a:r>
                        <a:rPr lang="en-US" dirty="0"/>
                        <a:t> aux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689156057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top / htop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실시간 모니터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htop</a:t>
                      </a:r>
                      <a:r>
                        <a:rPr lang="ko-KR" altLang="en-US"/>
                        <a:t>은 더 편리</a:t>
                      </a:r>
                      <a:r>
                        <a:rPr lang="en-US" altLang="ko-KR"/>
                        <a:t>(</a:t>
                      </a:r>
                      <a:r>
                        <a:rPr lang="ko-KR" altLang="en-US"/>
                        <a:t>설치필요</a:t>
                      </a:r>
                      <a:r>
                        <a:rPr lang="en-US" altLang="ko-KR"/>
                        <a:t>)</a:t>
                      </a:r>
                      <a:endParaRPr lang="en-US" altLang="ko-KR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htop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276596138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kill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프로세스 종료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/>
                        <a:t>-9</a:t>
                      </a:r>
                      <a:r>
                        <a:rPr lang="ko-KR" altLang="en-US"/>
                        <a:t> 강제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kill 1234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39095711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/>
                        <a:t>systemctl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서비스 제어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start/stop/status/enable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sudo systemctl status ssh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16966093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 err="1"/>
                        <a:t>journalctl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systemd </a:t>
                      </a:r>
                      <a:r>
                        <a:rPr lang="ko-KR" altLang="en-US"/>
                        <a:t>로그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-u &lt;svc&gt;, -f tail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journalctl -u nodered -f</a:t>
                      </a:r>
                      <a:endParaRPr 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3251152"/>
                  </a:ext>
                </a:extLst>
              </a:tr>
              <a:tr h="478495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dirty="0"/>
                        <a:t>crontab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/>
                        <a:t>스케줄러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-e </a:t>
                      </a:r>
                      <a:r>
                        <a:rPr lang="ko-KR" altLang="en-US"/>
                        <a:t>편집</a:t>
                      </a:r>
                      <a:r>
                        <a:rPr lang="en-US" altLang="ko-KR"/>
                        <a:t>, -</a:t>
                      </a:r>
                      <a:r>
                        <a:rPr lang="en-US"/>
                        <a:t>l </a:t>
                      </a:r>
                      <a:r>
                        <a:rPr lang="ko-KR" altLang="en-US"/>
                        <a:t>목록</a:t>
                      </a:r>
                      <a:endParaRPr lang="ko-KR" altLang="en-US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crontab -e</a:t>
                      </a:r>
                      <a:endParaRPr lang="en-US" dirty="0">
                        <a:latin typeface="+mn-ea"/>
                        <a:ea typeface="+mn-ea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52390395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2985562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59E677-99D5-023D-0D30-C98487F058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C1A3857F-8213-56F5-9568-84DEEF247C6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ko-KR" altLang="en-US" sz="2000" b="1" dirty="0"/>
              <a:t>리눅스 명령어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54F57B19-7110-C8D7-E02F-A6EE7403B3A4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rgbClr val="00B05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ko-KR" altLang="en-US" sz="2000" b="1" dirty="0"/>
              <a:t>네트워크</a:t>
            </a:r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C5E7BE53-3A70-596B-AC22-C67DE850553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55003685"/>
              </p:ext>
            </p:extLst>
          </p:nvPr>
        </p:nvGraphicFramePr>
        <p:xfrm>
          <a:off x="350282" y="951864"/>
          <a:ext cx="10846037" cy="3874136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2053750">
                  <a:extLst>
                    <a:ext uri="{9D8B030D-6E8A-4147-A177-3AD203B41FA5}">
                      <a16:colId xmlns:a16="http://schemas.microsoft.com/office/drawing/2014/main" val="1307072660"/>
                    </a:ext>
                  </a:extLst>
                </a:gridCol>
                <a:gridCol w="2169104">
                  <a:extLst>
                    <a:ext uri="{9D8B030D-6E8A-4147-A177-3AD203B41FA5}">
                      <a16:colId xmlns:a16="http://schemas.microsoft.com/office/drawing/2014/main" val="1065065863"/>
                    </a:ext>
                  </a:extLst>
                </a:gridCol>
                <a:gridCol w="2664585">
                  <a:extLst>
                    <a:ext uri="{9D8B030D-6E8A-4147-A177-3AD203B41FA5}">
                      <a16:colId xmlns:a16="http://schemas.microsoft.com/office/drawing/2014/main" val="2200821819"/>
                    </a:ext>
                  </a:extLst>
                </a:gridCol>
                <a:gridCol w="3958598">
                  <a:extLst>
                    <a:ext uri="{9D8B030D-6E8A-4147-A177-3AD203B41FA5}">
                      <a16:colId xmlns:a16="http://schemas.microsoft.com/office/drawing/2014/main" val="3735418530"/>
                    </a:ext>
                  </a:extLst>
                </a:gridCol>
              </a:tblGrid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dirty="0"/>
                        <a:t>명령어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/>
                        <a:t>용도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/>
                        <a:t>자주 쓰는 옵션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700" dirty="0"/>
                        <a:t>예시</a:t>
                      </a:r>
                      <a:endParaRPr lang="ko-KR" alt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25756695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>
                          <a:latin typeface="+mn-ea"/>
                          <a:ea typeface="+mn-ea"/>
                        </a:rPr>
                        <a:t>ifconfig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 dirty="0">
                          <a:latin typeface="+mn-ea"/>
                          <a:ea typeface="+mn-ea"/>
                        </a:rPr>
                        <a:t>네트워크 조회</a:t>
                      </a: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en-US" altLang="ko-KR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 err="1">
                          <a:latin typeface="+mn-ea"/>
                          <a:ea typeface="+mn-ea"/>
                        </a:rPr>
                        <a:t>ifconfig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1328164574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/>
                        <a:t>ping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연결 확인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-c </a:t>
                      </a:r>
                      <a:r>
                        <a:rPr lang="ko-KR" altLang="en-US" sz="1700"/>
                        <a:t>횟수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 dirty="0"/>
                        <a:t>ping -c 4 www.google.com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79895421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/>
                        <a:t>curl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HTTP </a:t>
                      </a:r>
                      <a:r>
                        <a:rPr lang="ko-KR" altLang="en-US" sz="1700"/>
                        <a:t>요청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700"/>
                        <a:t>-I</a:t>
                      </a:r>
                      <a:r>
                        <a:rPr lang="ko-KR" altLang="en-US" sz="1700"/>
                        <a:t> 헤더만</a:t>
                      </a:r>
                      <a:r>
                        <a:rPr lang="en-US" altLang="ko-KR" sz="1700"/>
                        <a:t>, -L</a:t>
                      </a:r>
                      <a:r>
                        <a:rPr lang="ko-KR" altLang="en-US" sz="1700"/>
                        <a:t> 리다이렉트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nn-NO" sz="1700" dirty="0"/>
                        <a:t>curl -I https://example.com</a:t>
                      </a:r>
                      <a:endParaRPr lang="nn-NO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494383531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/>
                        <a:t>wget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파일 다운로드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-O </a:t>
                      </a:r>
                      <a:r>
                        <a:rPr lang="ko-KR" altLang="en-US" sz="1700"/>
                        <a:t>파일명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/>
                        <a:t>wget -O cam.jpg http://.../shot.jpg</a:t>
                      </a:r>
                      <a:endParaRPr lang="pt-BR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3093895894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/>
                        <a:t>ss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소켓</a:t>
                      </a:r>
                      <a:r>
                        <a:rPr lang="en-US" altLang="ko-KR" sz="1700"/>
                        <a:t>/</a:t>
                      </a:r>
                      <a:r>
                        <a:rPr lang="ko-KR" altLang="en-US" sz="1700"/>
                        <a:t>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-tulpn </a:t>
                      </a:r>
                      <a:r>
                        <a:rPr lang="ko-KR" altLang="en-US" sz="1700"/>
                        <a:t>리슨중 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ss -tulpn</a:t>
                      </a:r>
                      <a:endParaRPr 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4417299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 err="1"/>
                        <a:t>scp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원격 복사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-r </a:t>
                      </a:r>
                      <a:r>
                        <a:rPr lang="ko-KR" altLang="en-US" sz="1700"/>
                        <a:t>재귀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pt-BR" sz="1700"/>
                        <a:t>scp -r pi@raspi:/var/log ./logs</a:t>
                      </a:r>
                      <a:endParaRPr lang="pt-BR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657191199"/>
                  </a:ext>
                </a:extLst>
              </a:tr>
              <a:tr h="484267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700" dirty="0"/>
                        <a:t>ssh</a:t>
                      </a:r>
                      <a:endParaRPr lang="en-US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700"/>
                        <a:t>원격 접속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700"/>
                        <a:t>-i </a:t>
                      </a:r>
                      <a:r>
                        <a:rPr lang="ko-KR" altLang="en-US" sz="1700"/>
                        <a:t>키</a:t>
                      </a:r>
                      <a:r>
                        <a:rPr lang="en-US" altLang="ko-KR" sz="1700"/>
                        <a:t>, -</a:t>
                      </a:r>
                      <a:r>
                        <a:rPr lang="en-US" sz="1700"/>
                        <a:t>p </a:t>
                      </a:r>
                      <a:r>
                        <a:rPr lang="ko-KR" altLang="en-US" sz="1700"/>
                        <a:t>포트</a:t>
                      </a:r>
                      <a:endParaRPr lang="ko-KR" altLang="en-US" sz="170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sv-SE" sz="1700" dirty="0"/>
                        <a:t>ssh -i ~/.ssh/id_rsa pi@192.168.0.20</a:t>
                      </a:r>
                      <a:endParaRPr lang="sv-SE" sz="1700" dirty="0">
                        <a:latin typeface="+mn-ea"/>
                        <a:ea typeface="+mn-ea"/>
                      </a:endParaRPr>
                    </a:p>
                  </a:txBody>
                  <a:tcPr marL="87027" marR="87027" marT="43513" marB="43513" anchor="ctr"/>
                </a:tc>
                <a:extLst>
                  <a:ext uri="{0D108BD9-81ED-4DB2-BD59-A6C34878D82A}">
                    <a16:rowId xmlns:a16="http://schemas.microsoft.com/office/drawing/2014/main" val="23758183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05341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FBB870-B3B2-8131-2E2C-4DBEFF3FA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9F95D38A-448F-1D31-20A6-CC3090346191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B78EBD5-6880-3B13-B7CF-A1C70DDFEEAB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97DB5168-E27C-9DDE-938B-3A1A8EA86A5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2466" y="782320"/>
            <a:ext cx="7939534" cy="6075680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994594D-6076-F559-B1F3-972C1B5F4E4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782320"/>
            <a:ext cx="4220164" cy="4639322"/>
          </a:xfrm>
          <a:prstGeom prst="rect">
            <a:avLst/>
          </a:prstGeom>
        </p:spPr>
      </p:pic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FA400F6E-7ED0-A333-3575-25F3689608C8}"/>
              </a:ext>
            </a:extLst>
          </p:cNvPr>
          <p:cNvSpPr/>
          <p:nvPr/>
        </p:nvSpPr>
        <p:spPr>
          <a:xfrm>
            <a:off x="4333240" y="5902960"/>
            <a:ext cx="193040" cy="670560"/>
          </a:xfrm>
          <a:prstGeom prst="downArrow">
            <a:avLst/>
          </a:prstGeom>
          <a:solidFill>
            <a:srgbClr val="FF0000"/>
          </a:solidFill>
          <a:ln w="2222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6977680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D5CC597-ECB9-F5A2-F5E2-2575918EB9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EBD13BB4-6C2A-A6FE-589E-2CD1F1E31E3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CABBA02-2B97-8B3B-9404-F297685C306C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0A835A15-18A8-FA9C-DEAE-36ECAE733DA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8477" y="810654"/>
            <a:ext cx="6268325" cy="1086002"/>
          </a:xfrm>
          <a:prstGeom prst="rect">
            <a:avLst/>
          </a:prstGeom>
        </p:spPr>
      </p:pic>
      <p:pic>
        <p:nvPicPr>
          <p:cNvPr id="10" name="그림 9">
            <a:extLst>
              <a:ext uri="{FF2B5EF4-FFF2-40B4-BE49-F238E27FC236}">
                <a16:creationId xmlns:a16="http://schemas.microsoft.com/office/drawing/2014/main" id="{5B01C4C9-A141-0A88-4CF2-9BB07F2128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8477" y="1978706"/>
            <a:ext cx="4429743" cy="1124107"/>
          </a:xfrm>
          <a:prstGeom prst="rect">
            <a:avLst/>
          </a:prstGeom>
        </p:spPr>
      </p:pic>
      <p:pic>
        <p:nvPicPr>
          <p:cNvPr id="12" name="그림 11">
            <a:extLst>
              <a:ext uri="{FF2B5EF4-FFF2-40B4-BE49-F238E27FC236}">
                <a16:creationId xmlns:a16="http://schemas.microsoft.com/office/drawing/2014/main" id="{E0DCB0E2-4806-51CE-8169-0FA836C4E08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8477" y="3184863"/>
            <a:ext cx="5020376" cy="1524213"/>
          </a:xfrm>
          <a:prstGeom prst="rect">
            <a:avLst/>
          </a:prstGeom>
        </p:spPr>
      </p:pic>
      <p:pic>
        <p:nvPicPr>
          <p:cNvPr id="14" name="그림 13">
            <a:extLst>
              <a:ext uri="{FF2B5EF4-FFF2-40B4-BE49-F238E27FC236}">
                <a16:creationId xmlns:a16="http://schemas.microsoft.com/office/drawing/2014/main" id="{F2904A6E-98AB-01D9-172D-27D556CC15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08477" y="4791126"/>
            <a:ext cx="3524742" cy="1095528"/>
          </a:xfrm>
          <a:prstGeom prst="rect">
            <a:avLst/>
          </a:prstGeom>
        </p:spPr>
      </p:pic>
      <p:pic>
        <p:nvPicPr>
          <p:cNvPr id="16" name="그림 15">
            <a:extLst>
              <a:ext uri="{FF2B5EF4-FFF2-40B4-BE49-F238E27FC236}">
                <a16:creationId xmlns:a16="http://schemas.microsoft.com/office/drawing/2014/main" id="{33332A80-C73C-509E-E696-5E5378CDA82F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71351" y="4791126"/>
            <a:ext cx="5210902" cy="9240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2574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FB62C51-160B-719D-09E8-FE6F2B207D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8706D121-421D-8782-EE00-F8C22296CEA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tx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VS Code  ssh </a:t>
            </a:r>
            <a:r>
              <a:rPr lang="ko-KR" altLang="en-US" sz="2000" b="1" dirty="0"/>
              <a:t>환경 설정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32C1855-F02A-6CCE-323E-98C70BF98E00}"/>
              </a:ext>
            </a:extLst>
          </p:cNvPr>
          <p:cNvSpPr/>
          <p:nvPr/>
        </p:nvSpPr>
        <p:spPr>
          <a:xfrm>
            <a:off x="3789058" y="-3715"/>
            <a:ext cx="3952862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355600" indent="-176213">
              <a:buFont typeface="Arial" panose="020B0604020202020204" pitchFamily="34" charset="0"/>
              <a:buChar char="•"/>
            </a:pPr>
            <a:r>
              <a:rPr lang="en-US" altLang="ko-KR" sz="2000" b="1" dirty="0"/>
              <a:t>Open a remote window</a:t>
            </a:r>
            <a:endParaRPr lang="ko-KR" altLang="en-US" sz="2000" b="1" dirty="0"/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1BA39CAB-4E2F-53C1-5203-246E802099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4901" y="777882"/>
            <a:ext cx="4417100" cy="3841314"/>
          </a:xfrm>
          <a:prstGeom prst="rect">
            <a:avLst/>
          </a:prstGeom>
        </p:spPr>
      </p:pic>
      <p:pic>
        <p:nvPicPr>
          <p:cNvPr id="8" name="그림 7">
            <a:extLst>
              <a:ext uri="{FF2B5EF4-FFF2-40B4-BE49-F238E27FC236}">
                <a16:creationId xmlns:a16="http://schemas.microsoft.com/office/drawing/2014/main" id="{C41D27CC-C5C0-8E79-B2A8-92CE8B4AFEB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6262" y="777882"/>
            <a:ext cx="6501018" cy="3066367"/>
          </a:xfrm>
          <a:prstGeom prst="rect">
            <a:avLst/>
          </a:prstGeom>
        </p:spPr>
      </p:pic>
      <p:sp>
        <p:nvSpPr>
          <p:cNvPr id="11" name="화살표: 아래쪽 10">
            <a:extLst>
              <a:ext uri="{FF2B5EF4-FFF2-40B4-BE49-F238E27FC236}">
                <a16:creationId xmlns:a16="http://schemas.microsoft.com/office/drawing/2014/main" id="{0C540CE0-2E37-CA6B-693A-4743644629F8}"/>
              </a:ext>
            </a:extLst>
          </p:cNvPr>
          <p:cNvSpPr/>
          <p:nvPr/>
        </p:nvSpPr>
        <p:spPr>
          <a:xfrm>
            <a:off x="10012680" y="777882"/>
            <a:ext cx="350520" cy="355600"/>
          </a:xfrm>
          <a:prstGeom prst="downArrow">
            <a:avLst/>
          </a:prstGeom>
          <a:solidFill>
            <a:srgbClr val="FF0000"/>
          </a:solidFill>
          <a:ln w="22225"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5" name="그림 14">
            <a:extLst>
              <a:ext uri="{FF2B5EF4-FFF2-40B4-BE49-F238E27FC236}">
                <a16:creationId xmlns:a16="http://schemas.microsoft.com/office/drawing/2014/main" id="{D8FB9302-4E1A-B5F0-32F1-B7D04269E2F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76582" y="3867902"/>
            <a:ext cx="5586618" cy="28913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148675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D2315E-B11C-13EC-63C1-D494270368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직사각형 2">
            <a:extLst>
              <a:ext uri="{FF2B5EF4-FFF2-40B4-BE49-F238E27FC236}">
                <a16:creationId xmlns:a16="http://schemas.microsoft.com/office/drawing/2014/main" id="{1DB5B5BD-380E-9DBA-7C64-50F8B82ABABA}"/>
              </a:ext>
            </a:extLst>
          </p:cNvPr>
          <p:cNvSpPr/>
          <p:nvPr/>
        </p:nvSpPr>
        <p:spPr>
          <a:xfrm>
            <a:off x="0" y="0"/>
            <a:ext cx="12192000" cy="3163078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179388" algn="ctr"/>
            <a:r>
              <a:rPr lang="en-US" altLang="ko-KR" sz="4400" b="1" dirty="0"/>
              <a:t>Python </a:t>
            </a:r>
            <a:r>
              <a:rPr lang="ko-KR" altLang="en-US" sz="4400" b="1" dirty="0"/>
              <a:t>가상 환경 구축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7B6388A2-BFB5-723B-F6B7-58DC2DB0B4E7}"/>
              </a:ext>
            </a:extLst>
          </p:cNvPr>
          <p:cNvSpPr txBox="1"/>
          <p:nvPr/>
        </p:nvSpPr>
        <p:spPr>
          <a:xfrm>
            <a:off x="3423920" y="3540760"/>
            <a:ext cx="3270254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342900" indent="-342900">
              <a:buAutoNum type="arabicPeriod"/>
            </a:pPr>
            <a:r>
              <a:rPr lang="en-US" altLang="ko-KR" sz="3200" dirty="0"/>
              <a:t>PC </a:t>
            </a:r>
            <a:r>
              <a:rPr lang="en-US" altLang="ko-KR" sz="3200" dirty="0">
                <a:sym typeface="Wingdings" panose="05000000000000000000" pitchFamily="2" charset="2"/>
              </a:rPr>
              <a:t> </a:t>
            </a:r>
            <a:r>
              <a:rPr lang="ko-KR" altLang="en-US" sz="3200" dirty="0"/>
              <a:t> </a:t>
            </a:r>
            <a:r>
              <a:rPr lang="en-US" altLang="ko-KR" sz="3200" dirty="0"/>
              <a:t>anaconda</a:t>
            </a:r>
          </a:p>
          <a:p>
            <a:pPr marL="342900" indent="-342900">
              <a:buAutoNum type="arabicPeriod"/>
            </a:pPr>
            <a:r>
              <a:rPr lang="en-US" altLang="ko-KR" sz="3200" dirty="0" err="1"/>
              <a:t>Rpi</a:t>
            </a:r>
            <a:r>
              <a:rPr lang="en-US" altLang="ko-KR" sz="3200" dirty="0"/>
              <a:t> </a:t>
            </a:r>
            <a:r>
              <a:rPr lang="en-US" altLang="ko-KR" sz="3200" dirty="0">
                <a:sym typeface="Wingdings" panose="05000000000000000000" pitchFamily="2" charset="2"/>
              </a:rPr>
              <a:t> </a:t>
            </a:r>
            <a:r>
              <a:rPr lang="en-US" altLang="ko-KR" sz="3200" dirty="0" err="1">
                <a:sym typeface="Wingdings" panose="05000000000000000000" pitchFamily="2" charset="2"/>
              </a:rPr>
              <a:t>venv</a:t>
            </a:r>
            <a:endParaRPr lang="ko-KR" altLang="en-US" sz="3200" dirty="0"/>
          </a:p>
        </p:txBody>
      </p:sp>
    </p:spTree>
    <p:extLst>
      <p:ext uri="{BB962C8B-B14F-4D97-AF65-F5344CB8AC3E}">
        <p14:creationId xmlns:p14="http://schemas.microsoft.com/office/powerpoint/2010/main" val="1041995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9169-11DB-0A25-9035-81DE825A978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9D8C3CCB-C50D-06C4-0512-81D94EF60491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chemeClr val="tx1"/>
                </a:solidFill>
              </a:rPr>
              <a:t>Download</a:t>
            </a:r>
            <a:endParaRPr lang="ko-KR" altLang="en-US" b="1" dirty="0">
              <a:solidFill>
                <a:schemeClr val="tx1"/>
              </a:solidFill>
            </a:endParaRPr>
          </a:p>
        </p:txBody>
      </p:sp>
      <p:pic>
        <p:nvPicPr>
          <p:cNvPr id="5" name="그림 4">
            <a:extLst>
              <a:ext uri="{FF2B5EF4-FFF2-40B4-BE49-F238E27FC236}">
                <a16:creationId xmlns:a16="http://schemas.microsoft.com/office/drawing/2014/main" id="{794E6677-1245-AFCF-73D6-AF62716D2F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9342" y="1324649"/>
            <a:ext cx="5083790" cy="2800359"/>
          </a:xfrm>
          <a:prstGeom prst="rect">
            <a:avLst/>
          </a:prstGeom>
          <a:ln w="22225"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6" name="그림 5">
            <a:extLst>
              <a:ext uri="{FF2B5EF4-FFF2-40B4-BE49-F238E27FC236}">
                <a16:creationId xmlns:a16="http://schemas.microsoft.com/office/drawing/2014/main" id="{37810730-97DB-A8D3-C718-AE02351FAA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50334" y="1324649"/>
            <a:ext cx="5220364" cy="2800359"/>
          </a:xfrm>
          <a:prstGeom prst="rect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</p:pic>
      <p:sp>
        <p:nvSpPr>
          <p:cNvPr id="7" name="사각형: 둥근 모서리 6">
            <a:extLst>
              <a:ext uri="{FF2B5EF4-FFF2-40B4-BE49-F238E27FC236}">
                <a16:creationId xmlns:a16="http://schemas.microsoft.com/office/drawing/2014/main" id="{992FDB8E-4825-57B0-F854-5F2EE45747DA}"/>
              </a:ext>
            </a:extLst>
          </p:cNvPr>
          <p:cNvSpPr/>
          <p:nvPr/>
        </p:nvSpPr>
        <p:spPr>
          <a:xfrm>
            <a:off x="3385226" y="1955260"/>
            <a:ext cx="2140085" cy="1916349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사각형: 둥근 모서리 7">
            <a:extLst>
              <a:ext uri="{FF2B5EF4-FFF2-40B4-BE49-F238E27FC236}">
                <a16:creationId xmlns:a16="http://schemas.microsoft.com/office/drawing/2014/main" id="{94A8DA0B-4181-9FF6-00F8-27E07D692D6B}"/>
              </a:ext>
            </a:extLst>
          </p:cNvPr>
          <p:cNvSpPr/>
          <p:nvPr/>
        </p:nvSpPr>
        <p:spPr>
          <a:xfrm>
            <a:off x="5979518" y="2962074"/>
            <a:ext cx="888211" cy="306421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화살표: 아래쪽 8">
            <a:extLst>
              <a:ext uri="{FF2B5EF4-FFF2-40B4-BE49-F238E27FC236}">
                <a16:creationId xmlns:a16="http://schemas.microsoft.com/office/drawing/2014/main" id="{F5AC9F4B-5814-0D01-2986-975C94B7585C}"/>
              </a:ext>
            </a:extLst>
          </p:cNvPr>
          <p:cNvSpPr/>
          <p:nvPr/>
        </p:nvSpPr>
        <p:spPr>
          <a:xfrm>
            <a:off x="9832258" y="1032387"/>
            <a:ext cx="304800" cy="501445"/>
          </a:xfrm>
          <a:prstGeom prst="downArrow">
            <a:avLst/>
          </a:prstGeom>
          <a:solidFill>
            <a:schemeClr val="accent2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3BA46E5-6C00-CB2B-031B-DEAD503E3FA7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E3B385A7-A27F-721C-BF2A-D67D67A7F73F}"/>
              </a:ext>
            </a:extLst>
          </p:cNvPr>
          <p:cNvSpPr txBox="1"/>
          <p:nvPr/>
        </p:nvSpPr>
        <p:spPr>
          <a:xfrm>
            <a:off x="494050" y="793456"/>
            <a:ext cx="6101080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dirty="0">
                <a:hlinkClick r:id="rId4"/>
              </a:rPr>
              <a:t>Download Success | Anaconda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2983852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1D291E-979E-CFF9-ED6F-BA4D63BA14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240391E8-8AB1-C291-4C78-C2458DF91B1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>
                <a:solidFill>
                  <a:schemeClr val="tx1"/>
                </a:solidFill>
              </a:rPr>
              <a:t>Anaconda Prompt </a:t>
            </a:r>
            <a:r>
              <a:rPr lang="ko-KR" altLang="en-US" b="1" dirty="0">
                <a:solidFill>
                  <a:schemeClr val="tx1"/>
                </a:solidFill>
              </a:rPr>
              <a:t>실행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43501B21-6AC8-D395-7A00-CF0DFC4165C2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pic>
        <p:nvPicPr>
          <p:cNvPr id="3" name="그림 2">
            <a:extLst>
              <a:ext uri="{FF2B5EF4-FFF2-40B4-BE49-F238E27FC236}">
                <a16:creationId xmlns:a16="http://schemas.microsoft.com/office/drawing/2014/main" id="{B03FBD2A-3AFF-9ED5-BAF8-E336162E858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582" y="856033"/>
            <a:ext cx="5759418" cy="4756826"/>
          </a:xfrm>
          <a:prstGeom prst="rect">
            <a:avLst/>
          </a:prstGeom>
        </p:spPr>
      </p:pic>
      <p:sp>
        <p:nvSpPr>
          <p:cNvPr id="4" name="사각형: 둥근 모서리 3">
            <a:extLst>
              <a:ext uri="{FF2B5EF4-FFF2-40B4-BE49-F238E27FC236}">
                <a16:creationId xmlns:a16="http://schemas.microsoft.com/office/drawing/2014/main" id="{D17360D7-FC89-2BC2-92FD-C8F821CC3B4F}"/>
              </a:ext>
            </a:extLst>
          </p:cNvPr>
          <p:cNvSpPr/>
          <p:nvPr/>
        </p:nvSpPr>
        <p:spPr>
          <a:xfrm>
            <a:off x="3200403" y="3093396"/>
            <a:ext cx="1322960" cy="262647"/>
          </a:xfrm>
          <a:prstGeom prst="roundRect">
            <a:avLst/>
          </a:prstGeom>
          <a:noFill/>
          <a:ln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1" name="그림 10">
            <a:extLst>
              <a:ext uri="{FF2B5EF4-FFF2-40B4-BE49-F238E27FC236}">
                <a16:creationId xmlns:a16="http://schemas.microsoft.com/office/drawing/2014/main" id="{5A9E41F5-57B1-FFF4-193C-08E1AC47EB1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1946" y="856033"/>
            <a:ext cx="4458322" cy="22958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660743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4C1904-4A1E-3432-7040-2E7227DFD8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BF953E05-95ED-5858-1DA0-2B48AD5F8D8B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conda</a:t>
            </a:r>
            <a:r>
              <a:rPr lang="ko-KR" altLang="en-US" b="1" dirty="0">
                <a:solidFill>
                  <a:schemeClr val="tx1"/>
                </a:solidFill>
              </a:rPr>
              <a:t>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FE83B18E-7CC0-1670-0A64-6764988D5EA0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graphicFrame>
        <p:nvGraphicFramePr>
          <p:cNvPr id="5" name="표 4">
            <a:extLst>
              <a:ext uri="{FF2B5EF4-FFF2-40B4-BE49-F238E27FC236}">
                <a16:creationId xmlns:a16="http://schemas.microsoft.com/office/drawing/2014/main" id="{5AF4D29A-C983-D699-97F0-E76164CC185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308211"/>
              </p:ext>
            </p:extLst>
          </p:nvPr>
        </p:nvGraphicFramePr>
        <p:xfrm>
          <a:off x="835496" y="826669"/>
          <a:ext cx="10726027" cy="552549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650904">
                  <a:extLst>
                    <a:ext uri="{9D8B030D-6E8A-4147-A177-3AD203B41FA5}">
                      <a16:colId xmlns:a16="http://schemas.microsoft.com/office/drawing/2014/main" val="1949829391"/>
                    </a:ext>
                  </a:extLst>
                </a:gridCol>
                <a:gridCol w="2455101">
                  <a:extLst>
                    <a:ext uri="{9D8B030D-6E8A-4147-A177-3AD203B41FA5}">
                      <a16:colId xmlns:a16="http://schemas.microsoft.com/office/drawing/2014/main" val="1782897615"/>
                    </a:ext>
                  </a:extLst>
                </a:gridCol>
                <a:gridCol w="3620022">
                  <a:extLst>
                    <a:ext uri="{9D8B030D-6E8A-4147-A177-3AD203B41FA5}">
                      <a16:colId xmlns:a16="http://schemas.microsoft.com/office/drawing/2014/main" val="2065192971"/>
                    </a:ext>
                  </a:extLst>
                </a:gridCol>
              </a:tblGrid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명령어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용 도 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b="1" dirty="0">
                          <a:solidFill>
                            <a:schemeClr val="tx1"/>
                          </a:solidFill>
                        </a:rPr>
                        <a:t>설명</a:t>
                      </a:r>
                    </a:p>
                  </a:txBody>
                  <a:tcPr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1094363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--version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버전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ko-KR" altLang="en-US" sz="1400" dirty="0"/>
                        <a:t>가 정상 설치되었는지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92815457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b="1" dirty="0" err="1"/>
                        <a:t>conda</a:t>
                      </a:r>
                      <a:r>
                        <a:rPr lang="en-US" altLang="ko-KR" sz="1600" b="1" dirty="0"/>
                        <a:t> env list</a:t>
                      </a:r>
                      <a:endParaRPr lang="ko-KR" altLang="en-US" sz="16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모든 가상환경 목록 보기</a:t>
                      </a:r>
                      <a:r>
                        <a:rPr lang="en-US" altLang="ko-KR" sz="1400" dirty="0"/>
                        <a:t>(python </a:t>
                      </a:r>
                      <a:r>
                        <a:rPr lang="ko-KR" altLang="en-US" sz="1400" dirty="0"/>
                        <a:t>버전</a:t>
                      </a:r>
                      <a:r>
                        <a:rPr lang="en-US" altLang="ko-KR" sz="1400" dirty="0"/>
                        <a:t>)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472796606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 err="1"/>
                        <a:t>conda</a:t>
                      </a:r>
                      <a:r>
                        <a:rPr lang="en-US" altLang="ko-KR" sz="1400" b="1" dirty="0"/>
                        <a:t> create -n [</a:t>
                      </a:r>
                      <a:r>
                        <a:rPr lang="ko-KR" altLang="en-US" sz="1400" b="1" dirty="0"/>
                        <a:t>환경이름</a:t>
                      </a:r>
                      <a:r>
                        <a:rPr lang="en-US" altLang="ko-KR" sz="1400" b="1" dirty="0"/>
                        <a:t>] python=[</a:t>
                      </a:r>
                      <a:r>
                        <a:rPr lang="ko-KR" altLang="en-US" sz="1400" b="1" dirty="0"/>
                        <a:t>버전</a:t>
                      </a:r>
                      <a:r>
                        <a:rPr lang="en-US" altLang="ko-KR" sz="1400" b="1" dirty="0"/>
                        <a:t>]</a:t>
                      </a:r>
                      <a:endParaRPr lang="ko-KR" altLang="en-US" sz="1400" b="1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생성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create -n py38 python=3.8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637515597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activate py38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4093238599"/>
                  </a:ext>
                </a:extLst>
              </a:tr>
              <a:tr h="457325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deactivate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환경 비활성화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활성화된 환경 끄기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72353977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설치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install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669081489"/>
                  </a:ext>
                </a:extLst>
              </a:tr>
              <a:tr h="639002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 </a:t>
                      </a:r>
                      <a:r>
                        <a:rPr lang="ko-KR" altLang="en-US" sz="1400" dirty="0"/>
                        <a:t>또는</a:t>
                      </a:r>
                      <a:endParaRPr lang="en-US" altLang="ko-KR" sz="1400" dirty="0"/>
                    </a:p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/>
                        <a:t>pip</a:t>
                      </a:r>
                      <a:r>
                        <a:rPr lang="ko-KR" altLang="en-US" sz="1400" dirty="0"/>
                        <a:t> </a:t>
                      </a:r>
                      <a:r>
                        <a:rPr lang="en-US" altLang="ko-KR" sz="1400" dirty="0"/>
                        <a:t>uninstall</a:t>
                      </a:r>
                      <a:r>
                        <a:rPr lang="ko-KR" altLang="en-US" sz="1400" dirty="0"/>
                        <a:t>  </a:t>
                      </a:r>
                      <a:r>
                        <a:rPr lang="en-US" altLang="ko-KR" sz="1400" dirty="0"/>
                        <a:t>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삭제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</a:t>
                      </a:r>
                      <a:r>
                        <a:rPr lang="en-US" altLang="ko-KR" sz="1400" dirty="0" err="1"/>
                        <a:t>numpy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7023608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list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목록 확인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현재 환경에 설치된 패키지 보기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500572271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[</a:t>
                      </a:r>
                      <a:r>
                        <a:rPr lang="ko-KR" altLang="en-US" sz="1400" dirty="0"/>
                        <a:t>환경이름</a:t>
                      </a:r>
                      <a:r>
                        <a:rPr lang="en-US" altLang="ko-KR" sz="1400" dirty="0"/>
                        <a:t>] --all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ko-KR" altLang="en-US" sz="1400" dirty="0"/>
                        <a:t>환경 삭제</a:t>
                      </a:r>
                      <a:endParaRPr 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예</a:t>
                      </a:r>
                      <a:r>
                        <a:rPr lang="en-US" altLang="ko-KR" sz="1400" dirty="0"/>
                        <a:t>: </a:t>
                      </a:r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remove -n py38 --all</a:t>
                      </a:r>
                      <a:endParaRPr lang="ko-KR" altLang="en-US" sz="1400" dirty="0"/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970989389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search [</a:t>
                      </a:r>
                      <a:r>
                        <a:rPr lang="ko-KR" altLang="en-US" sz="1400" dirty="0"/>
                        <a:t>패키지명</a:t>
                      </a:r>
                      <a:r>
                        <a:rPr lang="en-US" altLang="ko-KR" sz="1400" dirty="0"/>
                        <a:t>]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/>
                        <a:t>패키지 검색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 latinLnBrk="1"/>
                      <a:r>
                        <a:rPr lang="ko-KR" altLang="en-US" sz="1400" dirty="0"/>
                        <a:t>설치 가능한 패키지 확인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58425717"/>
                  </a:ext>
                </a:extLst>
              </a:tr>
              <a:tr h="375884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update </a:t>
                      </a:r>
                      <a:r>
                        <a:rPr lang="en-US" altLang="ko-KR" sz="1400" dirty="0" err="1"/>
                        <a:t>conda</a:t>
                      </a:r>
                      <a:endParaRPr lang="ko-KR" altLang="en-US" sz="1400" dirty="0"/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/>
                        <a:t>Conda </a:t>
                      </a:r>
                      <a:r>
                        <a:rPr lang="ko-KR" altLang="en-US" sz="1400" dirty="0"/>
                        <a:t>업데이트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 err="1"/>
                        <a:t>conda</a:t>
                      </a:r>
                      <a:r>
                        <a:rPr lang="en-US" altLang="ko-KR" sz="1400" dirty="0"/>
                        <a:t> </a:t>
                      </a:r>
                      <a:r>
                        <a:rPr lang="ko-KR" altLang="en-US" sz="1400" dirty="0"/>
                        <a:t>자체 최신 버전으로 업데이트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17010257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553406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4B89D2F-AA13-9BDA-3FDB-A97EEF6A75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D047C8B6-E84C-6FF9-9571-C16C34E0BDDA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5">
              <a:lumMod val="40000"/>
              <a:lumOff val="6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en-US" altLang="ko-KR" b="1" dirty="0" err="1">
                <a:solidFill>
                  <a:schemeClr val="tx1"/>
                </a:solidFill>
              </a:rPr>
              <a:t>conda</a:t>
            </a:r>
            <a:r>
              <a:rPr lang="en-US" altLang="ko-KR" b="1" dirty="0">
                <a:solidFill>
                  <a:schemeClr val="tx1"/>
                </a:solidFill>
              </a:rPr>
              <a:t> </a:t>
            </a:r>
            <a:r>
              <a:rPr lang="ko-KR" altLang="en-US" b="1" dirty="0">
                <a:solidFill>
                  <a:schemeClr val="tx1"/>
                </a:solidFill>
              </a:rPr>
              <a:t>가상 환경 만들기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59F985D8-A7E6-E06C-597A-5AE530C64613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/>
              <a:t>Window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Miniconda</a:t>
            </a:r>
            <a:endParaRPr lang="ko-KR" altLang="en-US" sz="2000" b="1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D2E021-1FF3-7954-4F5C-C6F4F077CD65}"/>
              </a:ext>
            </a:extLst>
          </p:cNvPr>
          <p:cNvSpPr txBox="1"/>
          <p:nvPr/>
        </p:nvSpPr>
        <p:spPr>
          <a:xfrm>
            <a:off x="231228" y="925360"/>
            <a:ext cx="10005848" cy="45509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ts val="2500"/>
              </a:lnSpc>
              <a:buFont typeface="Wingdings" panose="05000000000000000000" pitchFamily="2" charset="2"/>
              <a:buChar char="§"/>
            </a:pPr>
            <a:r>
              <a:rPr lang="en-US" altLang="ko-KR" dirty="0">
                <a:solidFill>
                  <a:srgbClr val="3A0DFB"/>
                </a:solidFill>
              </a:rPr>
              <a:t>Anaconda Terms of Service </a:t>
            </a:r>
            <a:r>
              <a:rPr lang="ko-KR" altLang="en-US" dirty="0">
                <a:solidFill>
                  <a:srgbClr val="3A0DFB"/>
                </a:solidFill>
              </a:rPr>
              <a:t>수락 </a:t>
            </a:r>
            <a:r>
              <a:rPr lang="en-US" altLang="ko-KR" dirty="0">
                <a:solidFill>
                  <a:srgbClr val="3A0DFB"/>
                </a:solidFill>
              </a:rPr>
              <a:t>( </a:t>
            </a:r>
            <a:r>
              <a:rPr lang="ko-KR" altLang="en-US" dirty="0">
                <a:solidFill>
                  <a:srgbClr val="3A0DFB"/>
                </a:solidFill>
              </a:rPr>
              <a:t>아래 </a:t>
            </a:r>
            <a:r>
              <a:rPr lang="en-US" altLang="ko-KR" dirty="0">
                <a:solidFill>
                  <a:srgbClr val="3A0DFB"/>
                </a:solidFill>
              </a:rPr>
              <a:t>3</a:t>
            </a:r>
            <a:r>
              <a:rPr lang="ko-KR" altLang="en-US" dirty="0">
                <a:solidFill>
                  <a:srgbClr val="3A0DFB"/>
                </a:solidFill>
              </a:rPr>
              <a:t>줄</a:t>
            </a:r>
            <a:r>
              <a:rPr lang="en-US" altLang="ko-KR" dirty="0">
                <a:solidFill>
                  <a:srgbClr val="3A0DFB"/>
                </a:solidFill>
              </a:rPr>
              <a:t>, </a:t>
            </a:r>
            <a:r>
              <a:rPr lang="en-US" altLang="ko-KR" dirty="0" err="1">
                <a:solidFill>
                  <a:srgbClr val="3A0DFB"/>
                </a:solidFill>
              </a:rPr>
              <a:t>cmd</a:t>
            </a:r>
            <a:r>
              <a:rPr lang="ko-KR" altLang="en-US" dirty="0">
                <a:solidFill>
                  <a:srgbClr val="3A0DFB"/>
                </a:solidFill>
              </a:rPr>
              <a:t>에 입력</a:t>
            </a:r>
            <a:r>
              <a:rPr lang="en-US" altLang="ko-KR" dirty="0">
                <a:solidFill>
                  <a:srgbClr val="3A0DFB"/>
                </a:solidFill>
              </a:rPr>
              <a:t>)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https://repo.anaconda.com/pkgs/main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https://repo.anaconda.com/pkgs/r</a:t>
            </a:r>
          </a:p>
          <a:p>
            <a:pPr indent="179388">
              <a:lnSpc>
                <a:spcPts val="2500"/>
              </a:lnSpc>
            </a:pPr>
            <a:r>
              <a:rPr lang="ko-KR" altLang="en-US" dirty="0" err="1"/>
              <a:t>conda</a:t>
            </a:r>
            <a:r>
              <a:rPr lang="ko-KR" altLang="en-US" dirty="0"/>
              <a:t> </a:t>
            </a:r>
            <a:r>
              <a:rPr lang="ko-KR" altLang="en-US" dirty="0" err="1"/>
              <a:t>tos</a:t>
            </a:r>
            <a:r>
              <a:rPr lang="ko-KR" altLang="en-US" dirty="0"/>
              <a:t> </a:t>
            </a:r>
            <a:r>
              <a:rPr lang="ko-KR" altLang="en-US" dirty="0" err="1"/>
              <a:t>accept</a:t>
            </a:r>
            <a:r>
              <a:rPr lang="ko-KR" altLang="en-US" dirty="0"/>
              <a:t> --</a:t>
            </a:r>
            <a:r>
              <a:rPr lang="ko-KR" altLang="en-US" dirty="0" err="1"/>
              <a:t>override-channels</a:t>
            </a:r>
            <a:r>
              <a:rPr lang="ko-KR" altLang="en-US" dirty="0"/>
              <a:t> --</a:t>
            </a:r>
            <a:r>
              <a:rPr lang="ko-KR" altLang="en-US" dirty="0" err="1"/>
              <a:t>channel</a:t>
            </a:r>
            <a:r>
              <a:rPr lang="ko-KR" altLang="en-US" dirty="0"/>
              <a:t> </a:t>
            </a:r>
            <a:r>
              <a:rPr lang="ko-KR" altLang="en-US" dirty="0">
                <a:hlinkClick r:id="rId2"/>
              </a:rPr>
              <a:t>https://repo.anaconda.com/pkgs/msys2</a:t>
            </a: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create –n pi39 python=3.9 –y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env list</a:t>
            </a:r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endParaRPr lang="en-US" altLang="ko-KR" dirty="0"/>
          </a:p>
          <a:p>
            <a:pPr indent="179388">
              <a:lnSpc>
                <a:spcPts val="2500"/>
              </a:lnSpc>
            </a:pPr>
            <a:r>
              <a:rPr lang="en-US" altLang="ko-KR" dirty="0" err="1"/>
              <a:t>conda</a:t>
            </a:r>
            <a:r>
              <a:rPr lang="en-US" altLang="ko-KR" dirty="0"/>
              <a:t> activate pi39</a:t>
            </a:r>
            <a:endParaRPr lang="ko-KR" altLang="en-US" dirty="0"/>
          </a:p>
        </p:txBody>
      </p:sp>
      <p:pic>
        <p:nvPicPr>
          <p:cNvPr id="4" name="그림 3">
            <a:extLst>
              <a:ext uri="{FF2B5EF4-FFF2-40B4-BE49-F238E27FC236}">
                <a16:creationId xmlns:a16="http://schemas.microsoft.com/office/drawing/2014/main" id="{56FC2F01-4824-DA8C-4CE1-D7F98B870B6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2641" y="3584397"/>
            <a:ext cx="6209955" cy="1386995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E39C96DA-024A-0715-1028-24AD67C0303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2641" y="5476286"/>
            <a:ext cx="4141040" cy="766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795135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2D97A31-D527-73FD-04E0-D93BACB508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CD4A8830-6750-D893-B306-5C5A9D1E26BF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설치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E2734FA6-A466-5538-8639-B8CD75D0853E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Rpi</a:t>
            </a:r>
            <a:r>
              <a:rPr lang="en-US" altLang="ko-KR" sz="2000" b="1" dirty="0"/>
              <a:t>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22F260-FF5D-6710-0D88-9756F2E4C373}"/>
              </a:ext>
            </a:extLst>
          </p:cNvPr>
          <p:cNvSpPr txBox="1"/>
          <p:nvPr/>
        </p:nvSpPr>
        <p:spPr>
          <a:xfrm>
            <a:off x="416560" y="1016060"/>
            <a:ext cx="11551920" cy="2262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ts val="2900"/>
              </a:lnSpc>
            </a:pPr>
            <a:r>
              <a:rPr lang="en-US" altLang="ko-KR" dirty="0"/>
              <a:t>1. </a:t>
            </a:r>
            <a:r>
              <a:rPr lang="ko-KR" altLang="en-US" dirty="0"/>
              <a:t> 최신 패키지 목록으로 갱신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update</a:t>
            </a:r>
            <a:endParaRPr lang="ko-KR" altLang="en-US" dirty="0"/>
          </a:p>
          <a:p>
            <a:pPr>
              <a:lnSpc>
                <a:spcPts val="2900"/>
              </a:lnSpc>
            </a:pPr>
            <a:endParaRPr lang="ko-KR" altLang="en-US" dirty="0"/>
          </a:p>
          <a:p>
            <a:pPr>
              <a:lnSpc>
                <a:spcPts val="2900"/>
              </a:lnSpc>
            </a:pPr>
            <a:r>
              <a:rPr lang="en-US" altLang="ko-KR" dirty="0"/>
              <a:t>2. </a:t>
            </a:r>
            <a:r>
              <a:rPr lang="ko-KR" altLang="en-US" dirty="0"/>
              <a:t> </a:t>
            </a:r>
            <a:r>
              <a:rPr lang="ko-KR" altLang="en-US" dirty="0" err="1"/>
              <a:t>venv</a:t>
            </a:r>
            <a:r>
              <a:rPr lang="ko-KR" altLang="en-US" dirty="0"/>
              <a:t> 모듈/</a:t>
            </a:r>
            <a:r>
              <a:rPr lang="ko-KR" altLang="en-US" dirty="0" err="1"/>
              <a:t>빌드도구</a:t>
            </a:r>
            <a:r>
              <a:rPr lang="ko-KR" altLang="en-US" dirty="0"/>
              <a:t>/pip 등 기본 준비</a:t>
            </a:r>
          </a:p>
          <a:p>
            <a:pPr>
              <a:lnSpc>
                <a:spcPts val="2900"/>
              </a:lnSpc>
            </a:pPr>
            <a:r>
              <a:rPr lang="ko-KR" altLang="en-US" dirty="0"/>
              <a:t>    sudo </a:t>
            </a:r>
            <a:r>
              <a:rPr lang="ko-KR" altLang="en-US" dirty="0" err="1"/>
              <a:t>apt</a:t>
            </a:r>
            <a:r>
              <a:rPr lang="ko-KR" altLang="en-US" dirty="0"/>
              <a:t> </a:t>
            </a:r>
            <a:r>
              <a:rPr lang="ko-KR" altLang="en-US" dirty="0" err="1"/>
              <a:t>install</a:t>
            </a:r>
            <a:r>
              <a:rPr lang="ko-KR" altLang="en-US" dirty="0"/>
              <a:t> -</a:t>
            </a:r>
            <a:r>
              <a:rPr lang="ko-KR" altLang="en-US" dirty="0" err="1"/>
              <a:t>y</a:t>
            </a:r>
            <a:r>
              <a:rPr lang="ko-KR" altLang="en-US" dirty="0"/>
              <a:t> python3-venv python3-pip python3-dev </a:t>
            </a:r>
            <a:r>
              <a:rPr lang="ko-KR" altLang="en-US" dirty="0" err="1"/>
              <a:t>build-essential</a:t>
            </a:r>
            <a:endParaRPr lang="ko-KR" altLang="en-US" dirty="0"/>
          </a:p>
          <a:p>
            <a:pPr>
              <a:lnSpc>
                <a:spcPts val="2600"/>
              </a:lnSpc>
            </a:pP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1078086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533A5A8-A3F2-273F-4010-702E2F0D464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직사각형 1">
            <a:extLst>
              <a:ext uri="{FF2B5EF4-FFF2-40B4-BE49-F238E27FC236}">
                <a16:creationId xmlns:a16="http://schemas.microsoft.com/office/drawing/2014/main" id="{ACBEBCCD-6449-E63A-CF90-D97418F7DAFD}"/>
              </a:ext>
            </a:extLst>
          </p:cNvPr>
          <p:cNvSpPr/>
          <p:nvPr/>
        </p:nvSpPr>
        <p:spPr>
          <a:xfrm>
            <a:off x="3778898" y="1659"/>
            <a:ext cx="8413102" cy="629938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65137" indent="-285750">
              <a:buFont typeface="Wingdings" panose="05000000000000000000" pitchFamily="2" charset="2"/>
              <a:buChar char="§"/>
            </a:pPr>
            <a:r>
              <a:rPr lang="ko-KR" altLang="en-US" b="1" dirty="0">
                <a:solidFill>
                  <a:schemeClr val="tx1"/>
                </a:solidFill>
              </a:rPr>
              <a:t>주요 명령어</a:t>
            </a: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8FFA70AA-DC30-FBE7-2780-AFAC6121B16A}"/>
              </a:ext>
            </a:extLst>
          </p:cNvPr>
          <p:cNvSpPr/>
          <p:nvPr/>
        </p:nvSpPr>
        <p:spPr>
          <a:xfrm>
            <a:off x="0" y="0"/>
            <a:ext cx="3778898" cy="631596"/>
          </a:xfrm>
          <a:prstGeom prst="rect">
            <a:avLst/>
          </a:prstGeom>
          <a:solidFill>
            <a:schemeClr val="accent5">
              <a:lumMod val="50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442913" indent="-263525">
              <a:buFont typeface="Wingdings" panose="05000000000000000000" pitchFamily="2" charset="2"/>
              <a:buChar char="§"/>
            </a:pPr>
            <a:r>
              <a:rPr lang="en-US" altLang="ko-KR" sz="2000" b="1" dirty="0" err="1"/>
              <a:t>Rpi</a:t>
            </a:r>
            <a:r>
              <a:rPr lang="en-US" altLang="ko-KR" sz="2000" b="1" dirty="0"/>
              <a:t> </a:t>
            </a:r>
            <a:r>
              <a:rPr lang="en-US" altLang="ko-KR" sz="2000" b="1" dirty="0">
                <a:sym typeface="Wingdings" panose="05000000000000000000" pitchFamily="2" charset="2"/>
              </a:rPr>
              <a:t> </a:t>
            </a:r>
            <a:r>
              <a:rPr lang="en-US" altLang="ko-KR" sz="2000" b="1" dirty="0" err="1">
                <a:sym typeface="Wingdings" panose="05000000000000000000" pitchFamily="2" charset="2"/>
              </a:rPr>
              <a:t>venv</a:t>
            </a:r>
            <a:endParaRPr lang="ko-KR" altLang="en-US" sz="2000" b="1" dirty="0"/>
          </a:p>
        </p:txBody>
      </p:sp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0763AF00-AF57-E035-09A0-DFDB3B60B1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1232214"/>
              </p:ext>
            </p:extLst>
          </p:nvPr>
        </p:nvGraphicFramePr>
        <p:xfrm>
          <a:off x="432652" y="782317"/>
          <a:ext cx="11251347" cy="5703320"/>
        </p:xfrm>
        <a:graphic>
          <a:graphicData uri="http://schemas.openxmlformats.org/drawingml/2006/table">
            <a:tbl>
              <a:tblPr>
                <a:tableStyleId>{5940675A-B579-460E-94D1-54222C63F5DA}</a:tableStyleId>
              </a:tblPr>
              <a:tblGrid>
                <a:gridCol w="3346868">
                  <a:extLst>
                    <a:ext uri="{9D8B030D-6E8A-4147-A177-3AD203B41FA5}">
                      <a16:colId xmlns:a16="http://schemas.microsoft.com/office/drawing/2014/main" val="1604387024"/>
                    </a:ext>
                  </a:extLst>
                </a:gridCol>
                <a:gridCol w="4154030">
                  <a:extLst>
                    <a:ext uri="{9D8B030D-6E8A-4147-A177-3AD203B41FA5}">
                      <a16:colId xmlns:a16="http://schemas.microsoft.com/office/drawing/2014/main" val="2686152777"/>
                    </a:ext>
                  </a:extLst>
                </a:gridCol>
                <a:gridCol w="3750449">
                  <a:extLst>
                    <a:ext uri="{9D8B030D-6E8A-4147-A177-3AD203B41FA5}">
                      <a16:colId xmlns:a16="http://schemas.microsoft.com/office/drawing/2014/main" val="76995238"/>
                    </a:ext>
                  </a:extLst>
                </a:gridCol>
              </a:tblGrid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목적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명령어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예시 </a:t>
                      </a:r>
                      <a:r>
                        <a:rPr lang="en-US" altLang="ko-KR" sz="1400" b="1" dirty="0">
                          <a:latin typeface="+mn-ea"/>
                          <a:ea typeface="+mn-ea"/>
                        </a:rPr>
                        <a:t>/ </a:t>
                      </a: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비고</a:t>
                      </a:r>
                    </a:p>
                  </a:txBody>
                  <a:tcPr marL="32232" marR="32232" marT="16116" marB="16116" anchor="ctr">
                    <a:solidFill>
                      <a:schemeClr val="accent3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77439395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가상환경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python3 -m venv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python3 -m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366747118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0" dirty="0">
                          <a:latin typeface="+mn-ea"/>
                          <a:ea typeface="+mn-ea"/>
                        </a:rPr>
                        <a:t>특정 버전으로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latin typeface="+mn-ea"/>
                          <a:ea typeface="+mn-ea"/>
                        </a:rPr>
                        <a:t>python3.X -m </a:t>
                      </a:r>
                      <a:r>
                        <a:rPr lang="en-US" sz="1400" b="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0" dirty="0">
                          <a:latin typeface="+mn-ea"/>
                          <a:ea typeface="+mn-ea"/>
                        </a:rPr>
                        <a:t> &lt;</a:t>
                      </a:r>
                      <a:r>
                        <a:rPr lang="ko-KR" altLang="en-US" sz="1400" b="0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b="0" dirty="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 b="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b="0" dirty="0">
                          <a:latin typeface="+mn-ea"/>
                          <a:ea typeface="+mn-ea"/>
                        </a:rPr>
                        <a:t>python3.11 -m </a:t>
                      </a:r>
                      <a:r>
                        <a:rPr lang="en-US" sz="1400" b="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b="0" dirty="0">
                          <a:latin typeface="+mn-ea"/>
                          <a:ea typeface="+mn-ea"/>
                        </a:rPr>
                        <a:t> .</a:t>
                      </a:r>
                      <a:r>
                        <a:rPr lang="en-US" sz="1400" b="0" dirty="0" err="1">
                          <a:latin typeface="+mn-ea"/>
                          <a:ea typeface="+mn-ea"/>
                        </a:rPr>
                        <a:t>venv</a:t>
                      </a:r>
                      <a:endParaRPr lang="en-US" sz="1400" b="0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35229977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b="1" dirty="0">
                          <a:latin typeface="+mn-ea"/>
                          <a:ea typeface="+mn-ea"/>
                        </a:rPr>
                        <a:t>전역 패키지 활용 생성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/>
                        <a:t>python3 -m </a:t>
                      </a:r>
                      <a:r>
                        <a:rPr lang="en-US" altLang="ko-KR" sz="1400" b="1" dirty="0" err="1"/>
                        <a:t>venv</a:t>
                      </a:r>
                      <a:r>
                        <a:rPr lang="en-US" altLang="ko-KR" sz="1400" b="1" dirty="0"/>
                        <a:t> --system-site-packages &lt;</a:t>
                      </a:r>
                      <a:r>
                        <a:rPr lang="ko-KR" altLang="en-US" sz="1400" b="1" dirty="0"/>
                        <a:t>경로</a:t>
                      </a:r>
                      <a:r>
                        <a:rPr lang="en-US" altLang="ko-KR" sz="1400" b="1" dirty="0"/>
                        <a:t>&gt;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b="1" dirty="0"/>
                        <a:t>python3 -m </a:t>
                      </a:r>
                      <a:r>
                        <a:rPr lang="en-US" altLang="ko-KR" sz="1400" b="1" dirty="0" err="1"/>
                        <a:t>venv</a:t>
                      </a:r>
                      <a:r>
                        <a:rPr lang="en-US" altLang="ko-KR" sz="1400" b="1" dirty="0"/>
                        <a:t> --system-site-packages .</a:t>
                      </a:r>
                      <a:r>
                        <a:rPr lang="en-US" altLang="ko-KR" sz="1400" b="1" dirty="0" err="1"/>
                        <a:t>venv</a:t>
                      </a:r>
                      <a:endParaRPr lang="en-US" sz="1400" b="1" dirty="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118387088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&lt;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&gt;/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bin/activate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source 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/bin/activate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244357115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비활성화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deactivate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603750260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altLang="ko-KR" sz="1400">
                          <a:latin typeface="+mn-ea"/>
                          <a:ea typeface="+mn-ea"/>
                        </a:rPr>
                        <a:t>pip/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빌드툴 업그레이드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>
                          <a:latin typeface="+mn-ea"/>
                          <a:ea typeface="+mn-ea"/>
                        </a:rPr>
                        <a:t>python -m pip install -U pip 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setuptools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 wheel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 b="1">
                          <a:latin typeface="+mn-ea"/>
                          <a:ea typeface="+mn-ea"/>
                        </a:rPr>
                        <a:t>항상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python -m pip ...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 권장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946914919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설치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850081977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 제거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패키지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uninstall requests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626109515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설치 목록 보기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python -m pip list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181777386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현재 파이썬 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python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/bin/python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2265047882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pip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which pip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면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.../.</a:t>
                      </a:r>
                      <a:r>
                        <a:rPr lang="en-US" sz="1400">
                          <a:latin typeface="+mn-ea"/>
                          <a:ea typeface="+mn-ea"/>
                        </a:rPr>
                        <a:t>venv/bin/pip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414825989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 확인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echo $VIRTUAL_ENV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ko-KR" altLang="en-US" sz="1400">
                          <a:latin typeface="+mn-ea"/>
                          <a:ea typeface="+mn-ea"/>
                        </a:rPr>
                        <a:t>활성화 시 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venv 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루트 표시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3070787142"/>
                  </a:ext>
                </a:extLst>
              </a:tr>
              <a:tr h="40738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환경 삭제</a:t>
                      </a: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400">
                          <a:latin typeface="+mn-ea"/>
                          <a:ea typeface="+mn-ea"/>
                        </a:rPr>
                        <a:t>rm -rf &lt;</a:t>
                      </a:r>
                      <a:r>
                        <a:rPr lang="ko-KR" altLang="en-US" sz="1400">
                          <a:latin typeface="+mn-ea"/>
                          <a:ea typeface="+mn-ea"/>
                        </a:rPr>
                        <a:t>경로</a:t>
                      </a:r>
                      <a:r>
                        <a:rPr lang="en-US" altLang="ko-KR" sz="1400">
                          <a:latin typeface="+mn-ea"/>
                          <a:ea typeface="+mn-ea"/>
                        </a:rPr>
                        <a:t>&gt;</a:t>
                      </a:r>
                      <a:endParaRPr lang="ko-KR" altLang="en-US" sz="1400">
                        <a:latin typeface="+mn-ea"/>
                        <a:ea typeface="+mn-ea"/>
                      </a:endParaRPr>
                    </a:p>
                  </a:txBody>
                  <a:tcPr marL="32232" marR="32232" marT="16116" marB="16116" anchor="ctr"/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rm -rf .</a:t>
                      </a:r>
                      <a:r>
                        <a:rPr lang="en-US" altLang="ko-KR" sz="1400" dirty="0" err="1">
                          <a:latin typeface="+mn-ea"/>
                          <a:ea typeface="+mn-ea"/>
                        </a:rPr>
                        <a:t>venv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(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폴더 삭제 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= </a:t>
                      </a:r>
                      <a:r>
                        <a:rPr lang="ko-KR" altLang="en-US" sz="1400" dirty="0">
                          <a:latin typeface="+mn-ea"/>
                          <a:ea typeface="+mn-ea"/>
                        </a:rPr>
                        <a:t>제거</a:t>
                      </a:r>
                      <a:r>
                        <a:rPr lang="en-US" altLang="ko-KR" sz="1400" dirty="0">
                          <a:latin typeface="+mn-ea"/>
                          <a:ea typeface="+mn-ea"/>
                        </a:rPr>
                        <a:t>)</a:t>
                      </a:r>
                    </a:p>
                  </a:txBody>
                  <a:tcPr marL="32232" marR="32232" marT="16116" marB="16116" anchor="ctr"/>
                </a:tc>
                <a:extLst>
                  <a:ext uri="{0D108BD9-81ED-4DB2-BD59-A6C34878D82A}">
                    <a16:rowId xmlns:a16="http://schemas.microsoft.com/office/drawing/2014/main" val="165314234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7940026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9E50EF-3C1E-E72E-C0A2-5B9110C21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3335D009-3078-58DC-D4C3-600E4FAE84F0}"/>
              </a:ext>
            </a:extLst>
          </p:cNvPr>
          <p:cNvSpPr txBox="1"/>
          <p:nvPr/>
        </p:nvSpPr>
        <p:spPr>
          <a:xfrm>
            <a:off x="10720799" y="5949864"/>
            <a:ext cx="101399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3200" b="1" u="sng" dirty="0">
                <a:solidFill>
                  <a:schemeClr val="accent1">
                    <a:lumMod val="50000"/>
                  </a:schemeClr>
                </a:solidFill>
              </a:rPr>
              <a:t>END.</a:t>
            </a:r>
            <a:endParaRPr lang="ko-KR" altLang="en-US" sz="3200" b="1" u="sng" dirty="0">
              <a:solidFill>
                <a:schemeClr val="accent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64716179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1D9A78"/>
      </a:accent1>
      <a:accent2>
        <a:srgbClr val="8BC145"/>
      </a:accent2>
      <a:accent3>
        <a:srgbClr val="36AFCE"/>
      </a:accent3>
      <a:accent4>
        <a:srgbClr val="1D6FA9"/>
      </a:accent4>
      <a:accent5>
        <a:srgbClr val="B74919"/>
      </a:accent5>
      <a:accent6>
        <a:srgbClr val="F19D19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AE6F2518-B084-4896-AF52-66CC2144AA26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2013 - 2022 Theme</Template>
  <TotalTime>2309</TotalTime>
  <Words>1367</Words>
  <Application>Microsoft Office PowerPoint</Application>
  <PresentationFormat>와이드스크린</PresentationFormat>
  <Paragraphs>355</Paragraphs>
  <Slides>27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27</vt:i4>
      </vt:variant>
    </vt:vector>
  </HeadingPairs>
  <TitlesOfParts>
    <vt:vector size="33" baseType="lpstr">
      <vt:lpstr>Arial</vt:lpstr>
      <vt:lpstr>Calibri</vt:lpstr>
      <vt:lpstr>Calibri Light</vt:lpstr>
      <vt:lpstr>Consolas</vt:lpstr>
      <vt:lpstr>Wingdings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손 영달</dc:creator>
  <cp:lastModifiedBy>Dev DW</cp:lastModifiedBy>
  <cp:revision>168</cp:revision>
  <dcterms:created xsi:type="dcterms:W3CDTF">2024-07-30T13:51:44Z</dcterms:created>
  <dcterms:modified xsi:type="dcterms:W3CDTF">2025-11-02T11:46:22Z</dcterms:modified>
</cp:coreProperties>
</file>