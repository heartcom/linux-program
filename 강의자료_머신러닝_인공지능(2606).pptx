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5"/>
  </p:notesMasterIdLst>
  <p:sldIdLst>
    <p:sldId id="365" r:id="rId2"/>
    <p:sldId id="1065" r:id="rId3"/>
    <p:sldId id="1180" r:id="rId4"/>
    <p:sldId id="1179" r:id="rId5"/>
    <p:sldId id="1066" r:id="rId6"/>
    <p:sldId id="1068" r:id="rId7"/>
    <p:sldId id="1069" r:id="rId8"/>
    <p:sldId id="1070" r:id="rId9"/>
    <p:sldId id="1071" r:id="rId10"/>
    <p:sldId id="1072" r:id="rId11"/>
    <p:sldId id="1073" r:id="rId12"/>
    <p:sldId id="1074" r:id="rId13"/>
    <p:sldId id="1185" r:id="rId14"/>
    <p:sldId id="1192" r:id="rId15"/>
    <p:sldId id="1193" r:id="rId16"/>
    <p:sldId id="1186" r:id="rId17"/>
    <p:sldId id="1187" r:id="rId18"/>
    <p:sldId id="1188" r:id="rId19"/>
    <p:sldId id="1189" r:id="rId20"/>
    <p:sldId id="1190" r:id="rId21"/>
    <p:sldId id="1191" r:id="rId22"/>
    <p:sldId id="1111" r:id="rId23"/>
    <p:sldId id="1112" r:id="rId24"/>
    <p:sldId id="1114" r:id="rId25"/>
    <p:sldId id="1113" r:id="rId26"/>
    <p:sldId id="1107" r:id="rId27"/>
    <p:sldId id="776" r:id="rId28"/>
    <p:sldId id="1116" r:id="rId29"/>
    <p:sldId id="1117" r:id="rId30"/>
    <p:sldId id="1115" r:id="rId31"/>
    <p:sldId id="1118" r:id="rId32"/>
    <p:sldId id="1119" r:id="rId33"/>
    <p:sldId id="1120" r:id="rId34"/>
    <p:sldId id="1121" r:id="rId35"/>
    <p:sldId id="1122" r:id="rId36"/>
    <p:sldId id="1123" r:id="rId37"/>
    <p:sldId id="1132" r:id="rId38"/>
    <p:sldId id="1124" r:id="rId39"/>
    <p:sldId id="1133" r:id="rId40"/>
    <p:sldId id="808" r:id="rId41"/>
    <p:sldId id="1134" r:id="rId42"/>
    <p:sldId id="1125" r:id="rId43"/>
    <p:sldId id="1126" r:id="rId44"/>
    <p:sldId id="1135" r:id="rId45"/>
    <p:sldId id="1127" r:id="rId46"/>
    <p:sldId id="1128" r:id="rId47"/>
    <p:sldId id="1136" r:id="rId48"/>
    <p:sldId id="1137" r:id="rId49"/>
    <p:sldId id="1138" r:id="rId50"/>
    <p:sldId id="1139" r:id="rId51"/>
    <p:sldId id="1184" r:id="rId52"/>
    <p:sldId id="1140" r:id="rId53"/>
    <p:sldId id="1142" r:id="rId54"/>
    <p:sldId id="1143" r:id="rId55"/>
    <p:sldId id="1144" r:id="rId56"/>
    <p:sldId id="1145" r:id="rId57"/>
    <p:sldId id="1146" r:id="rId58"/>
    <p:sldId id="1194" r:id="rId59"/>
    <p:sldId id="1195" r:id="rId60"/>
    <p:sldId id="1141" r:id="rId61"/>
    <p:sldId id="1147" r:id="rId62"/>
    <p:sldId id="1148" r:id="rId63"/>
    <p:sldId id="1149" r:id="rId64"/>
    <p:sldId id="1151" r:id="rId65"/>
    <p:sldId id="1152" r:id="rId66"/>
    <p:sldId id="1150" r:id="rId67"/>
    <p:sldId id="1153" r:id="rId68"/>
    <p:sldId id="1155" r:id="rId69"/>
    <p:sldId id="1196" r:id="rId70"/>
    <p:sldId id="1197" r:id="rId71"/>
    <p:sldId id="1198" r:id="rId72"/>
    <p:sldId id="1154" r:id="rId73"/>
    <p:sldId id="1199" r:id="rId74"/>
    <p:sldId id="1158" r:id="rId75"/>
    <p:sldId id="1159" r:id="rId76"/>
    <p:sldId id="1157" r:id="rId77"/>
    <p:sldId id="1200" r:id="rId78"/>
    <p:sldId id="1160" r:id="rId79"/>
    <p:sldId id="1165" r:id="rId80"/>
    <p:sldId id="1161" r:id="rId81"/>
    <p:sldId id="1162" r:id="rId82"/>
    <p:sldId id="1163" r:id="rId83"/>
    <p:sldId id="1164" r:id="rId84"/>
    <p:sldId id="1201" r:id="rId85"/>
    <p:sldId id="1166" r:id="rId86"/>
    <p:sldId id="1168" r:id="rId87"/>
    <p:sldId id="1167" r:id="rId88"/>
    <p:sldId id="1171" r:id="rId89"/>
    <p:sldId id="1225" r:id="rId90"/>
    <p:sldId id="1172" r:id="rId91"/>
    <p:sldId id="1173" r:id="rId92"/>
    <p:sldId id="1169" r:id="rId93"/>
    <p:sldId id="1170" r:id="rId94"/>
    <p:sldId id="1202" r:id="rId95"/>
    <p:sldId id="1203" r:id="rId96"/>
    <p:sldId id="1204" r:id="rId97"/>
    <p:sldId id="1205" r:id="rId98"/>
    <p:sldId id="1206" r:id="rId99"/>
    <p:sldId id="1207" r:id="rId100"/>
    <p:sldId id="1208" r:id="rId101"/>
    <p:sldId id="1209" r:id="rId102"/>
    <p:sldId id="1210" r:id="rId103"/>
    <p:sldId id="1211" r:id="rId104"/>
    <p:sldId id="1219" r:id="rId105"/>
    <p:sldId id="1212" r:id="rId106"/>
    <p:sldId id="1213" r:id="rId107"/>
    <p:sldId id="1214" r:id="rId108"/>
    <p:sldId id="1215" r:id="rId109"/>
    <p:sldId id="1216" r:id="rId110"/>
    <p:sldId id="1217" r:id="rId111"/>
    <p:sldId id="1218" r:id="rId112"/>
    <p:sldId id="1220" r:id="rId113"/>
    <p:sldId id="1221" r:id="rId114"/>
    <p:sldId id="1222" r:id="rId115"/>
    <p:sldId id="1223" r:id="rId116"/>
    <p:sldId id="1224" r:id="rId117"/>
    <p:sldId id="1226" r:id="rId118"/>
    <p:sldId id="1227" r:id="rId119"/>
    <p:sldId id="1228" r:id="rId120"/>
    <p:sldId id="1229" r:id="rId121"/>
    <p:sldId id="1233" r:id="rId122"/>
    <p:sldId id="1234" r:id="rId123"/>
    <p:sldId id="1235" r:id="rId124"/>
    <p:sldId id="1230" r:id="rId125"/>
    <p:sldId id="1231" r:id="rId126"/>
    <p:sldId id="1236" r:id="rId127"/>
    <p:sldId id="1237" r:id="rId128"/>
    <p:sldId id="1238" r:id="rId129"/>
    <p:sldId id="1239" r:id="rId130"/>
    <p:sldId id="1232" r:id="rId131"/>
    <p:sldId id="1240" r:id="rId132"/>
    <p:sldId id="1241" r:id="rId133"/>
    <p:sldId id="1242" r:id="rId134"/>
    <p:sldId id="1245" r:id="rId135"/>
    <p:sldId id="1246" r:id="rId136"/>
    <p:sldId id="1248" r:id="rId137"/>
    <p:sldId id="1250" r:id="rId138"/>
    <p:sldId id="1251" r:id="rId139"/>
    <p:sldId id="1252" r:id="rId140"/>
    <p:sldId id="1249" r:id="rId141"/>
    <p:sldId id="1255" r:id="rId142"/>
    <p:sldId id="1253" r:id="rId143"/>
    <p:sldId id="1254" r:id="rId144"/>
    <p:sldId id="1256" r:id="rId145"/>
    <p:sldId id="1257" r:id="rId146"/>
    <p:sldId id="1258" r:id="rId147"/>
    <p:sldId id="1259" r:id="rId148"/>
    <p:sldId id="1260" r:id="rId149"/>
    <p:sldId id="1261" r:id="rId150"/>
    <p:sldId id="1262" r:id="rId151"/>
    <p:sldId id="1263" r:id="rId152"/>
    <p:sldId id="1264" r:id="rId153"/>
    <p:sldId id="1265" r:id="rId154"/>
    <p:sldId id="1274" r:id="rId155"/>
    <p:sldId id="1269" r:id="rId156"/>
    <p:sldId id="1266" r:id="rId157"/>
    <p:sldId id="1276" r:id="rId158"/>
    <p:sldId id="1275" r:id="rId159"/>
    <p:sldId id="1277" r:id="rId160"/>
    <p:sldId id="1267" r:id="rId161"/>
    <p:sldId id="1268" r:id="rId162"/>
    <p:sldId id="1271" r:id="rId163"/>
    <p:sldId id="1278" r:id="rId164"/>
    <p:sldId id="1270" r:id="rId165"/>
    <p:sldId id="1273" r:id="rId166"/>
    <p:sldId id="1272" r:id="rId167"/>
    <p:sldId id="1181" r:id="rId168"/>
    <p:sldId id="1176" r:id="rId169"/>
    <p:sldId id="1178" r:id="rId170"/>
    <p:sldId id="1177" r:id="rId171"/>
    <p:sldId id="1175" r:id="rId172"/>
    <p:sldId id="1182" r:id="rId173"/>
    <p:sldId id="1183" r:id="rId17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CC"/>
    <a:srgbClr val="9999FF"/>
    <a:srgbClr val="0000FF"/>
    <a:srgbClr val="FFFFCC"/>
    <a:srgbClr val="000099"/>
    <a:srgbClr val="003300"/>
    <a:srgbClr val="E16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088" autoAdjust="0"/>
    <p:restoredTop sz="96201" autoAdjust="0"/>
  </p:normalViewPr>
  <p:slideViewPr>
    <p:cSldViewPr>
      <p:cViewPr>
        <p:scale>
          <a:sx n="90" d="100"/>
          <a:sy n="90" d="100"/>
        </p:scale>
        <p:origin x="66" y="38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viewProps" Target="viewProps.xml"/><Relationship Id="rId172" Type="http://schemas.openxmlformats.org/officeDocument/2006/relationships/slide" Target="slides/slide17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tableStyles" Target="tableStyle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presProps" Target="pres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69127A-2FEC-483A-9A25-93A5680C1D1C}" type="datetimeFigureOut">
              <a:rPr lang="ko-KR" altLang="en-US" smtClean="0"/>
              <a:pPr/>
              <a:t>2026-05-31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465BE3-6672-47C3-837C-9B67EB7D3F9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17583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465BE3-6672-47C3-837C-9B67EB7D3F94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91030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465BE3-6672-47C3-837C-9B67EB7D3F94}" type="slidenum">
              <a:rPr lang="ko-KR" altLang="en-US" smtClean="0"/>
              <a:pPr/>
              <a:t>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23647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465BE3-6672-47C3-837C-9B67EB7D3F94}" type="slidenum">
              <a:rPr lang="ko-KR" altLang="en-US" smtClean="0"/>
              <a:pPr/>
              <a:t>103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19099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465BE3-6672-47C3-837C-9B67EB7D3F94}" type="slidenum">
              <a:rPr lang="ko-KR" altLang="en-US" smtClean="0"/>
              <a:pPr/>
              <a:t>104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0896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465BE3-6672-47C3-837C-9B67EB7D3F94}" type="slidenum">
              <a:rPr lang="ko-KR" altLang="en-US" smtClean="0"/>
              <a:pPr/>
              <a:t>121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4326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465BE3-6672-47C3-837C-9B67EB7D3F94}" type="slidenum">
              <a:rPr lang="ko-KR" altLang="en-US" smtClean="0"/>
              <a:pPr/>
              <a:t>122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77598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60406-8570-488D-9475-34FB49CAFBEB}" type="datetime1">
              <a:rPr lang="ko-KR" altLang="en-US" smtClean="0"/>
              <a:pPr/>
              <a:t>2026-05-31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880309" y="6525345"/>
            <a:ext cx="2844800" cy="221109"/>
          </a:xfrm>
          <a:prstGeom prst="rect">
            <a:avLst/>
          </a:prstGeom>
        </p:spPr>
        <p:txBody>
          <a:bodyPr/>
          <a:lstStyle>
            <a:lvl1pPr algn="r">
              <a:defRPr sz="1200"/>
            </a:lvl1pPr>
          </a:lstStyle>
          <a:p>
            <a:fld id="{8724636B-0509-4BF4-BECB-1C328C1DA57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  <p:transition spd="slow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FFB8B-C522-47CA-8A47-EA13B1607ED0}" type="datetime1">
              <a:rPr lang="ko-KR" altLang="en-US" smtClean="0"/>
              <a:pPr/>
              <a:t>2026-05-31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8724636B-0509-4BF4-BECB-1C328C1DA57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  <p:transition spd="slow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1399FB-3FA1-4FA0-810F-9F5737179751}" type="datetime1">
              <a:rPr lang="ko-KR" altLang="en-US" smtClean="0"/>
              <a:pPr/>
              <a:t>2026-05-31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8724636B-0509-4BF4-BECB-1C328C1DA57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  <p:transition spd="slow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77C98-00C8-4BEB-98ED-5C904CC21F87}" type="datetime1">
              <a:rPr lang="ko-KR" altLang="en-US" smtClean="0"/>
              <a:pPr/>
              <a:t>2026-05-31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8724636B-0509-4BF4-BECB-1C328C1DA57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  <p:transition spd="slow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E7E54C-79A3-4690-8127-426EE1BF24D2}" type="datetime1">
              <a:rPr lang="ko-KR" altLang="en-US" smtClean="0"/>
              <a:pPr/>
              <a:t>2026-05-31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8724636B-0509-4BF4-BECB-1C328C1DA57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  <p:transition spd="slow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9A50A9-F298-40E6-98DA-8BF9E5238EAC}" type="datetime1">
              <a:rPr lang="ko-KR" altLang="en-US" smtClean="0"/>
              <a:pPr/>
              <a:t>2026-05-31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8724636B-0509-4BF4-BECB-1C328C1DA57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  <p:transition spd="slow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9A8EBD-59A7-4E38-9833-808878FD20BC}" type="datetime1">
              <a:rPr lang="ko-KR" altLang="en-US" smtClean="0"/>
              <a:pPr/>
              <a:t>2026-05-31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8724636B-0509-4BF4-BECB-1C328C1DA57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  <p:transition spd="slow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D715B-EC6D-43CB-B925-777D67FE10E8}" type="datetime1">
              <a:rPr lang="ko-KR" altLang="en-US" smtClean="0"/>
              <a:pPr/>
              <a:t>2026-05-31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8724636B-0509-4BF4-BECB-1C328C1DA57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  <p:transition spd="slow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EBE33E-E863-4F76-814A-E96D83952104}" type="datetime1">
              <a:rPr lang="ko-KR" altLang="en-US" smtClean="0"/>
              <a:pPr/>
              <a:t>2026-05-31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8724636B-0509-4BF4-BECB-1C328C1DA57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  <p:transition spd="slow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17943-4D1E-4FE7-B14A-A9DC6A279879}" type="datetime1">
              <a:rPr lang="ko-KR" altLang="en-US" smtClean="0"/>
              <a:pPr/>
              <a:t>2026-05-31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8724636B-0509-4BF4-BECB-1C328C1DA57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  <p:transition spd="slow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CFD6E-BB69-4DCE-9C01-59016305D7D5}" type="datetime1">
              <a:rPr lang="ko-KR" altLang="en-US" smtClean="0"/>
              <a:pPr/>
              <a:t>2026-05-31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8724636B-0509-4BF4-BECB-1C328C1DA57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DBBAB4-4A25-4C86-83DF-8F988B006229}" type="datetime1">
              <a:rPr lang="ko-KR" altLang="en-US" smtClean="0"/>
              <a:pPr/>
              <a:t>2026-05-31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880309" y="6525345"/>
            <a:ext cx="2844800" cy="221109"/>
          </a:xfrm>
          <a:prstGeom prst="rect">
            <a:avLst/>
          </a:prstGeom>
        </p:spPr>
        <p:txBody>
          <a:bodyPr/>
          <a:lstStyle>
            <a:lvl1pPr algn="r">
              <a:defRPr sz="1200"/>
            </a:lvl1pPr>
          </a:lstStyle>
          <a:p>
            <a:fld id="{8724636B-0509-4BF4-BECB-1C328C1DA57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/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heartcom/Linux-Program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12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jpe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0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scikit-learn.org/stable/modules/tree.html" TargetMode="Externa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1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1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s41598-025-29255-0" TargetMode="External"/><Relationship Id="rId2" Type="http://schemas.openxmlformats.org/officeDocument/2006/relationships/hyperlink" Target="https://www.mdpi.com/2076-3417/15/6/3179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researchgate.net/publication/392270035_Smart_Maintenance_System_SMAT_Predictive_Maintenance_of_Electrical_Motor_Applications" TargetMode="External"/><Relationship Id="rId5" Type="http://schemas.openxmlformats.org/officeDocument/2006/relationships/hyperlink" Target="https://www.mdpi.com/1424-8220/24/10/3215" TargetMode="External"/><Relationship Id="rId4" Type="http://schemas.openxmlformats.org/officeDocument/2006/relationships/hyperlink" Target="https://pmc.ncbi.nlm.nih.gov/articles/PMC12609400/" TargetMode="Externa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ciencedirect.com/science/article/abs/pii/S0306261923013600" TargetMode="External"/><Relationship Id="rId1" Type="http://schemas.openxmlformats.org/officeDocument/2006/relationships/slideLayout" Target="../slideLayouts/slideLayout1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0DABE579-D520-4352-A200-3D56A412342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7808" y="1641872"/>
            <a:ext cx="7824192" cy="521612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1CCB6A-D179-4D01-86E6-70A2A832F69C}"/>
              </a:ext>
            </a:extLst>
          </p:cNvPr>
          <p:cNvSpPr txBox="1"/>
          <p:nvPr/>
        </p:nvSpPr>
        <p:spPr>
          <a:xfrm>
            <a:off x="479376" y="764704"/>
            <a:ext cx="109328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dirty="0">
                <a:latin typeface="Arial Black" panose="020B0A04020102020204" pitchFamily="34" charset="0"/>
              </a:rPr>
              <a:t>IoT </a:t>
            </a:r>
            <a:r>
              <a:rPr lang="ko-KR" altLang="en-US" sz="4000" dirty="0">
                <a:latin typeface="Arial Black" panose="020B0A04020102020204" pitchFamily="34" charset="0"/>
              </a:rPr>
              <a:t>센서와 머신러닝을 활용한 </a:t>
            </a:r>
            <a:r>
              <a:rPr lang="en-US" altLang="ko-KR" sz="4000" dirty="0">
                <a:latin typeface="Arial Black" panose="020B0A04020102020204" pitchFamily="34" charset="0"/>
              </a:rPr>
              <a:t>AI </a:t>
            </a:r>
            <a:r>
              <a:rPr lang="ko-KR" altLang="en-US" sz="4000" dirty="0">
                <a:latin typeface="Arial Black" panose="020B0A04020102020204" pitchFamily="34" charset="0"/>
              </a:rPr>
              <a:t>예측 모델링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944357-F621-422B-AFAA-DD25F94FB233}"/>
              </a:ext>
            </a:extLst>
          </p:cNvPr>
          <p:cNvSpPr txBox="1"/>
          <p:nvPr/>
        </p:nvSpPr>
        <p:spPr>
          <a:xfrm flipH="1">
            <a:off x="1559496" y="6126367"/>
            <a:ext cx="17544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2026</a:t>
            </a:r>
            <a:r>
              <a:rPr lang="ko-KR" altLang="en-US" sz="2000" b="1" dirty="0"/>
              <a:t>년도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B50E34-FED0-466F-8336-D20AE4E3D0D3}"/>
              </a:ext>
            </a:extLst>
          </p:cNvPr>
          <p:cNvSpPr txBox="1"/>
          <p:nvPr/>
        </p:nvSpPr>
        <p:spPr>
          <a:xfrm>
            <a:off x="265977" y="54877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4"/>
              </a:rPr>
              <a:t>https://github.com/heartcom/Linux-Program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6827704"/>
      </p:ext>
    </p:extLst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0743AB4-0626-1536-D055-E7C29DD2644E}"/>
              </a:ext>
            </a:extLst>
          </p:cNvPr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수업 목표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DB8BC32-9547-D572-16DD-72C7B8B7B6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344" y="980728"/>
            <a:ext cx="10240945" cy="41236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R="0" lvl="0" indent="363538" algn="l" defTabSz="914400" rtl="0" eaLnBrk="0" fontAlgn="base" latinLnBrk="0" hangingPunct="0">
              <a:lnSpc>
                <a:spcPts val="4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AI/ML/DL 차이와 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기존 프로그램 </a:t>
            </a:r>
            <a:r>
              <a:rPr kumimoji="0" lang="ko-KR" altLang="ko-KR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vs</a:t>
            </a:r>
            <a:r>
              <a:rPr kumimoji="0" lang="ko-KR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머신러닝 흐름을 설명할 수 있다.</a:t>
            </a:r>
          </a:p>
          <a:p>
            <a:pPr marR="0" lvl="0" indent="363538" algn="l" defTabSz="914400" rtl="0" eaLnBrk="0" fontAlgn="base" latinLnBrk="0" hangingPunct="0">
              <a:lnSpc>
                <a:spcPts val="4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임베디드에서 나온 센서 데이터를 CSV(또는 DB)로 수집/저장하고 </a:t>
            </a:r>
            <a:b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</a:b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   </a:t>
            </a:r>
            <a:r>
              <a:rPr kumimoji="0" lang="ko-KR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품질 좋은 데이터셋으로 </a:t>
            </a:r>
            <a:r>
              <a:rPr kumimoji="0" lang="ko-KR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전처리</a:t>
            </a:r>
            <a:r>
              <a:rPr kumimoji="0" lang="ko-KR" altLang="ko-KR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할</a:t>
            </a:r>
            <a:r>
              <a:rPr kumimoji="0" lang="ko-KR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수 있다.</a:t>
            </a:r>
          </a:p>
          <a:p>
            <a:pPr marR="0" lvl="0" indent="363538" algn="l" defTabSz="914400" rtl="0" eaLnBrk="0" fontAlgn="base" latinLnBrk="0" hangingPunct="0">
              <a:lnSpc>
                <a:spcPts val="4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Colab에서</a:t>
            </a:r>
            <a:r>
              <a:rPr kumimoji="0" lang="ko-KR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EDA(분포/상관/이상치)</a:t>
            </a:r>
            <a:r>
              <a:rPr kumimoji="0" lang="ko-KR" altLang="ko-KR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를</a:t>
            </a:r>
            <a:r>
              <a:rPr kumimoji="0" lang="ko-KR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수행하고 OK/NOK 라벨 분포를 해석할 수 있다.</a:t>
            </a:r>
          </a:p>
          <a:p>
            <a:pPr marR="0" lvl="0" indent="363538" algn="l" defTabSz="914400" rtl="0" eaLnBrk="0" fontAlgn="base" latinLnBrk="0" hangingPunct="0">
              <a:lnSpc>
                <a:spcPts val="4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지도학습 분류 모델(Logistic/Tree/RF/KNN/SVM 등)을 학습하고, </a:t>
            </a:r>
            <a:b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</a:b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    </a:t>
            </a:r>
            <a:r>
              <a:rPr kumimoji="0" lang="ko-KR" altLang="ko-KR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Accuracy</a:t>
            </a:r>
            <a:r>
              <a:rPr kumimoji="0" lang="ko-KR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/Precision/</a:t>
            </a:r>
            <a:r>
              <a:rPr kumimoji="0" lang="ko-KR" altLang="ko-KR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Recall</a:t>
            </a:r>
            <a:r>
              <a:rPr kumimoji="0" lang="ko-KR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/F1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-</a:t>
            </a:r>
            <a:r>
              <a:rPr lang="en-US" altLang="ko-KR" sz="2000" dirty="0">
                <a:latin typeface="+mn-ea"/>
              </a:rPr>
              <a:t>score</a:t>
            </a:r>
            <a:r>
              <a:rPr lang="ko-KR" altLang="en-US" sz="2000" dirty="0">
                <a:latin typeface="+mn-ea"/>
              </a:rPr>
              <a:t> </a:t>
            </a:r>
            <a:r>
              <a:rPr kumimoji="0" lang="ko-KR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로 비교 평가할 수 있다.</a:t>
            </a:r>
          </a:p>
          <a:p>
            <a:pPr marR="0" lvl="0" indent="363538" algn="l" defTabSz="914400" rtl="0" eaLnBrk="0" fontAlgn="base" latinLnBrk="0" hangingPunct="0">
              <a:lnSpc>
                <a:spcPts val="4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예지보전 관점에서 </a:t>
            </a:r>
            <a:r>
              <a:rPr kumimoji="0" lang="ko-KR" altLang="ko-KR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시계열·다채널</a:t>
            </a:r>
            <a:r>
              <a:rPr kumimoji="0" lang="ko-KR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센서 데이터를 이해하고 </a:t>
            </a:r>
            <a:b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</a:b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   </a:t>
            </a:r>
            <a:r>
              <a:rPr kumimoji="0" lang="ko-KR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CNN/RNN/</a:t>
            </a:r>
            <a:r>
              <a:rPr kumimoji="0" lang="ko-KR" altLang="ko-KR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Attention</a:t>
            </a:r>
            <a:r>
              <a:rPr kumimoji="0" lang="ko-KR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계열 모델 개념을 설명할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1312150258"/>
      </p:ext>
    </p:extLst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D03A7-E77A-9C2F-0797-37A5DB999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54C94BE0-5D47-6076-8A96-0D875894CDE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EE560539-601E-E9CD-DCEB-413AC5F191B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9B0A1C6A-0031-C859-ED70-8A16B2061BB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24E09163-1960-0243-4E43-A1C0C9788EE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A36BCC3-D6BB-144A-A4E0-430D9F8E9E91}"/>
              </a:ext>
            </a:extLst>
          </p:cNvPr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수업 내용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7F3D55F-054C-696A-B1D8-8286E9768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67261"/>
              </p:ext>
            </p:extLst>
          </p:nvPr>
        </p:nvGraphicFramePr>
        <p:xfrm>
          <a:off x="551384" y="908720"/>
          <a:ext cx="11233245" cy="561662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04056">
                  <a:extLst>
                    <a:ext uri="{9D8B030D-6E8A-4147-A177-3AD203B41FA5}">
                      <a16:colId xmlns:a16="http://schemas.microsoft.com/office/drawing/2014/main" val="3179847134"/>
                    </a:ext>
                  </a:extLst>
                </a:gridCol>
                <a:gridCol w="2088232">
                  <a:extLst>
                    <a:ext uri="{9D8B030D-6E8A-4147-A177-3AD203B41FA5}">
                      <a16:colId xmlns:a16="http://schemas.microsoft.com/office/drawing/2014/main" val="1020265699"/>
                    </a:ext>
                  </a:extLst>
                </a:gridCol>
                <a:gridCol w="3600400">
                  <a:extLst>
                    <a:ext uri="{9D8B030D-6E8A-4147-A177-3AD203B41FA5}">
                      <a16:colId xmlns:a16="http://schemas.microsoft.com/office/drawing/2014/main" val="3250029630"/>
                    </a:ext>
                  </a:extLst>
                </a:gridCol>
                <a:gridCol w="2793908">
                  <a:extLst>
                    <a:ext uri="{9D8B030D-6E8A-4147-A177-3AD203B41FA5}">
                      <a16:colId xmlns:a16="http://schemas.microsoft.com/office/drawing/2014/main" val="1949772580"/>
                    </a:ext>
                  </a:extLst>
                </a:gridCol>
                <a:gridCol w="2246649">
                  <a:extLst>
                    <a:ext uri="{9D8B030D-6E8A-4147-A177-3AD203B41FA5}">
                      <a16:colId xmlns:a16="http://schemas.microsoft.com/office/drawing/2014/main" val="83894152"/>
                    </a:ext>
                  </a:extLst>
                </a:gridCol>
              </a:tblGrid>
              <a:tr h="410547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err="1">
                          <a:latin typeface="+mn-ea"/>
                          <a:ea typeface="+mn-ea"/>
                        </a:rPr>
                        <a:t>ch.</a:t>
                      </a:r>
                      <a:endParaRPr lang="en-US" sz="1600" b="1" dirty="0">
                        <a:latin typeface="+mn-ea"/>
                        <a:ea typeface="+mn-ea"/>
                      </a:endParaRPr>
                    </a:p>
                  </a:txBody>
                  <a:tcPr marL="48149" marR="48149" marT="24074" marB="24074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48149" marR="48149" marT="24074" marB="24074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핵심 내용</a:t>
                      </a:r>
                      <a:r>
                        <a:rPr lang="en-US" altLang="ko-KR" sz="16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이론</a:t>
                      </a:r>
                      <a:r>
                        <a:rPr lang="en-US" altLang="ko-KR" sz="1600" b="1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기능</a:t>
                      </a:r>
                      <a:r>
                        <a:rPr lang="en-US" altLang="ko-KR" sz="16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48149" marR="48149" marT="24074" marB="24074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실습</a:t>
                      </a:r>
                      <a:endParaRPr lang="en-US" sz="1600" b="1" dirty="0">
                        <a:latin typeface="+mn-ea"/>
                        <a:ea typeface="+mn-ea"/>
                      </a:endParaRPr>
                    </a:p>
                  </a:txBody>
                  <a:tcPr marL="48149" marR="48149" marT="24074" marB="24074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산출물</a:t>
                      </a:r>
                      <a:r>
                        <a:rPr lang="en-US" altLang="ko-KR" sz="16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결과물</a:t>
                      </a:r>
                      <a:r>
                        <a:rPr lang="en-US" altLang="ko-KR" sz="16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48149" marR="48149" marT="24074" marB="24074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6648174"/>
                  </a:ext>
                </a:extLst>
              </a:tr>
              <a:tr h="75339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AI/ML/DL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핵심 개념 정리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r>
                        <a:rPr lang="en-US" altLang="ko-KR" sz="1600">
                          <a:latin typeface="+mn-ea"/>
                          <a:ea typeface="+mn-ea"/>
                        </a:rPr>
                        <a:t>AI·ML·DL 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정의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차이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지도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비지도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강화학습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분류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회귀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군집 개요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간단 사례로 문제유형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분류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회귀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구분 연습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개념 요약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페이지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algn="ctr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노트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퀴즈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48149" marR="48149" marT="24074" marB="24074" anchor="ctr"/>
                </a:tc>
                <a:extLst>
                  <a:ext uri="{0D108BD9-81ED-4DB2-BD59-A6C34878D82A}">
                    <a16:rowId xmlns:a16="http://schemas.microsoft.com/office/drawing/2014/main" val="702923419"/>
                  </a:ext>
                </a:extLst>
              </a:tr>
              <a:tr h="75339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임베디드 센서 데이터 수집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보드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(ESP32/STM32/RPi) 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센서 읽기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데이터 포맷 설계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, Serial/WiFi 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전송 구조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초 주기 송신 →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PC 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수신 →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CSV 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누적 저장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+mn-ea"/>
                          <a:ea typeface="+mn-ea"/>
                        </a:rPr>
                        <a:t>sensor_log.csv</a:t>
                      </a:r>
                    </a:p>
                    <a:p>
                      <a:pPr algn="ctr"/>
                      <a:r>
                        <a:rPr lang="en-US" sz="1600" dirty="0">
                          <a:latin typeface="+mn-ea"/>
                          <a:ea typeface="+mn-ea"/>
                        </a:rPr>
                        <a:t>(timestamp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포함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48149" marR="48149" marT="24074" marB="24074" anchor="ctr"/>
                </a:tc>
                <a:extLst>
                  <a:ext uri="{0D108BD9-81ED-4DB2-BD59-A6C34878D82A}">
                    <a16:rowId xmlns:a16="http://schemas.microsoft.com/office/drawing/2014/main" val="2444826933"/>
                  </a:ext>
                </a:extLst>
              </a:tr>
              <a:tr h="109624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더미 데이터로 빅데이터 실습 시작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데이터 부족 시 더미 생성 전략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라벨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(OK/NOK) 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생성 규칙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품질 기준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온도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습도 랜덤 생성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+ 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규칙 기반 라벨링으로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만건 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CSV 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생성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+mn-ea"/>
                          <a:ea typeface="+mn-ea"/>
                        </a:rPr>
                        <a:t>TH_quality_10000.csv +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라벨 규칙 문서 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48149" marR="48149" marT="24074" marB="24074" anchor="ctr"/>
                </a:tc>
                <a:extLst>
                  <a:ext uri="{0D108BD9-81ED-4DB2-BD59-A6C34878D82A}">
                    <a16:rowId xmlns:a16="http://schemas.microsoft.com/office/drawing/2014/main" val="3601124738"/>
                  </a:ext>
                </a:extLst>
              </a:tr>
              <a:tr h="75339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Colab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기반 데이터 분석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(EDA)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r>
                        <a:rPr lang="en-US" altLang="ko-KR" sz="1600">
                          <a:latin typeface="+mn-ea"/>
                          <a:ea typeface="+mn-ea"/>
                        </a:rPr>
                        <a:t>describe/info, 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라벨 분포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히스토그램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박스플롯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산점도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상관계수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Colab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에서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EDA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그래프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4~6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개 생성 및 해석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EDA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리포트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algn="ctr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그래프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결론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48149" marR="48149" marT="24074" marB="24074" anchor="ctr"/>
                </a:tc>
                <a:extLst>
                  <a:ext uri="{0D108BD9-81ED-4DB2-BD59-A6C34878D82A}">
                    <a16:rowId xmlns:a16="http://schemas.microsoft.com/office/drawing/2014/main" val="2302553435"/>
                  </a:ext>
                </a:extLst>
              </a:tr>
              <a:tr h="75339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600"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ML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분류 모델 학습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&amp;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성능 비교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+mn-ea"/>
                          <a:ea typeface="+mn-ea"/>
                        </a:rPr>
                        <a:t>Train/Test split,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스케일링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지표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600" dirty="0">
                          <a:latin typeface="+mn-ea"/>
                          <a:ea typeface="+mn-ea"/>
                        </a:rPr>
                        <a:t>Accuracy/Precision/Recall/F1)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+mn-ea"/>
                          <a:ea typeface="+mn-ea"/>
                        </a:rPr>
                        <a:t>Logistic/Tree/RF/KNN/SVM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학습 후 성능 표 비교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모델 비교표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+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최종 모델 선택 사유 </a:t>
                      </a:r>
                    </a:p>
                  </a:txBody>
                  <a:tcPr marL="48149" marR="48149" marT="24074" marB="24074" anchor="ctr"/>
                </a:tc>
                <a:extLst>
                  <a:ext uri="{0D108BD9-81ED-4DB2-BD59-A6C34878D82A}">
                    <a16:rowId xmlns:a16="http://schemas.microsoft.com/office/drawing/2014/main" val="3107000443"/>
                  </a:ext>
                </a:extLst>
              </a:tr>
              <a:tr h="109624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600">
                          <a:latin typeface="+mn-ea"/>
                          <a:ea typeface="+mn-ea"/>
                        </a:rPr>
                        <a:t>6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예지보전 시계열 딥러닝 입문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시계열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다채널 특성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윈도우링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라벨링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, CNN/GRU/BiGRU/Attention 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개념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간단 윈도우링 후 모델 구조 맛보기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데모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48149" marR="48149" marT="24074" marB="2407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600" dirty="0" err="1">
                          <a:latin typeface="+mn-ea"/>
                          <a:ea typeface="+mn-ea"/>
                        </a:rPr>
                        <a:t>PdM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프로젝트 설계서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페이지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센서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윈도우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라벨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모델 후보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48149" marR="48149" marT="24074" marB="24074" anchor="ctr"/>
                </a:tc>
                <a:extLst>
                  <a:ext uri="{0D108BD9-81ED-4DB2-BD59-A6C34878D82A}">
                    <a16:rowId xmlns:a16="http://schemas.microsoft.com/office/drawing/2014/main" val="16388085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8979771"/>
      </p:ext>
    </p:extLst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F266F-94A3-B83D-8CB3-9C49B633B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A4EC0030-28DE-2AEE-EBA3-48F893C34E09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99248E07-D77C-1918-179E-E24716BCC56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043E366B-607B-751B-F20D-4D54D611F43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99A4F6F1-9433-27BD-48BA-71A2BFE4CEA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045A2FD-FA93-6F6B-CB32-2F953A74E486}"/>
              </a:ext>
            </a:extLst>
          </p:cNvPr>
          <p:cNvSpPr/>
          <p:nvPr/>
        </p:nvSpPr>
        <p:spPr>
          <a:xfrm>
            <a:off x="12948" y="-34627"/>
            <a:ext cx="12179052" cy="2383507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182562" algn="ctr">
              <a:defRPr/>
            </a:pPr>
            <a:r>
              <a:rPr lang="ko-KR" altLang="en-US" sz="4800" b="1" dirty="0">
                <a:solidFill>
                  <a:schemeClr val="bg1"/>
                </a:solidFill>
                <a:latin typeface="+mn-ea"/>
              </a:rPr>
              <a:t>인공지능</a:t>
            </a:r>
            <a:r>
              <a:rPr lang="en-US" altLang="ko-KR" sz="4800" b="1" dirty="0">
                <a:solidFill>
                  <a:schemeClr val="bg1"/>
                </a:solidFill>
                <a:latin typeface="+mn-ea"/>
              </a:rPr>
              <a:t>, </a:t>
            </a:r>
            <a:r>
              <a:rPr lang="ko-KR" altLang="en-US" sz="4800" b="1" dirty="0">
                <a:solidFill>
                  <a:schemeClr val="bg1"/>
                </a:solidFill>
                <a:latin typeface="+mn-ea"/>
              </a:rPr>
              <a:t>머신러닝</a:t>
            </a:r>
            <a:endParaRPr lang="ko-KR" altLang="en-US" sz="4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2470899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ko-KR" altLang="en-US" b="1" dirty="0"/>
              <a:t>인공지능의 구성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E5152706-E4FD-EE0E-2F37-0199AF1A33C1}"/>
              </a:ext>
            </a:extLst>
          </p:cNvPr>
          <p:cNvSpPr/>
          <p:nvPr/>
        </p:nvSpPr>
        <p:spPr>
          <a:xfrm>
            <a:off x="1414464" y="1071563"/>
            <a:ext cx="8858250" cy="3657599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13E51761-69F6-1033-4081-DDA4D614F7F6}"/>
              </a:ext>
            </a:extLst>
          </p:cNvPr>
          <p:cNvSpPr/>
          <p:nvPr/>
        </p:nvSpPr>
        <p:spPr>
          <a:xfrm>
            <a:off x="4200522" y="1357313"/>
            <a:ext cx="5915028" cy="324326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04EBD33-6319-7868-3422-531551584918}"/>
              </a:ext>
            </a:extLst>
          </p:cNvPr>
          <p:cNvSpPr/>
          <p:nvPr/>
        </p:nvSpPr>
        <p:spPr>
          <a:xfrm>
            <a:off x="6972300" y="1685925"/>
            <a:ext cx="3018367" cy="276789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E68FB8C7-8055-9FDB-9758-DB938ED444A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114548" y="2978944"/>
            <a:ext cx="1428749" cy="1539170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D902D327-6352-B58F-147B-343F1A8BFB6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79518" y="3181791"/>
            <a:ext cx="1847851" cy="113347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4E1EDD62-80F5-D957-643E-29B852C1426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41026" y="3067491"/>
            <a:ext cx="2033587" cy="1247775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39EC3992-E4F4-F556-D868-6663C3E450EF}"/>
              </a:ext>
            </a:extLst>
          </p:cNvPr>
          <p:cNvSpPr txBox="1"/>
          <p:nvPr/>
        </p:nvSpPr>
        <p:spPr>
          <a:xfrm>
            <a:off x="1647821" y="1357313"/>
            <a:ext cx="2552701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accent6">
                    <a:lumMod val="50000"/>
                  </a:schemeClr>
                </a:solidFill>
              </a:rPr>
              <a:t>인공지능</a:t>
            </a:r>
            <a:endParaRPr lang="en-US" altLang="ko-KR" sz="3200" b="1" dirty="0">
              <a:solidFill>
                <a:schemeClr val="accent6">
                  <a:lumMod val="50000"/>
                </a:schemeClr>
              </a:solidFill>
            </a:endParaRPr>
          </a:p>
          <a:p>
            <a:pPr>
              <a:lnSpc>
                <a:spcPts val="3000"/>
              </a:lnSpc>
            </a:pPr>
            <a:r>
              <a:rPr lang="ko-KR" altLang="en-US" sz="1600" b="1" dirty="0">
                <a:solidFill>
                  <a:schemeClr val="accent6">
                    <a:lumMod val="50000"/>
                  </a:schemeClr>
                </a:solidFill>
              </a:rPr>
              <a:t>인간이 가진 지적 능력을 컴퓨터를 통해 구현하는 기술</a:t>
            </a:r>
            <a:endParaRPr lang="en-US" altLang="ko-KR" sz="1600" b="1" dirty="0">
              <a:solidFill>
                <a:schemeClr val="accent6">
                  <a:lumMod val="50000"/>
                </a:schemeClr>
              </a:solidFill>
            </a:endParaRPr>
          </a:p>
          <a:p>
            <a:endParaRPr lang="ko-KR" altLang="en-US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3698BF-1198-F53F-9FDB-E1283ED27D24}"/>
              </a:ext>
            </a:extLst>
          </p:cNvPr>
          <p:cNvSpPr txBox="1"/>
          <p:nvPr/>
        </p:nvSpPr>
        <p:spPr>
          <a:xfrm>
            <a:off x="4333869" y="1435790"/>
            <a:ext cx="2652711" cy="1687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accent1">
                    <a:lumMod val="50000"/>
                  </a:schemeClr>
                </a:solidFill>
              </a:rPr>
              <a:t>머신러닝</a:t>
            </a:r>
            <a:endParaRPr lang="en-US" altLang="ko-KR" sz="3200" b="1" dirty="0">
              <a:solidFill>
                <a:schemeClr val="accent1">
                  <a:lumMod val="50000"/>
                </a:schemeClr>
              </a:solidFill>
            </a:endParaRPr>
          </a:p>
          <a:p>
            <a:pPr>
              <a:lnSpc>
                <a:spcPts val="3000"/>
              </a:lnSpc>
            </a:pP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</a:rPr>
              <a:t>컴퓨터가 인간의 지적</a:t>
            </a:r>
            <a:endParaRPr lang="en-US" altLang="ko-KR" sz="1600" b="1" dirty="0">
              <a:solidFill>
                <a:schemeClr val="accent1">
                  <a:lumMod val="50000"/>
                </a:schemeClr>
              </a:solidFill>
            </a:endParaRPr>
          </a:p>
          <a:p>
            <a:pPr>
              <a:lnSpc>
                <a:spcPts val="3000"/>
              </a:lnSpc>
            </a:pPr>
            <a:r>
              <a:rPr lang="ko-KR" altLang="en-US" sz="1600" b="1" dirty="0">
                <a:solidFill>
                  <a:schemeClr val="accent1">
                    <a:lumMod val="50000"/>
                  </a:schemeClr>
                </a:solidFill>
              </a:rPr>
              <a:t>능력을 갖도록 훈련시키는 기술</a:t>
            </a:r>
            <a:endParaRPr lang="ko-KR" altLang="en-US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D42DC4D-5E6A-6C6C-F8BD-249628D8D0C5}"/>
              </a:ext>
            </a:extLst>
          </p:cNvPr>
          <p:cNvSpPr txBox="1"/>
          <p:nvPr/>
        </p:nvSpPr>
        <p:spPr>
          <a:xfrm>
            <a:off x="7119927" y="1763874"/>
            <a:ext cx="2767023" cy="13027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solidFill>
                  <a:schemeClr val="accent4">
                    <a:lumMod val="50000"/>
                  </a:schemeClr>
                </a:solidFill>
              </a:rPr>
              <a:t>딥러닝</a:t>
            </a:r>
            <a:endParaRPr lang="en-US" altLang="ko-KR" sz="3200" b="1" dirty="0">
              <a:solidFill>
                <a:schemeClr val="accent4">
                  <a:lumMod val="50000"/>
                </a:schemeClr>
              </a:solidFill>
            </a:endParaRPr>
          </a:p>
          <a:p>
            <a:pPr>
              <a:lnSpc>
                <a:spcPts val="3000"/>
              </a:lnSpc>
            </a:pPr>
            <a:r>
              <a:rPr lang="ko-KR" altLang="en-US" sz="1600" b="1" dirty="0">
                <a:solidFill>
                  <a:schemeClr val="accent4">
                    <a:lumMod val="50000"/>
                  </a:schemeClr>
                </a:solidFill>
              </a:rPr>
              <a:t>컴퓨터가 스스로 학습하도록 훈련시키는 기술</a:t>
            </a:r>
            <a:endParaRPr lang="ko-KR" altLang="en-US" b="1" dirty="0">
              <a:solidFill>
                <a:schemeClr val="accent4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3060308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ko-KR" altLang="en-US" b="1" dirty="0"/>
              <a:t>기존 프로그램과 </a:t>
            </a:r>
            <a:r>
              <a:rPr lang="ko-KR" altLang="en-US" b="1" dirty="0" err="1"/>
              <a:t>머신러닝의</a:t>
            </a:r>
            <a:r>
              <a:rPr lang="ko-KR" altLang="en-US" b="1" dirty="0"/>
              <a:t> 차이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2B56C10-95EF-D104-4E67-DBBBE438D06E}"/>
              </a:ext>
            </a:extLst>
          </p:cNvPr>
          <p:cNvSpPr/>
          <p:nvPr/>
        </p:nvSpPr>
        <p:spPr>
          <a:xfrm>
            <a:off x="5663952" y="1268760"/>
            <a:ext cx="2779776" cy="315008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ko-KR" altLang="en-US" sz="1600">
              <a:solidFill>
                <a:schemeClr val="tx1"/>
              </a:solidFill>
            </a:endParaRPr>
          </a:p>
        </p:txBody>
      </p:sp>
      <p:sp>
        <p:nvSpPr>
          <p:cNvPr id="3" name="모서리가 둥근 직사각형 13">
            <a:extLst>
              <a:ext uri="{FF2B5EF4-FFF2-40B4-BE49-F238E27FC236}">
                <a16:creationId xmlns:a16="http://schemas.microsoft.com/office/drawing/2014/main" id="{6604EF84-C97F-44AA-9D49-2989E8569861}"/>
              </a:ext>
            </a:extLst>
          </p:cNvPr>
          <p:cNvSpPr/>
          <p:nvPr/>
        </p:nvSpPr>
        <p:spPr>
          <a:xfrm>
            <a:off x="5663952" y="1188690"/>
            <a:ext cx="2779776" cy="39423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chemeClr val="tx1"/>
                </a:solidFill>
              </a:rPr>
              <a:t>머신 러닝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5C7E1F6-897B-2EB3-94E9-F809D82483F7}"/>
              </a:ext>
            </a:extLst>
          </p:cNvPr>
          <p:cNvSpPr/>
          <p:nvPr/>
        </p:nvSpPr>
        <p:spPr>
          <a:xfrm>
            <a:off x="2658624" y="1268760"/>
            <a:ext cx="2779776" cy="315008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ko-KR" altLang="en-US" sz="1600">
              <a:solidFill>
                <a:schemeClr val="tx1"/>
              </a:solidFill>
            </a:endParaRPr>
          </a:p>
        </p:txBody>
      </p:sp>
      <p:sp>
        <p:nvSpPr>
          <p:cNvPr id="5" name="모서리가 둥근 직사각형 15">
            <a:extLst>
              <a:ext uri="{FF2B5EF4-FFF2-40B4-BE49-F238E27FC236}">
                <a16:creationId xmlns:a16="http://schemas.microsoft.com/office/drawing/2014/main" id="{EC0606A1-1B33-E568-9943-9310A194CD82}"/>
              </a:ext>
            </a:extLst>
          </p:cNvPr>
          <p:cNvSpPr/>
          <p:nvPr/>
        </p:nvSpPr>
        <p:spPr>
          <a:xfrm>
            <a:off x="2658624" y="1188690"/>
            <a:ext cx="2779776" cy="39423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chemeClr val="tx1"/>
                </a:solidFill>
              </a:rPr>
              <a:t>기존 프로그램</a:t>
            </a:r>
          </a:p>
        </p:txBody>
      </p:sp>
      <p:sp>
        <p:nvSpPr>
          <p:cNvPr id="6" name="위쪽 화살표 설명선 6">
            <a:extLst>
              <a:ext uri="{FF2B5EF4-FFF2-40B4-BE49-F238E27FC236}">
                <a16:creationId xmlns:a16="http://schemas.microsoft.com/office/drawing/2014/main" id="{33656287-0D48-2C7E-3ADA-77F28859C6AD}"/>
              </a:ext>
            </a:extLst>
          </p:cNvPr>
          <p:cNvSpPr/>
          <p:nvPr/>
        </p:nvSpPr>
        <p:spPr>
          <a:xfrm flipV="1">
            <a:off x="3094749" y="2459337"/>
            <a:ext cx="1943333" cy="1372653"/>
          </a:xfrm>
          <a:prstGeom prst="upArrowCallou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7" name="사다리꼴 6">
            <a:extLst>
              <a:ext uri="{FF2B5EF4-FFF2-40B4-BE49-F238E27FC236}">
                <a16:creationId xmlns:a16="http://schemas.microsoft.com/office/drawing/2014/main" id="{80B43B66-9193-208D-7259-6C8F3D29A011}"/>
              </a:ext>
            </a:extLst>
          </p:cNvPr>
          <p:cNvSpPr/>
          <p:nvPr/>
        </p:nvSpPr>
        <p:spPr>
          <a:xfrm flipV="1">
            <a:off x="4274102" y="2099043"/>
            <a:ext cx="772886" cy="371181"/>
          </a:xfrm>
          <a:prstGeom prst="trapezoid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8" name="사다리꼴 7">
            <a:extLst>
              <a:ext uri="{FF2B5EF4-FFF2-40B4-BE49-F238E27FC236}">
                <a16:creationId xmlns:a16="http://schemas.microsoft.com/office/drawing/2014/main" id="{C604E71B-C2A3-9C1A-F37A-9AD7D31E1DAE}"/>
              </a:ext>
            </a:extLst>
          </p:cNvPr>
          <p:cNvSpPr/>
          <p:nvPr/>
        </p:nvSpPr>
        <p:spPr>
          <a:xfrm flipV="1">
            <a:off x="3109865" y="2099043"/>
            <a:ext cx="772886" cy="371182"/>
          </a:xfrm>
          <a:prstGeom prst="trapezoid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56A57EAC-A89C-C4BA-A277-CD7D56CB2D24}"/>
              </a:ext>
            </a:extLst>
          </p:cNvPr>
          <p:cNvSpPr/>
          <p:nvPr/>
        </p:nvSpPr>
        <p:spPr>
          <a:xfrm>
            <a:off x="3516642" y="3933907"/>
            <a:ext cx="1099545" cy="38255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chemeClr val="tx1"/>
                </a:solidFill>
              </a:rPr>
              <a:t>출 력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82ED129B-6BA9-B118-348F-17CA49D66A9D}"/>
              </a:ext>
            </a:extLst>
          </p:cNvPr>
          <p:cNvSpPr/>
          <p:nvPr/>
        </p:nvSpPr>
        <p:spPr>
          <a:xfrm>
            <a:off x="2930749" y="1749658"/>
            <a:ext cx="1099545" cy="29457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chemeClr val="tx1"/>
                </a:solidFill>
              </a:rPr>
              <a:t>입 력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335EE3A7-21CA-A64F-76AE-6DDB5CB56ACF}"/>
              </a:ext>
            </a:extLst>
          </p:cNvPr>
          <p:cNvSpPr/>
          <p:nvPr/>
        </p:nvSpPr>
        <p:spPr>
          <a:xfrm>
            <a:off x="4121046" y="1749658"/>
            <a:ext cx="1099545" cy="29457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1600">
                <a:solidFill>
                  <a:schemeClr val="tx1"/>
                </a:solidFill>
              </a:rPr>
              <a:t>알고리즘</a:t>
            </a:r>
          </a:p>
        </p:txBody>
      </p:sp>
      <p:sp>
        <p:nvSpPr>
          <p:cNvPr id="13" name="위쪽 화살표 설명선 16">
            <a:extLst>
              <a:ext uri="{FF2B5EF4-FFF2-40B4-BE49-F238E27FC236}">
                <a16:creationId xmlns:a16="http://schemas.microsoft.com/office/drawing/2014/main" id="{8D91F21B-73FF-5F60-9BEC-8B50F1E25298}"/>
              </a:ext>
            </a:extLst>
          </p:cNvPr>
          <p:cNvSpPr/>
          <p:nvPr/>
        </p:nvSpPr>
        <p:spPr>
          <a:xfrm flipV="1">
            <a:off x="5993751" y="2425539"/>
            <a:ext cx="1943333" cy="1406452"/>
          </a:xfrm>
          <a:prstGeom prst="upArrowCallou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4" name="사다리꼴 13">
            <a:extLst>
              <a:ext uri="{FF2B5EF4-FFF2-40B4-BE49-F238E27FC236}">
                <a16:creationId xmlns:a16="http://schemas.microsoft.com/office/drawing/2014/main" id="{A747457F-0AAD-C6B1-6EDE-51D7C8D0FD14}"/>
              </a:ext>
            </a:extLst>
          </p:cNvPr>
          <p:cNvSpPr/>
          <p:nvPr/>
        </p:nvSpPr>
        <p:spPr>
          <a:xfrm flipV="1">
            <a:off x="7173104" y="2099044"/>
            <a:ext cx="772886" cy="337382"/>
          </a:xfrm>
          <a:prstGeom prst="trapezoid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5" name="사다리꼴 14">
            <a:extLst>
              <a:ext uri="{FF2B5EF4-FFF2-40B4-BE49-F238E27FC236}">
                <a16:creationId xmlns:a16="http://schemas.microsoft.com/office/drawing/2014/main" id="{B0C3E28E-2AE3-48A2-F96C-A1A7C4DE27AA}"/>
              </a:ext>
            </a:extLst>
          </p:cNvPr>
          <p:cNvSpPr/>
          <p:nvPr/>
        </p:nvSpPr>
        <p:spPr>
          <a:xfrm flipV="1">
            <a:off x="6008867" y="2099044"/>
            <a:ext cx="772886" cy="337381"/>
          </a:xfrm>
          <a:prstGeom prst="trapezoid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6" name="모서리가 둥근 직사각형 19">
            <a:extLst>
              <a:ext uri="{FF2B5EF4-FFF2-40B4-BE49-F238E27FC236}">
                <a16:creationId xmlns:a16="http://schemas.microsoft.com/office/drawing/2014/main" id="{9323CDBF-ED33-7CCE-5D65-94A3D93E7FD1}"/>
              </a:ext>
            </a:extLst>
          </p:cNvPr>
          <p:cNvSpPr/>
          <p:nvPr/>
        </p:nvSpPr>
        <p:spPr>
          <a:xfrm>
            <a:off x="6415644" y="3920580"/>
            <a:ext cx="1099545" cy="38255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1600">
                <a:solidFill>
                  <a:schemeClr val="tx1"/>
                </a:solidFill>
              </a:rPr>
              <a:t>알고리즘</a:t>
            </a:r>
          </a:p>
        </p:txBody>
      </p:sp>
      <p:sp>
        <p:nvSpPr>
          <p:cNvPr id="17" name="모서리가 둥근 직사각형 20">
            <a:extLst>
              <a:ext uri="{FF2B5EF4-FFF2-40B4-BE49-F238E27FC236}">
                <a16:creationId xmlns:a16="http://schemas.microsoft.com/office/drawing/2014/main" id="{9B6AA76E-124C-807A-DB02-E1D9EA5822EA}"/>
              </a:ext>
            </a:extLst>
          </p:cNvPr>
          <p:cNvSpPr/>
          <p:nvPr/>
        </p:nvSpPr>
        <p:spPr>
          <a:xfrm>
            <a:off x="5829751" y="1715859"/>
            <a:ext cx="1099545" cy="29457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chemeClr val="tx1"/>
                </a:solidFill>
              </a:rPr>
              <a:t>입 력</a:t>
            </a:r>
          </a:p>
        </p:txBody>
      </p:sp>
      <p:sp>
        <p:nvSpPr>
          <p:cNvPr id="18" name="모서리가 둥근 직사각형 21">
            <a:extLst>
              <a:ext uri="{FF2B5EF4-FFF2-40B4-BE49-F238E27FC236}">
                <a16:creationId xmlns:a16="http://schemas.microsoft.com/office/drawing/2014/main" id="{82A7C2AE-1BDF-5719-AFB8-9D3E2906BAF2}"/>
              </a:ext>
            </a:extLst>
          </p:cNvPr>
          <p:cNvSpPr/>
          <p:nvPr/>
        </p:nvSpPr>
        <p:spPr>
          <a:xfrm>
            <a:off x="7020048" y="1715859"/>
            <a:ext cx="1099545" cy="29457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1600">
                <a:solidFill>
                  <a:schemeClr val="tx1"/>
                </a:solidFill>
              </a:rPr>
              <a:t>출 력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F6BC5099-0264-84B8-BDB1-09D4E94B81C9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667397" y="2512120"/>
            <a:ext cx="772886" cy="832619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4C59D154-ECEF-9CCA-F1C6-8000D9745E8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661601" y="2513742"/>
            <a:ext cx="809625" cy="819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752237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ko-KR" altLang="en-US" b="1" dirty="0"/>
              <a:t>머신 러닝 학습 단계</a:t>
            </a:r>
          </a:p>
        </p:txBody>
      </p:sp>
      <p:pic>
        <p:nvPicPr>
          <p:cNvPr id="21" name="_x793485200">
            <a:extLst>
              <a:ext uri="{FF2B5EF4-FFF2-40B4-BE49-F238E27FC236}">
                <a16:creationId xmlns:a16="http://schemas.microsoft.com/office/drawing/2014/main" id="{3BCEB8CF-CC78-3560-9744-1E8F97836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1156" y="1066800"/>
            <a:ext cx="9157392" cy="218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4847714"/>
      </p:ext>
    </p:extLst>
  </p:cSld>
  <p:clrMapOvr>
    <a:masterClrMapping/>
  </p:clrMapOvr>
  <p:transition spd="slow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ko-KR" altLang="en-US" b="1" dirty="0"/>
              <a:t>머신러닝 종류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EF2CFEFB-D9F5-DB64-CC39-39EF2362BE0B}"/>
              </a:ext>
            </a:extLst>
          </p:cNvPr>
          <p:cNvSpPr/>
          <p:nvPr/>
        </p:nvSpPr>
        <p:spPr>
          <a:xfrm>
            <a:off x="4889072" y="850409"/>
            <a:ext cx="2223083" cy="5229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>
                <a:solidFill>
                  <a:schemeClr val="tx1"/>
                </a:solidFill>
              </a:rPr>
              <a:t>머신 러닝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1140A12-5CE4-8904-EF0B-97FFE00C6EFE}"/>
              </a:ext>
            </a:extLst>
          </p:cNvPr>
          <p:cNvSpPr/>
          <p:nvPr/>
        </p:nvSpPr>
        <p:spPr>
          <a:xfrm>
            <a:off x="4615032" y="2276872"/>
            <a:ext cx="2779776" cy="32308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chemeClr val="tx1"/>
                </a:solidFill>
              </a:rPr>
              <a:t>정답을 알려주지 않고</a:t>
            </a:r>
            <a:endParaRPr lang="en-US" altLang="ko-KR" sz="1600">
              <a:solidFill>
                <a:schemeClr val="tx1"/>
              </a:solidFill>
            </a:endParaRPr>
          </a:p>
          <a:p>
            <a:pPr algn="ctr"/>
            <a:r>
              <a:rPr lang="ko-KR" altLang="en-US" sz="1600">
                <a:solidFill>
                  <a:schemeClr val="tx1"/>
                </a:solidFill>
              </a:rPr>
              <a:t>학습시키는 방법</a:t>
            </a:r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ko-KR" altLang="en-US" sz="1600">
              <a:solidFill>
                <a:schemeClr val="tx1"/>
              </a:solidFill>
            </a:endParaRPr>
          </a:p>
        </p:txBody>
      </p:sp>
      <p:sp>
        <p:nvSpPr>
          <p:cNvPr id="4" name="모서리가 둥근 직사각형 5">
            <a:extLst>
              <a:ext uri="{FF2B5EF4-FFF2-40B4-BE49-F238E27FC236}">
                <a16:creationId xmlns:a16="http://schemas.microsoft.com/office/drawing/2014/main" id="{B8EFEA28-0C26-6BCD-14BF-34D2225EB276}"/>
              </a:ext>
            </a:extLst>
          </p:cNvPr>
          <p:cNvSpPr/>
          <p:nvPr/>
        </p:nvSpPr>
        <p:spPr>
          <a:xfrm>
            <a:off x="4615032" y="2122011"/>
            <a:ext cx="2779776" cy="66692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>
                <a:solidFill>
                  <a:schemeClr val="tx1"/>
                </a:solidFill>
              </a:rPr>
              <a:t>비지도 학습</a:t>
            </a:r>
            <a:endParaRPr lang="en-US" altLang="ko-KR" b="1">
              <a:solidFill>
                <a:schemeClr val="tx1"/>
              </a:solidFill>
            </a:endParaRPr>
          </a:p>
          <a:p>
            <a:pPr algn="ctr"/>
            <a:r>
              <a:rPr lang="en-US" altLang="ko-KR">
                <a:solidFill>
                  <a:schemeClr val="tx1"/>
                </a:solidFill>
              </a:rPr>
              <a:t>(Unsupervised Learning)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07B92A0-DCAE-05F3-556D-BC29DBF506A5}"/>
              </a:ext>
            </a:extLst>
          </p:cNvPr>
          <p:cNvSpPr/>
          <p:nvPr/>
        </p:nvSpPr>
        <p:spPr>
          <a:xfrm>
            <a:off x="1609704" y="2276872"/>
            <a:ext cx="2779776" cy="32308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chemeClr val="tx1"/>
                </a:solidFill>
              </a:rPr>
              <a:t>문제와 정답을 모두</a:t>
            </a:r>
            <a:endParaRPr lang="en-US" altLang="ko-KR" sz="1600">
              <a:solidFill>
                <a:schemeClr val="tx1"/>
              </a:solidFill>
            </a:endParaRPr>
          </a:p>
          <a:p>
            <a:pPr algn="ctr"/>
            <a:r>
              <a:rPr lang="ko-KR" altLang="en-US" sz="1600">
                <a:solidFill>
                  <a:schemeClr val="tx1"/>
                </a:solidFill>
              </a:rPr>
              <a:t>알려주고 학습시키는 방법</a:t>
            </a:r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ko-KR" altLang="en-US" sz="1600">
              <a:solidFill>
                <a:schemeClr val="tx1"/>
              </a:solidFill>
            </a:endParaRPr>
          </a:p>
        </p:txBody>
      </p:sp>
      <p:sp>
        <p:nvSpPr>
          <p:cNvPr id="6" name="모서리가 둥근 직사각형 7">
            <a:extLst>
              <a:ext uri="{FF2B5EF4-FFF2-40B4-BE49-F238E27FC236}">
                <a16:creationId xmlns:a16="http://schemas.microsoft.com/office/drawing/2014/main" id="{67971A84-6FF7-C258-EB08-2307F9D9310D}"/>
              </a:ext>
            </a:extLst>
          </p:cNvPr>
          <p:cNvSpPr/>
          <p:nvPr/>
        </p:nvSpPr>
        <p:spPr>
          <a:xfrm>
            <a:off x="1609704" y="2122011"/>
            <a:ext cx="2779776" cy="66692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>
                <a:solidFill>
                  <a:schemeClr val="tx1"/>
                </a:solidFill>
              </a:rPr>
              <a:t>지도 학습</a:t>
            </a:r>
            <a:endParaRPr lang="en-US" altLang="ko-KR" b="1">
              <a:solidFill>
                <a:schemeClr val="tx1"/>
              </a:solidFill>
            </a:endParaRPr>
          </a:p>
          <a:p>
            <a:pPr algn="ctr"/>
            <a:r>
              <a:rPr lang="en-US" altLang="ko-KR">
                <a:solidFill>
                  <a:schemeClr val="tx1"/>
                </a:solidFill>
              </a:rPr>
              <a:t>(Supervised Learning)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DB819B8-050E-E178-BB2F-8BF34C704A78}"/>
              </a:ext>
            </a:extLst>
          </p:cNvPr>
          <p:cNvSpPr/>
          <p:nvPr/>
        </p:nvSpPr>
        <p:spPr>
          <a:xfrm>
            <a:off x="7608168" y="2276872"/>
            <a:ext cx="2779776" cy="32308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solidFill>
                  <a:schemeClr val="tx1"/>
                </a:solidFill>
              </a:rPr>
              <a:t>보상을 최대화하는 행동을 선택하도록 학습시키는 방법</a:t>
            </a:r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en-US" altLang="ko-KR" sz="1600">
              <a:solidFill>
                <a:schemeClr val="tx1"/>
              </a:solidFill>
            </a:endParaRPr>
          </a:p>
          <a:p>
            <a:pPr algn="ctr"/>
            <a:endParaRPr lang="ko-KR" altLang="en-US" sz="1600">
              <a:solidFill>
                <a:schemeClr val="tx1"/>
              </a:solidFill>
            </a:endParaRPr>
          </a:p>
        </p:txBody>
      </p:sp>
      <p:sp>
        <p:nvSpPr>
          <p:cNvPr id="8" name="모서리가 둥근 직사각형 9">
            <a:extLst>
              <a:ext uri="{FF2B5EF4-FFF2-40B4-BE49-F238E27FC236}">
                <a16:creationId xmlns:a16="http://schemas.microsoft.com/office/drawing/2014/main" id="{83E49D30-6930-2B4D-525E-14385076C801}"/>
              </a:ext>
            </a:extLst>
          </p:cNvPr>
          <p:cNvSpPr/>
          <p:nvPr/>
        </p:nvSpPr>
        <p:spPr>
          <a:xfrm>
            <a:off x="7608168" y="2122011"/>
            <a:ext cx="2779776" cy="66692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>
                <a:solidFill>
                  <a:schemeClr val="tx1"/>
                </a:solidFill>
              </a:rPr>
              <a:t>강화 학습</a:t>
            </a:r>
            <a:endParaRPr lang="en-US" altLang="ko-KR" b="1">
              <a:solidFill>
                <a:schemeClr val="tx1"/>
              </a:solidFill>
            </a:endParaRPr>
          </a:p>
          <a:p>
            <a:pPr algn="ctr"/>
            <a:r>
              <a:rPr lang="en-US" altLang="ko-KR">
                <a:solidFill>
                  <a:schemeClr val="tx1"/>
                </a:solidFill>
              </a:rPr>
              <a:t>(Renforcement Learning)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0" name="꺾인 연결선 11">
            <a:extLst>
              <a:ext uri="{FF2B5EF4-FFF2-40B4-BE49-F238E27FC236}">
                <a16:creationId xmlns:a16="http://schemas.microsoft.com/office/drawing/2014/main" id="{005C94C7-1794-7036-D52B-94954463FC4C}"/>
              </a:ext>
            </a:extLst>
          </p:cNvPr>
          <p:cNvCxnSpPr>
            <a:stCxn id="2" idx="2"/>
            <a:endCxn id="6" idx="0"/>
          </p:cNvCxnSpPr>
          <p:nvPr/>
        </p:nvCxnSpPr>
        <p:spPr>
          <a:xfrm rot="5400000">
            <a:off x="4125759" y="247156"/>
            <a:ext cx="748688" cy="3001022"/>
          </a:xfrm>
          <a:prstGeom prst="bentConnector3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꺾인 연결선 12">
            <a:extLst>
              <a:ext uri="{FF2B5EF4-FFF2-40B4-BE49-F238E27FC236}">
                <a16:creationId xmlns:a16="http://schemas.microsoft.com/office/drawing/2014/main" id="{D2DF412D-5162-7ABD-0FBF-CD1A7E87F1F5}"/>
              </a:ext>
            </a:extLst>
          </p:cNvPr>
          <p:cNvCxnSpPr>
            <a:stCxn id="2" idx="2"/>
            <a:endCxn id="8" idx="0"/>
          </p:cNvCxnSpPr>
          <p:nvPr/>
        </p:nvCxnSpPr>
        <p:spPr>
          <a:xfrm rot="16200000" flipH="1">
            <a:off x="7124991" y="248946"/>
            <a:ext cx="748688" cy="2997442"/>
          </a:xfrm>
          <a:prstGeom prst="bentConnector3">
            <a:avLst>
              <a:gd name="adj1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꺾인 연결선 15">
            <a:extLst>
              <a:ext uri="{FF2B5EF4-FFF2-40B4-BE49-F238E27FC236}">
                <a16:creationId xmlns:a16="http://schemas.microsoft.com/office/drawing/2014/main" id="{8872DEC4-C2CD-8DA6-34BB-165CD1C736C3}"/>
              </a:ext>
            </a:extLst>
          </p:cNvPr>
          <p:cNvCxnSpPr>
            <a:stCxn id="2" idx="2"/>
            <a:endCxn id="4" idx="0"/>
          </p:cNvCxnSpPr>
          <p:nvPr/>
        </p:nvCxnSpPr>
        <p:spPr>
          <a:xfrm rot="16200000" flipH="1">
            <a:off x="5628423" y="1745514"/>
            <a:ext cx="748688" cy="4306"/>
          </a:xfrm>
          <a:prstGeom prst="bentConnector3">
            <a:avLst>
              <a:gd name="adj1" fmla="val 50000"/>
            </a:avLst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그림 12">
            <a:extLst>
              <a:ext uri="{FF2B5EF4-FFF2-40B4-BE49-F238E27FC236}">
                <a16:creationId xmlns:a16="http://schemas.microsoft.com/office/drawing/2014/main" id="{69F88B6D-3075-2520-F967-E2234EED0C2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clrChange>
              <a:clrFrom>
                <a:srgbClr val="F8F9FB"/>
              </a:clrFrom>
              <a:clrTo>
                <a:srgbClr val="F8F9FB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8682" y="3351669"/>
            <a:ext cx="1426305" cy="213945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7EB9FC7-2B96-E7D0-175E-1F179EED62D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107" y="3537624"/>
            <a:ext cx="2412937" cy="1970128"/>
          </a:xfrm>
          <a:prstGeom prst="rect">
            <a:avLst/>
          </a:prstGeom>
        </p:spPr>
      </p:pic>
      <p:sp>
        <p:nvSpPr>
          <p:cNvPr id="15" name="모서리가 둥근 사각형 설명선 23">
            <a:extLst>
              <a:ext uri="{FF2B5EF4-FFF2-40B4-BE49-F238E27FC236}">
                <a16:creationId xmlns:a16="http://schemas.microsoft.com/office/drawing/2014/main" id="{A8C4FE7D-9699-C004-596B-7D59B662907F}"/>
              </a:ext>
            </a:extLst>
          </p:cNvPr>
          <p:cNvSpPr/>
          <p:nvPr/>
        </p:nvSpPr>
        <p:spPr>
          <a:xfrm>
            <a:off x="2207917" y="3465052"/>
            <a:ext cx="680720" cy="354688"/>
          </a:xfrm>
          <a:prstGeom prst="wedgeRoundRectCallout">
            <a:avLst>
              <a:gd name="adj1" fmla="val -31494"/>
              <a:gd name="adj2" fmla="val 85007"/>
              <a:gd name="adj3" fmla="val 1666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tx1"/>
                </a:solidFill>
              </a:rPr>
              <a:t>개</a:t>
            </a:r>
          </a:p>
        </p:txBody>
      </p:sp>
      <p:sp>
        <p:nvSpPr>
          <p:cNvPr id="16" name="모서리가 둥근 사각형 설명선 24">
            <a:extLst>
              <a:ext uri="{FF2B5EF4-FFF2-40B4-BE49-F238E27FC236}">
                <a16:creationId xmlns:a16="http://schemas.microsoft.com/office/drawing/2014/main" id="{70ECE601-C30E-4BB2-E412-9BAEED9AF3E2}"/>
              </a:ext>
            </a:extLst>
          </p:cNvPr>
          <p:cNvSpPr/>
          <p:nvPr/>
        </p:nvSpPr>
        <p:spPr>
          <a:xfrm>
            <a:off x="3069967" y="3465052"/>
            <a:ext cx="680720" cy="354688"/>
          </a:xfrm>
          <a:prstGeom prst="wedgeRoundRectCallout">
            <a:avLst>
              <a:gd name="adj1" fmla="val 26075"/>
              <a:gd name="adj2" fmla="val 80915"/>
              <a:gd name="adj3" fmla="val 16667"/>
            </a:avLst>
          </a:prstGeom>
          <a:solidFill>
            <a:srgbClr val="FFC000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1400">
                <a:solidFill>
                  <a:schemeClr val="tx1"/>
                </a:solidFill>
              </a:rPr>
              <a:t>고양이</a:t>
            </a: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A3D84559-355D-2661-41FF-31563C595130}"/>
              </a:ext>
            </a:extLst>
          </p:cNvPr>
          <p:cNvSpPr/>
          <p:nvPr/>
        </p:nvSpPr>
        <p:spPr>
          <a:xfrm>
            <a:off x="4788346" y="3639707"/>
            <a:ext cx="275772" cy="314069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93FCBD3E-F13F-0AB7-010E-248DF30070F1}"/>
              </a:ext>
            </a:extLst>
          </p:cNvPr>
          <p:cNvSpPr/>
          <p:nvPr/>
        </p:nvSpPr>
        <p:spPr>
          <a:xfrm>
            <a:off x="5110791" y="4375452"/>
            <a:ext cx="275772" cy="314069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30EBED2-DFFF-BAD5-07DB-7F1CFDFE0918}"/>
              </a:ext>
            </a:extLst>
          </p:cNvPr>
          <p:cNvSpPr/>
          <p:nvPr/>
        </p:nvSpPr>
        <p:spPr>
          <a:xfrm>
            <a:off x="5200472" y="4756931"/>
            <a:ext cx="275772" cy="314069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33EC790-61FE-CAFD-CBB8-B918CA24A7D7}"/>
              </a:ext>
            </a:extLst>
          </p:cNvPr>
          <p:cNvSpPr/>
          <p:nvPr/>
        </p:nvSpPr>
        <p:spPr>
          <a:xfrm>
            <a:off x="5191043" y="3706389"/>
            <a:ext cx="263612" cy="29012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2FCE826-8F75-A7AC-8C15-23642D7ECAFD}"/>
              </a:ext>
            </a:extLst>
          </p:cNvPr>
          <p:cNvSpPr/>
          <p:nvPr/>
        </p:nvSpPr>
        <p:spPr>
          <a:xfrm>
            <a:off x="4918044" y="4689521"/>
            <a:ext cx="263612" cy="29012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8DC6C09-0B14-A9A3-0FB2-A60636D87747}"/>
              </a:ext>
            </a:extLst>
          </p:cNvPr>
          <p:cNvSpPr/>
          <p:nvPr/>
        </p:nvSpPr>
        <p:spPr>
          <a:xfrm>
            <a:off x="4932312" y="4002350"/>
            <a:ext cx="263612" cy="29012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FB81896E-3824-D320-3011-F3DA825767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123" y="3819740"/>
            <a:ext cx="495313" cy="511642"/>
          </a:xfrm>
          <a:prstGeom prst="rect">
            <a:avLst/>
          </a:prstGeom>
        </p:spPr>
      </p:pic>
      <p:sp>
        <p:nvSpPr>
          <p:cNvPr id="25" name="이등변 삼각형 24">
            <a:extLst>
              <a:ext uri="{FF2B5EF4-FFF2-40B4-BE49-F238E27FC236}">
                <a16:creationId xmlns:a16="http://schemas.microsoft.com/office/drawing/2014/main" id="{C7D9F8FC-175D-A63A-2CEA-847C9BD3C40D}"/>
              </a:ext>
            </a:extLst>
          </p:cNvPr>
          <p:cNvSpPr/>
          <p:nvPr/>
        </p:nvSpPr>
        <p:spPr>
          <a:xfrm>
            <a:off x="4812070" y="4374937"/>
            <a:ext cx="292415" cy="266010"/>
          </a:xfrm>
          <a:prstGeom prst="triangl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이등변 삼각형 25">
            <a:extLst>
              <a:ext uri="{FF2B5EF4-FFF2-40B4-BE49-F238E27FC236}">
                <a16:creationId xmlns:a16="http://schemas.microsoft.com/office/drawing/2014/main" id="{32BA298C-1C2D-DE9A-8BA8-F6967E738AED}"/>
              </a:ext>
            </a:extLst>
          </p:cNvPr>
          <p:cNvSpPr/>
          <p:nvPr/>
        </p:nvSpPr>
        <p:spPr>
          <a:xfrm>
            <a:off x="5230438" y="3975922"/>
            <a:ext cx="292415" cy="266010"/>
          </a:xfrm>
          <a:prstGeom prst="triangl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3CF5A476-8C35-91CB-2F26-E26A0552412A}"/>
              </a:ext>
            </a:extLst>
          </p:cNvPr>
          <p:cNvSpPr/>
          <p:nvPr/>
        </p:nvSpPr>
        <p:spPr>
          <a:xfrm>
            <a:off x="5330037" y="4337246"/>
            <a:ext cx="292415" cy="266010"/>
          </a:xfrm>
          <a:prstGeom prst="triangl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4305990-8BC7-A021-94AC-4145C37165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4294" y="4310113"/>
            <a:ext cx="1040488" cy="197896"/>
          </a:xfrm>
          <a:prstGeom prst="rect">
            <a:avLst/>
          </a:prstGeom>
        </p:spPr>
      </p:pic>
      <p:sp>
        <p:nvSpPr>
          <p:cNvPr id="29" name="직사각형 28">
            <a:extLst>
              <a:ext uri="{FF2B5EF4-FFF2-40B4-BE49-F238E27FC236}">
                <a16:creationId xmlns:a16="http://schemas.microsoft.com/office/drawing/2014/main" id="{720F6454-2D6A-5ED5-BF51-2F260E8CA79F}"/>
              </a:ext>
            </a:extLst>
          </p:cNvPr>
          <p:cNvSpPr/>
          <p:nvPr/>
        </p:nvSpPr>
        <p:spPr>
          <a:xfrm>
            <a:off x="6618746" y="3717726"/>
            <a:ext cx="263612" cy="29012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CA2AE05-F2D0-C3F8-548C-499312D047D1}"/>
              </a:ext>
            </a:extLst>
          </p:cNvPr>
          <p:cNvSpPr/>
          <p:nvPr/>
        </p:nvSpPr>
        <p:spPr>
          <a:xfrm>
            <a:off x="6962359" y="3713158"/>
            <a:ext cx="263612" cy="29012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DA944393-DC79-9629-181F-30BE4744A89F}"/>
              </a:ext>
            </a:extLst>
          </p:cNvPr>
          <p:cNvSpPr/>
          <p:nvPr/>
        </p:nvSpPr>
        <p:spPr>
          <a:xfrm>
            <a:off x="6598904" y="4188639"/>
            <a:ext cx="292415" cy="266010"/>
          </a:xfrm>
          <a:prstGeom prst="triangl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F4778002-90E9-226B-6349-B07DFDDF7C9A}"/>
              </a:ext>
            </a:extLst>
          </p:cNvPr>
          <p:cNvSpPr/>
          <p:nvPr/>
        </p:nvSpPr>
        <p:spPr>
          <a:xfrm>
            <a:off x="6954061" y="4164724"/>
            <a:ext cx="292415" cy="266010"/>
          </a:xfrm>
          <a:prstGeom prst="triangl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96984B5B-E3EF-A9EE-649C-82E5DCF6F4B1}"/>
              </a:ext>
            </a:extLst>
          </p:cNvPr>
          <p:cNvSpPr/>
          <p:nvPr/>
        </p:nvSpPr>
        <p:spPr>
          <a:xfrm>
            <a:off x="6618785" y="4669500"/>
            <a:ext cx="275772" cy="314069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371CC667-B188-B6FF-94FF-B91172C23E5F}"/>
              </a:ext>
            </a:extLst>
          </p:cNvPr>
          <p:cNvSpPr/>
          <p:nvPr/>
        </p:nvSpPr>
        <p:spPr>
          <a:xfrm>
            <a:off x="6990838" y="4669500"/>
            <a:ext cx="275772" cy="314069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모서리가 둥근 직사각형 46">
            <a:extLst>
              <a:ext uri="{FF2B5EF4-FFF2-40B4-BE49-F238E27FC236}">
                <a16:creationId xmlns:a16="http://schemas.microsoft.com/office/drawing/2014/main" id="{F0E9048A-E746-7FED-84F5-5A321AEDD71B}"/>
              </a:ext>
            </a:extLst>
          </p:cNvPr>
          <p:cNvSpPr/>
          <p:nvPr/>
        </p:nvSpPr>
        <p:spPr>
          <a:xfrm>
            <a:off x="1609705" y="5850040"/>
            <a:ext cx="1091396" cy="48828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>
                <a:solidFill>
                  <a:schemeClr val="tx1"/>
                </a:solidFill>
              </a:rPr>
              <a:t>분류</a:t>
            </a:r>
          </a:p>
        </p:txBody>
      </p:sp>
      <p:sp>
        <p:nvSpPr>
          <p:cNvPr id="36" name="모서리가 둥근 직사각형 48">
            <a:extLst>
              <a:ext uri="{FF2B5EF4-FFF2-40B4-BE49-F238E27FC236}">
                <a16:creationId xmlns:a16="http://schemas.microsoft.com/office/drawing/2014/main" id="{F56A185D-6350-682E-3FD9-7E52E52E2364}"/>
              </a:ext>
            </a:extLst>
          </p:cNvPr>
          <p:cNvSpPr/>
          <p:nvPr/>
        </p:nvSpPr>
        <p:spPr>
          <a:xfrm>
            <a:off x="3277820" y="5852563"/>
            <a:ext cx="1095189" cy="48829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>
                <a:solidFill>
                  <a:schemeClr val="tx1"/>
                </a:solidFill>
              </a:rPr>
              <a:t>회귀</a:t>
            </a:r>
          </a:p>
        </p:txBody>
      </p:sp>
      <p:cxnSp>
        <p:nvCxnSpPr>
          <p:cNvPr id="37" name="꺾인 연결선 51">
            <a:extLst>
              <a:ext uri="{FF2B5EF4-FFF2-40B4-BE49-F238E27FC236}">
                <a16:creationId xmlns:a16="http://schemas.microsoft.com/office/drawing/2014/main" id="{9C4AB335-4FF4-4B51-16C5-B41DD263F82A}"/>
              </a:ext>
            </a:extLst>
          </p:cNvPr>
          <p:cNvCxnSpPr>
            <a:stCxn id="5" idx="2"/>
            <a:endCxn id="35" idx="0"/>
          </p:cNvCxnSpPr>
          <p:nvPr/>
        </p:nvCxnSpPr>
        <p:spPr>
          <a:xfrm rot="5400000">
            <a:off x="2406354" y="5256802"/>
            <a:ext cx="342288" cy="844189"/>
          </a:xfrm>
          <a:prstGeom prst="bentConnector3">
            <a:avLst>
              <a:gd name="adj1" fmla="val 50000"/>
            </a:avLst>
          </a:prstGeom>
          <a:ln w="254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꺾인 연결선 57">
            <a:extLst>
              <a:ext uri="{FF2B5EF4-FFF2-40B4-BE49-F238E27FC236}">
                <a16:creationId xmlns:a16="http://schemas.microsoft.com/office/drawing/2014/main" id="{EBB8420C-B814-EF5A-6F53-6EBEF696FCF7}"/>
              </a:ext>
            </a:extLst>
          </p:cNvPr>
          <p:cNvCxnSpPr>
            <a:stCxn id="5" idx="2"/>
            <a:endCxn id="36" idx="0"/>
          </p:cNvCxnSpPr>
          <p:nvPr/>
        </p:nvCxnSpPr>
        <p:spPr>
          <a:xfrm rot="16200000" flipH="1">
            <a:off x="3240098" y="5267245"/>
            <a:ext cx="344811" cy="825823"/>
          </a:xfrm>
          <a:prstGeom prst="bentConnector3">
            <a:avLst>
              <a:gd name="adj1" fmla="val 50000"/>
            </a:avLst>
          </a:prstGeom>
          <a:ln w="254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60">
            <a:extLst>
              <a:ext uri="{FF2B5EF4-FFF2-40B4-BE49-F238E27FC236}">
                <a16:creationId xmlns:a16="http://schemas.microsoft.com/office/drawing/2014/main" id="{B4D7B33D-054A-6EDA-1979-0D5D4C29072F}"/>
              </a:ext>
            </a:extLst>
          </p:cNvPr>
          <p:cNvSpPr/>
          <p:nvPr/>
        </p:nvSpPr>
        <p:spPr>
          <a:xfrm>
            <a:off x="4655463" y="5850040"/>
            <a:ext cx="1107623" cy="48829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>
                <a:solidFill>
                  <a:schemeClr val="tx1"/>
                </a:solidFill>
              </a:rPr>
              <a:t>군집화</a:t>
            </a:r>
          </a:p>
        </p:txBody>
      </p:sp>
      <p:sp>
        <p:nvSpPr>
          <p:cNvPr id="40" name="모서리가 둥근 직사각형 61">
            <a:extLst>
              <a:ext uri="{FF2B5EF4-FFF2-40B4-BE49-F238E27FC236}">
                <a16:creationId xmlns:a16="http://schemas.microsoft.com/office/drawing/2014/main" id="{F576FEC3-167C-FF4F-B35C-491BF8943DDE}"/>
              </a:ext>
            </a:extLst>
          </p:cNvPr>
          <p:cNvSpPr/>
          <p:nvPr/>
        </p:nvSpPr>
        <p:spPr>
          <a:xfrm>
            <a:off x="6265418" y="5850040"/>
            <a:ext cx="1137279" cy="48829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>
                <a:solidFill>
                  <a:schemeClr val="tx1"/>
                </a:solidFill>
              </a:rPr>
              <a:t>연관</a:t>
            </a:r>
          </a:p>
        </p:txBody>
      </p:sp>
      <p:cxnSp>
        <p:nvCxnSpPr>
          <p:cNvPr id="41" name="꺾인 연결선 64">
            <a:extLst>
              <a:ext uri="{FF2B5EF4-FFF2-40B4-BE49-F238E27FC236}">
                <a16:creationId xmlns:a16="http://schemas.microsoft.com/office/drawing/2014/main" id="{08E0DCA1-D569-C44E-F161-1E67072DD1D8}"/>
              </a:ext>
            </a:extLst>
          </p:cNvPr>
          <p:cNvCxnSpPr/>
          <p:nvPr/>
        </p:nvCxnSpPr>
        <p:spPr>
          <a:xfrm rot="5400000">
            <a:off x="5417435" y="5249821"/>
            <a:ext cx="342288" cy="844189"/>
          </a:xfrm>
          <a:prstGeom prst="bentConnector3">
            <a:avLst>
              <a:gd name="adj1" fmla="val 50000"/>
            </a:avLst>
          </a:prstGeom>
          <a:ln w="254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꺾인 연결선 65">
            <a:extLst>
              <a:ext uri="{FF2B5EF4-FFF2-40B4-BE49-F238E27FC236}">
                <a16:creationId xmlns:a16="http://schemas.microsoft.com/office/drawing/2014/main" id="{A2D5B4D6-486F-4254-17BD-8E283C27F0D2}"/>
              </a:ext>
            </a:extLst>
          </p:cNvPr>
          <p:cNvCxnSpPr/>
          <p:nvPr/>
        </p:nvCxnSpPr>
        <p:spPr>
          <a:xfrm rot="16200000" flipH="1">
            <a:off x="6251179" y="5260264"/>
            <a:ext cx="344811" cy="825823"/>
          </a:xfrm>
          <a:prstGeom prst="bentConnector3">
            <a:avLst>
              <a:gd name="adj1" fmla="val 50000"/>
            </a:avLst>
          </a:prstGeom>
          <a:ln w="254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그림 42">
            <a:extLst>
              <a:ext uri="{FF2B5EF4-FFF2-40B4-BE49-F238E27FC236}">
                <a16:creationId xmlns:a16="http://schemas.microsoft.com/office/drawing/2014/main" id="{F8F2FE81-ABA7-0E5E-2AEB-1FFDF889F2C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8662" y="3537624"/>
            <a:ext cx="1563686" cy="1900063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70FBCF8D-0B5B-DC0F-A876-B5FDBCD65E36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4020" y="4276065"/>
            <a:ext cx="1605940" cy="1338444"/>
          </a:xfrm>
          <a:prstGeom prst="rect">
            <a:avLst/>
          </a:prstGeom>
        </p:spPr>
      </p:pic>
      <p:sp>
        <p:nvSpPr>
          <p:cNvPr id="45" name="자유형 68">
            <a:extLst>
              <a:ext uri="{FF2B5EF4-FFF2-40B4-BE49-F238E27FC236}">
                <a16:creationId xmlns:a16="http://schemas.microsoft.com/office/drawing/2014/main" id="{6B136D89-217E-444E-B5D1-4D5E562A6F24}"/>
              </a:ext>
            </a:extLst>
          </p:cNvPr>
          <p:cNvSpPr/>
          <p:nvPr/>
        </p:nvSpPr>
        <p:spPr>
          <a:xfrm>
            <a:off x="8210140" y="4164723"/>
            <a:ext cx="1163179" cy="288651"/>
          </a:xfrm>
          <a:custGeom>
            <a:avLst/>
            <a:gdLst>
              <a:gd name="connsiteX0" fmla="*/ 0 w 1022466"/>
              <a:gd name="connsiteY0" fmla="*/ 355392 h 355392"/>
              <a:gd name="connsiteX1" fmla="*/ 332509 w 1022466"/>
              <a:gd name="connsiteY1" fmla="*/ 31196 h 355392"/>
              <a:gd name="connsiteX2" fmla="*/ 1022466 w 1022466"/>
              <a:gd name="connsiteY2" fmla="*/ 31196 h 355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22466" h="355392">
                <a:moveTo>
                  <a:pt x="0" y="355392"/>
                </a:moveTo>
                <a:cubicBezTo>
                  <a:pt x="81049" y="220310"/>
                  <a:pt x="162098" y="85229"/>
                  <a:pt x="332509" y="31196"/>
                </a:cubicBezTo>
                <a:cubicBezTo>
                  <a:pt x="502920" y="-22837"/>
                  <a:pt x="762693" y="4179"/>
                  <a:pt x="1022466" y="31196"/>
                </a:cubicBezTo>
              </a:path>
            </a:pathLst>
          </a:custGeom>
          <a:noFill/>
          <a:ln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503771A-7BB5-4E62-3E01-EE4894C6DA79}"/>
              </a:ext>
            </a:extLst>
          </p:cNvPr>
          <p:cNvSpPr txBox="1"/>
          <p:nvPr/>
        </p:nvSpPr>
        <p:spPr>
          <a:xfrm>
            <a:off x="8262635" y="3826169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/>
              <a:t>행동</a:t>
            </a:r>
          </a:p>
        </p:txBody>
      </p:sp>
      <p:sp>
        <p:nvSpPr>
          <p:cNvPr id="47" name="자유형 71">
            <a:extLst>
              <a:ext uri="{FF2B5EF4-FFF2-40B4-BE49-F238E27FC236}">
                <a16:creationId xmlns:a16="http://schemas.microsoft.com/office/drawing/2014/main" id="{77F7486C-5C34-E156-BD52-2635602FBFE8}"/>
              </a:ext>
            </a:extLst>
          </p:cNvPr>
          <p:cNvSpPr/>
          <p:nvPr/>
        </p:nvSpPr>
        <p:spPr>
          <a:xfrm>
            <a:off x="8559276" y="5076830"/>
            <a:ext cx="1005840" cy="282658"/>
          </a:xfrm>
          <a:custGeom>
            <a:avLst/>
            <a:gdLst>
              <a:gd name="connsiteX0" fmla="*/ 1005840 w 1005840"/>
              <a:gd name="connsiteY0" fmla="*/ 0 h 282658"/>
              <a:gd name="connsiteX1" fmla="*/ 756458 w 1005840"/>
              <a:gd name="connsiteY1" fmla="*/ 182880 h 282658"/>
              <a:gd name="connsiteX2" fmla="*/ 349134 w 1005840"/>
              <a:gd name="connsiteY2" fmla="*/ 282632 h 282658"/>
              <a:gd name="connsiteX3" fmla="*/ 0 w 1005840"/>
              <a:gd name="connsiteY3" fmla="*/ 174567 h 282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5840" h="282658">
                <a:moveTo>
                  <a:pt x="1005840" y="0"/>
                </a:moveTo>
                <a:cubicBezTo>
                  <a:pt x="935874" y="67887"/>
                  <a:pt x="865909" y="135775"/>
                  <a:pt x="756458" y="182880"/>
                </a:cubicBezTo>
                <a:cubicBezTo>
                  <a:pt x="647007" y="229985"/>
                  <a:pt x="475210" y="284017"/>
                  <a:pt x="349134" y="282632"/>
                </a:cubicBezTo>
                <a:cubicBezTo>
                  <a:pt x="223058" y="281247"/>
                  <a:pt x="111529" y="227907"/>
                  <a:pt x="0" y="174567"/>
                </a:cubicBezTo>
              </a:path>
            </a:pathLst>
          </a:custGeom>
          <a:noFill/>
          <a:ln>
            <a:tailEnd type="triangle" w="med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328B55-D7D6-7B64-D4D8-8FB4098160D9}"/>
              </a:ext>
            </a:extLst>
          </p:cNvPr>
          <p:cNvSpPr txBox="1"/>
          <p:nvPr/>
        </p:nvSpPr>
        <p:spPr>
          <a:xfrm>
            <a:off x="8980566" y="4865297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/>
              <a:t>보상</a:t>
            </a:r>
          </a:p>
        </p:txBody>
      </p:sp>
    </p:spTree>
    <p:extLst>
      <p:ext uri="{BB962C8B-B14F-4D97-AF65-F5344CB8AC3E}">
        <p14:creationId xmlns:p14="http://schemas.microsoft.com/office/powerpoint/2010/main" val="2174599155"/>
      </p:ext>
    </p:extLst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ko-KR" altLang="en-US" b="1" dirty="0"/>
              <a:t>머신러닝 절차</a:t>
            </a:r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A091B022-158F-3689-655C-732D40F55270}"/>
              </a:ext>
            </a:extLst>
          </p:cNvPr>
          <p:cNvGrpSpPr/>
          <p:nvPr/>
        </p:nvGrpSpPr>
        <p:grpSpPr>
          <a:xfrm>
            <a:off x="1127448" y="980728"/>
            <a:ext cx="9699899" cy="1837764"/>
            <a:chOff x="2372765" y="1015172"/>
            <a:chExt cx="5857572" cy="1262741"/>
          </a:xfrm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1BE7C509-6A5E-F5C9-E11D-FB20D3505A03}"/>
                </a:ext>
              </a:extLst>
            </p:cNvPr>
            <p:cNvSpPr/>
            <p:nvPr/>
          </p:nvSpPr>
          <p:spPr>
            <a:xfrm>
              <a:off x="2372765" y="1772816"/>
              <a:ext cx="760048" cy="50509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</a:rPr>
                <a:t>빅데이터 </a:t>
              </a:r>
              <a:endParaRPr lang="en-US" altLang="ko-KR" sz="1400" b="1" dirty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400" b="1" dirty="0">
                  <a:solidFill>
                    <a:schemeClr val="tx1"/>
                  </a:solidFill>
                </a:rPr>
                <a:t>수집</a:t>
              </a: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27BCE007-27A6-DE3D-79FA-F17488DC0DEC}"/>
                </a:ext>
              </a:extLst>
            </p:cNvPr>
            <p:cNvSpPr/>
            <p:nvPr/>
          </p:nvSpPr>
          <p:spPr>
            <a:xfrm>
              <a:off x="3387014" y="1772816"/>
              <a:ext cx="760048" cy="5050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</a:rPr>
                <a:t>데이터</a:t>
              </a:r>
              <a:endParaRPr lang="en-US" altLang="ko-KR" sz="1400" b="1" dirty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400" b="1" dirty="0">
                  <a:solidFill>
                    <a:schemeClr val="tx1"/>
                  </a:solidFill>
                </a:rPr>
                <a:t>탐색</a:t>
              </a:r>
            </a:p>
          </p:txBody>
        </p:sp>
        <p:cxnSp>
          <p:nvCxnSpPr>
            <p:cNvPr id="50" name="직선 화살표 연결선 49">
              <a:extLst>
                <a:ext uri="{FF2B5EF4-FFF2-40B4-BE49-F238E27FC236}">
                  <a16:creationId xmlns:a16="http://schemas.microsoft.com/office/drawing/2014/main" id="{9F030F8A-EE4E-C8A5-8F91-3CE0CF7F82D8}"/>
                </a:ext>
              </a:extLst>
            </p:cNvPr>
            <p:cNvCxnSpPr>
              <a:stCxn id="21" idx="3"/>
              <a:endCxn id="49" idx="1"/>
            </p:cNvCxnSpPr>
            <p:nvPr/>
          </p:nvCxnSpPr>
          <p:spPr>
            <a:xfrm>
              <a:off x="3132813" y="2025365"/>
              <a:ext cx="254201" cy="0"/>
            </a:xfrm>
            <a:prstGeom prst="straightConnector1">
              <a:avLst/>
            </a:prstGeom>
            <a:ln w="22225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6ECE49DE-55E2-D291-16DC-978ED6C5633C}"/>
                </a:ext>
              </a:extLst>
            </p:cNvPr>
            <p:cNvSpPr/>
            <p:nvPr/>
          </p:nvSpPr>
          <p:spPr>
            <a:xfrm>
              <a:off x="4401263" y="1772816"/>
              <a:ext cx="760048" cy="50509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</a:rPr>
                <a:t>데이터</a:t>
              </a:r>
              <a:endParaRPr lang="en-US" altLang="ko-KR" sz="1400" b="1" dirty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400" b="1" dirty="0">
                  <a:solidFill>
                    <a:schemeClr val="tx1"/>
                  </a:solidFill>
                </a:rPr>
                <a:t>전처리</a:t>
              </a:r>
            </a:p>
          </p:txBody>
        </p:sp>
        <p:cxnSp>
          <p:nvCxnSpPr>
            <p:cNvPr id="52" name="직선 화살표 연결선 51">
              <a:extLst>
                <a:ext uri="{FF2B5EF4-FFF2-40B4-BE49-F238E27FC236}">
                  <a16:creationId xmlns:a16="http://schemas.microsoft.com/office/drawing/2014/main" id="{27B8EE55-FD35-DF5E-E4B7-6E90E6F95875}"/>
                </a:ext>
              </a:extLst>
            </p:cNvPr>
            <p:cNvCxnSpPr>
              <a:endCxn id="51" idx="1"/>
            </p:cNvCxnSpPr>
            <p:nvPr/>
          </p:nvCxnSpPr>
          <p:spPr>
            <a:xfrm>
              <a:off x="4147062" y="2025365"/>
              <a:ext cx="254201" cy="0"/>
            </a:xfrm>
            <a:prstGeom prst="straightConnector1">
              <a:avLst/>
            </a:prstGeom>
            <a:ln w="22225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5DFEEB66-C299-FB38-87C3-740230C8F4B0}"/>
                </a:ext>
              </a:extLst>
            </p:cNvPr>
            <p:cNvSpPr/>
            <p:nvPr/>
          </p:nvSpPr>
          <p:spPr>
            <a:xfrm>
              <a:off x="5415512" y="1772816"/>
              <a:ext cx="760048" cy="50509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</a:rPr>
                <a:t>모델링</a:t>
              </a:r>
              <a:endParaRPr lang="en-US" altLang="ko-KR" sz="1400" b="1" dirty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400" b="1" dirty="0">
                  <a:solidFill>
                    <a:schemeClr val="tx1"/>
                  </a:solidFill>
                </a:rPr>
                <a:t>및 학습</a:t>
              </a:r>
            </a:p>
          </p:txBody>
        </p:sp>
        <p:cxnSp>
          <p:nvCxnSpPr>
            <p:cNvPr id="54" name="직선 화살표 연결선 53">
              <a:extLst>
                <a:ext uri="{FF2B5EF4-FFF2-40B4-BE49-F238E27FC236}">
                  <a16:creationId xmlns:a16="http://schemas.microsoft.com/office/drawing/2014/main" id="{B737AE90-2203-E40F-67BB-5FCB388BD1B1}"/>
                </a:ext>
              </a:extLst>
            </p:cNvPr>
            <p:cNvCxnSpPr>
              <a:endCxn id="53" idx="1"/>
            </p:cNvCxnSpPr>
            <p:nvPr/>
          </p:nvCxnSpPr>
          <p:spPr>
            <a:xfrm>
              <a:off x="5161311" y="2025365"/>
              <a:ext cx="254201" cy="0"/>
            </a:xfrm>
            <a:prstGeom prst="straightConnector1">
              <a:avLst/>
            </a:prstGeom>
            <a:ln w="22225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0EA4AC55-7606-2341-319C-A3C2486431D6}"/>
                </a:ext>
              </a:extLst>
            </p:cNvPr>
            <p:cNvSpPr/>
            <p:nvPr/>
          </p:nvSpPr>
          <p:spPr>
            <a:xfrm>
              <a:off x="6456040" y="1772816"/>
              <a:ext cx="760048" cy="505097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</a:rPr>
                <a:t>평가</a:t>
              </a:r>
            </a:p>
          </p:txBody>
        </p:sp>
        <p:cxnSp>
          <p:nvCxnSpPr>
            <p:cNvPr id="56" name="직선 화살표 연결선 55">
              <a:extLst>
                <a:ext uri="{FF2B5EF4-FFF2-40B4-BE49-F238E27FC236}">
                  <a16:creationId xmlns:a16="http://schemas.microsoft.com/office/drawing/2014/main" id="{D0E591BB-CF37-D1ED-B135-25B7757237E9}"/>
                </a:ext>
              </a:extLst>
            </p:cNvPr>
            <p:cNvCxnSpPr>
              <a:endCxn id="55" idx="1"/>
            </p:cNvCxnSpPr>
            <p:nvPr/>
          </p:nvCxnSpPr>
          <p:spPr>
            <a:xfrm>
              <a:off x="6201839" y="2025365"/>
              <a:ext cx="254201" cy="0"/>
            </a:xfrm>
            <a:prstGeom prst="straightConnector1">
              <a:avLst/>
            </a:prstGeom>
            <a:ln w="22225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7CB2036A-C53B-E132-72DC-7256F65969CD}"/>
                </a:ext>
              </a:extLst>
            </p:cNvPr>
            <p:cNvSpPr/>
            <p:nvPr/>
          </p:nvSpPr>
          <p:spPr>
            <a:xfrm>
              <a:off x="7470289" y="1772816"/>
              <a:ext cx="760048" cy="505097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</a:rPr>
                <a:t>배포</a:t>
              </a:r>
            </a:p>
          </p:txBody>
        </p:sp>
        <p:cxnSp>
          <p:nvCxnSpPr>
            <p:cNvPr id="58" name="직선 화살표 연결선 57">
              <a:extLst>
                <a:ext uri="{FF2B5EF4-FFF2-40B4-BE49-F238E27FC236}">
                  <a16:creationId xmlns:a16="http://schemas.microsoft.com/office/drawing/2014/main" id="{B3719F61-649B-ECDA-47A9-85A77AEFB8CA}"/>
                </a:ext>
              </a:extLst>
            </p:cNvPr>
            <p:cNvCxnSpPr>
              <a:endCxn id="57" idx="1"/>
            </p:cNvCxnSpPr>
            <p:nvPr/>
          </p:nvCxnSpPr>
          <p:spPr>
            <a:xfrm>
              <a:off x="7216088" y="2025365"/>
              <a:ext cx="254201" cy="0"/>
            </a:xfrm>
            <a:prstGeom prst="straightConnector1">
              <a:avLst/>
            </a:prstGeom>
            <a:ln w="22225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DF1D8A8D-8B91-BF3B-C485-B42C13F38A01}"/>
                </a:ext>
              </a:extLst>
            </p:cNvPr>
            <p:cNvSpPr/>
            <p:nvPr/>
          </p:nvSpPr>
          <p:spPr>
            <a:xfrm>
              <a:off x="5415512" y="1015172"/>
              <a:ext cx="760048" cy="50509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</a:rPr>
                <a:t>테스트</a:t>
              </a:r>
              <a:endParaRPr lang="en-US" altLang="ko-KR" sz="1400" b="1" dirty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400" b="1" dirty="0">
                  <a:solidFill>
                    <a:schemeClr val="tx1"/>
                  </a:solidFill>
                </a:rPr>
                <a:t>데이터</a:t>
              </a:r>
            </a:p>
          </p:txBody>
        </p:sp>
        <p:cxnSp>
          <p:nvCxnSpPr>
            <p:cNvPr id="60" name="연결선: 꺾임 59">
              <a:extLst>
                <a:ext uri="{FF2B5EF4-FFF2-40B4-BE49-F238E27FC236}">
                  <a16:creationId xmlns:a16="http://schemas.microsoft.com/office/drawing/2014/main" id="{7819B637-4A53-1A8A-6614-3EDC460F4781}"/>
                </a:ext>
              </a:extLst>
            </p:cNvPr>
            <p:cNvCxnSpPr>
              <a:endCxn id="59" idx="1"/>
            </p:cNvCxnSpPr>
            <p:nvPr/>
          </p:nvCxnSpPr>
          <p:spPr>
            <a:xfrm rot="5400000" flipH="1" flipV="1">
              <a:off x="4973140" y="1582993"/>
              <a:ext cx="757643" cy="127101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연결선: 꺾임 60">
              <a:extLst>
                <a:ext uri="{FF2B5EF4-FFF2-40B4-BE49-F238E27FC236}">
                  <a16:creationId xmlns:a16="http://schemas.microsoft.com/office/drawing/2014/main" id="{D6937AEE-E45D-F126-9779-D22B980439FD}"/>
                </a:ext>
              </a:extLst>
            </p:cNvPr>
            <p:cNvCxnSpPr>
              <a:cxnSpLocks/>
              <a:stCxn id="59" idx="3"/>
            </p:cNvCxnSpPr>
            <p:nvPr/>
          </p:nvCxnSpPr>
          <p:spPr>
            <a:xfrm>
              <a:off x="6175560" y="1267721"/>
              <a:ext cx="153379" cy="757643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58614402"/>
      </p:ext>
    </p:extLst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ko-KR" altLang="en-US" b="1" dirty="0"/>
              <a:t>머신러닝 모델 성능평가 지표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6B444F-4D51-D4CE-4474-4E9A071A1009}"/>
              </a:ext>
            </a:extLst>
          </p:cNvPr>
          <p:cNvSpPr txBox="1"/>
          <p:nvPr/>
        </p:nvSpPr>
        <p:spPr>
          <a:xfrm>
            <a:off x="263352" y="908720"/>
            <a:ext cx="11449272" cy="1522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68910" marR="0" indent="0" algn="just" fontAlgn="base" latinLnBrk="1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800" kern="0" spc="-50" dirty="0">
                <a:solidFill>
                  <a:srgbClr val="000000"/>
                </a:solidFill>
                <a:effectLst/>
                <a:latin typeface="휴먼명조"/>
                <a:ea typeface="휴먼명조"/>
              </a:rPr>
              <a:t>테스트 데이터는 머신러닝 모델을 개발하고 학습시킨 후에 모델의 성능을 평가하기 위해 사용하는 데이터로 수집한 빅데이터의 약 </a:t>
            </a: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휴먼명조"/>
                <a:ea typeface="휴먼명조"/>
              </a:rPr>
              <a:t>20~30%</a:t>
            </a:r>
            <a:r>
              <a:rPr lang="ko-KR" altLang="en-US" sz="1800" kern="0" spc="-50" dirty="0">
                <a:solidFill>
                  <a:srgbClr val="000000"/>
                </a:solidFill>
                <a:effectLst/>
                <a:latin typeface="휴먼명조"/>
                <a:ea typeface="휴먼명조"/>
              </a:rPr>
              <a:t>를 별도로 할당하여 테스트 용도로 사용하게 된다</a:t>
            </a: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휴먼명조"/>
                <a:ea typeface="휴먼명조"/>
              </a:rPr>
              <a:t>. </a:t>
            </a:r>
            <a:r>
              <a:rPr lang="ko-KR" altLang="en-US" sz="1800" kern="0" spc="-50" dirty="0">
                <a:solidFill>
                  <a:srgbClr val="000000"/>
                </a:solidFill>
                <a:effectLst/>
                <a:latin typeface="휴먼명조"/>
                <a:ea typeface="휴먼명조"/>
              </a:rPr>
              <a:t>보통 수집 데이터의 </a:t>
            </a: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휴먼명조"/>
                <a:ea typeface="휴먼명조"/>
              </a:rPr>
              <a:t>70~80%</a:t>
            </a:r>
            <a:r>
              <a:rPr lang="ko-KR" altLang="en-US" sz="1800" kern="0" spc="-50" dirty="0">
                <a:solidFill>
                  <a:srgbClr val="000000"/>
                </a:solidFill>
                <a:effectLst/>
                <a:latin typeface="휴먼명조"/>
                <a:ea typeface="휴먼명조"/>
              </a:rPr>
              <a:t>는 훈련 데이터로 사용하고 나머지는 테스트 데이터로 사용한다</a:t>
            </a: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휴먼명조"/>
                <a:ea typeface="휴먼명조"/>
              </a:rPr>
              <a:t>.</a:t>
            </a:r>
            <a:endParaRPr lang="ko-KR" altLang="en-US" sz="1800" kern="0" spc="-50" dirty="0">
              <a:solidFill>
                <a:srgbClr val="000000"/>
              </a:solidFill>
              <a:effectLst/>
              <a:latin typeface="한양신명조"/>
            </a:endParaRPr>
          </a:p>
        </p:txBody>
      </p:sp>
    </p:spTree>
    <p:extLst>
      <p:ext uri="{BB962C8B-B14F-4D97-AF65-F5344CB8AC3E}">
        <p14:creationId xmlns:p14="http://schemas.microsoft.com/office/powerpoint/2010/main" val="2490618096"/>
      </p:ext>
    </p:extLst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ko-KR" altLang="en-US" b="1" dirty="0"/>
              <a:t>머신러닝 모델 성능평가 지표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DD7B34-5284-4504-E5A3-45B1D864319C}"/>
              </a:ext>
            </a:extLst>
          </p:cNvPr>
          <p:cNvSpPr txBox="1"/>
          <p:nvPr/>
        </p:nvSpPr>
        <p:spPr>
          <a:xfrm>
            <a:off x="263352" y="836712"/>
            <a:ext cx="11305256" cy="5502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68910" marR="0" indent="0" fontAlgn="base" latinLnBrk="1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 kern="0" spc="-50" dirty="0">
                <a:solidFill>
                  <a:srgbClr val="000000"/>
                </a:solidFill>
                <a:effectLst/>
                <a:latin typeface="+mn-ea"/>
              </a:rPr>
              <a:t>• </a:t>
            </a:r>
            <a:r>
              <a:rPr lang="ko-KR" altLang="en-US" sz="1800" b="1" kern="0" spc="-50" dirty="0">
                <a:solidFill>
                  <a:srgbClr val="000000"/>
                </a:solidFill>
                <a:effectLst/>
                <a:latin typeface="+mn-ea"/>
              </a:rPr>
              <a:t>정확도</a:t>
            </a:r>
            <a:r>
              <a:rPr lang="en-US" altLang="ko-KR" sz="1800" b="1" kern="0" spc="-50" dirty="0">
                <a:solidFill>
                  <a:srgbClr val="000000"/>
                </a:solidFill>
                <a:effectLst/>
                <a:latin typeface="+mn-ea"/>
              </a:rPr>
              <a:t>(Accuracy)</a:t>
            </a:r>
            <a:r>
              <a:rPr lang="ko-KR" altLang="en-US" sz="1800" b="1" kern="0" spc="-50" dirty="0">
                <a:solidFill>
                  <a:srgbClr val="000000"/>
                </a:solidFill>
                <a:effectLst/>
                <a:latin typeface="+mn-ea"/>
              </a:rPr>
              <a:t> </a:t>
            </a:r>
            <a:r>
              <a:rPr lang="en-US" altLang="ko-KR" sz="1800" b="1" kern="0" spc="-50" dirty="0">
                <a:solidFill>
                  <a:srgbClr val="000000"/>
                </a:solidFill>
                <a:effectLst/>
                <a:latin typeface="+mn-ea"/>
              </a:rPr>
              <a:t>:  </a:t>
            </a:r>
            <a:r>
              <a:rPr lang="ko-KR" altLang="en-US" sz="1800" b="1" kern="0" spc="-50" dirty="0">
                <a:solidFill>
                  <a:srgbClr val="000000"/>
                </a:solidFill>
                <a:effectLst/>
                <a:latin typeface="+mn-ea"/>
              </a:rPr>
              <a:t>전체 중에서 몇 개 맞추었나</a:t>
            </a:r>
            <a:r>
              <a:rPr lang="en-US" altLang="ko-KR" sz="1800" b="1" kern="0" spc="-50" dirty="0">
                <a:solidFill>
                  <a:srgbClr val="000000"/>
                </a:solidFill>
                <a:effectLst/>
                <a:latin typeface="+mn-ea"/>
              </a:rPr>
              <a:t>? </a:t>
            </a:r>
            <a:r>
              <a:rPr lang="en-US" altLang="ko-KR" sz="1800" b="1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 </a:t>
            </a:r>
            <a:r>
              <a:rPr lang="ko-KR" altLang="en-US" sz="1800" b="1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정상</a:t>
            </a:r>
            <a:r>
              <a:rPr lang="en-US" altLang="ko-KR" sz="1800" b="1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, </a:t>
            </a:r>
            <a:r>
              <a:rPr lang="ko-KR" altLang="en-US" sz="1800" b="1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비정상 모두 포함</a:t>
            </a:r>
            <a:b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</a:rPr>
            </a:b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</a:rPr>
              <a:t>    -  </a:t>
            </a:r>
            <a:r>
              <a:rPr lang="ko-KR" altLang="en-US" sz="1800" kern="0" spc="-50" dirty="0">
                <a:solidFill>
                  <a:srgbClr val="000000"/>
                </a:solidFill>
                <a:effectLst/>
                <a:latin typeface="+mn-ea"/>
              </a:rPr>
              <a:t>예 </a:t>
            </a: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</a:rPr>
              <a:t>: 100</a:t>
            </a:r>
            <a:r>
              <a:rPr lang="ko-KR" altLang="en-US" sz="1800" kern="0" spc="-50" dirty="0">
                <a:solidFill>
                  <a:srgbClr val="000000"/>
                </a:solidFill>
                <a:effectLst/>
                <a:latin typeface="+mn-ea"/>
              </a:rPr>
              <a:t>개 중 </a:t>
            </a: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</a:rPr>
              <a:t>90</a:t>
            </a:r>
            <a:r>
              <a:rPr lang="ko-KR" altLang="en-US" sz="1800" kern="0" spc="-50" dirty="0">
                <a:solidFill>
                  <a:srgbClr val="000000"/>
                </a:solidFill>
                <a:effectLst/>
                <a:latin typeface="+mn-ea"/>
              </a:rPr>
              <a:t>개 맞추면 정확도 </a:t>
            </a: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</a:rPr>
              <a:t>= 90%</a:t>
            </a:r>
            <a:b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</a:rPr>
            </a:b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</a:rPr>
              <a:t>    - </a:t>
            </a:r>
            <a:r>
              <a:rPr lang="ko-KR" altLang="en-US" sz="1800" kern="0" spc="-50" dirty="0">
                <a:solidFill>
                  <a:srgbClr val="000000"/>
                </a:solidFill>
                <a:effectLst/>
                <a:latin typeface="+mn-ea"/>
              </a:rPr>
              <a:t>쉽고 직관적이지만</a:t>
            </a: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</a:rPr>
              <a:t>, </a:t>
            </a:r>
            <a:r>
              <a:rPr lang="ko-KR" altLang="en-US" sz="1800" kern="0" spc="-50" dirty="0">
                <a:solidFill>
                  <a:srgbClr val="000000"/>
                </a:solidFill>
                <a:effectLst/>
                <a:latin typeface="+mn-ea"/>
              </a:rPr>
              <a:t>데이터가 한쪽으로 치우치면 의미 없음</a:t>
            </a:r>
            <a:b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</a:rPr>
            </a:b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</a:rPr>
              <a:t>      </a:t>
            </a:r>
            <a:r>
              <a:rPr lang="ko-KR" altLang="en-US" sz="1800" u="sng" kern="0" spc="-50" dirty="0">
                <a:solidFill>
                  <a:srgbClr val="000000"/>
                </a:solidFill>
                <a:effectLst/>
                <a:latin typeface="+mn-ea"/>
              </a:rPr>
              <a:t>예 </a:t>
            </a:r>
            <a:r>
              <a:rPr lang="en-US" altLang="ko-KR" sz="1800" u="sng" kern="0" spc="-50" dirty="0">
                <a:solidFill>
                  <a:srgbClr val="000000"/>
                </a:solidFill>
                <a:effectLst/>
                <a:latin typeface="+mn-ea"/>
              </a:rPr>
              <a:t>: </a:t>
            </a:r>
            <a:r>
              <a:rPr lang="ko-KR" altLang="en-US" sz="1800" u="sng" kern="0" spc="-50" dirty="0">
                <a:solidFill>
                  <a:srgbClr val="000000"/>
                </a:solidFill>
                <a:effectLst/>
                <a:latin typeface="+mn-ea"/>
              </a:rPr>
              <a:t>암 환자 </a:t>
            </a:r>
            <a:r>
              <a:rPr lang="en-US" altLang="ko-KR" sz="1800" u="sng" kern="0" spc="-50" dirty="0">
                <a:solidFill>
                  <a:srgbClr val="000000"/>
                </a:solidFill>
                <a:effectLst/>
                <a:latin typeface="+mn-ea"/>
              </a:rPr>
              <a:t>1</a:t>
            </a:r>
            <a:r>
              <a:rPr lang="ko-KR" altLang="en-US" sz="1800" u="sng" kern="0" spc="-50" dirty="0">
                <a:solidFill>
                  <a:srgbClr val="000000"/>
                </a:solidFill>
                <a:effectLst/>
                <a:latin typeface="+mn-ea"/>
              </a:rPr>
              <a:t>명 </a:t>
            </a:r>
            <a:r>
              <a:rPr lang="en-US" altLang="ko-KR" sz="1800" u="sng" kern="0" spc="-50" dirty="0">
                <a:solidFill>
                  <a:srgbClr val="000000"/>
                </a:solidFill>
                <a:effectLst/>
                <a:latin typeface="+mn-ea"/>
              </a:rPr>
              <a:t>+ </a:t>
            </a:r>
            <a:r>
              <a:rPr lang="ko-KR" altLang="en-US" sz="1800" u="sng" kern="0" spc="-50" dirty="0">
                <a:solidFill>
                  <a:srgbClr val="000000"/>
                </a:solidFill>
                <a:effectLst/>
                <a:latin typeface="+mn-ea"/>
              </a:rPr>
              <a:t>정상 </a:t>
            </a:r>
            <a:r>
              <a:rPr lang="en-US" altLang="ko-KR" sz="1800" u="sng" kern="0" spc="-50" dirty="0">
                <a:solidFill>
                  <a:srgbClr val="000000"/>
                </a:solidFill>
                <a:effectLst/>
                <a:latin typeface="+mn-ea"/>
              </a:rPr>
              <a:t>99</a:t>
            </a:r>
            <a:r>
              <a:rPr lang="ko-KR" altLang="en-US" sz="1800" u="sng" kern="0" spc="-50" dirty="0">
                <a:solidFill>
                  <a:srgbClr val="000000"/>
                </a:solidFill>
                <a:effectLst/>
                <a:latin typeface="+mn-ea"/>
              </a:rPr>
              <a:t>명 </a:t>
            </a:r>
            <a:r>
              <a:rPr lang="en-US" altLang="ko-KR" sz="1800" u="sng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 </a:t>
            </a:r>
            <a:r>
              <a:rPr lang="ko-KR" altLang="en-US" sz="1800" u="sng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전부 </a:t>
            </a:r>
            <a:r>
              <a:rPr lang="en-US" altLang="ko-KR" sz="1800" u="sng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‘</a:t>
            </a:r>
            <a:r>
              <a:rPr lang="ko-KR" altLang="en-US" sz="1800" u="sng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정상</a:t>
            </a:r>
            <a:r>
              <a:rPr lang="en-US" altLang="ko-KR" sz="1800" u="sng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＇</a:t>
            </a:r>
            <a:r>
              <a:rPr lang="ko-KR" altLang="en-US" sz="1800" u="sng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이라고 해도 정확도 </a:t>
            </a:r>
            <a:r>
              <a:rPr lang="en-US" altLang="ko-KR" sz="1800" u="sng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90%</a:t>
            </a:r>
            <a:b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</a:rPr>
            </a:b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</a:rPr>
              <a:t>    - </a:t>
            </a:r>
            <a:r>
              <a:rPr lang="en-US" altLang="ko-KR" dirty="0"/>
              <a:t>Accuracy = (TP + TN) / </a:t>
            </a:r>
            <a:r>
              <a:rPr lang="ko-KR" altLang="en-US" dirty="0"/>
              <a:t>전체</a:t>
            </a:r>
            <a:br>
              <a:rPr lang="en-US" altLang="ko-KR" dirty="0"/>
            </a:br>
            <a:endParaRPr lang="ko-KR" altLang="en-US" sz="1800" kern="0" spc="-50" dirty="0">
              <a:solidFill>
                <a:srgbClr val="000000"/>
              </a:solidFill>
              <a:effectLst/>
              <a:latin typeface="+mn-ea"/>
            </a:endParaRPr>
          </a:p>
          <a:p>
            <a:pPr marL="168910" marR="0" indent="0" fontAlgn="base" latinLnBrk="1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800" b="1" kern="0" spc="-50" dirty="0">
                <a:solidFill>
                  <a:srgbClr val="000000"/>
                </a:solidFill>
                <a:effectLst/>
                <a:latin typeface="+mn-ea"/>
              </a:rPr>
              <a:t>• </a:t>
            </a:r>
            <a:r>
              <a:rPr lang="ko-KR" altLang="en-US" sz="1800" b="1" kern="0" spc="-50" dirty="0">
                <a:solidFill>
                  <a:srgbClr val="000000"/>
                </a:solidFill>
                <a:effectLst/>
                <a:latin typeface="+mn-ea"/>
              </a:rPr>
              <a:t>정밀도</a:t>
            </a:r>
            <a:r>
              <a:rPr lang="en-US" altLang="ko-KR" sz="1800" b="1" kern="0" spc="-50" dirty="0">
                <a:solidFill>
                  <a:srgbClr val="000000"/>
                </a:solidFill>
                <a:effectLst/>
                <a:latin typeface="+mn-ea"/>
              </a:rPr>
              <a:t>(Precision)</a:t>
            </a:r>
            <a:r>
              <a:rPr lang="ko-KR" altLang="en-US" sz="1800" b="1" kern="0" spc="-50" dirty="0">
                <a:solidFill>
                  <a:srgbClr val="000000"/>
                </a:solidFill>
                <a:effectLst/>
                <a:latin typeface="+mn-ea"/>
              </a:rPr>
              <a:t> </a:t>
            </a:r>
            <a:r>
              <a:rPr lang="en-US" altLang="ko-KR" sz="1800" b="1" kern="0" spc="-50" dirty="0">
                <a:solidFill>
                  <a:srgbClr val="000000"/>
                </a:solidFill>
                <a:effectLst/>
                <a:latin typeface="+mn-ea"/>
              </a:rPr>
              <a:t>: </a:t>
            </a:r>
            <a:r>
              <a:rPr lang="ko-KR" altLang="en-US" sz="1800" b="1" kern="0" spc="-50" dirty="0">
                <a:solidFill>
                  <a:srgbClr val="000000"/>
                </a:solidFill>
                <a:effectLst/>
                <a:latin typeface="+mn-ea"/>
              </a:rPr>
              <a:t>모델이 </a:t>
            </a:r>
            <a:r>
              <a:rPr lang="ko-KR" altLang="en-US" b="1" kern="0" spc="-50" dirty="0">
                <a:solidFill>
                  <a:srgbClr val="000000"/>
                </a:solidFill>
                <a:latin typeface="+mn-ea"/>
              </a:rPr>
              <a:t>맞다고 한 것 중에 진짜 맞는 비율 </a:t>
            </a:r>
            <a:r>
              <a:rPr lang="en-US" altLang="ko-KR" b="1" kern="0" spc="-50" dirty="0">
                <a:solidFill>
                  <a:srgbClr val="000000"/>
                </a:solidFill>
                <a:latin typeface="+mn-ea"/>
              </a:rPr>
              <a:t>(</a:t>
            </a:r>
            <a:r>
              <a:rPr lang="ko-KR" altLang="en-US" b="1" kern="0" spc="-50" dirty="0">
                <a:solidFill>
                  <a:srgbClr val="000000"/>
                </a:solidFill>
                <a:latin typeface="+mn-ea"/>
              </a:rPr>
              <a:t>모델의 신뢰도</a:t>
            </a:r>
            <a:r>
              <a:rPr lang="en-US" altLang="ko-KR" b="1" kern="0" spc="-50" dirty="0">
                <a:solidFill>
                  <a:srgbClr val="000000"/>
                </a:solidFill>
                <a:latin typeface="+mn-ea"/>
              </a:rPr>
              <a:t>)</a:t>
            </a:r>
            <a:b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</a:rPr>
            </a:b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</a:rPr>
              <a:t>    -  </a:t>
            </a:r>
            <a:r>
              <a:rPr lang="ko-KR" altLang="en-US" sz="1800" kern="0" spc="-50" dirty="0">
                <a:solidFill>
                  <a:srgbClr val="000000"/>
                </a:solidFill>
                <a:effectLst/>
                <a:latin typeface="+mn-ea"/>
              </a:rPr>
              <a:t>모델이 </a:t>
            </a: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</a:rPr>
              <a:t>10</a:t>
            </a:r>
            <a:r>
              <a:rPr lang="ko-KR" altLang="en-US" sz="1800" kern="0" spc="-50" dirty="0">
                <a:solidFill>
                  <a:srgbClr val="000000"/>
                </a:solidFill>
                <a:effectLst/>
                <a:latin typeface="+mn-ea"/>
              </a:rPr>
              <a:t>명을 암 환자라 판단</a:t>
            </a: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</a:rPr>
              <a:t>, </a:t>
            </a:r>
            <a:r>
              <a:rPr lang="ko-KR" altLang="en-US" sz="1800" kern="0" spc="-50" dirty="0">
                <a:solidFill>
                  <a:srgbClr val="000000"/>
                </a:solidFill>
                <a:effectLst/>
                <a:latin typeface="+mn-ea"/>
              </a:rPr>
              <a:t>실제 암환자는 </a:t>
            </a: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</a:rPr>
              <a:t>7</a:t>
            </a:r>
            <a:r>
              <a:rPr lang="ko-KR" altLang="en-US" sz="1800" kern="0" spc="-50" dirty="0">
                <a:solidFill>
                  <a:srgbClr val="000000"/>
                </a:solidFill>
                <a:effectLst/>
                <a:latin typeface="+mn-ea"/>
              </a:rPr>
              <a:t>명  </a:t>
            </a: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 Precision 70%</a:t>
            </a:r>
            <a:b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</a:b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    -  Precision</a:t>
            </a:r>
            <a:r>
              <a:rPr lang="ko-KR" altLang="en-US" sz="1800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이 </a:t>
            </a: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70%</a:t>
            </a:r>
            <a:r>
              <a:rPr lang="ko-KR" altLang="en-US" sz="1800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라고 한다면</a:t>
            </a: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, </a:t>
            </a:r>
            <a:r>
              <a:rPr lang="ko-KR" altLang="en-US" sz="1800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화재 경보 </a:t>
            </a: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10</a:t>
            </a:r>
            <a:r>
              <a:rPr lang="ko-KR" altLang="en-US" sz="1800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번 중 </a:t>
            </a: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3</a:t>
            </a:r>
            <a:r>
              <a:rPr lang="ko-KR" altLang="en-US" sz="1800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번은 </a:t>
            </a:r>
            <a:r>
              <a:rPr lang="ko-KR" altLang="en-US" sz="1800" kern="0" spc="-50" dirty="0" err="1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오경보</a:t>
            </a:r>
            <a:b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</a:br>
            <a: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  <a:t>    -  </a:t>
            </a:r>
            <a:r>
              <a:rPr lang="en-US" altLang="ko-KR" dirty="0"/>
              <a:t>Precision = TP / (TP + FP)</a:t>
            </a:r>
            <a:br>
              <a:rPr lang="en-US" altLang="ko-KR" sz="1800" kern="0" spc="-50" dirty="0">
                <a:solidFill>
                  <a:srgbClr val="000000"/>
                </a:solidFill>
                <a:effectLst/>
                <a:latin typeface="+mn-ea"/>
                <a:sym typeface="Wingdings" panose="05000000000000000000" pitchFamily="2" charset="2"/>
              </a:rPr>
            </a:br>
            <a:endParaRPr lang="ko-KR" altLang="en-US" sz="1800" kern="0" spc="-50" dirty="0">
              <a:solidFill>
                <a:srgbClr val="000000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75930857"/>
      </p:ext>
    </p:extLst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ko-KR" altLang="en-US" b="1" dirty="0"/>
              <a:t>머신러닝 모델 성능평가 지표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7EDA947-BA2C-F1F2-F6D4-480990C76F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336" y="849904"/>
            <a:ext cx="11820800" cy="54245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• </a:t>
            </a: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재현율</a:t>
            </a:r>
            <a:r>
              <a:rPr kumimoji="0" lang="en-US" altLang="ko-KR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(</a:t>
            </a:r>
            <a:r>
              <a:rPr lang="en-US" altLang="ko-KR" b="1" dirty="0">
                <a:solidFill>
                  <a:srgbClr val="000000"/>
                </a:solidFill>
                <a:latin typeface="+mn-ea"/>
              </a:rPr>
              <a:t>Recall)</a:t>
            </a:r>
            <a:r>
              <a:rPr lang="ko-KR" altLang="en-US" b="1" dirty="0">
                <a:solidFill>
                  <a:srgbClr val="000000"/>
                </a:solidFill>
                <a:latin typeface="+mn-ea"/>
              </a:rPr>
              <a:t>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 </a:t>
            </a:r>
            <a:r>
              <a:rPr kumimoji="0" lang="en-US" altLang="ko-KR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: </a:t>
            </a:r>
            <a:r>
              <a:rPr lang="ko-KR" altLang="en-US" b="1" dirty="0">
                <a:solidFill>
                  <a:srgbClr val="000000"/>
                </a:solidFill>
                <a:latin typeface="+mn-ea"/>
              </a:rPr>
              <a:t>실제 맞는 것 중 몇 개를 찾아냈나</a:t>
            </a:r>
            <a:r>
              <a:rPr lang="en-US" altLang="ko-KR" b="1" dirty="0">
                <a:solidFill>
                  <a:srgbClr val="000000"/>
                </a:solidFill>
                <a:latin typeface="+mn-ea"/>
              </a:rPr>
              <a:t>?</a:t>
            </a:r>
            <a:br>
              <a:rPr lang="en-US" altLang="ko-KR" dirty="0">
                <a:solidFill>
                  <a:srgbClr val="000000"/>
                </a:solidFill>
                <a:latin typeface="+mn-ea"/>
              </a:rPr>
            </a:br>
            <a:r>
              <a:rPr lang="en-US" altLang="ko-KR" dirty="0">
                <a:solidFill>
                  <a:srgbClr val="000000"/>
                </a:solidFill>
                <a:latin typeface="+mn-ea"/>
              </a:rPr>
              <a:t>   - 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실제 암 환자 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10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명인데 모델이 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9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명 찾았다면 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Recall = 90%</a:t>
            </a:r>
            <a:br>
              <a:rPr lang="en-US" altLang="ko-KR" dirty="0">
                <a:solidFill>
                  <a:srgbClr val="000000"/>
                </a:solidFill>
                <a:latin typeface="+mn-ea"/>
              </a:rPr>
            </a:br>
            <a:r>
              <a:rPr lang="en-US" altLang="ko-KR" dirty="0">
                <a:solidFill>
                  <a:srgbClr val="000000"/>
                </a:solidFill>
                <a:latin typeface="+mn-ea"/>
              </a:rPr>
              <a:t>   - 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의미 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: 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놓치지 않는 능력</a:t>
            </a:r>
            <a:br>
              <a:rPr lang="en-US" altLang="ko-KR" dirty="0">
                <a:solidFill>
                  <a:srgbClr val="000000"/>
                </a:solidFill>
                <a:latin typeface="+mn-ea"/>
              </a:rPr>
            </a:br>
            <a:r>
              <a:rPr lang="en-US" altLang="ko-KR" dirty="0">
                <a:solidFill>
                  <a:srgbClr val="000000"/>
                </a:solidFill>
                <a:latin typeface="+mn-ea"/>
              </a:rPr>
              <a:t>   - 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암 진단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위험 감지 처럼 놓치면 큰 일 발생할 때 중요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.</a:t>
            </a:r>
            <a:br>
              <a:rPr lang="en-US" altLang="ko-KR" dirty="0">
                <a:solidFill>
                  <a:srgbClr val="000000"/>
                </a:solidFill>
                <a:latin typeface="+mn-ea"/>
              </a:rPr>
            </a:br>
            <a:r>
              <a:rPr lang="en-US" altLang="ko-KR" dirty="0">
                <a:solidFill>
                  <a:srgbClr val="000000"/>
                </a:solidFill>
                <a:latin typeface="+mn-ea"/>
              </a:rPr>
              <a:t>   - 100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명의 사람들 중 암 환자는 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10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명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모델은 암환자 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10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명과 정상인 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10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명을 암환자로 판단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이때 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recall = 100%</a:t>
            </a:r>
            <a:br>
              <a:rPr lang="en-US" altLang="ko-KR" dirty="0">
                <a:solidFill>
                  <a:srgbClr val="000000"/>
                </a:solidFill>
                <a:latin typeface="+mn-ea"/>
              </a:rPr>
            </a:br>
            <a:r>
              <a:rPr lang="en-US" altLang="ko-KR" dirty="0">
                <a:solidFill>
                  <a:srgbClr val="000000"/>
                </a:solidFill>
                <a:latin typeface="+mn-ea"/>
              </a:rPr>
              <a:t>     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이런 경우 </a:t>
            </a:r>
            <a:r>
              <a:rPr lang="en-US" altLang="ko-KR" dirty="0" err="1">
                <a:solidFill>
                  <a:srgbClr val="000000"/>
                </a:solidFill>
                <a:latin typeface="+mn-ea"/>
              </a:rPr>
              <a:t>precison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 = 10/20 = 50%</a:t>
            </a:r>
          </a:p>
          <a:p>
            <a:pPr marL="0" marR="0" lvl="0" indent="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   - </a:t>
            </a:r>
            <a:r>
              <a:rPr lang="en-US" altLang="ko-KR" dirty="0"/>
              <a:t>Recall = TP / (TP + FN)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• F1 Score : Precision</a:t>
            </a:r>
            <a:r>
              <a:rPr kumimoji="0" lang="ko-KR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과 </a:t>
            </a:r>
            <a:r>
              <a:rPr kumimoji="0" lang="en-US" altLang="ko-KR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Recall </a:t>
            </a:r>
            <a:r>
              <a:rPr kumimoji="0" lang="ko-KR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균형 점수</a:t>
            </a:r>
            <a:b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</a:b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   - 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둘 중 하나만 높으면 의미 없음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, 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둘 다 적당히 높아야 점수 높음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ko-KR" dirty="0">
              <a:solidFill>
                <a:srgbClr val="000000"/>
              </a:solidFill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ko-KR" dirty="0"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77BAE6C0-6859-BF5D-D99F-5BC1B3C82E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9376" y="5522499"/>
            <a:ext cx="10366492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F1-Score</a:t>
            </a:r>
            <a:r>
              <a:rPr kumimoji="0" lang="ko-KR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는 </a:t>
            </a:r>
            <a:r>
              <a:rPr kumimoji="0" lang="en-US" altLang="ko-K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0</a:t>
            </a:r>
            <a:r>
              <a:rPr kumimoji="0" lang="ko-KR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부터 </a:t>
            </a:r>
            <a:r>
              <a:rPr kumimoji="0" lang="en-US" altLang="ko-K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1</a:t>
            </a:r>
            <a:r>
              <a:rPr kumimoji="0" lang="ko-KR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까지 값을 가지며</a:t>
            </a:r>
            <a:r>
              <a:rPr kumimoji="0" lang="en-US" altLang="ko-K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, </a:t>
            </a:r>
            <a:r>
              <a:rPr kumimoji="0" lang="ko-KR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값이 높을수록 모델의 성능이 더 좋다고 평가된다</a:t>
            </a:r>
            <a:r>
              <a:rPr kumimoji="0" lang="en-US" altLang="ko-K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. </a:t>
            </a:r>
            <a:endParaRPr kumimoji="0" lang="en-US" altLang="ko-K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11506D8-BD1B-468C-93F1-08E69BEAEAE3}"/>
                  </a:ext>
                </a:extLst>
              </p:cNvPr>
              <p:cNvSpPr txBox="1"/>
              <p:nvPr/>
            </p:nvSpPr>
            <p:spPr>
              <a:xfrm flipH="1">
                <a:off x="659275" y="4526468"/>
                <a:ext cx="5426889" cy="786306"/>
              </a:xfrm>
              <a:prstGeom prst="rect">
                <a:avLst/>
              </a:prstGeom>
              <a:noFill/>
              <a:ln w="412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𝑺𝒄𝒐𝒓𝒆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=    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 ×  </m:t>
                      </m:r>
                      <m:f>
                        <m:f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ko-KR" altLang="en-US" sz="2000" b="1" i="1">
                              <a:latin typeface="Cambria Math" panose="02040503050406030204" pitchFamily="18" charset="0"/>
                            </a:rPr>
                            <m:t>정</m:t>
                          </m:r>
                          <m:r>
                            <a:rPr lang="ko-KR" altLang="en-US" sz="2000" b="1" i="1" smtClean="0">
                              <a:latin typeface="Cambria Math" panose="02040503050406030204" pitchFamily="18" charset="0"/>
                            </a:rPr>
                            <m:t>밀</m:t>
                          </m:r>
                          <m:r>
                            <a:rPr lang="ko-KR" altLang="en-US" sz="2000" b="1" i="1">
                              <a:latin typeface="Cambria Math" panose="02040503050406030204" pitchFamily="18" charset="0"/>
                            </a:rPr>
                            <m:t>도</m:t>
                          </m:r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a:rPr lang="ko-KR" altLang="en-US" sz="2000" b="1" i="1">
                              <a:latin typeface="Cambria Math" panose="02040503050406030204" pitchFamily="18" charset="0"/>
                            </a:rPr>
                            <m:t>재</m:t>
                          </m:r>
                          <m:r>
                            <a:rPr lang="ko-KR" altLang="en-US" sz="2000" b="1" i="1" smtClean="0">
                              <a:latin typeface="Cambria Math" panose="02040503050406030204" pitchFamily="18" charset="0"/>
                            </a:rPr>
                            <m:t>현</m:t>
                          </m:r>
                          <m:r>
                            <a:rPr lang="ko-KR" altLang="en-US" sz="2000" b="1" i="1">
                              <a:latin typeface="Cambria Math" panose="02040503050406030204" pitchFamily="18" charset="0"/>
                            </a:rPr>
                            <m:t>율</m:t>
                          </m:r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) </m:t>
                          </m:r>
                        </m:num>
                        <m:den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ko-KR" altLang="en-US" sz="2000" b="1" i="1">
                              <a:latin typeface="Cambria Math" panose="02040503050406030204" pitchFamily="18" charset="0"/>
                            </a:rPr>
                            <m:t>정</m:t>
                          </m:r>
                          <m:r>
                            <a:rPr lang="ko-KR" altLang="en-US" sz="2000" b="1" i="1" smtClean="0">
                              <a:latin typeface="Cambria Math" panose="02040503050406030204" pitchFamily="18" charset="0"/>
                            </a:rPr>
                            <m:t>밀</m:t>
                          </m:r>
                          <m:r>
                            <a:rPr lang="ko-KR" altLang="en-US" sz="2000" b="1" i="1">
                              <a:latin typeface="Cambria Math" panose="02040503050406030204" pitchFamily="18" charset="0"/>
                            </a:rPr>
                            <m:t>도</m:t>
                          </m:r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ko-KR" altLang="en-US" sz="2000" b="1" i="1">
                              <a:latin typeface="Cambria Math" panose="02040503050406030204" pitchFamily="18" charset="0"/>
                            </a:rPr>
                            <m:t>재</m:t>
                          </m:r>
                          <m:r>
                            <a:rPr lang="ko-KR" altLang="en-US" sz="2000" b="1" i="1" smtClean="0">
                              <a:latin typeface="Cambria Math" panose="02040503050406030204" pitchFamily="18" charset="0"/>
                            </a:rPr>
                            <m:t>현</m:t>
                          </m:r>
                          <m:r>
                            <a:rPr lang="ko-KR" altLang="en-US" sz="2000" b="1" i="1">
                              <a:latin typeface="Cambria Math" panose="02040503050406030204" pitchFamily="18" charset="0"/>
                            </a:rPr>
                            <m:t>율</m:t>
                          </m:r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ko-KR" altLang="en-US" sz="2000" b="1" dirty="0">
                  <a:latin typeface="+mn-ea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11506D8-BD1B-468C-93F1-08E69BEAEA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59275" y="4526468"/>
                <a:ext cx="5426889" cy="78630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412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0908686"/>
      </p:ext>
    </p:extLst>
  </p:cSld>
  <p:clrMapOvr>
    <a:masterClrMapping/>
  </p:clrMapOvr>
  <p:transition spd="slow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Confusion Matrix : </a:t>
            </a:r>
            <a:r>
              <a:rPr lang="ko-KR" altLang="en-US" sz="2000" b="1" dirty="0"/>
              <a:t>분류 모델의 성능을 평가하는 핵심 도구</a:t>
            </a: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A66130EB-A56A-4054-89A9-EC59A91D24D6}"/>
              </a:ext>
            </a:extLst>
          </p:cNvPr>
          <p:cNvSpPr/>
          <p:nvPr/>
        </p:nvSpPr>
        <p:spPr>
          <a:xfrm>
            <a:off x="24372" y="1300832"/>
            <a:ext cx="6336704" cy="4768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4625" indent="-174625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+mn-ea"/>
                <a:cs typeface="Calibri" pitchFamily="34" charset="-120"/>
              </a:rPr>
              <a:t>분류 모델이 얼마나 잘 </a:t>
            </a:r>
            <a:r>
              <a:rPr lang="en-US" sz="1600" dirty="0" err="1">
                <a:solidFill>
                  <a:srgbClr val="1E293B"/>
                </a:solidFill>
                <a:latin typeface="+mn-ea"/>
                <a:cs typeface="Calibri" pitchFamily="34" charset="-120"/>
              </a:rPr>
              <a:t>작동하는지</a:t>
            </a:r>
            <a:r>
              <a:rPr lang="en-US" sz="1600" dirty="0">
                <a:solidFill>
                  <a:srgbClr val="1E293B"/>
                </a:solidFill>
                <a:latin typeface="+mn-ea"/>
                <a:cs typeface="Calibri" pitchFamily="34" charset="-120"/>
              </a:rPr>
              <a:t> </a:t>
            </a:r>
            <a:br>
              <a:rPr lang="en-US" sz="1600" dirty="0">
                <a:solidFill>
                  <a:srgbClr val="1E293B"/>
                </a:solidFill>
                <a:latin typeface="+mn-ea"/>
                <a:cs typeface="Calibri" pitchFamily="34" charset="-120"/>
              </a:rPr>
            </a:br>
            <a:r>
              <a:rPr lang="en-US" sz="1600" dirty="0" err="1">
                <a:solidFill>
                  <a:srgbClr val="1E293B"/>
                </a:solidFill>
                <a:latin typeface="+mn-ea"/>
                <a:cs typeface="Calibri" pitchFamily="34" charset="-120"/>
              </a:rPr>
              <a:t>시각적으로</a:t>
            </a:r>
            <a:r>
              <a:rPr lang="en-US" sz="1600" dirty="0">
                <a:solidFill>
                  <a:srgbClr val="1E293B"/>
                </a:solidFill>
                <a:latin typeface="+mn-ea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+mn-ea"/>
                <a:cs typeface="Calibri" pitchFamily="34" charset="-120"/>
              </a:rPr>
              <a:t>보여주는</a:t>
            </a:r>
            <a:r>
              <a:rPr lang="en-US" sz="1600" dirty="0">
                <a:solidFill>
                  <a:srgbClr val="1E293B"/>
                </a:solidFill>
                <a:latin typeface="+mn-ea"/>
                <a:cs typeface="Calibri" pitchFamily="34" charset="-120"/>
              </a:rPr>
              <a:t> 표</a:t>
            </a:r>
            <a:r>
              <a:rPr lang="en-US" sz="1600" dirty="0">
                <a:solidFill>
                  <a:srgbClr val="000000"/>
                </a:solidFill>
                <a:latin typeface="+mn-ea"/>
                <a:cs typeface="Calibri" pitchFamily="34" charset="-120"/>
              </a:rPr>
              <a:t> </a:t>
            </a:r>
            <a:br>
              <a:rPr lang="en-US" sz="1600" dirty="0">
                <a:solidFill>
                  <a:srgbClr val="000000"/>
                </a:solidFill>
                <a:latin typeface="+mn-ea"/>
                <a:cs typeface="Calibri" pitchFamily="34" charset="-120"/>
              </a:rPr>
            </a:br>
            <a:endParaRPr lang="en-US" sz="1600" dirty="0">
              <a:latin typeface="+mn-ea"/>
            </a:endParaRPr>
          </a:p>
          <a:p>
            <a:pPr marL="174625" indent="-174625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+mn-ea"/>
                <a:cs typeface="Calibri" pitchFamily="34" charset="-120"/>
              </a:rPr>
              <a:t>실제 정답(Actual)과 모델 예측(Predicted)을 교차 비교</a:t>
            </a:r>
            <a:endParaRPr lang="en-US" sz="1600" dirty="0">
              <a:latin typeface="+mn-ea"/>
            </a:endParaRPr>
          </a:p>
          <a:p>
            <a:pPr marL="174625" indent="-174625">
              <a:buNone/>
            </a:pPr>
            <a:r>
              <a:rPr lang="en-US" sz="1600" dirty="0">
                <a:solidFill>
                  <a:srgbClr val="000000"/>
                </a:solidFill>
                <a:latin typeface="+mn-ea"/>
                <a:cs typeface="Calibri" pitchFamily="34" charset="-120"/>
              </a:rPr>
              <a:t> </a:t>
            </a:r>
            <a:endParaRPr lang="en-US" sz="1600" dirty="0">
              <a:latin typeface="+mn-ea"/>
            </a:endParaRPr>
          </a:p>
          <a:p>
            <a:pPr marL="174625" indent="-174625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+mn-ea"/>
                <a:cs typeface="Calibri" pitchFamily="34" charset="-120"/>
              </a:rPr>
              <a:t>단순 정확도(Accuracy)만으로는 알 수 </a:t>
            </a:r>
            <a:r>
              <a:rPr lang="en-US" sz="1600" dirty="0" err="1">
                <a:solidFill>
                  <a:srgbClr val="1E293B"/>
                </a:solidFill>
                <a:latin typeface="+mn-ea"/>
                <a:cs typeface="Calibri" pitchFamily="34" charset="-120"/>
              </a:rPr>
              <a:t>없는</a:t>
            </a:r>
            <a:br>
              <a:rPr lang="en-US" sz="1600" dirty="0">
                <a:solidFill>
                  <a:srgbClr val="1E293B"/>
                </a:solidFill>
                <a:latin typeface="+mn-ea"/>
                <a:cs typeface="Calibri" pitchFamily="34" charset="-120"/>
              </a:rPr>
            </a:br>
            <a:r>
              <a:rPr lang="en-US" sz="1600" dirty="0">
                <a:solidFill>
                  <a:srgbClr val="1E293B"/>
                </a:solidFill>
                <a:latin typeface="+mn-ea"/>
                <a:cs typeface="Calibri" pitchFamily="34" charset="-120"/>
              </a:rPr>
              <a:t> 오류 유형을 파악 가능</a:t>
            </a:r>
            <a:endParaRPr lang="en-US" sz="1600" dirty="0">
              <a:latin typeface="+mn-ea"/>
            </a:endParaRPr>
          </a:p>
          <a:p>
            <a:pPr marL="174625" indent="-174625">
              <a:buNone/>
            </a:pPr>
            <a:r>
              <a:rPr lang="en-US" sz="1600" dirty="0">
                <a:solidFill>
                  <a:srgbClr val="000000"/>
                </a:solidFill>
                <a:latin typeface="+mn-ea"/>
                <a:cs typeface="Calibri" pitchFamily="34" charset="-120"/>
              </a:rPr>
              <a:t> </a:t>
            </a:r>
            <a:endParaRPr lang="en-US" sz="1600" dirty="0">
              <a:latin typeface="+mn-ea"/>
            </a:endParaRPr>
          </a:p>
          <a:p>
            <a:pPr marL="174625" indent="-174625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+mn-ea"/>
                <a:cs typeface="Calibri" pitchFamily="34" charset="-120"/>
              </a:rPr>
              <a:t>특히 클래스 불균형 데이터에서 필수적인 </a:t>
            </a:r>
            <a:r>
              <a:rPr lang="en-US" sz="1600" dirty="0" err="1">
                <a:solidFill>
                  <a:srgbClr val="1E293B"/>
                </a:solidFill>
                <a:latin typeface="+mn-ea"/>
                <a:cs typeface="Calibri" pitchFamily="34" charset="-120"/>
              </a:rPr>
              <a:t>평가</a:t>
            </a:r>
            <a:r>
              <a:rPr lang="en-US" sz="1600" dirty="0">
                <a:solidFill>
                  <a:srgbClr val="1E293B"/>
                </a:solidFill>
                <a:latin typeface="+mn-ea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+mn-ea"/>
                <a:cs typeface="Calibri" pitchFamily="34" charset="-120"/>
              </a:rPr>
              <a:t>도구</a:t>
            </a:r>
            <a:endParaRPr lang="en-US" sz="1600" dirty="0">
              <a:solidFill>
                <a:srgbClr val="1E293B"/>
              </a:solidFill>
              <a:latin typeface="+mn-ea"/>
              <a:cs typeface="Calibri" pitchFamily="34" charset="-120"/>
            </a:endParaRPr>
          </a:p>
          <a:p>
            <a:pPr marL="174625" indent="-174625">
              <a:buSzPct val="100000"/>
              <a:buChar char="•"/>
            </a:pPr>
            <a:endParaRPr lang="en-US" sz="1600" dirty="0">
              <a:solidFill>
                <a:srgbClr val="1E293B"/>
              </a:solidFill>
              <a:latin typeface="+mn-ea"/>
              <a:cs typeface="Calibri" pitchFamily="34" charset="-120"/>
            </a:endParaRPr>
          </a:p>
          <a:p>
            <a:pPr marL="174625" indent="-174625">
              <a:buSzPct val="100000"/>
              <a:buChar char="•"/>
            </a:pPr>
            <a:r>
              <a:rPr lang="en-US" sz="1600" dirty="0">
                <a:latin typeface="+mn-ea"/>
              </a:rPr>
              <a:t>TP : </a:t>
            </a:r>
            <a:r>
              <a:rPr lang="ko-KR" altLang="en-US" sz="1600" dirty="0">
                <a:latin typeface="+mn-ea"/>
              </a:rPr>
              <a:t>맞춘 정답</a:t>
            </a:r>
            <a:endParaRPr lang="en-US" sz="1600" dirty="0">
              <a:latin typeface="+mn-ea"/>
            </a:endParaRPr>
          </a:p>
          <a:p>
            <a:pPr marL="174625" indent="-174625">
              <a:buSzPct val="100000"/>
              <a:buChar char="•"/>
            </a:pPr>
            <a:r>
              <a:rPr lang="en-US" sz="1600" dirty="0">
                <a:latin typeface="+mn-ea"/>
              </a:rPr>
              <a:t>FN : </a:t>
            </a:r>
            <a:r>
              <a:rPr lang="ko-KR" altLang="en-US" sz="1600" dirty="0" err="1">
                <a:latin typeface="+mn-ea"/>
              </a:rPr>
              <a:t>미검출</a:t>
            </a:r>
            <a:r>
              <a:rPr lang="ko-KR" altLang="en-US" sz="1600" dirty="0">
                <a:latin typeface="+mn-ea"/>
              </a:rPr>
              <a:t> 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놓친 정답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 marL="174625" indent="-174625">
              <a:buSzPct val="100000"/>
              <a:buChar char="•"/>
            </a:pPr>
            <a:r>
              <a:rPr lang="en-US" sz="1600" dirty="0">
                <a:latin typeface="+mn-ea"/>
              </a:rPr>
              <a:t>FP : </a:t>
            </a:r>
            <a:r>
              <a:rPr lang="ko-KR" altLang="en-US" sz="1600" dirty="0" err="1">
                <a:latin typeface="+mn-ea"/>
              </a:rPr>
              <a:t>오탐</a:t>
            </a:r>
            <a:endParaRPr lang="en-US" sz="1600" dirty="0">
              <a:latin typeface="+mn-ea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1789025-06C5-4717-8D4F-493897B66F4B}"/>
              </a:ext>
            </a:extLst>
          </p:cNvPr>
          <p:cNvSpPr/>
          <p:nvPr/>
        </p:nvSpPr>
        <p:spPr>
          <a:xfrm>
            <a:off x="7174597" y="1058391"/>
            <a:ext cx="3027381" cy="579047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C1710B2-D9D1-4670-9FA4-8D5E41F6B470}"/>
              </a:ext>
            </a:extLst>
          </p:cNvPr>
          <p:cNvSpPr/>
          <p:nvPr/>
        </p:nvSpPr>
        <p:spPr>
          <a:xfrm>
            <a:off x="7174597" y="1058391"/>
            <a:ext cx="3027381" cy="5790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class</a:t>
            </a:r>
            <a:endParaRPr lang="en-US" sz="2000" dirty="0"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7D8E0C95-FF87-4734-8C73-10EA8B270889}"/>
              </a:ext>
            </a:extLst>
          </p:cNvPr>
          <p:cNvSpPr/>
          <p:nvPr/>
        </p:nvSpPr>
        <p:spPr>
          <a:xfrm>
            <a:off x="7174597" y="1637438"/>
            <a:ext cx="1513687" cy="488973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B273E052-4EC2-49B4-A7AE-9B7E0E72C2F0}"/>
              </a:ext>
            </a:extLst>
          </p:cNvPr>
          <p:cNvSpPr/>
          <p:nvPr/>
        </p:nvSpPr>
        <p:spPr>
          <a:xfrm>
            <a:off x="7174597" y="1637438"/>
            <a:ext cx="1637764" cy="4889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1600" dirty="0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A25B13C6-16A4-4063-B344-539B48769879}"/>
              </a:ext>
            </a:extLst>
          </p:cNvPr>
          <p:cNvSpPr/>
          <p:nvPr/>
        </p:nvSpPr>
        <p:spPr>
          <a:xfrm>
            <a:off x="8688284" y="1637438"/>
            <a:ext cx="1513693" cy="488973"/>
          </a:xfrm>
          <a:prstGeom prst="rect">
            <a:avLst/>
          </a:prstGeom>
          <a:solidFill>
            <a:schemeClr val="accent6">
              <a:lumMod val="50000"/>
            </a:schemeClr>
          </a:solidFill>
          <a:ln w="12700">
            <a:noFill/>
            <a:prstDash val="solid"/>
          </a:ln>
        </p:spPr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CB97052F-816F-4A34-8ABF-1423E5DFB090}"/>
              </a:ext>
            </a:extLst>
          </p:cNvPr>
          <p:cNvSpPr/>
          <p:nvPr/>
        </p:nvSpPr>
        <p:spPr>
          <a:xfrm>
            <a:off x="8688287" y="1637438"/>
            <a:ext cx="1513693" cy="4889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600" dirty="0"/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CA4F339D-A13A-43FE-806F-9DE86C9FEE85}"/>
              </a:ext>
            </a:extLst>
          </p:cNvPr>
          <p:cNvSpPr/>
          <p:nvPr/>
        </p:nvSpPr>
        <p:spPr>
          <a:xfrm>
            <a:off x="5485149" y="2126411"/>
            <a:ext cx="945009" cy="2316189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64856D11-293B-4940-A399-808CCE074719}"/>
              </a:ext>
            </a:extLst>
          </p:cNvPr>
          <p:cNvSpPr/>
          <p:nvPr/>
        </p:nvSpPr>
        <p:spPr>
          <a:xfrm>
            <a:off x="5485150" y="2126411"/>
            <a:ext cx="945008" cy="23161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</a:t>
            </a:r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600" dirty="0"/>
          </a:p>
        </p:txBody>
      </p:sp>
      <p:sp>
        <p:nvSpPr>
          <p:cNvPr id="17" name="Shape 10">
            <a:extLst>
              <a:ext uri="{FF2B5EF4-FFF2-40B4-BE49-F238E27FC236}">
                <a16:creationId xmlns:a16="http://schemas.microsoft.com/office/drawing/2014/main" id="{90912EFF-6755-45AF-9A0D-15011901F6C6}"/>
              </a:ext>
            </a:extLst>
          </p:cNvPr>
          <p:cNvSpPr/>
          <p:nvPr/>
        </p:nvSpPr>
        <p:spPr>
          <a:xfrm>
            <a:off x="6430158" y="2126411"/>
            <a:ext cx="744438" cy="1158094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5483BDE-2987-4E5C-B271-6046B0747C72}"/>
              </a:ext>
            </a:extLst>
          </p:cNvPr>
          <p:cNvSpPr/>
          <p:nvPr/>
        </p:nvSpPr>
        <p:spPr>
          <a:xfrm>
            <a:off x="6430158" y="2126411"/>
            <a:ext cx="744438" cy="1158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 err="1">
                <a:solidFill>
                  <a:schemeClr val="bg1"/>
                </a:solidFill>
              </a:rPr>
              <a:t>posi</a:t>
            </a:r>
            <a:r>
              <a:rPr lang="en-US" sz="1600" dirty="0">
                <a:solidFill>
                  <a:schemeClr val="bg1"/>
                </a:solidFill>
              </a:rPr>
              <a:t>-</a:t>
            </a:r>
          </a:p>
          <a:p>
            <a:pPr marL="0" indent="0" algn="ctr">
              <a:buNone/>
            </a:pPr>
            <a:r>
              <a:rPr lang="en-US" sz="1600" dirty="0" err="1">
                <a:solidFill>
                  <a:schemeClr val="bg1"/>
                </a:solidFill>
              </a:rPr>
              <a:t>tive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9" name="Shape 12">
            <a:extLst>
              <a:ext uri="{FF2B5EF4-FFF2-40B4-BE49-F238E27FC236}">
                <a16:creationId xmlns:a16="http://schemas.microsoft.com/office/drawing/2014/main" id="{DFC540F9-CDA9-4E8B-886A-781C6B3CC5F7}"/>
              </a:ext>
            </a:extLst>
          </p:cNvPr>
          <p:cNvSpPr/>
          <p:nvPr/>
        </p:nvSpPr>
        <p:spPr>
          <a:xfrm>
            <a:off x="6430158" y="3284506"/>
            <a:ext cx="744438" cy="1158094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FE8A082B-4198-4AA0-90DE-ECF85FFD1E45}"/>
              </a:ext>
            </a:extLst>
          </p:cNvPr>
          <p:cNvSpPr/>
          <p:nvPr/>
        </p:nvSpPr>
        <p:spPr>
          <a:xfrm>
            <a:off x="6430158" y="3284506"/>
            <a:ext cx="744438" cy="1158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 err="1">
                <a:solidFill>
                  <a:schemeClr val="bg1"/>
                </a:solidFill>
              </a:rPr>
              <a:t>nega</a:t>
            </a:r>
            <a:r>
              <a:rPr lang="en-US" sz="1600" dirty="0">
                <a:solidFill>
                  <a:schemeClr val="bg1"/>
                </a:solidFill>
              </a:rPr>
              <a:t>-</a:t>
            </a:r>
          </a:p>
          <a:p>
            <a:pPr marL="0" indent="0" algn="ctr">
              <a:buNone/>
            </a:pPr>
            <a:r>
              <a:rPr lang="en-US" sz="1600" dirty="0" err="1">
                <a:solidFill>
                  <a:schemeClr val="bg1"/>
                </a:solidFill>
              </a:rPr>
              <a:t>tive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6C1AFEE9-F358-4E5E-A90D-9CD8ADA025A3}"/>
              </a:ext>
            </a:extLst>
          </p:cNvPr>
          <p:cNvSpPr/>
          <p:nvPr/>
        </p:nvSpPr>
        <p:spPr>
          <a:xfrm>
            <a:off x="7174597" y="2126411"/>
            <a:ext cx="1513691" cy="1158094"/>
          </a:xfrm>
          <a:prstGeom prst="rect">
            <a:avLst/>
          </a:prstGeom>
          <a:solidFill>
            <a:srgbClr val="16A3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48F6D921-669F-4B12-A3DA-63A28E3C70BF}"/>
              </a:ext>
            </a:extLst>
          </p:cNvPr>
          <p:cNvSpPr/>
          <p:nvPr/>
        </p:nvSpPr>
        <p:spPr>
          <a:xfrm>
            <a:off x="7573381" y="2357350"/>
            <a:ext cx="864097" cy="37788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3200" dirty="0"/>
          </a:p>
        </p:txBody>
      </p:sp>
      <p:sp>
        <p:nvSpPr>
          <p:cNvPr id="23" name="Text 16">
            <a:extLst>
              <a:ext uri="{FF2B5EF4-FFF2-40B4-BE49-F238E27FC236}">
                <a16:creationId xmlns:a16="http://schemas.microsoft.com/office/drawing/2014/main" id="{D20B7486-4A6A-4DF3-9D8F-5C916510D108}"/>
              </a:ext>
            </a:extLst>
          </p:cNvPr>
          <p:cNvSpPr/>
          <p:nvPr/>
        </p:nvSpPr>
        <p:spPr>
          <a:xfrm>
            <a:off x="7174597" y="2705458"/>
            <a:ext cx="1513691" cy="5790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1600" dirty="0"/>
          </a:p>
        </p:txBody>
      </p:sp>
      <p:sp>
        <p:nvSpPr>
          <p:cNvPr id="24" name="Shape 17">
            <a:extLst>
              <a:ext uri="{FF2B5EF4-FFF2-40B4-BE49-F238E27FC236}">
                <a16:creationId xmlns:a16="http://schemas.microsoft.com/office/drawing/2014/main" id="{6DC63B87-F2BE-4F29-BECF-81D4BFB995AD}"/>
              </a:ext>
            </a:extLst>
          </p:cNvPr>
          <p:cNvSpPr/>
          <p:nvPr/>
        </p:nvSpPr>
        <p:spPr>
          <a:xfrm>
            <a:off x="8688288" y="2126411"/>
            <a:ext cx="1513691" cy="1158094"/>
          </a:xfrm>
          <a:prstGeom prst="rect">
            <a:avLst/>
          </a:prstGeom>
          <a:solidFill>
            <a:srgbClr val="DC262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18">
            <a:extLst>
              <a:ext uri="{FF2B5EF4-FFF2-40B4-BE49-F238E27FC236}">
                <a16:creationId xmlns:a16="http://schemas.microsoft.com/office/drawing/2014/main" id="{0757DF2B-F9BD-4537-B674-F303548D4E8E}"/>
              </a:ext>
            </a:extLst>
          </p:cNvPr>
          <p:cNvSpPr/>
          <p:nvPr/>
        </p:nvSpPr>
        <p:spPr>
          <a:xfrm>
            <a:off x="8688288" y="2228417"/>
            <a:ext cx="1513691" cy="488973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</a:t>
            </a:r>
            <a:endParaRPr lang="en-US" sz="3200" dirty="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23D568AD-854F-4AA3-AEDC-78C2F88106B1}"/>
              </a:ext>
            </a:extLst>
          </p:cNvPr>
          <p:cNvSpPr/>
          <p:nvPr/>
        </p:nvSpPr>
        <p:spPr>
          <a:xfrm>
            <a:off x="8688288" y="2705458"/>
            <a:ext cx="1513691" cy="5790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600" dirty="0"/>
          </a:p>
        </p:txBody>
      </p:sp>
      <p:sp>
        <p:nvSpPr>
          <p:cNvPr id="27" name="Shape 20">
            <a:extLst>
              <a:ext uri="{FF2B5EF4-FFF2-40B4-BE49-F238E27FC236}">
                <a16:creationId xmlns:a16="http://schemas.microsoft.com/office/drawing/2014/main" id="{68B8BE87-CC3E-4723-9731-1FD6BC64E96C}"/>
              </a:ext>
            </a:extLst>
          </p:cNvPr>
          <p:cNvSpPr/>
          <p:nvPr/>
        </p:nvSpPr>
        <p:spPr>
          <a:xfrm>
            <a:off x="7174597" y="3284506"/>
            <a:ext cx="1513691" cy="1158094"/>
          </a:xfrm>
          <a:prstGeom prst="rect">
            <a:avLst/>
          </a:prstGeom>
          <a:solidFill>
            <a:srgbClr val="D9770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6D370581-69B0-4CA6-AD57-1078BA957DE8}"/>
              </a:ext>
            </a:extLst>
          </p:cNvPr>
          <p:cNvSpPr/>
          <p:nvPr/>
        </p:nvSpPr>
        <p:spPr>
          <a:xfrm>
            <a:off x="7174597" y="3500530"/>
            <a:ext cx="1513691" cy="3689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3200" dirty="0"/>
          </a:p>
        </p:txBody>
      </p:sp>
      <p:sp>
        <p:nvSpPr>
          <p:cNvPr id="29" name="Text 22">
            <a:extLst>
              <a:ext uri="{FF2B5EF4-FFF2-40B4-BE49-F238E27FC236}">
                <a16:creationId xmlns:a16="http://schemas.microsoft.com/office/drawing/2014/main" id="{A06F9866-C6DF-4F6A-AE6E-973632433451}"/>
              </a:ext>
            </a:extLst>
          </p:cNvPr>
          <p:cNvSpPr/>
          <p:nvPr/>
        </p:nvSpPr>
        <p:spPr>
          <a:xfrm>
            <a:off x="7174597" y="3863553"/>
            <a:ext cx="1513691" cy="5790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1600" dirty="0"/>
          </a:p>
        </p:txBody>
      </p:sp>
      <p:sp>
        <p:nvSpPr>
          <p:cNvPr id="30" name="Shape 23">
            <a:extLst>
              <a:ext uri="{FF2B5EF4-FFF2-40B4-BE49-F238E27FC236}">
                <a16:creationId xmlns:a16="http://schemas.microsoft.com/office/drawing/2014/main" id="{E2FED098-E7EB-495C-AA3C-5C541AC815FE}"/>
              </a:ext>
            </a:extLst>
          </p:cNvPr>
          <p:cNvSpPr/>
          <p:nvPr/>
        </p:nvSpPr>
        <p:spPr>
          <a:xfrm>
            <a:off x="8688288" y="3284506"/>
            <a:ext cx="1513691" cy="1158094"/>
          </a:xfrm>
          <a:prstGeom prst="rect">
            <a:avLst/>
          </a:prstGeom>
          <a:solidFill>
            <a:srgbClr val="0D948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Text 24">
            <a:extLst>
              <a:ext uri="{FF2B5EF4-FFF2-40B4-BE49-F238E27FC236}">
                <a16:creationId xmlns:a16="http://schemas.microsoft.com/office/drawing/2014/main" id="{24D3E37E-F4DB-4C47-BA7C-F4E67F7B9406}"/>
              </a:ext>
            </a:extLst>
          </p:cNvPr>
          <p:cNvSpPr/>
          <p:nvPr/>
        </p:nvSpPr>
        <p:spPr>
          <a:xfrm>
            <a:off x="8688288" y="3506496"/>
            <a:ext cx="1513691" cy="36302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</a:t>
            </a:r>
            <a:endParaRPr lang="en-US" sz="3200" dirty="0"/>
          </a:p>
        </p:txBody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136C37F9-6745-4B27-8308-09CE2147B06F}"/>
              </a:ext>
            </a:extLst>
          </p:cNvPr>
          <p:cNvSpPr/>
          <p:nvPr/>
        </p:nvSpPr>
        <p:spPr>
          <a:xfrm>
            <a:off x="8688288" y="3863553"/>
            <a:ext cx="1513691" cy="5790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924762E5-2528-4CE7-8888-768197EF4105}"/>
                  </a:ext>
                </a:extLst>
              </p:cNvPr>
              <p:cNvSpPr/>
              <p:nvPr/>
            </p:nvSpPr>
            <p:spPr>
              <a:xfrm>
                <a:off x="7174596" y="4442600"/>
                <a:ext cx="1513687" cy="1011094"/>
              </a:xfrm>
              <a:prstGeom prst="rect">
                <a:avLst/>
              </a:prstGeom>
              <a:noFill/>
              <a:ln>
                <a:solidFill>
                  <a:schemeClr val="tx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b="1" dirty="0">
                    <a:solidFill>
                      <a:srgbClr val="0033CC"/>
                    </a:solidFill>
                  </a:rPr>
                  <a:t>Precision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𝑇𝑃</m:t>
                          </m:r>
                        </m:num>
                        <m:den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𝐹𝑃</m:t>
                          </m:r>
                        </m:den>
                      </m:f>
                    </m:oMath>
                  </m:oMathPara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924762E5-2528-4CE7-8888-768197EF41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596" y="4442600"/>
                <a:ext cx="1513687" cy="101109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2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DAF171CE-2AE2-4186-8A1C-CCE79ABC9A56}"/>
                  </a:ext>
                </a:extLst>
              </p:cNvPr>
              <p:cNvSpPr/>
              <p:nvPr/>
            </p:nvSpPr>
            <p:spPr>
              <a:xfrm>
                <a:off x="10185245" y="2133639"/>
                <a:ext cx="1513687" cy="1150866"/>
              </a:xfrm>
              <a:prstGeom prst="rect">
                <a:avLst/>
              </a:prstGeom>
              <a:noFill/>
              <a:ln>
                <a:solidFill>
                  <a:schemeClr val="tx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b="1" dirty="0">
                    <a:solidFill>
                      <a:srgbClr val="0033CC"/>
                    </a:solidFill>
                  </a:rPr>
                  <a:t>Recall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𝑇𝑃</m:t>
                          </m:r>
                        </m:num>
                        <m:den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</m:oMath>
                  </m:oMathPara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DAF171CE-2AE2-4186-8A1C-CCE79ABC9A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5245" y="2133639"/>
                <a:ext cx="1513687" cy="115086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2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F273DD74-7F34-4BD4-9630-D04C2D3E2243}"/>
                  </a:ext>
                </a:extLst>
              </p:cNvPr>
              <p:cNvSpPr/>
              <p:nvPr/>
            </p:nvSpPr>
            <p:spPr>
              <a:xfrm>
                <a:off x="10165671" y="3294716"/>
                <a:ext cx="1513687" cy="1150866"/>
              </a:xfrm>
              <a:prstGeom prst="rect">
                <a:avLst/>
              </a:prstGeom>
              <a:noFill/>
              <a:ln>
                <a:solidFill>
                  <a:schemeClr val="tx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b="1" dirty="0">
                    <a:solidFill>
                      <a:srgbClr val="0033CC"/>
                    </a:solidFill>
                  </a:rPr>
                  <a:t>FPR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𝑇𝑁</m:t>
                          </m:r>
                        </m:num>
                        <m:den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𝑇𝑁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𝐹𝑃</m:t>
                          </m:r>
                        </m:den>
                      </m:f>
                    </m:oMath>
                  </m:oMathPara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F273DD74-7F34-4BD4-9630-D04C2D3E22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5671" y="3294716"/>
                <a:ext cx="1513687" cy="11508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2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8ECB10FE-663E-481B-83C8-1E2C5DC412B1}"/>
                  </a:ext>
                </a:extLst>
              </p:cNvPr>
              <p:cNvSpPr/>
              <p:nvPr/>
            </p:nvSpPr>
            <p:spPr>
              <a:xfrm>
                <a:off x="8695579" y="4442600"/>
                <a:ext cx="2982260" cy="1011094"/>
              </a:xfrm>
              <a:prstGeom prst="rect">
                <a:avLst/>
              </a:prstGeom>
              <a:noFill/>
              <a:ln>
                <a:solidFill>
                  <a:schemeClr val="tx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b="1" dirty="0">
                    <a:solidFill>
                      <a:srgbClr val="0033CC"/>
                    </a:solidFill>
                  </a:rPr>
                  <a:t>Accuracy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𝑇𝑁</m:t>
                          </m:r>
                        </m:num>
                        <m:den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𝑇𝑁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𝐹𝑃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</m:oMath>
                  </m:oMathPara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8ECB10FE-663E-481B-83C8-1E2C5DC412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5579" y="4442600"/>
                <a:ext cx="2982260" cy="10110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2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1740401"/>
      </p:ext>
    </p:extLst>
  </p:cSld>
  <p:clrMapOvr>
    <a:masterClrMapping/>
  </p:clrMapOvr>
  <p:transition spd="slow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Confusion Matrix : 4</a:t>
            </a:r>
            <a:r>
              <a:rPr lang="ko-KR" altLang="en-US" sz="2000" b="1" dirty="0"/>
              <a:t>가지 예측 결과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56CEF37F-67F9-4DFB-9246-44BE8648C933}"/>
              </a:ext>
            </a:extLst>
          </p:cNvPr>
          <p:cNvGrpSpPr/>
          <p:nvPr/>
        </p:nvGrpSpPr>
        <p:grpSpPr>
          <a:xfrm>
            <a:off x="274320" y="868680"/>
            <a:ext cx="11438304" cy="5512648"/>
            <a:chOff x="274320" y="868680"/>
            <a:chExt cx="8503920" cy="3749040"/>
          </a:xfrm>
        </p:grpSpPr>
        <p:sp>
          <p:nvSpPr>
            <p:cNvPr id="33" name="Shape 1">
              <a:extLst>
                <a:ext uri="{FF2B5EF4-FFF2-40B4-BE49-F238E27FC236}">
                  <a16:creationId xmlns:a16="http://schemas.microsoft.com/office/drawing/2014/main" id="{0F6B3199-E9AF-4C81-A306-85B400FC0C5B}"/>
                </a:ext>
              </a:extLst>
            </p:cNvPr>
            <p:cNvSpPr/>
            <p:nvPr/>
          </p:nvSpPr>
          <p:spPr>
            <a:xfrm>
              <a:off x="274320" y="868680"/>
              <a:ext cx="4023360" cy="178308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6A34A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34" name="Shape 2">
              <a:extLst>
                <a:ext uri="{FF2B5EF4-FFF2-40B4-BE49-F238E27FC236}">
                  <a16:creationId xmlns:a16="http://schemas.microsoft.com/office/drawing/2014/main" id="{49E80777-8243-4582-9A0F-D4ACE5591BBF}"/>
                </a:ext>
              </a:extLst>
            </p:cNvPr>
            <p:cNvSpPr/>
            <p:nvPr/>
          </p:nvSpPr>
          <p:spPr>
            <a:xfrm>
              <a:off x="274320" y="868680"/>
              <a:ext cx="4023360" cy="384048"/>
            </a:xfrm>
            <a:prstGeom prst="rect">
              <a:avLst/>
            </a:prstGeom>
            <a:solidFill>
              <a:srgbClr val="16A34A"/>
            </a:solidFill>
            <a:ln w="12700">
              <a:solidFill>
                <a:srgbClr val="16A34A"/>
              </a:solidFill>
              <a:prstDash val="solid"/>
            </a:ln>
          </p:spPr>
        </p:sp>
        <p:sp>
          <p:nvSpPr>
            <p:cNvPr id="39" name="Text 3">
              <a:extLst>
                <a:ext uri="{FF2B5EF4-FFF2-40B4-BE49-F238E27FC236}">
                  <a16:creationId xmlns:a16="http://schemas.microsoft.com/office/drawing/2014/main" id="{437B7D2B-122F-4C3C-9E4F-93F819EEF633}"/>
                </a:ext>
              </a:extLst>
            </p:cNvPr>
            <p:cNvSpPr/>
            <p:nvPr/>
          </p:nvSpPr>
          <p:spPr>
            <a:xfrm>
              <a:off x="365760" y="868680"/>
              <a:ext cx="384048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TP  True Positive</a:t>
              </a:r>
              <a:endParaRPr lang="en-US" sz="2800" dirty="0"/>
            </a:p>
          </p:txBody>
        </p:sp>
        <p:sp>
          <p:nvSpPr>
            <p:cNvPr id="40" name="Text 4">
              <a:extLst>
                <a:ext uri="{FF2B5EF4-FFF2-40B4-BE49-F238E27FC236}">
                  <a16:creationId xmlns:a16="http://schemas.microsoft.com/office/drawing/2014/main" id="{5AE60263-82AF-4CAB-ADA8-2023311D0B26}"/>
                </a:ext>
              </a:extLst>
            </p:cNvPr>
            <p:cNvSpPr/>
            <p:nvPr/>
          </p:nvSpPr>
          <p:spPr>
            <a:xfrm>
              <a:off x="365760" y="1271016"/>
              <a:ext cx="38404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16A3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진짜 양성</a:t>
              </a:r>
              <a:endParaRPr lang="en-US" sz="2000" dirty="0"/>
            </a:p>
          </p:txBody>
        </p:sp>
        <p:sp>
          <p:nvSpPr>
            <p:cNvPr id="41" name="Text 5">
              <a:extLst>
                <a:ext uri="{FF2B5EF4-FFF2-40B4-BE49-F238E27FC236}">
                  <a16:creationId xmlns:a16="http://schemas.microsoft.com/office/drawing/2014/main" id="{EAA74B22-C136-48CA-AAC8-C468718FA054}"/>
                </a:ext>
              </a:extLst>
            </p:cNvPr>
            <p:cNvSpPr/>
            <p:nvPr/>
          </p:nvSpPr>
          <p:spPr>
            <a:xfrm>
              <a:off x="365760" y="1545336"/>
              <a:ext cx="2010924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실제: Positive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예측: Positive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정확히 맞음 [O]</a:t>
              </a:r>
              <a:endParaRPr lang="en-US" sz="2400" dirty="0"/>
            </a:p>
          </p:txBody>
        </p:sp>
        <p:sp>
          <p:nvSpPr>
            <p:cNvPr id="42" name="Text 6">
              <a:extLst>
                <a:ext uri="{FF2B5EF4-FFF2-40B4-BE49-F238E27FC236}">
                  <a16:creationId xmlns:a16="http://schemas.microsoft.com/office/drawing/2014/main" id="{2610FFE0-304C-4066-9847-2E88BC90EC48}"/>
                </a:ext>
              </a:extLst>
            </p:cNvPr>
            <p:cNvSpPr/>
            <p:nvPr/>
          </p:nvSpPr>
          <p:spPr>
            <a:xfrm>
              <a:off x="2468125" y="1545336"/>
              <a:ext cx="1920240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예) 실제 가스 위험</a:t>
              </a:r>
              <a:endParaRPr lang="en-US" dirty="0"/>
            </a:p>
            <a:p>
              <a:pPr marL="0" indent="0">
                <a:buNone/>
              </a:pPr>
              <a:r>
                <a:rPr lang="en-US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모델도 '위험' 예측</a:t>
              </a:r>
              <a:endParaRPr lang="en-US" dirty="0"/>
            </a:p>
            <a:p>
              <a:pPr marL="0" indent="0">
                <a:buNone/>
              </a:pPr>
              <a:r>
                <a:rPr lang="en-US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정확히 탐지!</a:t>
              </a:r>
              <a:endParaRPr lang="en-US" dirty="0"/>
            </a:p>
          </p:txBody>
        </p:sp>
        <p:sp>
          <p:nvSpPr>
            <p:cNvPr id="43" name="Shape 7">
              <a:extLst>
                <a:ext uri="{FF2B5EF4-FFF2-40B4-BE49-F238E27FC236}">
                  <a16:creationId xmlns:a16="http://schemas.microsoft.com/office/drawing/2014/main" id="{A7746C9C-823F-4A07-90A8-200640BC39CD}"/>
                </a:ext>
              </a:extLst>
            </p:cNvPr>
            <p:cNvSpPr/>
            <p:nvPr/>
          </p:nvSpPr>
          <p:spPr>
            <a:xfrm>
              <a:off x="4754880" y="868680"/>
              <a:ext cx="4023360" cy="178308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DC2626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44" name="Shape 8">
              <a:extLst>
                <a:ext uri="{FF2B5EF4-FFF2-40B4-BE49-F238E27FC236}">
                  <a16:creationId xmlns:a16="http://schemas.microsoft.com/office/drawing/2014/main" id="{2AE2FDFA-BACB-4626-BA84-EA684FA08CBE}"/>
                </a:ext>
              </a:extLst>
            </p:cNvPr>
            <p:cNvSpPr/>
            <p:nvPr/>
          </p:nvSpPr>
          <p:spPr>
            <a:xfrm>
              <a:off x="4754880" y="868680"/>
              <a:ext cx="4023360" cy="384048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</p:sp>
        <p:sp>
          <p:nvSpPr>
            <p:cNvPr id="45" name="Text 9">
              <a:extLst>
                <a:ext uri="{FF2B5EF4-FFF2-40B4-BE49-F238E27FC236}">
                  <a16:creationId xmlns:a16="http://schemas.microsoft.com/office/drawing/2014/main" id="{84E4731D-2ADB-4352-A632-C9520085CE06}"/>
                </a:ext>
              </a:extLst>
            </p:cNvPr>
            <p:cNvSpPr/>
            <p:nvPr/>
          </p:nvSpPr>
          <p:spPr>
            <a:xfrm>
              <a:off x="4846320" y="868680"/>
              <a:ext cx="384048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FN  False Negative</a:t>
              </a:r>
              <a:endParaRPr lang="en-US" sz="2800" dirty="0"/>
            </a:p>
          </p:txBody>
        </p:sp>
        <p:sp>
          <p:nvSpPr>
            <p:cNvPr id="46" name="Text 10">
              <a:extLst>
                <a:ext uri="{FF2B5EF4-FFF2-40B4-BE49-F238E27FC236}">
                  <a16:creationId xmlns:a16="http://schemas.microsoft.com/office/drawing/2014/main" id="{302216E8-E03C-4D5C-9FCC-77A6241EA515}"/>
                </a:ext>
              </a:extLst>
            </p:cNvPr>
            <p:cNvSpPr/>
            <p:nvPr/>
          </p:nvSpPr>
          <p:spPr>
            <a:xfrm>
              <a:off x="4846320" y="1271016"/>
              <a:ext cx="38404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DC262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거짓 음성 (Miss / 미탐)</a:t>
              </a:r>
              <a:endParaRPr lang="en-US" sz="2000" dirty="0"/>
            </a:p>
          </p:txBody>
        </p:sp>
        <p:sp>
          <p:nvSpPr>
            <p:cNvPr id="47" name="Text 11">
              <a:extLst>
                <a:ext uri="{FF2B5EF4-FFF2-40B4-BE49-F238E27FC236}">
                  <a16:creationId xmlns:a16="http://schemas.microsoft.com/office/drawing/2014/main" id="{E8BDEB71-270E-4EB2-9F54-8015C8D01B6A}"/>
                </a:ext>
              </a:extLst>
            </p:cNvPr>
            <p:cNvSpPr/>
            <p:nvPr/>
          </p:nvSpPr>
          <p:spPr>
            <a:xfrm>
              <a:off x="4846320" y="1545336"/>
              <a:ext cx="2004658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실제: Positive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예측: Negative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위험을 놓침 [X]</a:t>
              </a:r>
              <a:endParaRPr lang="en-US" sz="2400" dirty="0"/>
            </a:p>
          </p:txBody>
        </p:sp>
        <p:sp>
          <p:nvSpPr>
            <p:cNvPr id="48" name="Text 12">
              <a:extLst>
                <a:ext uri="{FF2B5EF4-FFF2-40B4-BE49-F238E27FC236}">
                  <a16:creationId xmlns:a16="http://schemas.microsoft.com/office/drawing/2014/main" id="{64352B3C-8FD4-418E-B8B5-600099D1E801}"/>
                </a:ext>
              </a:extLst>
            </p:cNvPr>
            <p:cNvSpPr/>
            <p:nvPr/>
          </p:nvSpPr>
          <p:spPr>
            <a:xfrm>
              <a:off x="6766560" y="1545336"/>
              <a:ext cx="1920240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예) 실제 가스 위험</a:t>
              </a:r>
              <a:endParaRPr lang="en-US" sz="2000" dirty="0"/>
            </a:p>
            <a:p>
              <a:pPr marL="0" indent="0">
                <a:buNone/>
              </a:pPr>
              <a:r>
                <a:rPr lang="en-US" sz="2000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모델이 '정상' 예측</a:t>
              </a:r>
              <a:endParaRPr lang="en-US" sz="2000" dirty="0"/>
            </a:p>
            <a:p>
              <a:pPr marL="0" indent="0">
                <a:buNone/>
              </a:pPr>
              <a:r>
                <a:rPr lang="en-US" sz="2000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치명적 오류! [!]</a:t>
              </a:r>
              <a:endParaRPr lang="en-US" sz="2000" dirty="0"/>
            </a:p>
          </p:txBody>
        </p:sp>
        <p:sp>
          <p:nvSpPr>
            <p:cNvPr id="49" name="Shape 13">
              <a:extLst>
                <a:ext uri="{FF2B5EF4-FFF2-40B4-BE49-F238E27FC236}">
                  <a16:creationId xmlns:a16="http://schemas.microsoft.com/office/drawing/2014/main" id="{B29552FA-FA2F-43EA-890C-285D6D22AF14}"/>
                </a:ext>
              </a:extLst>
            </p:cNvPr>
            <p:cNvSpPr/>
            <p:nvPr/>
          </p:nvSpPr>
          <p:spPr>
            <a:xfrm>
              <a:off x="274320" y="2834640"/>
              <a:ext cx="4023360" cy="178308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D97706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50" name="Shape 14">
              <a:extLst>
                <a:ext uri="{FF2B5EF4-FFF2-40B4-BE49-F238E27FC236}">
                  <a16:creationId xmlns:a16="http://schemas.microsoft.com/office/drawing/2014/main" id="{E93025E0-6675-4187-AAC6-4511B027A242}"/>
                </a:ext>
              </a:extLst>
            </p:cNvPr>
            <p:cNvSpPr/>
            <p:nvPr/>
          </p:nvSpPr>
          <p:spPr>
            <a:xfrm>
              <a:off x="274320" y="2834640"/>
              <a:ext cx="4023360" cy="384048"/>
            </a:xfrm>
            <a:prstGeom prst="rect">
              <a:avLst/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</p:sp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7EB11D50-99D6-4895-8219-F3C354213914}"/>
                </a:ext>
              </a:extLst>
            </p:cNvPr>
            <p:cNvSpPr/>
            <p:nvPr/>
          </p:nvSpPr>
          <p:spPr>
            <a:xfrm>
              <a:off x="365760" y="2834640"/>
              <a:ext cx="384048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FP  False Positive</a:t>
              </a:r>
              <a:endParaRPr lang="en-US" sz="2800" dirty="0"/>
            </a:p>
          </p:txBody>
        </p:sp>
        <p:sp>
          <p:nvSpPr>
            <p:cNvPr id="52" name="Text 16">
              <a:extLst>
                <a:ext uri="{FF2B5EF4-FFF2-40B4-BE49-F238E27FC236}">
                  <a16:creationId xmlns:a16="http://schemas.microsoft.com/office/drawing/2014/main" id="{B37E49A1-29F9-46E7-8E4D-6B6B6EBC4D52}"/>
                </a:ext>
              </a:extLst>
            </p:cNvPr>
            <p:cNvSpPr/>
            <p:nvPr/>
          </p:nvSpPr>
          <p:spPr>
            <a:xfrm>
              <a:off x="365760" y="3236976"/>
              <a:ext cx="38404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D9770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거짓 양성 (False Alarm / 오탐)</a:t>
              </a:r>
              <a:endParaRPr lang="en-US" sz="2000" dirty="0"/>
            </a:p>
          </p:txBody>
        </p:sp>
        <p:sp>
          <p:nvSpPr>
            <p:cNvPr id="53" name="Text 17">
              <a:extLst>
                <a:ext uri="{FF2B5EF4-FFF2-40B4-BE49-F238E27FC236}">
                  <a16:creationId xmlns:a16="http://schemas.microsoft.com/office/drawing/2014/main" id="{2CC25A4B-FC3D-4EED-A23A-6C26B5F2CD55}"/>
                </a:ext>
              </a:extLst>
            </p:cNvPr>
            <p:cNvSpPr/>
            <p:nvPr/>
          </p:nvSpPr>
          <p:spPr>
            <a:xfrm>
              <a:off x="365760" y="3511296"/>
              <a:ext cx="1828800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실제: Negative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예측: Positive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헛경보 [X]</a:t>
              </a:r>
              <a:endParaRPr lang="en-US" sz="2400" dirty="0"/>
            </a:p>
          </p:txBody>
        </p:sp>
        <p:sp>
          <p:nvSpPr>
            <p:cNvPr id="54" name="Text 18">
              <a:extLst>
                <a:ext uri="{FF2B5EF4-FFF2-40B4-BE49-F238E27FC236}">
                  <a16:creationId xmlns:a16="http://schemas.microsoft.com/office/drawing/2014/main" id="{E161512C-1AA6-47A0-9C42-AEB152B4C194}"/>
                </a:ext>
              </a:extLst>
            </p:cNvPr>
            <p:cNvSpPr/>
            <p:nvPr/>
          </p:nvSpPr>
          <p:spPr>
            <a:xfrm>
              <a:off x="2286000" y="3511296"/>
              <a:ext cx="1920240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예) 실제 정상</a:t>
              </a:r>
              <a:endParaRPr lang="en-US" sz="2000" dirty="0"/>
            </a:p>
            <a:p>
              <a:pPr marL="0" indent="0">
                <a:buNone/>
              </a:pPr>
              <a:r>
                <a:rPr lang="en-US" sz="2000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모델이 '위험' 예측</a:t>
              </a:r>
              <a:endParaRPr lang="en-US" sz="2000" dirty="0"/>
            </a:p>
            <a:p>
              <a:pPr marL="0" indent="0">
                <a:buNone/>
              </a:pPr>
              <a:r>
                <a:rPr lang="en-US" sz="2000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불필요한 경보</a:t>
              </a:r>
              <a:endParaRPr lang="en-US" sz="2000" dirty="0"/>
            </a:p>
          </p:txBody>
        </p:sp>
        <p:sp>
          <p:nvSpPr>
            <p:cNvPr id="55" name="Shape 19">
              <a:extLst>
                <a:ext uri="{FF2B5EF4-FFF2-40B4-BE49-F238E27FC236}">
                  <a16:creationId xmlns:a16="http://schemas.microsoft.com/office/drawing/2014/main" id="{84F00C68-9320-439D-94F0-0CE225036F7E}"/>
                </a:ext>
              </a:extLst>
            </p:cNvPr>
            <p:cNvSpPr/>
            <p:nvPr/>
          </p:nvSpPr>
          <p:spPr>
            <a:xfrm>
              <a:off x="4754880" y="2834640"/>
              <a:ext cx="4023360" cy="178308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0D9488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56" name="Shape 20">
              <a:extLst>
                <a:ext uri="{FF2B5EF4-FFF2-40B4-BE49-F238E27FC236}">
                  <a16:creationId xmlns:a16="http://schemas.microsoft.com/office/drawing/2014/main" id="{7BDAEE00-88FC-4E62-9271-0FA5E13E48A9}"/>
                </a:ext>
              </a:extLst>
            </p:cNvPr>
            <p:cNvSpPr/>
            <p:nvPr/>
          </p:nvSpPr>
          <p:spPr>
            <a:xfrm>
              <a:off x="4754880" y="2834640"/>
              <a:ext cx="4023360" cy="384048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</p:sp>
        <p:sp>
          <p:nvSpPr>
            <p:cNvPr id="57" name="Text 21">
              <a:extLst>
                <a:ext uri="{FF2B5EF4-FFF2-40B4-BE49-F238E27FC236}">
                  <a16:creationId xmlns:a16="http://schemas.microsoft.com/office/drawing/2014/main" id="{0B097B2F-0E8F-4C93-A4BA-5F7B619BFFD0}"/>
                </a:ext>
              </a:extLst>
            </p:cNvPr>
            <p:cNvSpPr/>
            <p:nvPr/>
          </p:nvSpPr>
          <p:spPr>
            <a:xfrm>
              <a:off x="4846320" y="2834640"/>
              <a:ext cx="384048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TN  True Negative</a:t>
              </a:r>
              <a:endParaRPr lang="en-US" sz="2800" dirty="0"/>
            </a:p>
          </p:txBody>
        </p:sp>
        <p:sp>
          <p:nvSpPr>
            <p:cNvPr id="58" name="Text 22">
              <a:extLst>
                <a:ext uri="{FF2B5EF4-FFF2-40B4-BE49-F238E27FC236}">
                  <a16:creationId xmlns:a16="http://schemas.microsoft.com/office/drawing/2014/main" id="{1DE56118-09C2-4DF5-B598-A9CF4615892B}"/>
                </a:ext>
              </a:extLst>
            </p:cNvPr>
            <p:cNvSpPr/>
            <p:nvPr/>
          </p:nvSpPr>
          <p:spPr>
            <a:xfrm>
              <a:off x="4846320" y="3236976"/>
              <a:ext cx="38404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0D948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진짜 음성</a:t>
              </a:r>
              <a:endParaRPr lang="en-US" sz="2000" dirty="0"/>
            </a:p>
          </p:txBody>
        </p:sp>
        <p:sp>
          <p:nvSpPr>
            <p:cNvPr id="59" name="Text 23">
              <a:extLst>
                <a:ext uri="{FF2B5EF4-FFF2-40B4-BE49-F238E27FC236}">
                  <a16:creationId xmlns:a16="http://schemas.microsoft.com/office/drawing/2014/main" id="{CA18CDC1-6E00-4C5B-A356-8EF9FE8CD169}"/>
                </a:ext>
              </a:extLst>
            </p:cNvPr>
            <p:cNvSpPr/>
            <p:nvPr/>
          </p:nvSpPr>
          <p:spPr>
            <a:xfrm>
              <a:off x="4846320" y="3511296"/>
              <a:ext cx="2004658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실제: Negative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예측: Negative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정확히 맞음 [O]</a:t>
              </a:r>
              <a:endParaRPr lang="en-US" sz="2400" dirty="0"/>
            </a:p>
          </p:txBody>
        </p:sp>
        <p:sp>
          <p:nvSpPr>
            <p:cNvPr id="60" name="Text 24">
              <a:extLst>
                <a:ext uri="{FF2B5EF4-FFF2-40B4-BE49-F238E27FC236}">
                  <a16:creationId xmlns:a16="http://schemas.microsoft.com/office/drawing/2014/main" id="{BF4310D5-075B-4B46-9CEF-A9192745C5F5}"/>
                </a:ext>
              </a:extLst>
            </p:cNvPr>
            <p:cNvSpPr/>
            <p:nvPr/>
          </p:nvSpPr>
          <p:spPr>
            <a:xfrm>
              <a:off x="6766560" y="3511296"/>
              <a:ext cx="1920240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예) 실제 정상</a:t>
              </a:r>
              <a:endParaRPr lang="en-US" sz="2000" dirty="0"/>
            </a:p>
            <a:p>
              <a:pPr marL="0" indent="0">
                <a:buNone/>
              </a:pPr>
              <a:r>
                <a:rPr lang="en-US" sz="2000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모델도 '정상' 예측</a:t>
              </a:r>
              <a:endParaRPr lang="en-US" sz="2000" dirty="0"/>
            </a:p>
            <a:p>
              <a:pPr marL="0" indent="0">
                <a:buNone/>
              </a:pPr>
              <a:r>
                <a:rPr lang="en-US" sz="2000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올바른 판단!</a:t>
              </a:r>
              <a:endParaRPr 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97392939"/>
      </p:ext>
    </p:extLst>
  </p:cSld>
  <p:clrMapOvr>
    <a:masterClrMapping/>
  </p:clrMapOvr>
  <p:transition spd="slow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Confusion Matrix : 4</a:t>
            </a:r>
            <a:r>
              <a:rPr lang="ko-KR" altLang="en-US" sz="2000" b="1" dirty="0"/>
              <a:t>가지 성능 지표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929E81C5-2C4E-49D7-B187-4760F1144288}"/>
              </a:ext>
            </a:extLst>
          </p:cNvPr>
          <p:cNvGrpSpPr/>
          <p:nvPr/>
        </p:nvGrpSpPr>
        <p:grpSpPr>
          <a:xfrm>
            <a:off x="274320" y="868680"/>
            <a:ext cx="11510312" cy="5440640"/>
            <a:chOff x="274320" y="868680"/>
            <a:chExt cx="8549640" cy="3977640"/>
          </a:xfrm>
        </p:grpSpPr>
        <p:sp>
          <p:nvSpPr>
            <p:cNvPr id="28" name="Shape 1">
              <a:extLst>
                <a:ext uri="{FF2B5EF4-FFF2-40B4-BE49-F238E27FC236}">
                  <a16:creationId xmlns:a16="http://schemas.microsoft.com/office/drawing/2014/main" id="{AD144666-B199-4D67-9C50-031B3583D54B}"/>
                </a:ext>
              </a:extLst>
            </p:cNvPr>
            <p:cNvSpPr/>
            <p:nvPr/>
          </p:nvSpPr>
          <p:spPr>
            <a:xfrm>
              <a:off x="274320" y="868680"/>
              <a:ext cx="4114800" cy="192024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2E5FA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29" name="Shape 2">
              <a:extLst>
                <a:ext uri="{FF2B5EF4-FFF2-40B4-BE49-F238E27FC236}">
                  <a16:creationId xmlns:a16="http://schemas.microsoft.com/office/drawing/2014/main" id="{8C771918-FF8F-4AAC-8EA5-0193C3EB018C}"/>
                </a:ext>
              </a:extLst>
            </p:cNvPr>
            <p:cNvSpPr/>
            <p:nvPr/>
          </p:nvSpPr>
          <p:spPr>
            <a:xfrm>
              <a:off x="274320" y="868680"/>
              <a:ext cx="109728" cy="1920240"/>
            </a:xfrm>
            <a:prstGeom prst="rect">
              <a:avLst/>
            </a:prstGeom>
            <a:solidFill>
              <a:srgbClr val="2E5FA3"/>
            </a:solidFill>
            <a:ln w="12700">
              <a:solidFill>
                <a:srgbClr val="2E5FA3"/>
              </a:solidFill>
              <a:prstDash val="solid"/>
            </a:ln>
          </p:spPr>
        </p:sp>
        <p:sp>
          <p:nvSpPr>
            <p:cNvPr id="30" name="Text 3">
              <a:extLst>
                <a:ext uri="{FF2B5EF4-FFF2-40B4-BE49-F238E27FC236}">
                  <a16:creationId xmlns:a16="http://schemas.microsoft.com/office/drawing/2014/main" id="{B547BBD0-FEB7-4F8F-BDDB-0862B24071D0}"/>
                </a:ext>
              </a:extLst>
            </p:cNvPr>
            <p:cNvSpPr/>
            <p:nvPr/>
          </p:nvSpPr>
          <p:spPr>
            <a:xfrm>
              <a:off x="475488" y="960120"/>
              <a:ext cx="3822192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2E5FA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Precision (정밀도)</a:t>
              </a:r>
              <a:endParaRPr lang="en-US" sz="2000" dirty="0"/>
            </a:p>
          </p:txBody>
        </p:sp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2144F465-2FFE-4CD4-AE8B-5F3AE449AE0C}"/>
                </a:ext>
              </a:extLst>
            </p:cNvPr>
            <p:cNvSpPr/>
            <p:nvPr/>
          </p:nvSpPr>
          <p:spPr>
            <a:xfrm>
              <a:off x="475488" y="1325880"/>
              <a:ext cx="3822192" cy="347472"/>
            </a:xfrm>
            <a:prstGeom prst="rect">
              <a:avLst/>
            </a:prstGeom>
            <a:solidFill>
              <a:srgbClr val="E8EDF5"/>
            </a:solidFill>
            <a:ln w="12700">
              <a:solidFill>
                <a:srgbClr val="E8EDF5"/>
              </a:solidFill>
              <a:prstDash val="solid"/>
            </a:ln>
          </p:spPr>
        </p:sp>
        <p:sp>
          <p:nvSpPr>
            <p:cNvPr id="32" name="Text 5">
              <a:extLst>
                <a:ext uri="{FF2B5EF4-FFF2-40B4-BE49-F238E27FC236}">
                  <a16:creationId xmlns:a16="http://schemas.microsoft.com/office/drawing/2014/main" id="{797DD1E8-8070-4BC5-A386-D12075E833C5}"/>
                </a:ext>
              </a:extLst>
            </p:cNvPr>
            <p:cNvSpPr/>
            <p:nvPr/>
          </p:nvSpPr>
          <p:spPr>
            <a:xfrm>
              <a:off x="475488" y="1325880"/>
              <a:ext cx="3822192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TP / (TP + FP)</a:t>
              </a:r>
              <a:endParaRPr lang="en-US" sz="2000" dirty="0"/>
            </a:p>
          </p:txBody>
        </p:sp>
        <p:sp>
          <p:nvSpPr>
            <p:cNvPr id="35" name="Text 6">
              <a:extLst>
                <a:ext uri="{FF2B5EF4-FFF2-40B4-BE49-F238E27FC236}">
                  <a16:creationId xmlns:a16="http://schemas.microsoft.com/office/drawing/2014/main" id="{44C2397E-2001-44BC-8F0D-10F01B0DF587}"/>
                </a:ext>
              </a:extLst>
            </p:cNvPr>
            <p:cNvSpPr/>
            <p:nvPr/>
          </p:nvSpPr>
          <p:spPr>
            <a:xfrm>
              <a:off x="475488" y="1737360"/>
              <a:ext cx="3822192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모델이 Positive로 예측한 것 중</a:t>
              </a:r>
              <a:endParaRPr lang="en-US" sz="2000" dirty="0"/>
            </a:p>
            <a:p>
              <a:pPr marL="0" indent="0">
                <a:buNone/>
              </a:pPr>
              <a:r>
                <a:rPr lang="en-US" sz="20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실제로 Positive인 비율</a:t>
              </a:r>
              <a:endParaRPr lang="en-US" sz="2000" dirty="0"/>
            </a:p>
          </p:txBody>
        </p:sp>
        <p:sp>
          <p:nvSpPr>
            <p:cNvPr id="36" name="Text 7">
              <a:extLst>
                <a:ext uri="{FF2B5EF4-FFF2-40B4-BE49-F238E27FC236}">
                  <a16:creationId xmlns:a16="http://schemas.microsoft.com/office/drawing/2014/main" id="{F84D30F6-6398-4FB1-90F3-2056A019D418}"/>
                </a:ext>
              </a:extLst>
            </p:cNvPr>
            <p:cNvSpPr/>
            <p:nvPr/>
          </p:nvSpPr>
          <p:spPr>
            <a:xfrm>
              <a:off x="475488" y="2331720"/>
              <a:ext cx="3822192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[TIP] 낮으면 → 헛경보(FP)가 많음</a:t>
              </a:r>
              <a:endParaRPr lang="en-US" dirty="0"/>
            </a:p>
          </p:txBody>
        </p:sp>
        <p:sp>
          <p:nvSpPr>
            <p:cNvPr id="37" name="Shape 8">
              <a:extLst>
                <a:ext uri="{FF2B5EF4-FFF2-40B4-BE49-F238E27FC236}">
                  <a16:creationId xmlns:a16="http://schemas.microsoft.com/office/drawing/2014/main" id="{7DC4E4F1-229F-4A45-98A4-B28485E279B6}"/>
                </a:ext>
              </a:extLst>
            </p:cNvPr>
            <p:cNvSpPr/>
            <p:nvPr/>
          </p:nvSpPr>
          <p:spPr>
            <a:xfrm>
              <a:off x="4709160" y="868680"/>
              <a:ext cx="4114800" cy="192024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DC2626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38" name="Shape 9">
              <a:extLst>
                <a:ext uri="{FF2B5EF4-FFF2-40B4-BE49-F238E27FC236}">
                  <a16:creationId xmlns:a16="http://schemas.microsoft.com/office/drawing/2014/main" id="{84DCC7CC-7ABD-4828-9096-5511D3EF1498}"/>
                </a:ext>
              </a:extLst>
            </p:cNvPr>
            <p:cNvSpPr/>
            <p:nvPr/>
          </p:nvSpPr>
          <p:spPr>
            <a:xfrm>
              <a:off x="4709160" y="868680"/>
              <a:ext cx="109728" cy="1920240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</p:sp>
        <p:sp>
          <p:nvSpPr>
            <p:cNvPr id="61" name="Text 10">
              <a:extLst>
                <a:ext uri="{FF2B5EF4-FFF2-40B4-BE49-F238E27FC236}">
                  <a16:creationId xmlns:a16="http://schemas.microsoft.com/office/drawing/2014/main" id="{1FCD822A-5CB9-4090-B208-18CF4B2DA0AF}"/>
                </a:ext>
              </a:extLst>
            </p:cNvPr>
            <p:cNvSpPr/>
            <p:nvPr/>
          </p:nvSpPr>
          <p:spPr>
            <a:xfrm>
              <a:off x="4910328" y="960120"/>
              <a:ext cx="3822192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DC262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Recall / TPR (재현율)</a:t>
              </a:r>
              <a:endParaRPr lang="en-US" sz="2000" dirty="0"/>
            </a:p>
          </p:txBody>
        </p:sp>
        <p:sp>
          <p:nvSpPr>
            <p:cNvPr id="62" name="Shape 11">
              <a:extLst>
                <a:ext uri="{FF2B5EF4-FFF2-40B4-BE49-F238E27FC236}">
                  <a16:creationId xmlns:a16="http://schemas.microsoft.com/office/drawing/2014/main" id="{1E55F40C-AC70-4101-ADA8-568A3488DB7D}"/>
                </a:ext>
              </a:extLst>
            </p:cNvPr>
            <p:cNvSpPr/>
            <p:nvPr/>
          </p:nvSpPr>
          <p:spPr>
            <a:xfrm>
              <a:off x="4910328" y="1325880"/>
              <a:ext cx="3822192" cy="347472"/>
            </a:xfrm>
            <a:prstGeom prst="rect">
              <a:avLst/>
            </a:prstGeom>
            <a:solidFill>
              <a:srgbClr val="E8EDF5"/>
            </a:solidFill>
            <a:ln w="12700">
              <a:solidFill>
                <a:srgbClr val="E8EDF5"/>
              </a:solidFill>
              <a:prstDash val="solid"/>
            </a:ln>
          </p:spPr>
        </p:sp>
        <p:sp>
          <p:nvSpPr>
            <p:cNvPr id="63" name="Text 12">
              <a:extLst>
                <a:ext uri="{FF2B5EF4-FFF2-40B4-BE49-F238E27FC236}">
                  <a16:creationId xmlns:a16="http://schemas.microsoft.com/office/drawing/2014/main" id="{9ECD7824-6628-4A49-85FC-AB356D491FD0}"/>
                </a:ext>
              </a:extLst>
            </p:cNvPr>
            <p:cNvSpPr/>
            <p:nvPr/>
          </p:nvSpPr>
          <p:spPr>
            <a:xfrm>
              <a:off x="4910328" y="1325880"/>
              <a:ext cx="3822192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TP / (TP + FN)</a:t>
              </a:r>
              <a:endParaRPr lang="en-US" sz="2000" dirty="0"/>
            </a:p>
          </p:txBody>
        </p:sp>
        <p:sp>
          <p:nvSpPr>
            <p:cNvPr id="64" name="Text 13">
              <a:extLst>
                <a:ext uri="{FF2B5EF4-FFF2-40B4-BE49-F238E27FC236}">
                  <a16:creationId xmlns:a16="http://schemas.microsoft.com/office/drawing/2014/main" id="{9DC4BC26-FA67-4E7A-B6E9-AC3F0F7CD8DD}"/>
                </a:ext>
              </a:extLst>
            </p:cNvPr>
            <p:cNvSpPr/>
            <p:nvPr/>
          </p:nvSpPr>
          <p:spPr>
            <a:xfrm>
              <a:off x="4910328" y="1737360"/>
              <a:ext cx="3822192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실제 Positive 중에서</a:t>
              </a:r>
              <a:endParaRPr lang="en-US" sz="2000" dirty="0"/>
            </a:p>
            <a:p>
              <a:pPr marL="0" indent="0">
                <a:buNone/>
              </a:pPr>
              <a:r>
                <a:rPr lang="en-US" sz="20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모델이 Positive로 맞힌 비율</a:t>
              </a:r>
              <a:endParaRPr lang="en-US" sz="2000" dirty="0"/>
            </a:p>
          </p:txBody>
        </p:sp>
        <p:sp>
          <p:nvSpPr>
            <p:cNvPr id="65" name="Text 14">
              <a:extLst>
                <a:ext uri="{FF2B5EF4-FFF2-40B4-BE49-F238E27FC236}">
                  <a16:creationId xmlns:a16="http://schemas.microsoft.com/office/drawing/2014/main" id="{5E2D4D94-245D-483E-8F02-63E241AB79D4}"/>
                </a:ext>
              </a:extLst>
            </p:cNvPr>
            <p:cNvSpPr/>
            <p:nvPr/>
          </p:nvSpPr>
          <p:spPr>
            <a:xfrm>
              <a:off x="4910328" y="2331720"/>
              <a:ext cx="3822192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[TIP] 낮으면 → 위험을 놓침(FN) 많음</a:t>
              </a:r>
              <a:endParaRPr lang="en-US" dirty="0"/>
            </a:p>
          </p:txBody>
        </p:sp>
        <p:sp>
          <p:nvSpPr>
            <p:cNvPr id="66" name="Shape 15">
              <a:extLst>
                <a:ext uri="{FF2B5EF4-FFF2-40B4-BE49-F238E27FC236}">
                  <a16:creationId xmlns:a16="http://schemas.microsoft.com/office/drawing/2014/main" id="{6C916D23-7B66-44F1-B505-9DFD0000F6B2}"/>
                </a:ext>
              </a:extLst>
            </p:cNvPr>
            <p:cNvSpPr/>
            <p:nvPr/>
          </p:nvSpPr>
          <p:spPr>
            <a:xfrm>
              <a:off x="274320" y="2926080"/>
              <a:ext cx="4114800" cy="192024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0D9488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67" name="Shape 16">
              <a:extLst>
                <a:ext uri="{FF2B5EF4-FFF2-40B4-BE49-F238E27FC236}">
                  <a16:creationId xmlns:a16="http://schemas.microsoft.com/office/drawing/2014/main" id="{B7DB65FB-6D07-425D-9F4D-0955D8ABFE8A}"/>
                </a:ext>
              </a:extLst>
            </p:cNvPr>
            <p:cNvSpPr/>
            <p:nvPr/>
          </p:nvSpPr>
          <p:spPr>
            <a:xfrm>
              <a:off x="274320" y="2926080"/>
              <a:ext cx="109728" cy="1920240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</p:sp>
        <p:sp>
          <p:nvSpPr>
            <p:cNvPr id="68" name="Text 17">
              <a:extLst>
                <a:ext uri="{FF2B5EF4-FFF2-40B4-BE49-F238E27FC236}">
                  <a16:creationId xmlns:a16="http://schemas.microsoft.com/office/drawing/2014/main" id="{E910BFC8-44A6-4CA7-9053-FF5448C46268}"/>
                </a:ext>
              </a:extLst>
            </p:cNvPr>
            <p:cNvSpPr/>
            <p:nvPr/>
          </p:nvSpPr>
          <p:spPr>
            <a:xfrm>
              <a:off x="475488" y="3017520"/>
              <a:ext cx="3822192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0D948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Accuracy (정확도)</a:t>
              </a:r>
              <a:endParaRPr lang="en-US" sz="2000" dirty="0"/>
            </a:p>
          </p:txBody>
        </p:sp>
        <p:sp>
          <p:nvSpPr>
            <p:cNvPr id="69" name="Shape 18">
              <a:extLst>
                <a:ext uri="{FF2B5EF4-FFF2-40B4-BE49-F238E27FC236}">
                  <a16:creationId xmlns:a16="http://schemas.microsoft.com/office/drawing/2014/main" id="{4EC18798-92AC-4651-A628-3092FCAB3691}"/>
                </a:ext>
              </a:extLst>
            </p:cNvPr>
            <p:cNvSpPr/>
            <p:nvPr/>
          </p:nvSpPr>
          <p:spPr>
            <a:xfrm>
              <a:off x="475488" y="3383280"/>
              <a:ext cx="3822192" cy="347472"/>
            </a:xfrm>
            <a:prstGeom prst="rect">
              <a:avLst/>
            </a:prstGeom>
            <a:solidFill>
              <a:srgbClr val="E8EDF5"/>
            </a:solidFill>
            <a:ln w="12700">
              <a:solidFill>
                <a:srgbClr val="E8EDF5"/>
              </a:solidFill>
              <a:prstDash val="solid"/>
            </a:ln>
          </p:spPr>
        </p:sp>
        <p:sp>
          <p:nvSpPr>
            <p:cNvPr id="70" name="Text 19">
              <a:extLst>
                <a:ext uri="{FF2B5EF4-FFF2-40B4-BE49-F238E27FC236}">
                  <a16:creationId xmlns:a16="http://schemas.microsoft.com/office/drawing/2014/main" id="{A120AEAE-7AC8-47C8-8AF3-C97B16A49630}"/>
                </a:ext>
              </a:extLst>
            </p:cNvPr>
            <p:cNvSpPr/>
            <p:nvPr/>
          </p:nvSpPr>
          <p:spPr>
            <a:xfrm>
              <a:off x="475488" y="3383280"/>
              <a:ext cx="3822192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(TP + TN) / (TP+TN+FP+FN)</a:t>
              </a:r>
              <a:endParaRPr lang="en-US" sz="2000" dirty="0"/>
            </a:p>
          </p:txBody>
        </p:sp>
        <p:sp>
          <p:nvSpPr>
            <p:cNvPr id="71" name="Text 20">
              <a:extLst>
                <a:ext uri="{FF2B5EF4-FFF2-40B4-BE49-F238E27FC236}">
                  <a16:creationId xmlns:a16="http://schemas.microsoft.com/office/drawing/2014/main" id="{7EAB4E32-5BCD-47BD-9DFF-A22D75FAAAF6}"/>
                </a:ext>
              </a:extLst>
            </p:cNvPr>
            <p:cNvSpPr/>
            <p:nvPr/>
          </p:nvSpPr>
          <p:spPr>
            <a:xfrm>
              <a:off x="475488" y="3794760"/>
              <a:ext cx="3822192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전체 예측 중</a:t>
              </a:r>
              <a:endParaRPr lang="en-US" sz="2000" dirty="0"/>
            </a:p>
            <a:p>
              <a:pPr marL="0" indent="0">
                <a:buNone/>
              </a:pPr>
              <a:r>
                <a:rPr lang="en-US" sz="20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맞게 예측한 비율</a:t>
              </a:r>
              <a:endParaRPr lang="en-US" sz="2000" dirty="0"/>
            </a:p>
          </p:txBody>
        </p:sp>
        <p:sp>
          <p:nvSpPr>
            <p:cNvPr id="72" name="Text 21">
              <a:extLst>
                <a:ext uri="{FF2B5EF4-FFF2-40B4-BE49-F238E27FC236}">
                  <a16:creationId xmlns:a16="http://schemas.microsoft.com/office/drawing/2014/main" id="{BB4C9589-87AB-4C7D-9F40-917EDA883BF4}"/>
                </a:ext>
              </a:extLst>
            </p:cNvPr>
            <p:cNvSpPr/>
            <p:nvPr/>
          </p:nvSpPr>
          <p:spPr>
            <a:xfrm>
              <a:off x="475488" y="4389120"/>
              <a:ext cx="3822192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[TIP] 불균형 데이터에선 신뢰 못함</a:t>
              </a:r>
              <a:endParaRPr lang="en-US" dirty="0"/>
            </a:p>
          </p:txBody>
        </p:sp>
        <p:sp>
          <p:nvSpPr>
            <p:cNvPr id="73" name="Shape 22">
              <a:extLst>
                <a:ext uri="{FF2B5EF4-FFF2-40B4-BE49-F238E27FC236}">
                  <a16:creationId xmlns:a16="http://schemas.microsoft.com/office/drawing/2014/main" id="{78F4F864-2539-4D89-9DD6-3963B0ACE978}"/>
                </a:ext>
              </a:extLst>
            </p:cNvPr>
            <p:cNvSpPr/>
            <p:nvPr/>
          </p:nvSpPr>
          <p:spPr>
            <a:xfrm>
              <a:off x="4709160" y="2926080"/>
              <a:ext cx="4114800" cy="1920240"/>
            </a:xfrm>
            <a:prstGeom prst="rect">
              <a:avLst/>
            </a:prstGeom>
            <a:solidFill>
              <a:srgbClr val="FFFFFF"/>
            </a:solidFill>
            <a:ln w="25400">
              <a:solidFill>
                <a:srgbClr val="7C3AED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74" name="Shape 23">
              <a:extLst>
                <a:ext uri="{FF2B5EF4-FFF2-40B4-BE49-F238E27FC236}">
                  <a16:creationId xmlns:a16="http://schemas.microsoft.com/office/drawing/2014/main" id="{4C12AF65-D8AA-433B-BE88-508CD3A92912}"/>
                </a:ext>
              </a:extLst>
            </p:cNvPr>
            <p:cNvSpPr/>
            <p:nvPr/>
          </p:nvSpPr>
          <p:spPr>
            <a:xfrm>
              <a:off x="4709160" y="2926080"/>
              <a:ext cx="109728" cy="1920240"/>
            </a:xfrm>
            <a:prstGeom prst="rect">
              <a:avLst/>
            </a:prstGeom>
            <a:solidFill>
              <a:srgbClr val="7C3AED"/>
            </a:solidFill>
            <a:ln w="12700">
              <a:solidFill>
                <a:srgbClr val="7C3AED"/>
              </a:solidFill>
              <a:prstDash val="solid"/>
            </a:ln>
          </p:spPr>
        </p:sp>
        <p:sp>
          <p:nvSpPr>
            <p:cNvPr id="75" name="Text 24">
              <a:extLst>
                <a:ext uri="{FF2B5EF4-FFF2-40B4-BE49-F238E27FC236}">
                  <a16:creationId xmlns:a16="http://schemas.microsoft.com/office/drawing/2014/main" id="{C78DAD74-4F84-45E6-BBEB-EFBFAB423044}"/>
                </a:ext>
              </a:extLst>
            </p:cNvPr>
            <p:cNvSpPr/>
            <p:nvPr/>
          </p:nvSpPr>
          <p:spPr>
            <a:xfrm>
              <a:off x="4910328" y="3017520"/>
              <a:ext cx="3822192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7C3AE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TNR / Specificity (특이도)</a:t>
              </a:r>
              <a:endParaRPr lang="en-US" sz="2000" dirty="0"/>
            </a:p>
          </p:txBody>
        </p:sp>
        <p:sp>
          <p:nvSpPr>
            <p:cNvPr id="76" name="Shape 25">
              <a:extLst>
                <a:ext uri="{FF2B5EF4-FFF2-40B4-BE49-F238E27FC236}">
                  <a16:creationId xmlns:a16="http://schemas.microsoft.com/office/drawing/2014/main" id="{16CE1537-B430-4376-9481-532ECD70CA8E}"/>
                </a:ext>
              </a:extLst>
            </p:cNvPr>
            <p:cNvSpPr/>
            <p:nvPr/>
          </p:nvSpPr>
          <p:spPr>
            <a:xfrm>
              <a:off x="4910328" y="3383280"/>
              <a:ext cx="3822192" cy="347472"/>
            </a:xfrm>
            <a:prstGeom prst="rect">
              <a:avLst/>
            </a:prstGeom>
            <a:solidFill>
              <a:srgbClr val="E8EDF5"/>
            </a:solidFill>
            <a:ln w="12700">
              <a:solidFill>
                <a:srgbClr val="E8EDF5"/>
              </a:solidFill>
              <a:prstDash val="solid"/>
            </a:ln>
          </p:spPr>
        </p:sp>
        <p:sp>
          <p:nvSpPr>
            <p:cNvPr id="77" name="Text 26">
              <a:extLst>
                <a:ext uri="{FF2B5EF4-FFF2-40B4-BE49-F238E27FC236}">
                  <a16:creationId xmlns:a16="http://schemas.microsoft.com/office/drawing/2014/main" id="{5DA0822D-DB1A-4C84-86AF-25B92FB3DF00}"/>
                </a:ext>
              </a:extLst>
            </p:cNvPr>
            <p:cNvSpPr/>
            <p:nvPr/>
          </p:nvSpPr>
          <p:spPr>
            <a:xfrm>
              <a:off x="4910328" y="3383280"/>
              <a:ext cx="3822192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TN / (TN + FP)</a:t>
              </a:r>
              <a:endParaRPr lang="en-US" sz="2000" dirty="0"/>
            </a:p>
          </p:txBody>
        </p:sp>
        <p:sp>
          <p:nvSpPr>
            <p:cNvPr id="78" name="Text 27">
              <a:extLst>
                <a:ext uri="{FF2B5EF4-FFF2-40B4-BE49-F238E27FC236}">
                  <a16:creationId xmlns:a16="http://schemas.microsoft.com/office/drawing/2014/main" id="{AB2FEEE6-01F9-495A-858C-5161F7DD4E4A}"/>
                </a:ext>
              </a:extLst>
            </p:cNvPr>
            <p:cNvSpPr/>
            <p:nvPr/>
          </p:nvSpPr>
          <p:spPr>
            <a:xfrm>
              <a:off x="4910328" y="3794760"/>
              <a:ext cx="3822192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실제 Negative 중</a:t>
              </a:r>
              <a:endParaRPr lang="en-US" sz="2000" dirty="0"/>
            </a:p>
            <a:p>
              <a:pPr marL="0" indent="0">
                <a:buNone/>
              </a:pPr>
              <a:r>
                <a:rPr lang="en-US" sz="20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모델이 Negative로 맞힌 비율</a:t>
              </a:r>
              <a:endParaRPr lang="en-US" sz="2000" dirty="0"/>
            </a:p>
          </p:txBody>
        </p:sp>
        <p:sp>
          <p:nvSpPr>
            <p:cNvPr id="79" name="Text 28">
              <a:extLst>
                <a:ext uri="{FF2B5EF4-FFF2-40B4-BE49-F238E27FC236}">
                  <a16:creationId xmlns:a16="http://schemas.microsoft.com/office/drawing/2014/main" id="{53FA356A-898F-45A1-B656-1A967629E3F0}"/>
                </a:ext>
              </a:extLst>
            </p:cNvPr>
            <p:cNvSpPr/>
            <p:nvPr/>
          </p:nvSpPr>
          <p:spPr>
            <a:xfrm>
              <a:off x="4910328" y="4389120"/>
              <a:ext cx="3822192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[TIP] 정상 상황을 정상으로 판단하는 능력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050126629"/>
      </p:ext>
    </p:extLst>
  </p:cSld>
  <p:clrMapOvr>
    <a:masterClrMapping/>
  </p:clrMapOvr>
  <p:transition spd="slow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ko-KR" altLang="en-US" b="1" dirty="0"/>
              <a:t>머신러닝 모델 성능평가 지표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7EDA947-BA2C-F1F2-F6D4-480990C76F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344" y="607260"/>
            <a:ext cx="11449272" cy="56300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•</a:t>
            </a:r>
            <a:r>
              <a:rPr kumimoji="0" lang="en-US" altLang="ko-KR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 </a:t>
            </a:r>
            <a:r>
              <a:rPr kumimoji="0" lang="ko-KR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문제 예시</a:t>
            </a:r>
            <a:endParaRPr lang="en-US" altLang="ko-KR" dirty="0">
              <a:solidFill>
                <a:srgbClr val="000000"/>
              </a:solidFill>
              <a:latin typeface="+mn-ea"/>
            </a:endParaRPr>
          </a:p>
          <a:p>
            <a:pPr marL="174625" marR="0" lvl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b="1" dirty="0">
                <a:latin typeface="+mn-ea"/>
              </a:rPr>
              <a:t>- 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총 100명 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,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실제 암 환자 20명 </a:t>
            </a: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모델이 암이라고 판단한 사람 30명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, 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그중 실제 암 환자 15명 </a:t>
            </a:r>
            <a:endParaRPr lang="en-US" altLang="ko-KR" b="1" dirty="0">
              <a:latin typeface="+mn-ea"/>
            </a:endParaRP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en-US" altLang="ko-KR" b="1" dirty="0">
                <a:latin typeface="+mn-ea"/>
              </a:rPr>
              <a:t>Accuracy,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Precision,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Recall,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F1-Score</a:t>
            </a:r>
            <a:r>
              <a:rPr lang="ko-KR" altLang="en-US" b="1" dirty="0">
                <a:latin typeface="+mn-ea"/>
              </a:rPr>
              <a:t>를 </a:t>
            </a:r>
            <a:r>
              <a:rPr lang="ko-KR" altLang="en-US" b="1" dirty="0" err="1">
                <a:latin typeface="+mn-ea"/>
              </a:rPr>
              <a:t>구하시오</a:t>
            </a:r>
            <a:r>
              <a:rPr lang="en-US" altLang="ko-KR" b="1" dirty="0">
                <a:latin typeface="+mn-ea"/>
              </a:rPr>
              <a:t>.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endParaRPr lang="en-US" altLang="ko-KR" dirty="0">
              <a:latin typeface="+mn-ea"/>
            </a:endParaRP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풀이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latin typeface="+mn-ea"/>
              </a:rPr>
              <a:t>     TP = </a:t>
            </a:r>
            <a:r>
              <a:rPr lang="ko-KR" altLang="en-US" dirty="0">
                <a:latin typeface="+mn-ea"/>
              </a:rPr>
              <a:t>맞춘 암 </a:t>
            </a:r>
            <a:r>
              <a:rPr lang="en-US" altLang="ko-KR" dirty="0">
                <a:latin typeface="+mn-ea"/>
              </a:rPr>
              <a:t>= 15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   FP = </a:t>
            </a:r>
            <a:r>
              <a:rPr lang="ko-KR" altLang="en-US" dirty="0">
                <a:latin typeface="+mn-ea"/>
              </a:rPr>
              <a:t>판단 암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맞춘 암 </a:t>
            </a:r>
            <a:r>
              <a:rPr lang="en-US" altLang="ko-KR" dirty="0">
                <a:latin typeface="+mn-ea"/>
              </a:rPr>
              <a:t>= 30-15=15</a:t>
            </a: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     FN = 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실제 암 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– 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맞춘 암 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= 20-15= 5</a:t>
            </a:r>
            <a:br>
              <a:rPr lang="en-US" altLang="ko-KR" dirty="0">
                <a:solidFill>
                  <a:srgbClr val="000000"/>
                </a:solidFill>
                <a:latin typeface="+mn-ea"/>
              </a:rPr>
            </a:br>
            <a:r>
              <a:rPr lang="en-US" altLang="ko-KR" dirty="0">
                <a:solidFill>
                  <a:srgbClr val="000000"/>
                </a:solidFill>
                <a:latin typeface="+mn-ea"/>
              </a:rPr>
              <a:t>     TN = 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전차 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– (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맞춘 암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+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정상인데 암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+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암인데 정상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) = 100-(15+15+5) = 65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    Accuracy =  (TP+TN)/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전체 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= (15+65)/100 = 80%</a:t>
            </a: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latin typeface="+mn-ea"/>
              </a:rPr>
              <a:t>     Precision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=</a:t>
            </a:r>
            <a:r>
              <a:rPr lang="ko-KR" altLang="en-US" dirty="0">
                <a:latin typeface="+mn-ea"/>
              </a:rPr>
              <a:t>  </a:t>
            </a:r>
            <a:r>
              <a:rPr lang="en-US" altLang="ko-KR" dirty="0">
                <a:latin typeface="+mn-ea"/>
              </a:rPr>
              <a:t>TP/(TP+FP) = 15/(15+15) = 50%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   Recall = TP/(TP+FN) = 15/(15+5) = 75%</a:t>
            </a: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    F1-Score = 2x(Precision x Recall)/(Precision + Recall) = 2 x (0.5 x 0.75)/(0.5+0.75) = 0.6 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sym typeface="Wingdings" panose="05000000000000000000" pitchFamily="2" charset="2"/>
              </a:rPr>
              <a:t> 60%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99335442"/>
      </p:ext>
    </p:extLst>
  </p:cSld>
  <p:clrMapOvr>
    <a:masterClrMapping/>
  </p:clrMapOvr>
  <p:transition spd="slow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ko-KR" altLang="en-US" b="1" dirty="0"/>
              <a:t>머신러닝 모델 성능평가 지표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7EDA947-BA2C-F1F2-F6D4-480990C76F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344" y="607260"/>
            <a:ext cx="11449272" cy="56300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•</a:t>
            </a:r>
            <a:r>
              <a:rPr kumimoji="0" lang="en-US" altLang="ko-KR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 </a:t>
            </a:r>
            <a:r>
              <a:rPr kumimoji="0" lang="ko-KR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문제 예시</a:t>
            </a:r>
            <a:endParaRPr lang="en-US" altLang="ko-KR" dirty="0">
              <a:solidFill>
                <a:srgbClr val="000000"/>
              </a:solidFill>
              <a:latin typeface="+mn-ea"/>
            </a:endParaRPr>
          </a:p>
          <a:p>
            <a:pPr marL="174625" marR="0" lvl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b="1" dirty="0">
                <a:latin typeface="+mn-ea"/>
              </a:rPr>
              <a:t>- 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총 100명 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,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실제 암 환자 20명 </a:t>
            </a: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모델이 암이라고 판단한 사람 30명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, 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그중 실제 암 환자 15명 </a:t>
            </a:r>
            <a:endParaRPr lang="en-US" altLang="ko-KR" b="1" dirty="0">
              <a:latin typeface="+mn-ea"/>
            </a:endParaRP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en-US" altLang="ko-KR" b="1" dirty="0">
                <a:latin typeface="+mn-ea"/>
              </a:rPr>
              <a:t>Accuracy,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Precision,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Recall,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F1-Score</a:t>
            </a:r>
            <a:r>
              <a:rPr lang="ko-KR" altLang="en-US" b="1" dirty="0">
                <a:latin typeface="+mn-ea"/>
              </a:rPr>
              <a:t>를 </a:t>
            </a:r>
            <a:r>
              <a:rPr lang="ko-KR" altLang="en-US" b="1" dirty="0" err="1">
                <a:latin typeface="+mn-ea"/>
              </a:rPr>
              <a:t>구하시오</a:t>
            </a:r>
            <a:r>
              <a:rPr lang="en-US" altLang="ko-KR" b="1" dirty="0">
                <a:latin typeface="+mn-ea"/>
              </a:rPr>
              <a:t>.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endParaRPr lang="en-US" altLang="ko-KR" dirty="0">
              <a:latin typeface="+mn-ea"/>
            </a:endParaRP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풀이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latin typeface="+mn-ea"/>
              </a:rPr>
              <a:t>     TP = </a:t>
            </a:r>
            <a:r>
              <a:rPr lang="ko-KR" altLang="en-US" dirty="0">
                <a:latin typeface="+mn-ea"/>
              </a:rPr>
              <a:t>맞춘 암 </a:t>
            </a:r>
            <a:r>
              <a:rPr lang="en-US" altLang="ko-KR" dirty="0">
                <a:latin typeface="+mn-ea"/>
              </a:rPr>
              <a:t>= 15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   FP = </a:t>
            </a:r>
            <a:r>
              <a:rPr lang="ko-KR" altLang="en-US" dirty="0">
                <a:latin typeface="+mn-ea"/>
              </a:rPr>
              <a:t>판단 암 </a:t>
            </a:r>
            <a:r>
              <a:rPr lang="en-US" altLang="ko-KR" dirty="0">
                <a:latin typeface="+mn-ea"/>
              </a:rPr>
              <a:t>– </a:t>
            </a:r>
            <a:r>
              <a:rPr lang="ko-KR" altLang="en-US" dirty="0">
                <a:latin typeface="+mn-ea"/>
              </a:rPr>
              <a:t>맞춘 암 </a:t>
            </a:r>
            <a:r>
              <a:rPr lang="en-US" altLang="ko-KR" dirty="0">
                <a:latin typeface="+mn-ea"/>
              </a:rPr>
              <a:t>= 30-15=15</a:t>
            </a: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     FN = 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실제 암 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– 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맞춘 암 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= 20-15= 5</a:t>
            </a:r>
            <a:br>
              <a:rPr lang="en-US" altLang="ko-KR" dirty="0">
                <a:solidFill>
                  <a:srgbClr val="000000"/>
                </a:solidFill>
                <a:latin typeface="+mn-ea"/>
              </a:rPr>
            </a:br>
            <a:r>
              <a:rPr lang="en-US" altLang="ko-KR" dirty="0">
                <a:solidFill>
                  <a:srgbClr val="000000"/>
                </a:solidFill>
                <a:latin typeface="+mn-ea"/>
              </a:rPr>
              <a:t>     TN = 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전체 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– (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맞춘 암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+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정상인데 암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+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암인데 정상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) = 100-(15+15+5) = 65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    Accuracy =  (TP+TN)/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전체 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= (15+65)/100 = 80%</a:t>
            </a: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latin typeface="+mn-ea"/>
              </a:rPr>
              <a:t>     Precision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=</a:t>
            </a:r>
            <a:r>
              <a:rPr lang="ko-KR" altLang="en-US" dirty="0">
                <a:latin typeface="+mn-ea"/>
              </a:rPr>
              <a:t>  </a:t>
            </a:r>
            <a:r>
              <a:rPr lang="en-US" altLang="ko-KR" dirty="0">
                <a:latin typeface="+mn-ea"/>
              </a:rPr>
              <a:t>TP/(TP+FP) = 15/(15+15) = 50%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   Recall = TP/(TP+FN) = 15/(15+5) = 75%</a:t>
            </a: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    F1-Score = 2x(Precision x Recall)/(Precision + Recall) = 2 x (0.5 x 0.75)/(0.5+0.75) = 0.6 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sym typeface="Wingdings" panose="05000000000000000000" pitchFamily="2" charset="2"/>
              </a:rPr>
              <a:t> 60%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79128404"/>
      </p:ext>
    </p:extLst>
  </p:cSld>
  <p:clrMapOvr>
    <a:masterClrMapping/>
  </p:clrMapOvr>
  <p:transition spd="slow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ko-KR" altLang="en-US" b="1" dirty="0"/>
              <a:t>머신러닝 모델 성능평가 지표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7EDA947-BA2C-F1F2-F6D4-480990C76F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344" y="607260"/>
            <a:ext cx="11449272" cy="56300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•</a:t>
            </a:r>
            <a:r>
              <a:rPr kumimoji="0" lang="en-US" altLang="ko-KR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 </a:t>
            </a:r>
            <a:r>
              <a:rPr kumimoji="0" lang="ko-KR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문제 예시</a:t>
            </a:r>
            <a:endParaRPr lang="en-US" altLang="ko-KR" dirty="0">
              <a:solidFill>
                <a:srgbClr val="000000"/>
              </a:solidFill>
              <a:latin typeface="+mn-ea"/>
            </a:endParaRPr>
          </a:p>
          <a:p>
            <a:pPr marL="174625" marR="0" lvl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b="1" dirty="0">
                <a:latin typeface="+mn-ea"/>
              </a:rPr>
              <a:t>-  </a:t>
            </a:r>
            <a:r>
              <a:rPr lang="ko-KR" altLang="en-US" b="1" dirty="0">
                <a:latin typeface="+mn-ea"/>
              </a:rPr>
              <a:t>한 식품 공장에서 하루 </a:t>
            </a:r>
            <a:r>
              <a:rPr lang="en-US" altLang="ko-KR" b="1" dirty="0">
                <a:latin typeface="+mn-ea"/>
              </a:rPr>
              <a:t>100</a:t>
            </a:r>
            <a:r>
              <a:rPr lang="ko-KR" altLang="en-US" b="1" dirty="0">
                <a:latin typeface="+mn-ea"/>
              </a:rPr>
              <a:t>개의 제품을 검사했고 실제 불량은  </a:t>
            </a:r>
            <a:r>
              <a:rPr lang="en-US" altLang="ko-KR" b="1" dirty="0">
                <a:latin typeface="+mn-ea"/>
              </a:rPr>
              <a:t>20</a:t>
            </a:r>
            <a:r>
              <a:rPr lang="ko-KR" altLang="en-US" b="1" dirty="0">
                <a:latin typeface="+mn-ea"/>
              </a:rPr>
              <a:t>개였다</a:t>
            </a:r>
            <a:r>
              <a:rPr lang="en-US" altLang="ko-KR" b="1" dirty="0">
                <a:latin typeface="+mn-ea"/>
              </a:rPr>
              <a:t>. </a:t>
            </a:r>
            <a:br>
              <a:rPr lang="en-US" altLang="ko-KR" b="1" dirty="0">
                <a:latin typeface="+mn-ea"/>
              </a:rPr>
            </a:br>
            <a:r>
              <a:rPr lang="en-US" altLang="ko-KR" b="1" dirty="0">
                <a:latin typeface="+mn-ea"/>
              </a:rPr>
              <a:t>   </a:t>
            </a:r>
            <a:r>
              <a:rPr lang="ko-KR" altLang="en-US" b="1" dirty="0">
                <a:latin typeface="+mn-ea"/>
              </a:rPr>
              <a:t>모델은 불량이 </a:t>
            </a:r>
            <a:r>
              <a:rPr lang="en-US" altLang="ko-KR" b="1" dirty="0">
                <a:latin typeface="+mn-ea"/>
              </a:rPr>
              <a:t>30</a:t>
            </a:r>
            <a:r>
              <a:rPr lang="ko-KR" altLang="en-US" b="1" dirty="0">
                <a:latin typeface="+mn-ea"/>
              </a:rPr>
              <a:t>개라고 판단했고</a:t>
            </a:r>
            <a:r>
              <a:rPr lang="en-US" altLang="ko-KR" b="1" dirty="0">
                <a:latin typeface="+mn-ea"/>
              </a:rPr>
              <a:t>, 20</a:t>
            </a:r>
            <a:r>
              <a:rPr lang="ko-KR" altLang="en-US" b="1" dirty="0">
                <a:latin typeface="+mn-ea"/>
              </a:rPr>
              <a:t>개 중에 실제 불량은 </a:t>
            </a:r>
            <a:r>
              <a:rPr lang="en-US" altLang="ko-KR" b="1" dirty="0">
                <a:latin typeface="+mn-ea"/>
              </a:rPr>
              <a:t>15</a:t>
            </a:r>
            <a:r>
              <a:rPr lang="ko-KR" altLang="en-US" b="1" dirty="0">
                <a:latin typeface="+mn-ea"/>
              </a:rPr>
              <a:t>개였다</a:t>
            </a:r>
            <a:r>
              <a:rPr lang="en-US" altLang="ko-KR" b="1" dirty="0">
                <a:latin typeface="+mn-ea"/>
              </a:rPr>
              <a:t>. </a:t>
            </a: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en-US" altLang="ko-KR" b="1" dirty="0">
                <a:latin typeface="+mn-ea"/>
              </a:rPr>
              <a:t>Accuracy,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Precision,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Recall,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F1-Score</a:t>
            </a:r>
            <a:r>
              <a:rPr lang="ko-KR" altLang="en-US" b="1" dirty="0">
                <a:latin typeface="+mn-ea"/>
              </a:rPr>
              <a:t>를 </a:t>
            </a:r>
            <a:r>
              <a:rPr lang="ko-KR" altLang="en-US" b="1" dirty="0" err="1">
                <a:latin typeface="+mn-ea"/>
              </a:rPr>
              <a:t>구하시오</a:t>
            </a:r>
            <a:r>
              <a:rPr lang="en-US" altLang="ko-KR" b="1" dirty="0">
                <a:latin typeface="+mn-ea"/>
              </a:rPr>
              <a:t>.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endParaRPr lang="en-US" altLang="ko-KR" dirty="0">
              <a:latin typeface="+mn-ea"/>
            </a:endParaRP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풀이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latin typeface="+mn-ea"/>
              </a:rPr>
              <a:t>     TP = </a:t>
            </a:r>
            <a:r>
              <a:rPr lang="ko-KR" altLang="en-US" dirty="0">
                <a:latin typeface="+mn-ea"/>
              </a:rPr>
              <a:t>맞춘 불량 </a:t>
            </a:r>
            <a:r>
              <a:rPr lang="en-US" altLang="ko-KR" dirty="0">
                <a:latin typeface="+mn-ea"/>
              </a:rPr>
              <a:t>= 15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   FP = </a:t>
            </a:r>
            <a:r>
              <a:rPr lang="ko-KR" altLang="en-US" dirty="0">
                <a:latin typeface="+mn-ea"/>
              </a:rPr>
              <a:t>정상인데 불량이라고 </a:t>
            </a:r>
            <a:r>
              <a:rPr lang="ko-KR" altLang="en-US" dirty="0" err="1">
                <a:latin typeface="+mn-ea"/>
              </a:rPr>
              <a:t>오탐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= 30-15=15</a:t>
            </a: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     FN = 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불량인데 놓침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rgbClr val="000000"/>
                </a:solidFill>
                <a:latin typeface="+mn-ea"/>
              </a:rPr>
              <a:t>= 20-15= 5</a:t>
            </a:r>
            <a:br>
              <a:rPr lang="en-US" altLang="ko-KR" dirty="0">
                <a:solidFill>
                  <a:srgbClr val="000000"/>
                </a:solidFill>
                <a:latin typeface="+mn-ea"/>
              </a:rPr>
            </a:br>
            <a:r>
              <a:rPr lang="en-US" altLang="ko-KR" dirty="0">
                <a:solidFill>
                  <a:srgbClr val="000000"/>
                </a:solidFill>
                <a:latin typeface="+mn-ea"/>
              </a:rPr>
              <a:t>     TN = 100-(15+15+5) = 65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    Accuracy =  (TP+TN)/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전체 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= (15+65)/100 = 80%</a:t>
            </a: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latin typeface="+mn-ea"/>
              </a:rPr>
              <a:t>     Precision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=</a:t>
            </a:r>
            <a:r>
              <a:rPr lang="ko-KR" altLang="en-US" dirty="0">
                <a:latin typeface="+mn-ea"/>
              </a:rPr>
              <a:t>  </a:t>
            </a:r>
            <a:r>
              <a:rPr lang="en-US" altLang="ko-KR" dirty="0">
                <a:latin typeface="+mn-ea"/>
              </a:rPr>
              <a:t>TP/(TP+FP) = 15/(15+15) = 50%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   Recall = TP/(TP+FN) = 15/(15+5) = 75%</a:t>
            </a: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    F1-Score = 2x(Precision x Recall)/(Precision + Recall) = 2 x (0.5 x 0.75)/(0.5+0.75) = 0.6 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  <a:sym typeface="Wingdings" panose="05000000000000000000" pitchFamily="2" charset="2"/>
              </a:rPr>
              <a:t> 60%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37045916"/>
      </p:ext>
    </p:extLst>
  </p:cSld>
  <p:clrMapOvr>
    <a:masterClrMapping/>
  </p:clrMapOvr>
  <p:transition spd="slow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ko-KR" altLang="en-US" b="1" dirty="0"/>
              <a:t>머신러닝 모델 성능평가 지표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7EDA947-BA2C-F1F2-F6D4-480990C76F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344" y="607260"/>
            <a:ext cx="11449272" cy="56300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•</a:t>
            </a:r>
            <a:r>
              <a:rPr kumimoji="0" lang="en-US" altLang="ko-KR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 </a:t>
            </a:r>
            <a:r>
              <a:rPr kumimoji="0" lang="ko-KR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문제 </a:t>
            </a:r>
            <a:endParaRPr lang="en-US" altLang="ko-KR" dirty="0">
              <a:solidFill>
                <a:srgbClr val="000000"/>
              </a:solidFill>
              <a:latin typeface="+mn-ea"/>
            </a:endParaRPr>
          </a:p>
          <a:p>
            <a:pPr marL="174625" marR="0" lvl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b="1" dirty="0">
                <a:latin typeface="+mn-ea"/>
              </a:rPr>
              <a:t>-  </a:t>
            </a:r>
            <a:r>
              <a:rPr lang="ko-KR" altLang="en-US" b="1" dirty="0">
                <a:latin typeface="+mn-ea"/>
              </a:rPr>
              <a:t>한 공장에서 전자제품 불량 검사를 하는데</a:t>
            </a:r>
            <a:r>
              <a:rPr lang="en-US" altLang="ko-KR" b="1" dirty="0">
                <a:latin typeface="+mn-ea"/>
              </a:rPr>
              <a:t>, </a:t>
            </a:r>
            <a:r>
              <a:rPr lang="ko-KR" altLang="en-US" b="1" dirty="0">
                <a:latin typeface="+mn-ea"/>
              </a:rPr>
              <a:t>총 </a:t>
            </a:r>
            <a:r>
              <a:rPr lang="en-US" altLang="ko-KR" b="1" dirty="0">
                <a:latin typeface="+mn-ea"/>
              </a:rPr>
              <a:t>500</a:t>
            </a:r>
            <a:r>
              <a:rPr lang="ko-KR" altLang="en-US" b="1" dirty="0">
                <a:latin typeface="+mn-ea"/>
              </a:rPr>
              <a:t>개의 제품을 검사했고 실제 불량은  </a:t>
            </a:r>
            <a:r>
              <a:rPr lang="en-US" altLang="ko-KR" b="1" dirty="0">
                <a:latin typeface="+mn-ea"/>
              </a:rPr>
              <a:t>50</a:t>
            </a:r>
            <a:r>
              <a:rPr lang="ko-KR" altLang="en-US" b="1" dirty="0">
                <a:latin typeface="+mn-ea"/>
              </a:rPr>
              <a:t>개였다</a:t>
            </a:r>
            <a:r>
              <a:rPr lang="en-US" altLang="ko-KR" b="1" dirty="0">
                <a:latin typeface="+mn-ea"/>
              </a:rPr>
              <a:t>. </a:t>
            </a:r>
            <a:br>
              <a:rPr lang="en-US" altLang="ko-KR" b="1" dirty="0">
                <a:latin typeface="+mn-ea"/>
              </a:rPr>
            </a:br>
            <a:r>
              <a:rPr lang="en-US" altLang="ko-KR" b="1" dirty="0">
                <a:latin typeface="+mn-ea"/>
              </a:rPr>
              <a:t>   </a:t>
            </a:r>
            <a:r>
              <a:rPr lang="ko-KR" altLang="en-US" b="1" dirty="0">
                <a:latin typeface="+mn-ea"/>
              </a:rPr>
              <a:t>모델은 불량이 </a:t>
            </a:r>
            <a:r>
              <a:rPr lang="en-US" altLang="ko-KR" b="1" dirty="0">
                <a:latin typeface="+mn-ea"/>
              </a:rPr>
              <a:t>80</a:t>
            </a:r>
            <a:r>
              <a:rPr lang="ko-KR" altLang="en-US" b="1" dirty="0">
                <a:latin typeface="+mn-ea"/>
              </a:rPr>
              <a:t>개라고 판단했고</a:t>
            </a:r>
            <a:r>
              <a:rPr lang="en-US" altLang="ko-KR" b="1" dirty="0">
                <a:latin typeface="+mn-ea"/>
              </a:rPr>
              <a:t>, </a:t>
            </a:r>
            <a:r>
              <a:rPr lang="ko-KR" altLang="en-US" b="1" dirty="0">
                <a:latin typeface="+mn-ea"/>
              </a:rPr>
              <a:t>그 중 실제 불량은 </a:t>
            </a:r>
            <a:r>
              <a:rPr lang="en-US" altLang="ko-KR" b="1" dirty="0">
                <a:latin typeface="+mn-ea"/>
              </a:rPr>
              <a:t>40</a:t>
            </a:r>
            <a:r>
              <a:rPr lang="ko-KR" altLang="en-US" b="1" dirty="0">
                <a:latin typeface="+mn-ea"/>
              </a:rPr>
              <a:t>개였다</a:t>
            </a:r>
            <a:r>
              <a:rPr lang="en-US" altLang="ko-KR" b="1" dirty="0">
                <a:latin typeface="+mn-ea"/>
              </a:rPr>
              <a:t>. </a:t>
            </a: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en-US" altLang="ko-KR" b="1" dirty="0">
                <a:latin typeface="+mn-ea"/>
              </a:rPr>
              <a:t>Accuracy,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Precision,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Recall,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F1-Score</a:t>
            </a:r>
            <a:r>
              <a:rPr lang="ko-KR" altLang="en-US" b="1" dirty="0">
                <a:latin typeface="+mn-ea"/>
              </a:rPr>
              <a:t>를 </a:t>
            </a:r>
            <a:r>
              <a:rPr lang="ko-KR" altLang="en-US" b="1" dirty="0" err="1">
                <a:latin typeface="+mn-ea"/>
              </a:rPr>
              <a:t>구하시오</a:t>
            </a:r>
            <a:r>
              <a:rPr lang="en-US" altLang="ko-KR" b="1" dirty="0">
                <a:latin typeface="+mn-ea"/>
              </a:rPr>
              <a:t>.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endParaRPr lang="en-US" altLang="ko-KR" dirty="0">
              <a:latin typeface="+mn-ea"/>
            </a:endParaRP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풀이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latin typeface="+mn-ea"/>
              </a:rPr>
              <a:t>     TP =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   FP = </a:t>
            </a: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     FN =</a:t>
            </a:r>
            <a:br>
              <a:rPr lang="en-US" altLang="ko-KR" dirty="0">
                <a:solidFill>
                  <a:srgbClr val="000000"/>
                </a:solidFill>
                <a:latin typeface="+mn-ea"/>
              </a:rPr>
            </a:br>
            <a:r>
              <a:rPr lang="en-US" altLang="ko-KR" dirty="0">
                <a:solidFill>
                  <a:srgbClr val="000000"/>
                </a:solidFill>
                <a:latin typeface="+mn-ea"/>
              </a:rPr>
              <a:t>     TN =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    Accuracy =</a:t>
            </a: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latin typeface="+mn-ea"/>
              </a:rPr>
              <a:t>     Precision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=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   Recall =</a:t>
            </a: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    F1-Score =</a:t>
            </a:r>
          </a:p>
        </p:txBody>
      </p:sp>
    </p:spTree>
    <p:extLst>
      <p:ext uri="{BB962C8B-B14F-4D97-AF65-F5344CB8AC3E}">
        <p14:creationId xmlns:p14="http://schemas.microsoft.com/office/powerpoint/2010/main" val="3357120957"/>
      </p:ext>
    </p:extLst>
  </p:cSld>
  <p:clrMapOvr>
    <a:masterClrMapping/>
  </p:clrMapOvr>
  <p:transition spd="slow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ko-KR" altLang="en-US" b="1" dirty="0"/>
              <a:t>머신러닝 모델 성능평가 지표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7EDA947-BA2C-F1F2-F6D4-480990C76F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344" y="607260"/>
            <a:ext cx="11449272" cy="56281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•</a:t>
            </a:r>
            <a:r>
              <a:rPr kumimoji="0" lang="en-US" altLang="ko-KR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 </a:t>
            </a:r>
            <a:r>
              <a:rPr kumimoji="0" lang="ko-KR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문제 </a:t>
            </a:r>
            <a:endParaRPr lang="en-US" altLang="ko-KR" dirty="0">
              <a:solidFill>
                <a:srgbClr val="000000"/>
              </a:solidFill>
              <a:latin typeface="+mn-ea"/>
            </a:endParaRPr>
          </a:p>
          <a:p>
            <a:pPr marL="174625" marR="0" lvl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b="1" dirty="0">
                <a:latin typeface="+mn-ea"/>
              </a:rPr>
              <a:t>-  </a:t>
            </a:r>
            <a:r>
              <a:rPr lang="ko-KR" altLang="en-US" b="1" dirty="0">
                <a:latin typeface="+mn-ea"/>
              </a:rPr>
              <a:t>스팸 메일 검사</a:t>
            </a:r>
            <a:r>
              <a:rPr lang="en-US" altLang="ko-KR" b="1" dirty="0">
                <a:latin typeface="+mn-ea"/>
              </a:rPr>
              <a:t>,  </a:t>
            </a:r>
            <a:r>
              <a:rPr lang="ko-KR" altLang="en-US" b="1" dirty="0">
                <a:latin typeface="+mn-ea"/>
              </a:rPr>
              <a:t>총 </a:t>
            </a:r>
            <a:r>
              <a:rPr lang="en-US" altLang="ko-KR" b="1" dirty="0">
                <a:latin typeface="+mn-ea"/>
              </a:rPr>
              <a:t>1000</a:t>
            </a:r>
            <a:r>
              <a:rPr lang="ko-KR" altLang="en-US" b="1" dirty="0">
                <a:latin typeface="+mn-ea"/>
              </a:rPr>
              <a:t>개 메일을 검사했고</a:t>
            </a:r>
            <a:r>
              <a:rPr lang="en-US" altLang="ko-KR" b="1" dirty="0">
                <a:latin typeface="+mn-ea"/>
              </a:rPr>
              <a:t>, </a:t>
            </a:r>
            <a:r>
              <a:rPr lang="ko-KR" altLang="en-US" b="1" dirty="0">
                <a:latin typeface="+mn-ea"/>
              </a:rPr>
              <a:t>실제 스팸은 </a:t>
            </a:r>
            <a:r>
              <a:rPr lang="en-US" altLang="ko-KR" b="1" dirty="0">
                <a:latin typeface="+mn-ea"/>
              </a:rPr>
              <a:t>200</a:t>
            </a:r>
            <a:r>
              <a:rPr lang="ko-KR" altLang="en-US" b="1" dirty="0">
                <a:latin typeface="+mn-ea"/>
              </a:rPr>
              <a:t>개임</a:t>
            </a:r>
            <a:br>
              <a:rPr lang="en-US" altLang="ko-KR" b="1" dirty="0">
                <a:latin typeface="+mn-ea"/>
              </a:rPr>
            </a:br>
            <a:r>
              <a:rPr lang="en-US" altLang="ko-KR" b="1" dirty="0">
                <a:latin typeface="+mn-ea"/>
              </a:rPr>
              <a:t>   </a:t>
            </a:r>
            <a:r>
              <a:rPr lang="ko-KR" altLang="en-US" b="1" dirty="0">
                <a:latin typeface="+mn-ea"/>
              </a:rPr>
              <a:t>모델은 </a:t>
            </a:r>
            <a:r>
              <a:rPr lang="en-US" altLang="ko-KR" b="1" dirty="0">
                <a:latin typeface="+mn-ea"/>
              </a:rPr>
              <a:t>150</a:t>
            </a:r>
            <a:r>
              <a:rPr lang="ko-KR" altLang="en-US" b="1" dirty="0">
                <a:latin typeface="+mn-ea"/>
              </a:rPr>
              <a:t>개를 스팸이라고 판단했고</a:t>
            </a:r>
            <a:r>
              <a:rPr lang="en-US" altLang="ko-KR" b="1" dirty="0">
                <a:latin typeface="+mn-ea"/>
              </a:rPr>
              <a:t>, </a:t>
            </a:r>
            <a:r>
              <a:rPr lang="ko-KR" altLang="en-US" b="1" dirty="0">
                <a:latin typeface="+mn-ea"/>
              </a:rPr>
              <a:t>그 중 실제 스팸은 </a:t>
            </a:r>
            <a:r>
              <a:rPr lang="en-US" altLang="ko-KR" b="1" dirty="0">
                <a:latin typeface="+mn-ea"/>
              </a:rPr>
              <a:t>120</a:t>
            </a:r>
            <a:r>
              <a:rPr lang="ko-KR" altLang="en-US" b="1" dirty="0">
                <a:latin typeface="+mn-ea"/>
              </a:rPr>
              <a:t>개임</a:t>
            </a:r>
            <a:r>
              <a:rPr lang="en-US" altLang="ko-KR" b="1" dirty="0">
                <a:latin typeface="+mn-ea"/>
              </a:rPr>
              <a:t>.</a:t>
            </a: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en-US" altLang="ko-KR" b="1" dirty="0">
                <a:latin typeface="+mn-ea"/>
              </a:rPr>
              <a:t>Accuracy,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Precision,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Recall,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F1-Score</a:t>
            </a:r>
            <a:r>
              <a:rPr lang="ko-KR" altLang="en-US" b="1" dirty="0">
                <a:latin typeface="+mn-ea"/>
              </a:rPr>
              <a:t>를 </a:t>
            </a:r>
            <a:r>
              <a:rPr lang="ko-KR" altLang="en-US" b="1" dirty="0" err="1">
                <a:latin typeface="+mn-ea"/>
              </a:rPr>
              <a:t>구하시오</a:t>
            </a:r>
            <a:r>
              <a:rPr lang="en-US" altLang="ko-KR" b="1" dirty="0">
                <a:latin typeface="+mn-ea"/>
              </a:rPr>
              <a:t>.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endParaRPr lang="en-US" altLang="ko-KR" dirty="0">
              <a:latin typeface="+mn-ea"/>
            </a:endParaRP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풀이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latin typeface="+mn-ea"/>
              </a:rPr>
              <a:t>     TP =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   FP = </a:t>
            </a: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     FN =</a:t>
            </a:r>
            <a:br>
              <a:rPr lang="en-US" altLang="ko-KR" dirty="0">
                <a:solidFill>
                  <a:srgbClr val="000000"/>
                </a:solidFill>
                <a:latin typeface="+mn-ea"/>
              </a:rPr>
            </a:br>
            <a:r>
              <a:rPr lang="en-US" altLang="ko-KR" dirty="0">
                <a:solidFill>
                  <a:srgbClr val="000000"/>
                </a:solidFill>
                <a:latin typeface="+mn-ea"/>
              </a:rPr>
              <a:t>     TN =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    Accuracy =</a:t>
            </a: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latin typeface="+mn-ea"/>
              </a:rPr>
              <a:t>     Precision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=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   Recall =</a:t>
            </a: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    F1-Score =</a:t>
            </a:r>
          </a:p>
        </p:txBody>
      </p:sp>
    </p:spTree>
    <p:extLst>
      <p:ext uri="{BB962C8B-B14F-4D97-AF65-F5344CB8AC3E}">
        <p14:creationId xmlns:p14="http://schemas.microsoft.com/office/powerpoint/2010/main" val="4290785783"/>
      </p:ext>
    </p:extLst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ko-KR" altLang="en-US" b="1" dirty="0"/>
              <a:t>머신러닝 모델 성능평가 지표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7EDA947-BA2C-F1F2-F6D4-480990C76F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344" y="607260"/>
            <a:ext cx="11449272" cy="56281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•</a:t>
            </a:r>
            <a:r>
              <a:rPr kumimoji="0" lang="en-US" altLang="ko-KR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 </a:t>
            </a:r>
            <a:r>
              <a:rPr kumimoji="0" lang="ko-KR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문제 </a:t>
            </a:r>
            <a:endParaRPr lang="en-US" altLang="ko-KR" dirty="0">
              <a:solidFill>
                <a:srgbClr val="000000"/>
              </a:solidFill>
              <a:latin typeface="+mn-ea"/>
            </a:endParaRPr>
          </a:p>
          <a:p>
            <a:pPr marL="174625" marR="0" lvl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b="1" dirty="0">
                <a:latin typeface="+mn-ea"/>
              </a:rPr>
              <a:t>-  </a:t>
            </a:r>
            <a:r>
              <a:rPr lang="ko-KR" altLang="en-US" b="1" dirty="0">
                <a:latin typeface="+mn-ea"/>
              </a:rPr>
              <a:t>반도체 공장에서 하루 </a:t>
            </a:r>
            <a:r>
              <a:rPr lang="en-US" altLang="ko-KR" b="1" dirty="0">
                <a:latin typeface="+mn-ea"/>
              </a:rPr>
              <a:t>1,000</a:t>
            </a:r>
            <a:r>
              <a:rPr lang="ko-KR" altLang="en-US" b="1" dirty="0">
                <a:latin typeface="+mn-ea"/>
              </a:rPr>
              <a:t>개의 칩을 검사했고</a:t>
            </a:r>
            <a:r>
              <a:rPr lang="en-US" altLang="ko-KR" b="1" dirty="0">
                <a:latin typeface="+mn-ea"/>
              </a:rPr>
              <a:t>, </a:t>
            </a:r>
            <a:r>
              <a:rPr lang="ko-KR" altLang="en-US" b="1" dirty="0">
                <a:latin typeface="+mn-ea"/>
              </a:rPr>
              <a:t>실제 불량 칩은 </a:t>
            </a:r>
            <a:r>
              <a:rPr lang="en-US" altLang="ko-KR" b="1" dirty="0">
                <a:latin typeface="+mn-ea"/>
              </a:rPr>
              <a:t>100</a:t>
            </a:r>
            <a:r>
              <a:rPr lang="ko-KR" altLang="en-US" b="1" dirty="0">
                <a:latin typeface="+mn-ea"/>
              </a:rPr>
              <a:t>개였다</a:t>
            </a:r>
            <a:r>
              <a:rPr lang="en-US" altLang="ko-KR" b="1" dirty="0">
                <a:latin typeface="+mn-ea"/>
              </a:rPr>
              <a:t>. </a:t>
            </a:r>
            <a:br>
              <a:rPr lang="en-US" altLang="ko-KR" b="1" dirty="0">
                <a:latin typeface="+mn-ea"/>
              </a:rPr>
            </a:br>
            <a:r>
              <a:rPr lang="en-US" altLang="ko-KR" b="1" dirty="0">
                <a:latin typeface="+mn-ea"/>
              </a:rPr>
              <a:t>   </a:t>
            </a:r>
            <a:r>
              <a:rPr lang="ko-KR" altLang="en-US" b="1" dirty="0">
                <a:latin typeface="+mn-ea"/>
              </a:rPr>
              <a:t>모델은 </a:t>
            </a:r>
            <a:r>
              <a:rPr lang="en-US" altLang="ko-KR" b="1" dirty="0">
                <a:latin typeface="+mn-ea"/>
              </a:rPr>
              <a:t>105</a:t>
            </a:r>
            <a:r>
              <a:rPr lang="ko-KR" altLang="en-US" b="1" dirty="0">
                <a:latin typeface="+mn-ea"/>
              </a:rPr>
              <a:t>개를 불량이라고 판단했고</a:t>
            </a:r>
            <a:r>
              <a:rPr lang="en-US" altLang="ko-KR" b="1" dirty="0">
                <a:latin typeface="+mn-ea"/>
              </a:rPr>
              <a:t>, </a:t>
            </a:r>
            <a:r>
              <a:rPr lang="ko-KR" altLang="en-US" b="1" dirty="0">
                <a:latin typeface="+mn-ea"/>
              </a:rPr>
              <a:t>그 중 실제 불량은 </a:t>
            </a:r>
            <a:r>
              <a:rPr lang="en-US" altLang="ko-KR" b="1" dirty="0">
                <a:latin typeface="+mn-ea"/>
              </a:rPr>
              <a:t>98</a:t>
            </a:r>
            <a:r>
              <a:rPr lang="ko-KR" altLang="en-US" b="1" dirty="0">
                <a:latin typeface="+mn-ea"/>
              </a:rPr>
              <a:t>개임</a:t>
            </a:r>
            <a:r>
              <a:rPr lang="en-US" altLang="ko-KR" b="1" dirty="0">
                <a:latin typeface="+mn-ea"/>
              </a:rPr>
              <a:t>.</a:t>
            </a: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en-US" altLang="ko-KR" b="1" dirty="0">
                <a:latin typeface="+mn-ea"/>
              </a:rPr>
              <a:t>Accuracy,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Precision,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Recall,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F1-Score</a:t>
            </a:r>
            <a:r>
              <a:rPr lang="ko-KR" altLang="en-US" b="1" dirty="0">
                <a:latin typeface="+mn-ea"/>
              </a:rPr>
              <a:t>를 </a:t>
            </a:r>
            <a:r>
              <a:rPr lang="ko-KR" altLang="en-US" b="1" dirty="0" err="1">
                <a:latin typeface="+mn-ea"/>
              </a:rPr>
              <a:t>구하시오</a:t>
            </a:r>
            <a:r>
              <a:rPr lang="en-US" altLang="ko-KR" b="1" dirty="0">
                <a:latin typeface="+mn-ea"/>
              </a:rPr>
              <a:t>.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endParaRPr lang="en-US" altLang="ko-KR" dirty="0">
              <a:latin typeface="+mn-ea"/>
            </a:endParaRPr>
          </a:p>
          <a:p>
            <a:pPr marL="460375" marR="0" lvl="0" indent="-2857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풀이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latin typeface="+mn-ea"/>
              </a:rPr>
              <a:t>     TP =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   FP = </a:t>
            </a: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ea"/>
              </a:rPr>
              <a:t>     FN =</a:t>
            </a:r>
            <a:br>
              <a:rPr lang="en-US" altLang="ko-KR" dirty="0">
                <a:solidFill>
                  <a:srgbClr val="000000"/>
                </a:solidFill>
                <a:latin typeface="+mn-ea"/>
              </a:rPr>
            </a:br>
            <a:r>
              <a:rPr lang="en-US" altLang="ko-KR" dirty="0">
                <a:solidFill>
                  <a:srgbClr val="000000"/>
                </a:solidFill>
                <a:latin typeface="+mn-ea"/>
              </a:rPr>
              <a:t>     TN =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    Accuracy =</a:t>
            </a: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latin typeface="+mn-ea"/>
              </a:rPr>
              <a:t>     Precision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=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   Recall =</a:t>
            </a:r>
          </a:p>
          <a:p>
            <a:pPr marL="0" marR="0" lvl="0" indent="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    F1-Score =</a:t>
            </a:r>
          </a:p>
        </p:txBody>
      </p:sp>
    </p:spTree>
    <p:extLst>
      <p:ext uri="{BB962C8B-B14F-4D97-AF65-F5344CB8AC3E}">
        <p14:creationId xmlns:p14="http://schemas.microsoft.com/office/powerpoint/2010/main" val="774652197"/>
      </p:ext>
    </p:extLst>
  </p:cSld>
  <p:clrMapOvr>
    <a:masterClrMapping/>
  </p:clrMapOvr>
  <p:transition spd="slow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2425288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 algn="ctr"/>
            <a:r>
              <a:rPr lang="en-US" altLang="ko-KR" sz="3200" b="1" dirty="0"/>
              <a:t>Learning</a:t>
            </a:r>
            <a:r>
              <a:rPr lang="ko-KR" altLang="en-US" sz="3200" b="1" dirty="0"/>
              <a:t> 종류별 대표 알고리즘 살펴보기</a:t>
            </a:r>
          </a:p>
        </p:txBody>
      </p:sp>
    </p:spTree>
    <p:extLst>
      <p:ext uri="{BB962C8B-B14F-4D97-AF65-F5344CB8AC3E}">
        <p14:creationId xmlns:p14="http://schemas.microsoft.com/office/powerpoint/2010/main" val="3187354356"/>
      </p:ext>
    </p:extLst>
  </p:cSld>
  <p:clrMapOvr>
    <a:masterClrMapping/>
  </p:clrMapOvr>
  <p:transition spd="slow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ko-KR" altLang="en-US" b="1" dirty="0"/>
              <a:t>지도 학습</a:t>
            </a:r>
            <a:r>
              <a:rPr lang="en-US" altLang="ko-KR" b="1" dirty="0"/>
              <a:t>(Supervised Learning) </a:t>
            </a:r>
            <a:r>
              <a:rPr lang="ko-KR" altLang="en-US" b="1" dirty="0"/>
              <a:t>대표 알고리즘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AB8911F-F0D8-4E32-9090-6D9DCBCE52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517005"/>
              </p:ext>
            </p:extLst>
          </p:nvPr>
        </p:nvGraphicFramePr>
        <p:xfrm>
          <a:off x="191344" y="764704"/>
          <a:ext cx="11809314" cy="593955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512168">
                  <a:extLst>
                    <a:ext uri="{9D8B030D-6E8A-4147-A177-3AD203B41FA5}">
                      <a16:colId xmlns:a16="http://schemas.microsoft.com/office/drawing/2014/main" val="2292300617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84165494"/>
                    </a:ext>
                  </a:extLst>
                </a:gridCol>
                <a:gridCol w="2376264">
                  <a:extLst>
                    <a:ext uri="{9D8B030D-6E8A-4147-A177-3AD203B41FA5}">
                      <a16:colId xmlns:a16="http://schemas.microsoft.com/office/drawing/2014/main" val="3738789416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118226619"/>
                    </a:ext>
                  </a:extLst>
                </a:gridCol>
                <a:gridCol w="2088232">
                  <a:extLst>
                    <a:ext uri="{9D8B030D-6E8A-4147-A177-3AD203B41FA5}">
                      <a16:colId xmlns:a16="http://schemas.microsoft.com/office/drawing/2014/main" val="167881287"/>
                    </a:ext>
                  </a:extLst>
                </a:gridCol>
                <a:gridCol w="2232250">
                  <a:extLst>
                    <a:ext uri="{9D8B030D-6E8A-4147-A177-3AD203B41FA5}">
                      <a16:colId xmlns:a16="http://schemas.microsoft.com/office/drawing/2014/main" val="3224907054"/>
                    </a:ext>
                  </a:extLst>
                </a:gridCol>
              </a:tblGrid>
              <a:tr h="3600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알고리즘</a:t>
                      </a:r>
                    </a:p>
                  </a:txBody>
                  <a:tcPr marL="32328" marR="32328" marT="16164" marB="16164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주요 목적</a:t>
                      </a:r>
                    </a:p>
                  </a:txBody>
                  <a:tcPr marL="32328" marR="32328" marT="16164" marB="16164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특징</a:t>
                      </a:r>
                    </a:p>
                  </a:txBody>
                  <a:tcPr marL="32328" marR="32328" marT="16164" marB="16164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marL="32328" marR="32328" marT="16164" marB="16164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marL="32328" marR="32328" marT="16164" marB="16164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사용 예시</a:t>
                      </a:r>
                    </a:p>
                  </a:txBody>
                  <a:tcPr marL="32328" marR="32328" marT="16164" marB="16164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9776858"/>
                  </a:ext>
                </a:extLst>
              </a:tr>
              <a:tr h="490811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선형 회귀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Linear Regression)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연속값 예측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회귀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입력과 출력의 선형 관계를 가정하고 직선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평면을 찾음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구현과 이해가 쉬움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계산 빠름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비선형 패턴에 약함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이상치에 민감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집값 예측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공정 온도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습도에 따른 생산량 예측</a:t>
                      </a:r>
                    </a:p>
                  </a:txBody>
                  <a:tcPr marL="32328" marR="32328" marT="16164" marB="16164" anchor="ctr"/>
                </a:tc>
                <a:extLst>
                  <a:ext uri="{0D108BD9-81ED-4DB2-BD59-A6C34878D82A}">
                    <a16:rowId xmlns:a16="http://schemas.microsoft.com/office/drawing/2014/main" val="968512592"/>
                  </a:ext>
                </a:extLst>
              </a:tr>
              <a:tr h="625091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로지스틱 회귀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Logistic Regression)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이진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다중 분류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선형 조합 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+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시그모이드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소프트맥스로 클래스 확률 계산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확률 출력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해석이 쉬움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가중치 의미 설명 가능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복잡한 비선형 경계는 표현 어려움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이메일 스팸 판별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OK/NOK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품질 판정</a:t>
                      </a:r>
                    </a:p>
                  </a:txBody>
                  <a:tcPr marL="32328" marR="32328" marT="16164" marB="16164" anchor="ctr"/>
                </a:tc>
                <a:extLst>
                  <a:ext uri="{0D108BD9-81ED-4DB2-BD59-A6C34878D82A}">
                    <a16:rowId xmlns:a16="http://schemas.microsoft.com/office/drawing/2014/main" val="584683860"/>
                  </a:ext>
                </a:extLst>
              </a:tr>
              <a:tr h="490811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의사결정나무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Decision Tree)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분류 및 회귀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if-else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규칙을 트리 형태로 학습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사람이 이해하기 쉬운 규칙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전처리 요구가 적음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깊게 자라면 과적합 쉽게 발생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제품 불량 원인 규칙 찾기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신용 대출 승인 여부</a:t>
                      </a:r>
                    </a:p>
                  </a:txBody>
                  <a:tcPr marL="32328" marR="32328" marT="16164" marB="16164" anchor="ctr"/>
                </a:tc>
                <a:extLst>
                  <a:ext uri="{0D108BD9-81ED-4DB2-BD59-A6C34878D82A}">
                    <a16:rowId xmlns:a16="http://schemas.microsoft.com/office/drawing/2014/main" val="2568667184"/>
                  </a:ext>
                </a:extLst>
              </a:tr>
              <a:tr h="490811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랜덤 포레스트 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ctr"/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Random Forest)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분류 및 회귀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개의 결정트리를 앙상블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1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배깅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하여 다수결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평균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성능 안정적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과적합 줄어듦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파라미터 튜닝 쉬운 편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모델이 복잡해 해석이 어렵고 느릴 수 있음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품질 예측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이탈 예측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센서 이상 탐지</a:t>
                      </a:r>
                    </a:p>
                  </a:txBody>
                  <a:tcPr marL="32328" marR="32328" marT="16164" marB="16164" anchor="ctr"/>
                </a:tc>
                <a:extLst>
                  <a:ext uri="{0D108BD9-81ED-4DB2-BD59-A6C34878D82A}">
                    <a16:rowId xmlns:a16="http://schemas.microsoft.com/office/drawing/2014/main" val="3088550825"/>
                  </a:ext>
                </a:extLst>
              </a:tr>
              <a:tr h="625091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그라디언트 부스팅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 </a:t>
                      </a:r>
                    </a:p>
                    <a:p>
                      <a:pPr algn="ctr"/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XGBoost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분류 및 회귀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약한 모델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트리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순차적으로 쌓아 오차를 줄이는 방식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높은 예측 성능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사이언스 대회에서 자주 우승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파라미터가 많고 튜닝이 중요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학습 시간 길 수 있음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제조 공정 수율 예측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금융 부도 예측</a:t>
                      </a:r>
                    </a:p>
                  </a:txBody>
                  <a:tcPr marL="32328" marR="32328" marT="16164" marB="16164" anchor="ctr"/>
                </a:tc>
                <a:extLst>
                  <a:ext uri="{0D108BD9-81ED-4DB2-BD59-A6C34878D82A}">
                    <a16:rowId xmlns:a16="http://schemas.microsoft.com/office/drawing/2014/main" val="913633035"/>
                  </a:ext>
                </a:extLst>
              </a:tr>
              <a:tr h="490811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K-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최근접 이웃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KNN)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분류 및 회귀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새로운 데이터 주변의 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 이웃의 레이블을 보고 결정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개념이 직관적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학습 단계가 거의 없음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데이터가 많으면 예측 시 느림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스케일에 민감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이미지 간 유사도 분류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추천 시스템 기초 실습</a:t>
                      </a:r>
                    </a:p>
                  </a:txBody>
                  <a:tcPr marL="32328" marR="32328" marT="16164" marB="16164" anchor="ctr"/>
                </a:tc>
                <a:extLst>
                  <a:ext uri="{0D108BD9-81ED-4DB2-BD59-A6C34878D82A}">
                    <a16:rowId xmlns:a16="http://schemas.microsoft.com/office/drawing/2014/main" val="785863114"/>
                  </a:ext>
                </a:extLst>
              </a:tr>
              <a:tr h="625091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서포트 벡터 머신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(SVM)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분류 및 회귀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마진을 최대로 하는 결정 경계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초평면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학습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커널로 비선형 처리 가능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작은 데이터에서도 강력한 성능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이론적 기반 탄탄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커널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파라미터 선택이 어렵고 대용량 데이터에 느림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문서 분류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얼굴 인식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이상 점 탐지</a:t>
                      </a:r>
                    </a:p>
                  </a:txBody>
                  <a:tcPr marL="32328" marR="32328" marT="16164" marB="16164" anchor="ctr"/>
                </a:tc>
                <a:extLst>
                  <a:ext uri="{0D108BD9-81ED-4DB2-BD59-A6C34878D82A}">
                    <a16:rowId xmlns:a16="http://schemas.microsoft.com/office/drawing/2014/main" val="2266348408"/>
                  </a:ext>
                </a:extLst>
              </a:tr>
              <a:tr h="625091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나이브 베이즈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(Naive Bayes)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분류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특징들이 조건부 독립이라고 가정하고 베이즈 정리 사용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학습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예측 매우 빠름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텍스트처럼 차원 큰 데이터에 유리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독립 가정이 현실과 달라 성능 한계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스팸 필터링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뉴스 기사 카테고리 분류</a:t>
                      </a:r>
                    </a:p>
                  </a:txBody>
                  <a:tcPr marL="32328" marR="32328" marT="16164" marB="16164" anchor="ctr"/>
                </a:tc>
                <a:extLst>
                  <a:ext uri="{0D108BD9-81ED-4DB2-BD59-A6C34878D82A}">
                    <a16:rowId xmlns:a16="http://schemas.microsoft.com/office/drawing/2014/main" val="799124987"/>
                  </a:ext>
                </a:extLst>
              </a:tr>
              <a:tr h="625091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다층 퍼셉트론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(MLP,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신경망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분류 및 회귀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은닉층을 가진 인공신경망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비선형 함수로 복잡한 패턴 학습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비선형 관계 잘 표현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다양한 문제에 적용 가능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구조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하이퍼파라미터가 많고 해석이 어려움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과적합 위험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센서 데이터 이상 예측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손 글씨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</a:t>
                      </a:r>
                    </a:p>
                    <a:p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음성 분류</a:t>
                      </a:r>
                    </a:p>
                  </a:txBody>
                  <a:tcPr marL="32328" marR="32328" marT="16164" marB="16164" anchor="ctr"/>
                </a:tc>
                <a:extLst>
                  <a:ext uri="{0D108BD9-81ED-4DB2-BD59-A6C34878D82A}">
                    <a16:rowId xmlns:a16="http://schemas.microsoft.com/office/drawing/2014/main" val="1865465993"/>
                  </a:ext>
                </a:extLst>
              </a:tr>
              <a:tr h="490811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시계열 모델</a:t>
                      </a:r>
                      <a:endParaRPr lang="en-US" altLang="ko-KR" sz="11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(LSTM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등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RNN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계열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시계열 예측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</a:p>
                    <a:p>
                      <a:pPr algn="ctr"/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순차 데이터 분류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과거 상태를 기억하는 순환 구조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시계열 패턴 학습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시간 의존성이 있는 데이터에 강함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구조가 복잡하고 학습 비용이 큼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이해 난이도 높음</a:t>
                      </a:r>
                    </a:p>
                  </a:txBody>
                  <a:tcPr marL="32328" marR="32328" marT="16164" marB="16164" anchor="ctr"/>
                </a:tc>
                <a:tc>
                  <a:txBody>
                    <a:bodyPr/>
                    <a:lstStyle/>
                    <a:p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온도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진동 시계열 기반 고장 예지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수요 예측</a:t>
                      </a:r>
                    </a:p>
                  </a:txBody>
                  <a:tcPr marL="32328" marR="32328" marT="16164" marB="16164" anchor="ctr"/>
                </a:tc>
                <a:extLst>
                  <a:ext uri="{0D108BD9-81ED-4DB2-BD59-A6C34878D82A}">
                    <a16:rowId xmlns:a16="http://schemas.microsoft.com/office/drawing/2014/main" val="1261318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6667043"/>
      </p:ext>
    </p:extLst>
  </p:cSld>
  <p:clrMapOvr>
    <a:masterClrMapping/>
  </p:clrMapOvr>
  <p:transition spd="slow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ko-KR" altLang="en-US" b="1" dirty="0"/>
              <a:t>비지도 학습</a:t>
            </a:r>
            <a:r>
              <a:rPr lang="en-US" altLang="ko-KR" b="1" dirty="0"/>
              <a:t>(Unsupervised Learning) </a:t>
            </a:r>
            <a:r>
              <a:rPr lang="ko-KR" altLang="en-US" b="1" dirty="0"/>
              <a:t>대표 알고리즘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E53EAD6-F907-4C73-8348-6BFCCAA0BA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7805794"/>
              </p:ext>
            </p:extLst>
          </p:nvPr>
        </p:nvGraphicFramePr>
        <p:xfrm>
          <a:off x="263352" y="692696"/>
          <a:ext cx="11665296" cy="589338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728192">
                  <a:extLst>
                    <a:ext uri="{9D8B030D-6E8A-4147-A177-3AD203B41FA5}">
                      <a16:colId xmlns:a16="http://schemas.microsoft.com/office/drawing/2014/main" val="1022935337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3209020698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67287793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96798847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884649468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365241883"/>
                    </a:ext>
                  </a:extLst>
                </a:gridCol>
              </a:tblGrid>
              <a:tr h="325627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/>
                        <a:t>알고리즘</a:t>
                      </a:r>
                      <a:endParaRPr lang="ko-KR" altLang="en-US" sz="1200" b="1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/>
                        <a:t>주요 목적</a:t>
                      </a:r>
                      <a:endParaRPr lang="ko-KR" altLang="en-US" sz="1200" b="1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/>
                        <a:t>특징</a:t>
                      </a:r>
                      <a:endParaRPr lang="ko-KR" altLang="en-US" sz="1200" b="1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/>
                        <a:t>장점</a:t>
                      </a:r>
                      <a:endParaRPr lang="ko-KR" altLang="en-US" sz="1200" b="1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/>
                        <a:t>단점</a:t>
                      </a:r>
                      <a:endParaRPr lang="ko-KR" altLang="en-US" sz="1200" b="1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/>
                        <a:t>사용 예시</a:t>
                      </a:r>
                      <a:endParaRPr lang="ko-KR" altLang="en-US" sz="1200" b="1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0634423"/>
                  </a:ext>
                </a:extLst>
              </a:tr>
              <a:tr h="44784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K-</a:t>
                      </a:r>
                      <a:r>
                        <a:rPr lang="ko-KR" altLang="en-US" sz="1200" dirty="0"/>
                        <a:t>평균 군집화</a:t>
                      </a:r>
                      <a:endParaRPr lang="en-US" altLang="ko-KR" sz="1200" dirty="0"/>
                    </a:p>
                    <a:p>
                      <a:pPr algn="ctr"/>
                      <a:r>
                        <a:rPr lang="en-US" altLang="ko-KR" sz="1200" dirty="0"/>
                        <a:t>(</a:t>
                      </a:r>
                      <a:r>
                        <a:rPr lang="en-US" sz="1200" dirty="0"/>
                        <a:t>K-means)</a:t>
                      </a:r>
                      <a:endParaRPr 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/>
                        <a:t>군집화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데이터 중심을 </a:t>
                      </a:r>
                      <a:r>
                        <a:rPr lang="en-US" altLang="ko-KR" sz="1200"/>
                        <a:t>K</a:t>
                      </a:r>
                      <a:r>
                        <a:rPr lang="ko-KR" altLang="en-US" sz="1200"/>
                        <a:t>개로 나누어 클러스터 생성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구현 간단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빠르고 대용량 데이터에 적합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/>
                        <a:t>K</a:t>
                      </a:r>
                      <a:r>
                        <a:rPr lang="ko-KR" altLang="en-US" sz="1200"/>
                        <a:t>를 미리 지정해야 하고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구형</a:t>
                      </a:r>
                      <a:r>
                        <a:rPr lang="en-US" altLang="ko-KR" sz="1200"/>
                        <a:t>(</a:t>
                      </a:r>
                      <a:r>
                        <a:rPr lang="ko-KR" altLang="en-US" sz="1200"/>
                        <a:t>球形</a:t>
                      </a:r>
                      <a:r>
                        <a:rPr lang="en-US" altLang="ko-KR" sz="1200"/>
                        <a:t>) </a:t>
                      </a:r>
                      <a:r>
                        <a:rPr lang="ko-KR" altLang="en-US" sz="1200"/>
                        <a:t>클러스터에 적합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고객 유형 분류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공정 상태</a:t>
                      </a:r>
                      <a:r>
                        <a:rPr lang="en-US" altLang="ko-KR" sz="1200"/>
                        <a:t>(</a:t>
                      </a:r>
                      <a:r>
                        <a:rPr lang="ko-KR" altLang="en-US" sz="1200"/>
                        <a:t>정상</a:t>
                      </a:r>
                      <a:r>
                        <a:rPr lang="en-US" altLang="ko-KR" sz="1200"/>
                        <a:t>/</a:t>
                      </a:r>
                      <a:r>
                        <a:rPr lang="ko-KR" altLang="en-US" sz="1200"/>
                        <a:t>비정상 패턴</a:t>
                      </a:r>
                      <a:r>
                        <a:rPr lang="en-US" altLang="ko-KR" sz="1200"/>
                        <a:t>) </a:t>
                      </a:r>
                      <a:r>
                        <a:rPr lang="ko-KR" altLang="en-US" sz="1200"/>
                        <a:t>군집화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extLst>
                  <a:ext uri="{0D108BD9-81ED-4DB2-BD59-A6C34878D82A}">
                    <a16:rowId xmlns:a16="http://schemas.microsoft.com/office/drawing/2014/main" val="4160004616"/>
                  </a:ext>
                </a:extLst>
              </a:tr>
              <a:tr h="447841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/>
                        <a:t>계층적 군집화 </a:t>
                      </a:r>
                      <a:endParaRPr lang="en-US" altLang="ko-KR" sz="1200" dirty="0"/>
                    </a:p>
                    <a:p>
                      <a:pPr algn="ctr"/>
                      <a:r>
                        <a:rPr lang="en-US" altLang="ko-KR" sz="1200" dirty="0"/>
                        <a:t>(</a:t>
                      </a:r>
                      <a:r>
                        <a:rPr lang="en-US" sz="1200" dirty="0"/>
                        <a:t>Hierarchical Clustering)</a:t>
                      </a:r>
                      <a:endParaRPr 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/>
                        <a:t>군집화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데이터 간 거리를 기반으로 트리</a:t>
                      </a:r>
                      <a:r>
                        <a:rPr lang="en-US" altLang="ko-KR" sz="1200"/>
                        <a:t>(</a:t>
                      </a:r>
                      <a:r>
                        <a:rPr lang="ko-KR" altLang="en-US" sz="1200"/>
                        <a:t>덴드로그램</a:t>
                      </a:r>
                      <a:r>
                        <a:rPr lang="en-US" altLang="ko-KR" sz="1200"/>
                        <a:t>) </a:t>
                      </a:r>
                      <a:r>
                        <a:rPr lang="ko-KR" altLang="en-US" sz="1200"/>
                        <a:t>구조 생성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군집 수를 사후에 고를 수 있음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구조 해석이 쉬움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데이터가 많으면 계산량 급증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유전자 발현 패턴 분석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소규모 고객 세그먼트 분석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extLst>
                  <a:ext uri="{0D108BD9-81ED-4DB2-BD59-A6C34878D82A}">
                    <a16:rowId xmlns:a16="http://schemas.microsoft.com/office/drawing/2014/main" val="1463341073"/>
                  </a:ext>
                </a:extLst>
              </a:tr>
              <a:tr h="549444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DBSCAN</a:t>
                      </a:r>
                      <a:endParaRPr 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/>
                        <a:t>군집화 </a:t>
                      </a:r>
                      <a:r>
                        <a:rPr lang="en-US" altLang="ko-KR" sz="1200" dirty="0"/>
                        <a:t>,</a:t>
                      </a:r>
                    </a:p>
                    <a:p>
                      <a:pPr algn="ctr"/>
                      <a:r>
                        <a:rPr lang="ko-KR" altLang="en-US" sz="1200" dirty="0"/>
                        <a:t>이상치 탐지</a:t>
                      </a:r>
                      <a:endParaRPr lang="ko-KR" alt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 dirty="0"/>
                        <a:t>밀도가 높은 영역을 군집으로 보고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밀도 낮은 점은 노이즈 처리</a:t>
                      </a:r>
                      <a:endParaRPr lang="ko-KR" alt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클러스터 개수 자동 결정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임의 모양의 군집도 가능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파라미터</a:t>
                      </a:r>
                      <a:r>
                        <a:rPr lang="en-US" altLang="ko-KR" sz="1200"/>
                        <a:t>(eps, min_samples) </a:t>
                      </a:r>
                      <a:r>
                        <a:rPr lang="ko-KR" altLang="en-US" sz="1200"/>
                        <a:t>선택이 민감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센서 데이터의 군집 </a:t>
                      </a:r>
                      <a:r>
                        <a:rPr lang="en-US" altLang="ko-KR" sz="1200"/>
                        <a:t>+ </a:t>
                      </a:r>
                      <a:r>
                        <a:rPr lang="ko-KR" altLang="en-US" sz="1200"/>
                        <a:t>이상치 탐지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교통 패턴 분석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extLst>
                  <a:ext uri="{0D108BD9-81ED-4DB2-BD59-A6C34878D82A}">
                    <a16:rowId xmlns:a16="http://schemas.microsoft.com/office/drawing/2014/main" val="2729296736"/>
                  </a:ext>
                </a:extLst>
              </a:tr>
              <a:tr h="654591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 err="1"/>
                        <a:t>가우시안</a:t>
                      </a:r>
                      <a:r>
                        <a:rPr lang="ko-KR" altLang="en-US" sz="1200" dirty="0"/>
                        <a:t> 혼합 모델</a:t>
                      </a:r>
                      <a:endParaRPr lang="en-US" altLang="ko-KR" sz="1200" dirty="0"/>
                    </a:p>
                    <a:p>
                      <a:pPr algn="ctr"/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(GMM)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/>
                        <a:t>군집화</a:t>
                      </a:r>
                      <a:r>
                        <a:rPr lang="en-US" altLang="ko-KR" sz="1200" dirty="0"/>
                        <a:t>, </a:t>
                      </a:r>
                    </a:p>
                    <a:p>
                      <a:pPr algn="ctr"/>
                      <a:r>
                        <a:rPr lang="ko-KR" altLang="en-US" sz="1200" dirty="0"/>
                        <a:t>밀도 추정</a:t>
                      </a:r>
                      <a:endParaRPr lang="ko-KR" alt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여러 개의 가우시안 분포를 섞어 데이터 분포를 모델링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확률 기반이라 소프트 클러스터링 가능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초기값</a:t>
                      </a:r>
                      <a:r>
                        <a:rPr lang="en-US" altLang="ko-KR" sz="1200"/>
                        <a:t>·</a:t>
                      </a:r>
                      <a:r>
                        <a:rPr lang="ko-KR" altLang="en-US" sz="1200"/>
                        <a:t>컴포넌트 수에 민감</a:t>
                      </a:r>
                      <a:r>
                        <a:rPr lang="en-US" altLang="ko-KR" sz="1200"/>
                        <a:t>, EM </a:t>
                      </a:r>
                      <a:r>
                        <a:rPr lang="ko-KR" altLang="en-US" sz="1200"/>
                        <a:t>알고리즘이 지역해에 빠질 수 있음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고객 군집화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음성 신호 모델링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이상치 점수 계산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extLst>
                  <a:ext uri="{0D108BD9-81ED-4DB2-BD59-A6C34878D82A}">
                    <a16:rowId xmlns:a16="http://schemas.microsoft.com/office/drawing/2014/main" val="3827163393"/>
                  </a:ext>
                </a:extLst>
              </a:tr>
              <a:tr h="54944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/>
                        <a:t>주성분 분석</a:t>
                      </a:r>
                      <a:endParaRPr lang="en-US" altLang="ko-KR" sz="1200" dirty="0"/>
                    </a:p>
                    <a:p>
                      <a:pPr algn="ctr"/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sz="1200" dirty="0"/>
                        <a:t>PCA)</a:t>
                      </a:r>
                      <a:endParaRPr 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/>
                        <a:t>차원 축소</a:t>
                      </a:r>
                      <a:r>
                        <a:rPr lang="en-US" altLang="ko-KR" sz="1200" dirty="0"/>
                        <a:t>, </a:t>
                      </a:r>
                    </a:p>
                    <a:p>
                      <a:pPr algn="ctr"/>
                      <a:r>
                        <a:rPr lang="ko-KR" altLang="en-US" sz="1200" dirty="0"/>
                        <a:t>시각화</a:t>
                      </a:r>
                      <a:endParaRPr lang="ko-KR" alt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 dirty="0"/>
                        <a:t>분산이 큰 방향의 축을 찾아 고차원 데이터를 저차원으로 투영</a:t>
                      </a:r>
                      <a:endParaRPr lang="ko-KR" alt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노이즈 제거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시각화</a:t>
                      </a:r>
                      <a:r>
                        <a:rPr lang="en-US" altLang="ko-KR" sz="1200"/>
                        <a:t>(2D/3D) </a:t>
                      </a:r>
                      <a:r>
                        <a:rPr lang="ko-KR" altLang="en-US" sz="1200"/>
                        <a:t>용이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계산 효율적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선형 변환만 가능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해석이 직관적이지 않을 수 있음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고차원 센서 데이터 차원 축소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특징 추출 전처리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extLst>
                  <a:ext uri="{0D108BD9-81ED-4DB2-BD59-A6C34878D82A}">
                    <a16:rowId xmlns:a16="http://schemas.microsoft.com/office/drawing/2014/main" val="3142226858"/>
                  </a:ext>
                </a:extLst>
              </a:tr>
              <a:tr h="654591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t-SNE</a:t>
                      </a:r>
                      <a:endParaRPr 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/>
                        <a:t>고차원 데이터 시각화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데이터의 국소 구조를 보존하면서 </a:t>
                      </a:r>
                      <a:r>
                        <a:rPr lang="en-US" altLang="ko-KR" sz="1200"/>
                        <a:t>2D/3D</a:t>
                      </a:r>
                      <a:r>
                        <a:rPr lang="ko-KR" altLang="en-US" sz="1200"/>
                        <a:t>로 시각화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 dirty="0"/>
                        <a:t>군집 구조를 눈으로 쉽게 확인 가능</a:t>
                      </a:r>
                      <a:endParaRPr lang="ko-KR" alt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계산량이 크고 하이퍼파라미터에 민감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실제 모델로 사용은 어려움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이미지</a:t>
                      </a:r>
                      <a:r>
                        <a:rPr lang="en-US" altLang="ko-KR" sz="1200"/>
                        <a:t>/</a:t>
                      </a:r>
                      <a:r>
                        <a:rPr lang="ko-KR" altLang="en-US" sz="1200"/>
                        <a:t>텍스트 임베딩 시각화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특성 공간 탐색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extLst>
                  <a:ext uri="{0D108BD9-81ED-4DB2-BD59-A6C34878D82A}">
                    <a16:rowId xmlns:a16="http://schemas.microsoft.com/office/drawing/2014/main" val="1391768759"/>
                  </a:ext>
                </a:extLst>
              </a:tr>
              <a:tr h="654591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 err="1"/>
                        <a:t>오토인코더</a:t>
                      </a:r>
                      <a:endParaRPr lang="en-US" altLang="ko-KR" sz="1200" dirty="0"/>
                    </a:p>
                    <a:p>
                      <a:pPr algn="ctr"/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sz="1200" dirty="0"/>
                        <a:t>Autoencoder)</a:t>
                      </a:r>
                      <a:endParaRPr 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/>
                        <a:t>차원 축소</a:t>
                      </a:r>
                      <a:r>
                        <a:rPr lang="en-US" altLang="ko-KR" sz="1200" dirty="0"/>
                        <a:t>,</a:t>
                      </a:r>
                    </a:p>
                    <a:p>
                      <a:pPr algn="ctr"/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이상치 탐지</a:t>
                      </a:r>
                      <a:endParaRPr lang="ko-KR" alt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 dirty="0"/>
                        <a:t>입력을 압축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인코더</a:t>
                      </a:r>
                      <a:r>
                        <a:rPr lang="en-US" altLang="ko-KR" sz="1200" dirty="0"/>
                        <a:t>)</a:t>
                      </a:r>
                      <a:r>
                        <a:rPr lang="ko-KR" altLang="en-US" sz="1200" dirty="0"/>
                        <a:t>했다가 복원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 err="1"/>
                        <a:t>디코더</a:t>
                      </a:r>
                      <a:r>
                        <a:rPr lang="en-US" altLang="ko-KR" sz="1200" dirty="0"/>
                        <a:t>)</a:t>
                      </a:r>
                      <a:r>
                        <a:rPr lang="ko-KR" altLang="en-US" sz="1200" dirty="0"/>
                        <a:t>하는 신경망</a:t>
                      </a:r>
                      <a:endParaRPr lang="ko-KR" alt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비선형 차원 축소 가능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재구성 오차로 이상치 탐지 가능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 dirty="0"/>
                        <a:t>학습 난이도 높고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구조 설계가 필요</a:t>
                      </a:r>
                      <a:endParaRPr lang="ko-KR" alt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설비 센서 이상 탐지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이미지 노이즈 제거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extLst>
                  <a:ext uri="{0D108BD9-81ED-4DB2-BD59-A6C34878D82A}">
                    <a16:rowId xmlns:a16="http://schemas.microsoft.com/office/drawing/2014/main" val="1558235800"/>
                  </a:ext>
                </a:extLst>
              </a:tr>
              <a:tr h="447841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 err="1"/>
                        <a:t>자기조직화지도</a:t>
                      </a:r>
                      <a:r>
                        <a:rPr lang="ko-KR" altLang="en-US" sz="1200" dirty="0"/>
                        <a:t> </a:t>
                      </a:r>
                      <a:endParaRPr lang="en-US" altLang="ko-KR" sz="1200" dirty="0"/>
                    </a:p>
                    <a:p>
                      <a:pPr algn="ctr"/>
                      <a:r>
                        <a:rPr lang="en-US" altLang="ko-KR" sz="1200" dirty="0"/>
                        <a:t>(SOM)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/>
                        <a:t>군집화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시각화</a:t>
                      </a:r>
                      <a:endParaRPr lang="ko-KR" alt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격자 위에 뉴런을 배치하고 경쟁 학습으로 데이터 사상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/>
                        <a:t>2D </a:t>
                      </a:r>
                      <a:r>
                        <a:rPr lang="ko-KR" altLang="en-US" sz="1200"/>
                        <a:t>격자로 군집 구조를 직관적으로 표현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 dirty="0"/>
                        <a:t>파라미터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학습률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이웃 크기</a:t>
                      </a:r>
                      <a:r>
                        <a:rPr lang="en-US" altLang="ko-KR" sz="1200" dirty="0"/>
                        <a:t>) </a:t>
                      </a:r>
                      <a:r>
                        <a:rPr lang="ko-KR" altLang="en-US" sz="1200" dirty="0"/>
                        <a:t>설정 필요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현대엔 덜 사용</a:t>
                      </a:r>
                      <a:endParaRPr lang="ko-KR" alt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고객 세분화 시각화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공정 상태 맵핑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extLst>
                  <a:ext uri="{0D108BD9-81ED-4DB2-BD59-A6C34878D82A}">
                    <a16:rowId xmlns:a16="http://schemas.microsoft.com/office/drawing/2014/main" val="2966033523"/>
                  </a:ext>
                </a:extLst>
              </a:tr>
              <a:tr h="447841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/>
                        <a:t>연관 규칙 학습</a:t>
                      </a:r>
                      <a:endParaRPr lang="en-US" altLang="ko-KR" sz="1200" dirty="0"/>
                    </a:p>
                    <a:p>
                      <a:pPr algn="ctr"/>
                      <a:r>
                        <a:rPr lang="ko-KR" altLang="en-US" sz="1200" dirty="0"/>
                        <a:t>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sz="1200" dirty="0" err="1"/>
                        <a:t>Apriori</a:t>
                      </a:r>
                      <a:r>
                        <a:rPr lang="en-US" sz="1200" dirty="0"/>
                        <a:t>, FP-Growth)</a:t>
                      </a:r>
                      <a:endParaRPr 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/>
                        <a:t>항목 간 관계 규칙 찾기</a:t>
                      </a:r>
                      <a:endParaRPr lang="ko-KR" alt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“</a:t>
                      </a:r>
                      <a:r>
                        <a:rPr lang="en-US" altLang="ko-KR" sz="1200"/>
                        <a:t>A</a:t>
                      </a:r>
                      <a:r>
                        <a:rPr lang="ko-KR" altLang="en-US" sz="1200"/>
                        <a:t>와 </a:t>
                      </a:r>
                      <a:r>
                        <a:rPr lang="en-US" altLang="ko-KR" sz="1200"/>
                        <a:t>B</a:t>
                      </a:r>
                      <a:r>
                        <a:rPr lang="ko-KR" altLang="en-US" sz="1200"/>
                        <a:t>를 같이 사면 </a:t>
                      </a:r>
                      <a:r>
                        <a:rPr lang="en-US" altLang="ko-KR" sz="1200"/>
                        <a:t>C</a:t>
                      </a:r>
                      <a:r>
                        <a:rPr lang="ko-KR" altLang="en-US" sz="1200"/>
                        <a:t>도 살 확률이 높다” 식의 규칙 도출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해석이 매우 직관적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마케팅</a:t>
                      </a:r>
                      <a:r>
                        <a:rPr lang="en-US" altLang="ko-KR" sz="1200"/>
                        <a:t>/</a:t>
                      </a:r>
                      <a:r>
                        <a:rPr lang="ko-KR" altLang="en-US" sz="1200"/>
                        <a:t>추천에 유용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후보 규칙 수가 폭발적으로 많아질 수 있음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 dirty="0"/>
                        <a:t>장바구니 분석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공정 이상 패턴 조합 찾기</a:t>
                      </a:r>
                      <a:endParaRPr lang="ko-KR" alt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extLst>
                  <a:ext uri="{0D108BD9-81ED-4DB2-BD59-A6C34878D82A}">
                    <a16:rowId xmlns:a16="http://schemas.microsoft.com/office/drawing/2014/main" val="3682651347"/>
                  </a:ext>
                </a:extLst>
              </a:tr>
              <a:tr h="65459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Isolation Forest </a:t>
                      </a:r>
                    </a:p>
                    <a:p>
                      <a:pPr algn="ctr"/>
                      <a:r>
                        <a:rPr lang="en-US" sz="1200" dirty="0"/>
                        <a:t>(</a:t>
                      </a:r>
                      <a:r>
                        <a:rPr lang="ko-KR" altLang="en-US" sz="1200" dirty="0"/>
                        <a:t>고립 숲</a:t>
                      </a:r>
                      <a:r>
                        <a:rPr lang="en-US" altLang="ko-KR" sz="1200" dirty="0"/>
                        <a:t>)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/>
                        <a:t>이상치 탐지</a:t>
                      </a:r>
                      <a:endParaRPr lang="ko-KR" alt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데이터 포인트를 무작위 분할 트리로 “고립”시키는 방식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고차원 데이터에서도 잘 작동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이상치 탐지 특화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/>
                        <a:t>내부 구조 해석이 어렵고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파라미터</a:t>
                      </a:r>
                      <a:r>
                        <a:rPr lang="en-US" altLang="ko-KR" sz="1200"/>
                        <a:t>(trees, subsample) </a:t>
                      </a:r>
                      <a:r>
                        <a:rPr lang="ko-KR" altLang="en-US" sz="1200"/>
                        <a:t>튜닝 필요</a:t>
                      </a:r>
                      <a:endParaRPr lang="ko-KR" altLang="en-US" sz="120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 dirty="0"/>
                        <a:t>온</a:t>
                      </a:r>
                      <a:r>
                        <a:rPr lang="en-US" altLang="ko-KR" sz="1200" dirty="0"/>
                        <a:t>·</a:t>
                      </a:r>
                      <a:r>
                        <a:rPr lang="ko-KR" altLang="en-US" sz="1200" dirty="0"/>
                        <a:t>습도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진동 시계열에서 이상 상태 검출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보안 이상 트래픽 탐지</a:t>
                      </a:r>
                      <a:endParaRPr lang="ko-KR" altLang="en-US" sz="1200" dirty="0">
                        <a:latin typeface="+mn-ea"/>
                        <a:ea typeface="+mn-ea"/>
                      </a:endParaRPr>
                    </a:p>
                  </a:txBody>
                  <a:tcPr marL="30376" marR="30376" marT="15188" marB="15188" anchor="ctr"/>
                </a:tc>
                <a:extLst>
                  <a:ext uri="{0D108BD9-81ED-4DB2-BD59-A6C34878D82A}">
                    <a16:rowId xmlns:a16="http://schemas.microsoft.com/office/drawing/2014/main" val="14784503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3064599"/>
      </p:ext>
    </p:extLst>
  </p:cSld>
  <p:clrMapOvr>
    <a:masterClrMapping/>
  </p:clrMapOvr>
  <p:transition spd="slow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0" y="-4400"/>
            <a:ext cx="12192000" cy="64457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36575" indent="-357188">
              <a:buFont typeface="Wingdings" panose="05000000000000000000" pitchFamily="2" charset="2"/>
              <a:buChar char="§"/>
            </a:pPr>
            <a:r>
              <a:rPr lang="ko-KR" altLang="en-US" b="1" dirty="0"/>
              <a:t>이진 분류에 자주 사용하는 알고리즘 비교표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2532541-C0BB-44DD-8FBA-9A6B59AEB0A4}"/>
              </a:ext>
            </a:extLst>
          </p:cNvPr>
          <p:cNvGraphicFramePr>
            <a:graphicFrameLocks noGrp="1"/>
          </p:cNvGraphicFramePr>
          <p:nvPr/>
        </p:nvGraphicFramePr>
        <p:xfrm>
          <a:off x="479376" y="836712"/>
          <a:ext cx="11017225" cy="5400599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16224">
                  <a:extLst>
                    <a:ext uri="{9D8B030D-6E8A-4147-A177-3AD203B41FA5}">
                      <a16:colId xmlns:a16="http://schemas.microsoft.com/office/drawing/2014/main" val="3699414337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4178929534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504283037"/>
                    </a:ext>
                  </a:extLst>
                </a:gridCol>
                <a:gridCol w="2621092">
                  <a:extLst>
                    <a:ext uri="{9D8B030D-6E8A-4147-A177-3AD203B41FA5}">
                      <a16:colId xmlns:a16="http://schemas.microsoft.com/office/drawing/2014/main" val="1488945901"/>
                    </a:ext>
                  </a:extLst>
                </a:gridCol>
                <a:gridCol w="2203445">
                  <a:extLst>
                    <a:ext uri="{9D8B030D-6E8A-4147-A177-3AD203B41FA5}">
                      <a16:colId xmlns:a16="http://schemas.microsoft.com/office/drawing/2014/main" val="4103488510"/>
                    </a:ext>
                  </a:extLst>
                </a:gridCol>
              </a:tblGrid>
              <a:tr h="367031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알고리즘</a:t>
                      </a:r>
                    </a:p>
                  </a:txBody>
                  <a:tcPr marL="43941" marR="43941" marT="21971" marB="21971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타입</a:t>
                      </a:r>
                    </a:p>
                  </a:txBody>
                  <a:tcPr marL="43941" marR="43941" marT="21971" marB="21971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개념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특징</a:t>
                      </a:r>
                    </a:p>
                  </a:txBody>
                  <a:tcPr marL="43941" marR="43941" marT="21971" marB="21971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장점</a:t>
                      </a:r>
                    </a:p>
                  </a:txBody>
                  <a:tcPr marL="43941" marR="43941" marT="21971" marB="21971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단점</a:t>
                      </a:r>
                    </a:p>
                  </a:txBody>
                  <a:tcPr marL="43941" marR="43941" marT="21971" marB="21971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2655954"/>
                  </a:ext>
                </a:extLst>
              </a:tr>
              <a:tr h="838928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+mn-ea"/>
                          <a:ea typeface="+mn-ea"/>
                        </a:rPr>
                        <a:t>Logistic Regression</a:t>
                      </a:r>
                      <a:endParaRPr lang="en-US" sz="1200" dirty="0">
                        <a:latin typeface="+mn-ea"/>
                        <a:ea typeface="+mn-ea"/>
                      </a:endParaRP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>
                          <a:latin typeface="+mn-ea"/>
                          <a:ea typeface="+mn-ea"/>
                        </a:rPr>
                        <a:t>선형 모델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>
                          <a:latin typeface="+mn-ea"/>
                          <a:ea typeface="+mn-ea"/>
                        </a:rPr>
                        <a:t>직선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또는 평면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으로 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OK/NOK 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경계선을 찾고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시그모이드 함수로 확률 출력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>
                          <a:latin typeface="+mn-ea"/>
                          <a:ea typeface="+mn-ea"/>
                        </a:rPr>
                        <a:t>구현 간단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속도 빠름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수식이 비교적 이해 쉬움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과적합 위험 적음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>
                          <a:latin typeface="+mn-ea"/>
                          <a:ea typeface="+mn-ea"/>
                        </a:rPr>
                        <a:t>데이터가 비선형 구조일 때 성능 떨어짐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특징 스케일링 필요</a:t>
                      </a:r>
                    </a:p>
                  </a:txBody>
                  <a:tcPr marL="43941" marR="43941" marT="21971" marB="21971" anchor="ctr"/>
                </a:tc>
                <a:extLst>
                  <a:ext uri="{0D108BD9-81ED-4DB2-BD59-A6C34878D82A}">
                    <a16:rowId xmlns:a16="http://schemas.microsoft.com/office/drawing/2014/main" val="1489687538"/>
                  </a:ext>
                </a:extLst>
              </a:tr>
              <a:tr h="996227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+mn-ea"/>
                          <a:ea typeface="+mn-ea"/>
                        </a:rPr>
                        <a:t>Decision Tree</a:t>
                      </a:r>
                      <a:endParaRPr lang="en-US" sz="1200" dirty="0">
                        <a:latin typeface="+mn-ea"/>
                        <a:ea typeface="+mn-ea"/>
                      </a:endParaRP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트리 기반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>
                          <a:latin typeface="+mn-ea"/>
                          <a:ea typeface="+mn-ea"/>
                        </a:rPr>
                        <a:t>“습도 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&gt; 85?” “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온도 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&lt; 20?” 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같은 질문을 분기하면서 나무 구조로 나눔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>
                          <a:latin typeface="+mn-ea"/>
                          <a:ea typeface="+mn-ea"/>
                        </a:rPr>
                        <a:t>사람이 이해하기 쉬움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규칙이 눈에 보임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), 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스케일링 불필요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범주형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연속형 모두 처리 쉽다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>
                          <a:latin typeface="+mn-ea"/>
                          <a:ea typeface="+mn-ea"/>
                        </a:rPr>
                        <a:t>깊게 자라면 과적합 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risk, 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작은 데이터에 민감</a:t>
                      </a:r>
                    </a:p>
                  </a:txBody>
                  <a:tcPr marL="43941" marR="43941" marT="21971" marB="21971" anchor="ctr"/>
                </a:tc>
                <a:extLst>
                  <a:ext uri="{0D108BD9-81ED-4DB2-BD59-A6C34878D82A}">
                    <a16:rowId xmlns:a16="http://schemas.microsoft.com/office/drawing/2014/main" val="2261934542"/>
                  </a:ext>
                </a:extLst>
              </a:tr>
              <a:tr h="838928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+mn-ea"/>
                          <a:ea typeface="+mn-ea"/>
                        </a:rPr>
                        <a:t>Random Forest</a:t>
                      </a:r>
                      <a:endParaRPr lang="en-US" sz="1200" dirty="0">
                        <a:latin typeface="+mn-ea"/>
                        <a:ea typeface="+mn-ea"/>
                      </a:endParaRP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앙상블 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algn="ctr"/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트리 여러 개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여러 개의 의사결정나무를 만들어 다수결로 결정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>
                          <a:latin typeface="+mn-ea"/>
                          <a:ea typeface="+mn-ea"/>
                        </a:rPr>
                        <a:t>성능이 안정적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과적합 줄어듦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파라미터에 상대적으로 덜 민감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>
                          <a:latin typeface="+mn-ea"/>
                          <a:ea typeface="+mn-ea"/>
                        </a:rPr>
                        <a:t>내부 구조 해석이 어려움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트리 여러 개라 속도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메모리 증가</a:t>
                      </a:r>
                    </a:p>
                  </a:txBody>
                  <a:tcPr marL="43941" marR="43941" marT="21971" marB="21971" anchor="ctr"/>
                </a:tc>
                <a:extLst>
                  <a:ext uri="{0D108BD9-81ED-4DB2-BD59-A6C34878D82A}">
                    <a16:rowId xmlns:a16="http://schemas.microsoft.com/office/drawing/2014/main" val="2363139040"/>
                  </a:ext>
                </a:extLst>
              </a:tr>
              <a:tr h="838928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+mn-ea"/>
                          <a:ea typeface="+mn-ea"/>
                        </a:rPr>
                        <a:t>K-Nearest Neighbors </a:t>
                      </a:r>
                    </a:p>
                    <a:p>
                      <a:pPr algn="ctr"/>
                      <a:r>
                        <a:rPr lang="en-US" sz="1200" b="1" dirty="0">
                          <a:latin typeface="+mn-ea"/>
                          <a:ea typeface="+mn-ea"/>
                        </a:rPr>
                        <a:t>(KNN)</a:t>
                      </a:r>
                      <a:endParaRPr lang="en-US" sz="1200" dirty="0">
                        <a:latin typeface="+mn-ea"/>
                        <a:ea typeface="+mn-ea"/>
                      </a:endParaRP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거리 기반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>
                          <a:latin typeface="+mn-ea"/>
                          <a:ea typeface="+mn-ea"/>
                        </a:rPr>
                        <a:t>새로운 점과 가장 가까운 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K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개의 이웃을 보고 다수 클래스 선택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>
                          <a:latin typeface="+mn-ea"/>
                          <a:ea typeface="+mn-ea"/>
                        </a:rPr>
                        <a:t>구현이 직관적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학습 단계 거의 없음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, 2D 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시각화 설명이 좋음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데이터가 많으면 느림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스케일링 필요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, K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선택에 성능 민감</a:t>
                      </a:r>
                    </a:p>
                  </a:txBody>
                  <a:tcPr marL="43941" marR="43941" marT="21971" marB="21971" anchor="ctr"/>
                </a:tc>
                <a:extLst>
                  <a:ext uri="{0D108BD9-81ED-4DB2-BD59-A6C34878D82A}">
                    <a16:rowId xmlns:a16="http://schemas.microsoft.com/office/drawing/2014/main" val="826906216"/>
                  </a:ext>
                </a:extLst>
              </a:tr>
              <a:tr h="838928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+mn-ea"/>
                          <a:ea typeface="+mn-ea"/>
                        </a:rPr>
                        <a:t>SVM </a:t>
                      </a:r>
                    </a:p>
                    <a:p>
                      <a:pPr algn="ctr"/>
                      <a:r>
                        <a:rPr lang="en-US" sz="1200" b="1" dirty="0">
                          <a:latin typeface="+mn-ea"/>
                          <a:ea typeface="+mn-ea"/>
                        </a:rPr>
                        <a:t>(Support Vector Machine)</a:t>
                      </a:r>
                      <a:endParaRPr lang="en-US" sz="1200" dirty="0">
                        <a:latin typeface="+mn-ea"/>
                        <a:ea typeface="+mn-ea"/>
                      </a:endParaRP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마진 최대화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>
                          <a:latin typeface="+mn-ea"/>
                          <a:ea typeface="+mn-ea"/>
                        </a:rPr>
                        <a:t>두 클래스 사이의 마진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여유 공간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을 최대화 하는 결정 경계 찾기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>
                          <a:latin typeface="+mn-ea"/>
                          <a:ea typeface="+mn-ea"/>
                        </a:rPr>
                        <a:t>작은 데이터에서도 강력</a:t>
                      </a:r>
                      <a:r>
                        <a:rPr lang="en-US" altLang="ko-KR" sz="12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200">
                          <a:latin typeface="+mn-ea"/>
                          <a:ea typeface="+mn-ea"/>
                        </a:rPr>
                        <a:t>커널 사용 시 비선형 문제도 해결 가능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수학 개념이 다소 어렵고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파라미터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(C, γ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등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튜닝 필요</a:t>
                      </a:r>
                    </a:p>
                  </a:txBody>
                  <a:tcPr marL="43941" marR="43941" marT="21971" marB="21971" anchor="ctr"/>
                </a:tc>
                <a:extLst>
                  <a:ext uri="{0D108BD9-81ED-4DB2-BD59-A6C34878D82A}">
                    <a16:rowId xmlns:a16="http://schemas.microsoft.com/office/drawing/2014/main" val="1560727818"/>
                  </a:ext>
                </a:extLst>
              </a:tr>
              <a:tr h="681629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latin typeface="+mn-ea"/>
                          <a:ea typeface="+mn-ea"/>
                        </a:rPr>
                        <a:t>MLP</a:t>
                      </a:r>
                    </a:p>
                    <a:p>
                      <a:pPr algn="ctr"/>
                      <a:r>
                        <a:rPr lang="en-US" altLang="ko-KR" sz="1200" b="1" dirty="0">
                          <a:latin typeface="+mn-ea"/>
                          <a:ea typeface="+mn-ea"/>
                        </a:rPr>
                        <a:t> (</a:t>
                      </a:r>
                      <a:r>
                        <a:rPr lang="ko-KR" altLang="en-US" sz="1200" b="1" dirty="0">
                          <a:latin typeface="+mn-ea"/>
                          <a:ea typeface="+mn-ea"/>
                        </a:rPr>
                        <a:t>간단 인공신경망</a:t>
                      </a:r>
                      <a:r>
                        <a:rPr lang="en-US" altLang="ko-KR" sz="12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1200" dirty="0">
                        <a:latin typeface="+mn-ea"/>
                        <a:ea typeface="+mn-ea"/>
                      </a:endParaRP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신경망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>
                          <a:latin typeface="+mn-ea"/>
                          <a:ea typeface="+mn-ea"/>
                        </a:rPr>
                        <a:t>여러 층의 노드를 통해 비선형 패턴 학습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복잡한 패턴도 표현 가능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확장성이 좋음</a:t>
                      </a:r>
                    </a:p>
                  </a:txBody>
                  <a:tcPr marL="43941" marR="43941" marT="21971" marB="21971" anchor="ctr"/>
                </a:tc>
                <a:tc>
                  <a:txBody>
                    <a:bodyPr/>
                    <a:lstStyle/>
                    <a:p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구조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200" dirty="0" err="1">
                          <a:latin typeface="+mn-ea"/>
                          <a:ea typeface="+mn-ea"/>
                        </a:rPr>
                        <a:t>하이퍼파라미터가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 많고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직관적 해석이 어려움</a:t>
                      </a:r>
                    </a:p>
                  </a:txBody>
                  <a:tcPr marL="43941" marR="43941" marT="21971" marB="21971" anchor="ctr"/>
                </a:tc>
                <a:extLst>
                  <a:ext uri="{0D108BD9-81ED-4DB2-BD59-A6C34878D82A}">
                    <a16:rowId xmlns:a16="http://schemas.microsoft.com/office/drawing/2014/main" val="38505546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0450001"/>
      </p:ext>
    </p:extLst>
  </p:cSld>
  <p:clrMapOvr>
    <a:masterClrMapping/>
  </p:clrMapOvr>
  <p:transition spd="slow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CE2DE-20A4-124E-894D-98A180F4D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5B9B625C-E470-4D31-A4CD-AD358A98CB5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3688" y="2780928"/>
            <a:ext cx="6010960" cy="388556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FF8EF3-1711-475E-80E7-9E0FDA503962}"/>
              </a:ext>
            </a:extLst>
          </p:cNvPr>
          <p:cNvSpPr txBox="1"/>
          <p:nvPr/>
        </p:nvSpPr>
        <p:spPr>
          <a:xfrm>
            <a:off x="191344" y="116632"/>
            <a:ext cx="34083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latin typeface="HY목각파임B" panose="02030600000101010101" pitchFamily="18" charset="-127"/>
                <a:ea typeface="HY목각파임B" panose="02030600000101010101" pitchFamily="18" charset="-127"/>
                <a:cs typeface="Cascadia Mono SemiBold" panose="020B0609020000020004" pitchFamily="49" charset="0"/>
              </a:rPr>
              <a:t>데이터 수집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E0C802-83C3-4A91-AC73-90CAC5821CF9}"/>
              </a:ext>
            </a:extLst>
          </p:cNvPr>
          <p:cNvSpPr txBox="1"/>
          <p:nvPr/>
        </p:nvSpPr>
        <p:spPr>
          <a:xfrm>
            <a:off x="407368" y="1268760"/>
            <a:ext cx="7718267" cy="26665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ts val="34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+mn-ea"/>
              </a:rPr>
              <a:t>IoT </a:t>
            </a:r>
            <a:r>
              <a:rPr lang="ko-KR" altLang="en-US" sz="2400" b="1" dirty="0">
                <a:latin typeface="+mn-ea"/>
              </a:rPr>
              <a:t>하드웨어 단말기를 사용하여 데이터 수집</a:t>
            </a:r>
            <a:endParaRPr lang="en-US" altLang="ko-KR" sz="2400" b="1" dirty="0">
              <a:latin typeface="+mn-ea"/>
            </a:endParaRPr>
          </a:p>
          <a:p>
            <a:pPr marL="539750" indent="-363538">
              <a:lnSpc>
                <a:spcPts val="3400"/>
              </a:lnSpc>
              <a:buFont typeface="Arial" panose="020B0604020202020204" pitchFamily="34" charset="0"/>
              <a:buChar char="•"/>
            </a:pPr>
            <a:r>
              <a:rPr lang="en-US" altLang="ko-KR" sz="2400" dirty="0">
                <a:latin typeface="+mn-ea"/>
              </a:rPr>
              <a:t>Cortex-M3/M4  (STM32F103, STM32F469I-DISCO)</a:t>
            </a:r>
          </a:p>
          <a:p>
            <a:pPr marL="539750" indent="-363538">
              <a:lnSpc>
                <a:spcPts val="3400"/>
              </a:lnSpc>
              <a:buFont typeface="Arial" panose="020B0604020202020204" pitchFamily="34" charset="0"/>
              <a:buChar char="•"/>
            </a:pPr>
            <a:r>
              <a:rPr lang="en-US" altLang="ko-KR" sz="2400" dirty="0">
                <a:latin typeface="+mn-ea"/>
              </a:rPr>
              <a:t>ESP32-Dev</a:t>
            </a:r>
          </a:p>
          <a:p>
            <a:pPr marL="539750" indent="-363538">
              <a:lnSpc>
                <a:spcPts val="3400"/>
              </a:lnSpc>
              <a:buFont typeface="Arial" panose="020B0604020202020204" pitchFamily="34" charset="0"/>
              <a:buChar char="•"/>
            </a:pPr>
            <a:r>
              <a:rPr lang="en-US" altLang="ko-KR" sz="2400" dirty="0">
                <a:latin typeface="+mn-ea"/>
              </a:rPr>
              <a:t>Raspberry pi</a:t>
            </a:r>
          </a:p>
          <a:p>
            <a:pPr marL="539750" indent="-363538">
              <a:lnSpc>
                <a:spcPts val="3400"/>
              </a:lnSpc>
              <a:buFont typeface="Arial" panose="020B0604020202020204" pitchFamily="34" charset="0"/>
              <a:buChar char="•"/>
            </a:pPr>
            <a:endParaRPr lang="en-US" altLang="ko-KR" sz="2400" dirty="0">
              <a:latin typeface="+mn-ea"/>
            </a:endParaRPr>
          </a:p>
          <a:p>
            <a:pPr marL="363538" indent="-363538">
              <a:lnSpc>
                <a:spcPts val="3400"/>
              </a:lnSpc>
              <a:buFont typeface="Wingdings" panose="05000000000000000000" pitchFamily="2" charset="2"/>
              <a:buChar char="§"/>
            </a:pPr>
            <a:r>
              <a:rPr lang="en-US" altLang="ko-KR" sz="2400" dirty="0">
                <a:latin typeface="+mn-ea"/>
              </a:rPr>
              <a:t>Test</a:t>
            </a:r>
            <a:r>
              <a:rPr lang="ko-KR" altLang="en-US" sz="2400" dirty="0">
                <a:latin typeface="+mn-ea"/>
              </a:rPr>
              <a:t>를 위한 </a:t>
            </a:r>
            <a:r>
              <a:rPr lang="en-US" altLang="ko-KR" sz="2400" dirty="0">
                <a:latin typeface="+mn-ea"/>
              </a:rPr>
              <a:t>dummy data </a:t>
            </a:r>
            <a:r>
              <a:rPr lang="ko-KR" altLang="en-US" sz="2400" dirty="0">
                <a:latin typeface="+mn-ea"/>
              </a:rPr>
              <a:t>생성</a:t>
            </a:r>
            <a:r>
              <a:rPr lang="en-US" altLang="ko-KR" sz="2400" dirty="0">
                <a:latin typeface="+mn-ea"/>
              </a:rPr>
              <a:t>(ChatGPT)</a:t>
            </a:r>
          </a:p>
        </p:txBody>
      </p:sp>
    </p:spTree>
    <p:extLst>
      <p:ext uri="{BB962C8B-B14F-4D97-AF65-F5344CB8AC3E}">
        <p14:creationId xmlns:p14="http://schemas.microsoft.com/office/powerpoint/2010/main" val="461102796"/>
      </p:ext>
    </p:extLst>
  </p:cSld>
  <p:clrMapOvr>
    <a:masterClrMapping/>
  </p:clrMapOvr>
  <p:transition spd="slow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2A9D980-311E-4BB7-BD0A-0D2C54B8950B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7" indent="-342900">
              <a:buFont typeface="Arial" panose="020B0604020202020204" pitchFamily="34" charset="0"/>
              <a:buChar char="•"/>
            </a:pPr>
            <a:r>
              <a:rPr lang="en-US" altLang="ko-KR" sz="2000" b="1" dirty="0">
                <a:solidFill>
                  <a:schemeClr val="tx1"/>
                </a:solidFill>
              </a:rPr>
              <a:t>ESP32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AAE79019-19FF-4AC5-BA94-B2CE32464E57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데이터 수집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C822205-1C94-497C-A195-1F2FBCD6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264" y="913431"/>
            <a:ext cx="5001323" cy="5239481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D3DEE716-7CE9-4756-A6FC-F2882FDBBB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9013496" y="576255"/>
            <a:ext cx="1571844" cy="2505425"/>
          </a:xfrm>
          <a:prstGeom prst="rect">
            <a:avLst/>
          </a:prstGeom>
        </p:spPr>
      </p:pic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A5597FB-0AD1-4FFF-BA4A-142656F01B2A}"/>
              </a:ext>
            </a:extLst>
          </p:cNvPr>
          <p:cNvCxnSpPr>
            <a:cxnSpLocks/>
          </p:cNvCxnSpPr>
          <p:nvPr/>
        </p:nvCxnSpPr>
        <p:spPr>
          <a:xfrm>
            <a:off x="5574815" y="1139376"/>
            <a:ext cx="3092673" cy="1115376"/>
          </a:xfrm>
          <a:prstGeom prst="line">
            <a:avLst/>
          </a:prstGeom>
          <a:ln w="539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533DEC7E-0D61-4524-AA4F-19372307EB2B}"/>
              </a:ext>
            </a:extLst>
          </p:cNvPr>
          <p:cNvCxnSpPr>
            <a:cxnSpLocks/>
          </p:cNvCxnSpPr>
          <p:nvPr/>
        </p:nvCxnSpPr>
        <p:spPr>
          <a:xfrm flipV="1">
            <a:off x="5795587" y="1969526"/>
            <a:ext cx="2751118" cy="530606"/>
          </a:xfrm>
          <a:prstGeom prst="line">
            <a:avLst/>
          </a:prstGeom>
          <a:ln w="50800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0EE7DE40-9175-4DE9-ABDE-9BC207EC630E}"/>
              </a:ext>
            </a:extLst>
          </p:cNvPr>
          <p:cNvCxnSpPr>
            <a:cxnSpLocks/>
          </p:cNvCxnSpPr>
          <p:nvPr/>
        </p:nvCxnSpPr>
        <p:spPr>
          <a:xfrm>
            <a:off x="5712533" y="1704336"/>
            <a:ext cx="2954955" cy="0"/>
          </a:xfrm>
          <a:prstGeom prst="line">
            <a:avLst/>
          </a:prstGeom>
          <a:ln w="50800">
            <a:solidFill>
              <a:srgbClr val="008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A4E9AE02-D9FF-4B03-B77F-5FF9E7B42BA2}"/>
              </a:ext>
            </a:extLst>
          </p:cNvPr>
          <p:cNvCxnSpPr>
            <a:cxnSpLocks/>
          </p:cNvCxnSpPr>
          <p:nvPr/>
        </p:nvCxnSpPr>
        <p:spPr>
          <a:xfrm>
            <a:off x="5712533" y="1404565"/>
            <a:ext cx="2834172" cy="0"/>
          </a:xfrm>
          <a:prstGeom prst="line">
            <a:avLst/>
          </a:prstGeom>
          <a:ln w="508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그림 32">
            <a:extLst>
              <a:ext uri="{FF2B5EF4-FFF2-40B4-BE49-F238E27FC236}">
                <a16:creationId xmlns:a16="http://schemas.microsoft.com/office/drawing/2014/main" id="{61812205-4917-45DD-B4B5-4BF2887939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342299">
            <a:off x="8616886" y="3187434"/>
            <a:ext cx="2044294" cy="2026671"/>
          </a:xfrm>
          <a:prstGeom prst="rect">
            <a:avLst/>
          </a:prstGeom>
        </p:spPr>
      </p:pic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BA43FDDA-2E3D-486D-A13B-4BC93836F2C7}"/>
              </a:ext>
            </a:extLst>
          </p:cNvPr>
          <p:cNvCxnSpPr>
            <a:cxnSpLocks/>
          </p:cNvCxnSpPr>
          <p:nvPr/>
        </p:nvCxnSpPr>
        <p:spPr>
          <a:xfrm flipV="1">
            <a:off x="5754060" y="3841452"/>
            <a:ext cx="2913428" cy="530606"/>
          </a:xfrm>
          <a:prstGeom prst="line">
            <a:avLst/>
          </a:prstGeom>
          <a:ln w="50800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12F60638-33D1-49C8-A529-11B0024572B2}"/>
              </a:ext>
            </a:extLst>
          </p:cNvPr>
          <p:cNvCxnSpPr>
            <a:cxnSpLocks/>
          </p:cNvCxnSpPr>
          <p:nvPr/>
        </p:nvCxnSpPr>
        <p:spPr>
          <a:xfrm>
            <a:off x="1362382" y="1140277"/>
            <a:ext cx="7305106" cy="2864564"/>
          </a:xfrm>
          <a:prstGeom prst="line">
            <a:avLst/>
          </a:prstGeom>
          <a:ln w="508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8CFE7907-2E42-4615-B7DC-716A806CDCEA}"/>
              </a:ext>
            </a:extLst>
          </p:cNvPr>
          <p:cNvCxnSpPr>
            <a:cxnSpLocks/>
          </p:cNvCxnSpPr>
          <p:nvPr/>
        </p:nvCxnSpPr>
        <p:spPr>
          <a:xfrm>
            <a:off x="5574815" y="2760432"/>
            <a:ext cx="3151135" cy="1440338"/>
          </a:xfrm>
          <a:prstGeom prst="line">
            <a:avLst/>
          </a:prstGeom>
          <a:ln w="539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D655DFF-15FE-420A-944C-BE9123BE16B0}"/>
              </a:ext>
            </a:extLst>
          </p:cNvPr>
          <p:cNvSpPr txBox="1"/>
          <p:nvPr/>
        </p:nvSpPr>
        <p:spPr>
          <a:xfrm>
            <a:off x="8827818" y="4930814"/>
            <a:ext cx="13067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SIG = GPIO4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2496235"/>
      </p:ext>
    </p:extLst>
  </p:cSld>
  <p:clrMapOvr>
    <a:masterClrMapping/>
  </p:clrMapOvr>
  <p:transition spd="slow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2A9D980-311E-4BB7-BD0A-0D2C54B8950B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7" indent="-342900">
              <a:buFont typeface="Arial" panose="020B0604020202020204" pitchFamily="34" charset="0"/>
              <a:buChar char="•"/>
            </a:pPr>
            <a:r>
              <a:rPr lang="en-US" altLang="ko-KR" sz="2000" b="1" dirty="0">
                <a:solidFill>
                  <a:schemeClr val="tx1"/>
                </a:solidFill>
              </a:rPr>
              <a:t>ESP32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AAE79019-19FF-4AC5-BA94-B2CE32464E57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데이터 수집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18BC7854-8D7E-4632-A609-359A79E83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350" y="1946314"/>
            <a:ext cx="3982006" cy="434400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FE534800-F33A-4B9F-A8D0-5FAF078AC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2319435" y="3248713"/>
            <a:ext cx="1571844" cy="250542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1BA6001A-1767-4BD8-AA0F-AD3DAA7056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4077943">
            <a:off x="1850530" y="1250594"/>
            <a:ext cx="2044294" cy="2026671"/>
          </a:xfrm>
          <a:prstGeom prst="rect">
            <a:avLst/>
          </a:prstGeom>
        </p:spPr>
      </p:pic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75B50E0B-3D75-4336-B6FA-07DDB3E02B60}"/>
              </a:ext>
            </a:extLst>
          </p:cNvPr>
          <p:cNvSpPr/>
          <p:nvPr/>
        </p:nvSpPr>
        <p:spPr>
          <a:xfrm>
            <a:off x="4290646" y="4951828"/>
            <a:ext cx="1477108" cy="647114"/>
          </a:xfrm>
          <a:custGeom>
            <a:avLst/>
            <a:gdLst>
              <a:gd name="connsiteX0" fmla="*/ 0 w 1477108"/>
              <a:gd name="connsiteY0" fmla="*/ 0 h 647114"/>
              <a:gd name="connsiteX1" fmla="*/ 225083 w 1477108"/>
              <a:gd name="connsiteY1" fmla="*/ 42203 h 647114"/>
              <a:gd name="connsiteX2" fmla="*/ 295421 w 1477108"/>
              <a:gd name="connsiteY2" fmla="*/ 70338 h 647114"/>
              <a:gd name="connsiteX3" fmla="*/ 365760 w 1477108"/>
              <a:gd name="connsiteY3" fmla="*/ 84406 h 647114"/>
              <a:gd name="connsiteX4" fmla="*/ 492369 w 1477108"/>
              <a:gd name="connsiteY4" fmla="*/ 168812 h 647114"/>
              <a:gd name="connsiteX5" fmla="*/ 576775 w 1477108"/>
              <a:gd name="connsiteY5" fmla="*/ 225083 h 647114"/>
              <a:gd name="connsiteX6" fmla="*/ 647114 w 1477108"/>
              <a:gd name="connsiteY6" fmla="*/ 267286 h 647114"/>
              <a:gd name="connsiteX7" fmla="*/ 731520 w 1477108"/>
              <a:gd name="connsiteY7" fmla="*/ 379827 h 647114"/>
              <a:gd name="connsiteX8" fmla="*/ 787791 w 1477108"/>
              <a:gd name="connsiteY8" fmla="*/ 422031 h 647114"/>
              <a:gd name="connsiteX9" fmla="*/ 858129 w 1477108"/>
              <a:gd name="connsiteY9" fmla="*/ 492369 h 647114"/>
              <a:gd name="connsiteX10" fmla="*/ 928468 w 1477108"/>
              <a:gd name="connsiteY10" fmla="*/ 548640 h 647114"/>
              <a:gd name="connsiteX11" fmla="*/ 1041009 w 1477108"/>
              <a:gd name="connsiteY11" fmla="*/ 633046 h 647114"/>
              <a:gd name="connsiteX12" fmla="*/ 1125415 w 1477108"/>
              <a:gd name="connsiteY12" fmla="*/ 647114 h 647114"/>
              <a:gd name="connsiteX13" fmla="*/ 1378634 w 1477108"/>
              <a:gd name="connsiteY13" fmla="*/ 618978 h 647114"/>
              <a:gd name="connsiteX14" fmla="*/ 1434904 w 1477108"/>
              <a:gd name="connsiteY14" fmla="*/ 604911 h 647114"/>
              <a:gd name="connsiteX15" fmla="*/ 1477108 w 1477108"/>
              <a:gd name="connsiteY15" fmla="*/ 576775 h 647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477108" h="647114">
                <a:moveTo>
                  <a:pt x="0" y="0"/>
                </a:moveTo>
                <a:cubicBezTo>
                  <a:pt x="158294" y="63317"/>
                  <a:pt x="-36579" y="-6859"/>
                  <a:pt x="225083" y="42203"/>
                </a:cubicBezTo>
                <a:cubicBezTo>
                  <a:pt x="249903" y="46857"/>
                  <a:pt x="271234" y="63082"/>
                  <a:pt x="295421" y="70338"/>
                </a:cubicBezTo>
                <a:cubicBezTo>
                  <a:pt x="318323" y="77209"/>
                  <a:pt x="342314" y="79717"/>
                  <a:pt x="365760" y="84406"/>
                </a:cubicBezTo>
                <a:lnTo>
                  <a:pt x="492369" y="168812"/>
                </a:lnTo>
                <a:cubicBezTo>
                  <a:pt x="520504" y="187569"/>
                  <a:pt x="552864" y="201173"/>
                  <a:pt x="576775" y="225083"/>
                </a:cubicBezTo>
                <a:cubicBezTo>
                  <a:pt x="615397" y="263703"/>
                  <a:pt x="592328" y="249024"/>
                  <a:pt x="647114" y="267286"/>
                </a:cubicBezTo>
                <a:cubicBezTo>
                  <a:pt x="673089" y="306249"/>
                  <a:pt x="698101" y="346408"/>
                  <a:pt x="731520" y="379827"/>
                </a:cubicBezTo>
                <a:cubicBezTo>
                  <a:pt x="748099" y="396406"/>
                  <a:pt x="770267" y="406454"/>
                  <a:pt x="787791" y="422031"/>
                </a:cubicBezTo>
                <a:cubicBezTo>
                  <a:pt x="812573" y="444060"/>
                  <a:pt x="833483" y="470188"/>
                  <a:pt x="858129" y="492369"/>
                </a:cubicBezTo>
                <a:cubicBezTo>
                  <a:pt x="880447" y="512455"/>
                  <a:pt x="905871" y="528868"/>
                  <a:pt x="928468" y="548640"/>
                </a:cubicBezTo>
                <a:cubicBezTo>
                  <a:pt x="975654" y="589928"/>
                  <a:pt x="973335" y="608437"/>
                  <a:pt x="1041009" y="633046"/>
                </a:cubicBezTo>
                <a:cubicBezTo>
                  <a:pt x="1067815" y="642794"/>
                  <a:pt x="1097280" y="642425"/>
                  <a:pt x="1125415" y="647114"/>
                </a:cubicBezTo>
                <a:cubicBezTo>
                  <a:pt x="1209821" y="637735"/>
                  <a:pt x="1294487" y="630453"/>
                  <a:pt x="1378634" y="618978"/>
                </a:cubicBezTo>
                <a:cubicBezTo>
                  <a:pt x="1397791" y="616366"/>
                  <a:pt x="1417133" y="612527"/>
                  <a:pt x="1434904" y="604911"/>
                </a:cubicBezTo>
                <a:cubicBezTo>
                  <a:pt x="1450445" y="598251"/>
                  <a:pt x="1463040" y="586154"/>
                  <a:pt x="1477108" y="576775"/>
                </a:cubicBezTo>
              </a:path>
            </a:pathLst>
          </a:custGeom>
          <a:noFill/>
          <a:ln w="412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870CB3E-01E1-47AA-96A7-C33ED070080A}"/>
              </a:ext>
            </a:extLst>
          </p:cNvPr>
          <p:cNvSpPr/>
          <p:nvPr/>
        </p:nvSpPr>
        <p:spPr>
          <a:xfrm>
            <a:off x="4304714" y="4614203"/>
            <a:ext cx="4965895" cy="704664"/>
          </a:xfrm>
          <a:custGeom>
            <a:avLst/>
            <a:gdLst>
              <a:gd name="connsiteX0" fmla="*/ 0 w 4965895"/>
              <a:gd name="connsiteY0" fmla="*/ 42203 h 704664"/>
              <a:gd name="connsiteX1" fmla="*/ 70338 w 4965895"/>
              <a:gd name="connsiteY1" fmla="*/ 28136 h 704664"/>
              <a:gd name="connsiteX2" fmla="*/ 196947 w 4965895"/>
              <a:gd name="connsiteY2" fmla="*/ 14068 h 704664"/>
              <a:gd name="connsiteX3" fmla="*/ 309489 w 4965895"/>
              <a:gd name="connsiteY3" fmla="*/ 0 h 704664"/>
              <a:gd name="connsiteX4" fmla="*/ 492369 w 4965895"/>
              <a:gd name="connsiteY4" fmla="*/ 14068 h 704664"/>
              <a:gd name="connsiteX5" fmla="*/ 590843 w 4965895"/>
              <a:gd name="connsiteY5" fmla="*/ 42203 h 704664"/>
              <a:gd name="connsiteX6" fmla="*/ 759655 w 4965895"/>
              <a:gd name="connsiteY6" fmla="*/ 56271 h 704664"/>
              <a:gd name="connsiteX7" fmla="*/ 984738 w 4965895"/>
              <a:gd name="connsiteY7" fmla="*/ 98474 h 704664"/>
              <a:gd name="connsiteX8" fmla="*/ 1153550 w 4965895"/>
              <a:gd name="connsiteY8" fmla="*/ 112542 h 704664"/>
              <a:gd name="connsiteX9" fmla="*/ 1378633 w 4965895"/>
              <a:gd name="connsiteY9" fmla="*/ 140677 h 704664"/>
              <a:gd name="connsiteX10" fmla="*/ 1645920 w 4965895"/>
              <a:gd name="connsiteY10" fmla="*/ 168812 h 704664"/>
              <a:gd name="connsiteX11" fmla="*/ 1969476 w 4965895"/>
              <a:gd name="connsiteY11" fmla="*/ 225083 h 704664"/>
              <a:gd name="connsiteX12" fmla="*/ 3080824 w 4965895"/>
              <a:gd name="connsiteY12" fmla="*/ 267286 h 704664"/>
              <a:gd name="connsiteX13" fmla="*/ 3334043 w 4965895"/>
              <a:gd name="connsiteY13" fmla="*/ 309489 h 704664"/>
              <a:gd name="connsiteX14" fmla="*/ 4009292 w 4965895"/>
              <a:gd name="connsiteY14" fmla="*/ 337625 h 704664"/>
              <a:gd name="connsiteX15" fmla="*/ 4346916 w 4965895"/>
              <a:gd name="connsiteY15" fmla="*/ 365760 h 704664"/>
              <a:gd name="connsiteX16" fmla="*/ 4965895 w 4965895"/>
              <a:gd name="connsiteY16" fmla="*/ 407963 h 704664"/>
              <a:gd name="connsiteX17" fmla="*/ 4937760 w 4965895"/>
              <a:gd name="connsiteY17" fmla="*/ 590843 h 704664"/>
              <a:gd name="connsiteX18" fmla="*/ 4895556 w 4965895"/>
              <a:gd name="connsiteY18" fmla="*/ 633046 h 704664"/>
              <a:gd name="connsiteX19" fmla="*/ 4614203 w 4965895"/>
              <a:gd name="connsiteY19" fmla="*/ 675249 h 704664"/>
              <a:gd name="connsiteX20" fmla="*/ 4515729 w 4965895"/>
              <a:gd name="connsiteY20" fmla="*/ 703385 h 70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965895" h="704664">
                <a:moveTo>
                  <a:pt x="0" y="42203"/>
                </a:moveTo>
                <a:cubicBezTo>
                  <a:pt x="23446" y="37514"/>
                  <a:pt x="46668" y="31517"/>
                  <a:pt x="70338" y="28136"/>
                </a:cubicBezTo>
                <a:cubicBezTo>
                  <a:pt x="112374" y="22131"/>
                  <a:pt x="154775" y="19030"/>
                  <a:pt x="196947" y="14068"/>
                </a:cubicBezTo>
                <a:lnTo>
                  <a:pt x="309489" y="0"/>
                </a:lnTo>
                <a:cubicBezTo>
                  <a:pt x="370449" y="4689"/>
                  <a:pt x="431905" y="4998"/>
                  <a:pt x="492369" y="14068"/>
                </a:cubicBezTo>
                <a:cubicBezTo>
                  <a:pt x="526129" y="19132"/>
                  <a:pt x="557123" y="36879"/>
                  <a:pt x="590843" y="42203"/>
                </a:cubicBezTo>
                <a:cubicBezTo>
                  <a:pt x="646618" y="51010"/>
                  <a:pt x="703384" y="51582"/>
                  <a:pt x="759655" y="56271"/>
                </a:cubicBezTo>
                <a:cubicBezTo>
                  <a:pt x="834683" y="70339"/>
                  <a:pt x="909170" y="87679"/>
                  <a:pt x="984738" y="98474"/>
                </a:cubicBezTo>
                <a:cubicBezTo>
                  <a:pt x="1040636" y="106459"/>
                  <a:pt x="1097406" y="106527"/>
                  <a:pt x="1153550" y="112542"/>
                </a:cubicBezTo>
                <a:cubicBezTo>
                  <a:pt x="1228731" y="120597"/>
                  <a:pt x="1303510" y="132092"/>
                  <a:pt x="1378633" y="140677"/>
                </a:cubicBezTo>
                <a:cubicBezTo>
                  <a:pt x="1467642" y="150849"/>
                  <a:pt x="1557233" y="156142"/>
                  <a:pt x="1645920" y="168812"/>
                </a:cubicBezTo>
                <a:cubicBezTo>
                  <a:pt x="1754291" y="184293"/>
                  <a:pt x="1860383" y="215992"/>
                  <a:pt x="1969476" y="225083"/>
                </a:cubicBezTo>
                <a:cubicBezTo>
                  <a:pt x="2564160" y="274641"/>
                  <a:pt x="2194188" y="251166"/>
                  <a:pt x="3080824" y="267286"/>
                </a:cubicBezTo>
                <a:cubicBezTo>
                  <a:pt x="3165230" y="281354"/>
                  <a:pt x="3248943" y="300531"/>
                  <a:pt x="3334043" y="309489"/>
                </a:cubicBezTo>
                <a:cubicBezTo>
                  <a:pt x="3418791" y="318410"/>
                  <a:pt x="3980229" y="336587"/>
                  <a:pt x="4009292" y="337625"/>
                </a:cubicBezTo>
                <a:cubicBezTo>
                  <a:pt x="4121833" y="347003"/>
                  <a:pt x="4234117" y="360302"/>
                  <a:pt x="4346916" y="365760"/>
                </a:cubicBezTo>
                <a:cubicBezTo>
                  <a:pt x="4954839" y="395176"/>
                  <a:pt x="4705112" y="321036"/>
                  <a:pt x="4965895" y="407963"/>
                </a:cubicBezTo>
                <a:cubicBezTo>
                  <a:pt x="4956517" y="468923"/>
                  <a:pt x="4956157" y="531973"/>
                  <a:pt x="4937760" y="590843"/>
                </a:cubicBezTo>
                <a:cubicBezTo>
                  <a:pt x="4931826" y="609832"/>
                  <a:pt x="4912427" y="622502"/>
                  <a:pt x="4895556" y="633046"/>
                </a:cubicBezTo>
                <a:cubicBezTo>
                  <a:pt x="4814484" y="683716"/>
                  <a:pt x="4697661" y="669685"/>
                  <a:pt x="4614203" y="675249"/>
                </a:cubicBezTo>
                <a:cubicBezTo>
                  <a:pt x="4556393" y="713790"/>
                  <a:pt x="4588907" y="703385"/>
                  <a:pt x="4515729" y="703385"/>
                </a:cubicBezTo>
              </a:path>
            </a:pathLst>
          </a:custGeom>
          <a:noFill/>
          <a:ln w="412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D4DBEC06-1B19-4FAB-A12D-C24CFC2253D5}"/>
              </a:ext>
            </a:extLst>
          </p:cNvPr>
          <p:cNvSpPr/>
          <p:nvPr/>
        </p:nvSpPr>
        <p:spPr>
          <a:xfrm>
            <a:off x="4290646" y="3180843"/>
            <a:ext cx="5458264" cy="1194209"/>
          </a:xfrm>
          <a:custGeom>
            <a:avLst/>
            <a:gdLst>
              <a:gd name="connsiteX0" fmla="*/ 0 w 5458264"/>
              <a:gd name="connsiteY0" fmla="*/ 1194209 h 1194209"/>
              <a:gd name="connsiteX1" fmla="*/ 4487594 w 5458264"/>
              <a:gd name="connsiteY1" fmla="*/ 1180142 h 1194209"/>
              <a:gd name="connsiteX2" fmla="*/ 4656406 w 5458264"/>
              <a:gd name="connsiteY2" fmla="*/ 1109803 h 1194209"/>
              <a:gd name="connsiteX3" fmla="*/ 4965895 w 5458264"/>
              <a:gd name="connsiteY3" fmla="*/ 940991 h 1194209"/>
              <a:gd name="connsiteX4" fmla="*/ 5162843 w 5458264"/>
              <a:gd name="connsiteY4" fmla="*/ 842517 h 1194209"/>
              <a:gd name="connsiteX5" fmla="*/ 5205046 w 5458264"/>
              <a:gd name="connsiteY5" fmla="*/ 800314 h 1194209"/>
              <a:gd name="connsiteX6" fmla="*/ 5261317 w 5458264"/>
              <a:gd name="connsiteY6" fmla="*/ 673705 h 1194209"/>
              <a:gd name="connsiteX7" fmla="*/ 5331655 w 5458264"/>
              <a:gd name="connsiteY7" fmla="*/ 547096 h 1194209"/>
              <a:gd name="connsiteX8" fmla="*/ 5387926 w 5458264"/>
              <a:gd name="connsiteY8" fmla="*/ 434554 h 1194209"/>
              <a:gd name="connsiteX9" fmla="*/ 5416061 w 5458264"/>
              <a:gd name="connsiteY9" fmla="*/ 322012 h 1194209"/>
              <a:gd name="connsiteX10" fmla="*/ 5444197 w 5458264"/>
              <a:gd name="connsiteY10" fmla="*/ 237606 h 1194209"/>
              <a:gd name="connsiteX11" fmla="*/ 5458264 w 5458264"/>
              <a:gd name="connsiteY11" fmla="*/ 125065 h 1194209"/>
              <a:gd name="connsiteX12" fmla="*/ 5106572 w 5458264"/>
              <a:gd name="connsiteY12" fmla="*/ 26591 h 11942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458264" h="1194209">
                <a:moveTo>
                  <a:pt x="0" y="1194209"/>
                </a:moveTo>
                <a:lnTo>
                  <a:pt x="4487594" y="1180142"/>
                </a:lnTo>
                <a:cubicBezTo>
                  <a:pt x="4548544" y="1179037"/>
                  <a:pt x="4601882" y="1137065"/>
                  <a:pt x="4656406" y="1109803"/>
                </a:cubicBezTo>
                <a:cubicBezTo>
                  <a:pt x="4761512" y="1057250"/>
                  <a:pt x="4862311" y="996482"/>
                  <a:pt x="4965895" y="940991"/>
                </a:cubicBezTo>
                <a:cubicBezTo>
                  <a:pt x="4983570" y="931522"/>
                  <a:pt x="5161160" y="844200"/>
                  <a:pt x="5162843" y="842517"/>
                </a:cubicBezTo>
                <a:lnTo>
                  <a:pt x="5205046" y="800314"/>
                </a:lnTo>
                <a:cubicBezTo>
                  <a:pt x="5223803" y="758111"/>
                  <a:pt x="5240663" y="715013"/>
                  <a:pt x="5261317" y="673705"/>
                </a:cubicBezTo>
                <a:cubicBezTo>
                  <a:pt x="5282908" y="630523"/>
                  <a:pt x="5309066" y="589764"/>
                  <a:pt x="5331655" y="547096"/>
                </a:cubicBezTo>
                <a:cubicBezTo>
                  <a:pt x="5351279" y="510028"/>
                  <a:pt x="5369169" y="472068"/>
                  <a:pt x="5387926" y="434554"/>
                </a:cubicBezTo>
                <a:cubicBezTo>
                  <a:pt x="5397304" y="397040"/>
                  <a:pt x="5405438" y="359193"/>
                  <a:pt x="5416061" y="322012"/>
                </a:cubicBezTo>
                <a:cubicBezTo>
                  <a:pt x="5424209" y="293496"/>
                  <a:pt x="5437983" y="266605"/>
                  <a:pt x="5444197" y="237606"/>
                </a:cubicBezTo>
                <a:cubicBezTo>
                  <a:pt x="5452118" y="200640"/>
                  <a:pt x="5453575" y="162579"/>
                  <a:pt x="5458264" y="125065"/>
                </a:cubicBezTo>
                <a:cubicBezTo>
                  <a:pt x="5400500" y="-77112"/>
                  <a:pt x="5464267" y="26591"/>
                  <a:pt x="5106572" y="26591"/>
                </a:cubicBezTo>
              </a:path>
            </a:pathLst>
          </a:custGeom>
          <a:noFill/>
          <a:ln w="3810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FE18F700-77F5-45E3-B730-277F7797A2D2}"/>
              </a:ext>
            </a:extLst>
          </p:cNvPr>
          <p:cNvSpPr/>
          <p:nvPr/>
        </p:nvSpPr>
        <p:spPr>
          <a:xfrm>
            <a:off x="3840480" y="2644726"/>
            <a:ext cx="2518117" cy="211016"/>
          </a:xfrm>
          <a:custGeom>
            <a:avLst/>
            <a:gdLst>
              <a:gd name="connsiteX0" fmla="*/ 0 w 2518117"/>
              <a:gd name="connsiteY0" fmla="*/ 0 h 211016"/>
              <a:gd name="connsiteX1" fmla="*/ 211015 w 2518117"/>
              <a:gd name="connsiteY1" fmla="*/ 14068 h 211016"/>
              <a:gd name="connsiteX2" fmla="*/ 295422 w 2518117"/>
              <a:gd name="connsiteY2" fmla="*/ 28136 h 211016"/>
              <a:gd name="connsiteX3" fmla="*/ 393895 w 2518117"/>
              <a:gd name="connsiteY3" fmla="*/ 42203 h 211016"/>
              <a:gd name="connsiteX4" fmla="*/ 464234 w 2518117"/>
              <a:gd name="connsiteY4" fmla="*/ 56271 h 211016"/>
              <a:gd name="connsiteX5" fmla="*/ 576775 w 2518117"/>
              <a:gd name="connsiteY5" fmla="*/ 70339 h 211016"/>
              <a:gd name="connsiteX6" fmla="*/ 703385 w 2518117"/>
              <a:gd name="connsiteY6" fmla="*/ 112542 h 211016"/>
              <a:gd name="connsiteX7" fmla="*/ 759655 w 2518117"/>
              <a:gd name="connsiteY7" fmla="*/ 126609 h 211016"/>
              <a:gd name="connsiteX8" fmla="*/ 829994 w 2518117"/>
              <a:gd name="connsiteY8" fmla="*/ 140677 h 211016"/>
              <a:gd name="connsiteX9" fmla="*/ 998806 w 2518117"/>
              <a:gd name="connsiteY9" fmla="*/ 182880 h 211016"/>
              <a:gd name="connsiteX10" fmla="*/ 1871003 w 2518117"/>
              <a:gd name="connsiteY10" fmla="*/ 196948 h 211016"/>
              <a:gd name="connsiteX11" fmla="*/ 1927274 w 2518117"/>
              <a:gd name="connsiteY11" fmla="*/ 211016 h 211016"/>
              <a:gd name="connsiteX12" fmla="*/ 2447778 w 2518117"/>
              <a:gd name="connsiteY12" fmla="*/ 196948 h 211016"/>
              <a:gd name="connsiteX13" fmla="*/ 2518117 w 2518117"/>
              <a:gd name="connsiteY13" fmla="*/ 196948 h 2110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518117" h="211016">
                <a:moveTo>
                  <a:pt x="0" y="0"/>
                </a:moveTo>
                <a:cubicBezTo>
                  <a:pt x="70338" y="4689"/>
                  <a:pt x="140838" y="7384"/>
                  <a:pt x="211015" y="14068"/>
                </a:cubicBezTo>
                <a:cubicBezTo>
                  <a:pt x="239410" y="16772"/>
                  <a:pt x="267230" y="23799"/>
                  <a:pt x="295422" y="28136"/>
                </a:cubicBezTo>
                <a:cubicBezTo>
                  <a:pt x="328194" y="33178"/>
                  <a:pt x="361189" y="36752"/>
                  <a:pt x="393895" y="42203"/>
                </a:cubicBezTo>
                <a:cubicBezTo>
                  <a:pt x="417480" y="46134"/>
                  <a:pt x="440601" y="52635"/>
                  <a:pt x="464234" y="56271"/>
                </a:cubicBezTo>
                <a:cubicBezTo>
                  <a:pt x="501600" y="62020"/>
                  <a:pt x="539261" y="65650"/>
                  <a:pt x="576775" y="70339"/>
                </a:cubicBezTo>
                <a:cubicBezTo>
                  <a:pt x="618978" y="84407"/>
                  <a:pt x="660227" y="101753"/>
                  <a:pt x="703385" y="112542"/>
                </a:cubicBezTo>
                <a:cubicBezTo>
                  <a:pt x="722142" y="117231"/>
                  <a:pt x="740781" y="122415"/>
                  <a:pt x="759655" y="126609"/>
                </a:cubicBezTo>
                <a:cubicBezTo>
                  <a:pt x="782996" y="131796"/>
                  <a:pt x="807092" y="133806"/>
                  <a:pt x="829994" y="140677"/>
                </a:cubicBezTo>
                <a:cubicBezTo>
                  <a:pt x="928921" y="170355"/>
                  <a:pt x="878220" y="179385"/>
                  <a:pt x="998806" y="182880"/>
                </a:cubicBezTo>
                <a:cubicBezTo>
                  <a:pt x="1289454" y="191305"/>
                  <a:pt x="1580271" y="192259"/>
                  <a:pt x="1871003" y="196948"/>
                </a:cubicBezTo>
                <a:cubicBezTo>
                  <a:pt x="1889760" y="201637"/>
                  <a:pt x="1907940" y="211016"/>
                  <a:pt x="1927274" y="211016"/>
                </a:cubicBezTo>
                <a:cubicBezTo>
                  <a:pt x="2100839" y="211016"/>
                  <a:pt x="2274262" y="201079"/>
                  <a:pt x="2447778" y="196948"/>
                </a:cubicBezTo>
                <a:cubicBezTo>
                  <a:pt x="2471218" y="196390"/>
                  <a:pt x="2494671" y="196948"/>
                  <a:pt x="2518117" y="196948"/>
                </a:cubicBezTo>
              </a:path>
            </a:pathLst>
          </a:custGeom>
          <a:noFill/>
          <a:ln w="539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AAC02369-B67A-43F5-BB7D-DC760D19A9A9}"/>
              </a:ext>
            </a:extLst>
          </p:cNvPr>
          <p:cNvSpPr/>
          <p:nvPr/>
        </p:nvSpPr>
        <p:spPr>
          <a:xfrm>
            <a:off x="3840480" y="2180492"/>
            <a:ext cx="2518117" cy="341999"/>
          </a:xfrm>
          <a:custGeom>
            <a:avLst/>
            <a:gdLst>
              <a:gd name="connsiteX0" fmla="*/ 0 w 2518117"/>
              <a:gd name="connsiteY0" fmla="*/ 281354 h 341999"/>
              <a:gd name="connsiteX1" fmla="*/ 84406 w 2518117"/>
              <a:gd name="connsiteY1" fmla="*/ 295422 h 341999"/>
              <a:gd name="connsiteX2" fmla="*/ 196948 w 2518117"/>
              <a:gd name="connsiteY2" fmla="*/ 323557 h 341999"/>
              <a:gd name="connsiteX3" fmla="*/ 661182 w 2518117"/>
              <a:gd name="connsiteY3" fmla="*/ 337625 h 341999"/>
              <a:gd name="connsiteX4" fmla="*/ 1448972 w 2518117"/>
              <a:gd name="connsiteY4" fmla="*/ 281354 h 341999"/>
              <a:gd name="connsiteX5" fmla="*/ 1631852 w 2518117"/>
              <a:gd name="connsiteY5" fmla="*/ 196948 h 341999"/>
              <a:gd name="connsiteX6" fmla="*/ 1744394 w 2518117"/>
              <a:gd name="connsiteY6" fmla="*/ 126610 h 341999"/>
              <a:gd name="connsiteX7" fmla="*/ 1885071 w 2518117"/>
              <a:gd name="connsiteY7" fmla="*/ 56271 h 341999"/>
              <a:gd name="connsiteX8" fmla="*/ 2011680 w 2518117"/>
              <a:gd name="connsiteY8" fmla="*/ 28136 h 341999"/>
              <a:gd name="connsiteX9" fmla="*/ 2067951 w 2518117"/>
              <a:gd name="connsiteY9" fmla="*/ 14068 h 341999"/>
              <a:gd name="connsiteX10" fmla="*/ 2194560 w 2518117"/>
              <a:gd name="connsiteY10" fmla="*/ 0 h 341999"/>
              <a:gd name="connsiteX11" fmla="*/ 2419643 w 2518117"/>
              <a:gd name="connsiteY11" fmla="*/ 28136 h 341999"/>
              <a:gd name="connsiteX12" fmla="*/ 2518117 w 2518117"/>
              <a:gd name="connsiteY12" fmla="*/ 42203 h 341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518117" h="341999">
                <a:moveTo>
                  <a:pt x="0" y="281354"/>
                </a:moveTo>
                <a:cubicBezTo>
                  <a:pt x="28135" y="286043"/>
                  <a:pt x="56516" y="289446"/>
                  <a:pt x="84406" y="295422"/>
                </a:cubicBezTo>
                <a:cubicBezTo>
                  <a:pt x="122216" y="303524"/>
                  <a:pt x="158383" y="320735"/>
                  <a:pt x="196948" y="323557"/>
                </a:cubicBezTo>
                <a:cubicBezTo>
                  <a:pt x="351351" y="334855"/>
                  <a:pt x="506437" y="332936"/>
                  <a:pt x="661182" y="337625"/>
                </a:cubicBezTo>
                <a:cubicBezTo>
                  <a:pt x="816110" y="334104"/>
                  <a:pt x="1226660" y="370277"/>
                  <a:pt x="1448972" y="281354"/>
                </a:cubicBezTo>
                <a:cubicBezTo>
                  <a:pt x="1490456" y="264761"/>
                  <a:pt x="1609328" y="219472"/>
                  <a:pt x="1631852" y="196948"/>
                </a:cubicBezTo>
                <a:cubicBezTo>
                  <a:pt x="1700658" y="128142"/>
                  <a:pt x="1644481" y="173236"/>
                  <a:pt x="1744394" y="126610"/>
                </a:cubicBezTo>
                <a:cubicBezTo>
                  <a:pt x="1791903" y="104439"/>
                  <a:pt x="1834209" y="68987"/>
                  <a:pt x="1885071" y="56271"/>
                </a:cubicBezTo>
                <a:cubicBezTo>
                  <a:pt x="2022305" y="21962"/>
                  <a:pt x="1850945" y="63854"/>
                  <a:pt x="2011680" y="28136"/>
                </a:cubicBezTo>
                <a:cubicBezTo>
                  <a:pt x="2030554" y="23942"/>
                  <a:pt x="2048842" y="17008"/>
                  <a:pt x="2067951" y="14068"/>
                </a:cubicBezTo>
                <a:cubicBezTo>
                  <a:pt x="2109920" y="7611"/>
                  <a:pt x="2152357" y="4689"/>
                  <a:pt x="2194560" y="0"/>
                </a:cubicBezTo>
                <a:cubicBezTo>
                  <a:pt x="2269588" y="9379"/>
                  <a:pt x="2344868" y="16920"/>
                  <a:pt x="2419643" y="28136"/>
                </a:cubicBezTo>
                <a:cubicBezTo>
                  <a:pt x="2536168" y="45615"/>
                  <a:pt x="2422669" y="42203"/>
                  <a:pt x="2518117" y="42203"/>
                </a:cubicBezTo>
              </a:path>
            </a:pathLst>
          </a:cu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C13D5732-0D78-4493-A169-92EAB375E35A}"/>
              </a:ext>
            </a:extLst>
          </p:cNvPr>
          <p:cNvSpPr/>
          <p:nvPr/>
        </p:nvSpPr>
        <p:spPr>
          <a:xfrm>
            <a:off x="3840480" y="1795166"/>
            <a:ext cx="4867422" cy="864195"/>
          </a:xfrm>
          <a:custGeom>
            <a:avLst/>
            <a:gdLst>
              <a:gd name="connsiteX0" fmla="*/ 0 w 4867422"/>
              <a:gd name="connsiteY0" fmla="*/ 455665 h 864195"/>
              <a:gd name="connsiteX1" fmla="*/ 393895 w 4867422"/>
              <a:gd name="connsiteY1" fmla="*/ 343123 h 864195"/>
              <a:gd name="connsiteX2" fmla="*/ 956603 w 4867422"/>
              <a:gd name="connsiteY2" fmla="*/ 272785 h 864195"/>
              <a:gd name="connsiteX3" fmla="*/ 1252025 w 4867422"/>
              <a:gd name="connsiteY3" fmla="*/ 230582 h 864195"/>
              <a:gd name="connsiteX4" fmla="*/ 1519311 w 4867422"/>
              <a:gd name="connsiteY4" fmla="*/ 202446 h 864195"/>
              <a:gd name="connsiteX5" fmla="*/ 1885071 w 4867422"/>
              <a:gd name="connsiteY5" fmla="*/ 103972 h 864195"/>
              <a:gd name="connsiteX6" fmla="*/ 2419643 w 4867422"/>
              <a:gd name="connsiteY6" fmla="*/ 61769 h 864195"/>
              <a:gd name="connsiteX7" fmla="*/ 4712677 w 4867422"/>
              <a:gd name="connsiteY7" fmla="*/ 89905 h 864195"/>
              <a:gd name="connsiteX8" fmla="*/ 4811151 w 4867422"/>
              <a:gd name="connsiteY8" fmla="*/ 188379 h 864195"/>
              <a:gd name="connsiteX9" fmla="*/ 4839286 w 4867422"/>
              <a:gd name="connsiteY9" fmla="*/ 272785 h 864195"/>
              <a:gd name="connsiteX10" fmla="*/ 4867422 w 4867422"/>
              <a:gd name="connsiteY10" fmla="*/ 329056 h 864195"/>
              <a:gd name="connsiteX11" fmla="*/ 4811151 w 4867422"/>
              <a:gd name="connsiteY11" fmla="*/ 722951 h 864195"/>
              <a:gd name="connsiteX12" fmla="*/ 4726745 w 4867422"/>
              <a:gd name="connsiteY12" fmla="*/ 821425 h 864195"/>
              <a:gd name="connsiteX13" fmla="*/ 4628271 w 4867422"/>
              <a:gd name="connsiteY13" fmla="*/ 835492 h 864195"/>
              <a:gd name="connsiteX14" fmla="*/ 4529797 w 4867422"/>
              <a:gd name="connsiteY14" fmla="*/ 863628 h 864195"/>
              <a:gd name="connsiteX15" fmla="*/ 4248443 w 4867422"/>
              <a:gd name="connsiteY15" fmla="*/ 849560 h 864195"/>
              <a:gd name="connsiteX16" fmla="*/ 4206240 w 4867422"/>
              <a:gd name="connsiteY16" fmla="*/ 849560 h 8641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867422" h="864195">
                <a:moveTo>
                  <a:pt x="0" y="455665"/>
                </a:moveTo>
                <a:cubicBezTo>
                  <a:pt x="159479" y="359977"/>
                  <a:pt x="65829" y="405944"/>
                  <a:pt x="393895" y="343123"/>
                </a:cubicBezTo>
                <a:cubicBezTo>
                  <a:pt x="726430" y="279446"/>
                  <a:pt x="669859" y="290706"/>
                  <a:pt x="956603" y="272785"/>
                </a:cubicBezTo>
                <a:lnTo>
                  <a:pt x="1252025" y="230582"/>
                </a:lnTo>
                <a:cubicBezTo>
                  <a:pt x="1340921" y="219470"/>
                  <a:pt x="1431011" y="217583"/>
                  <a:pt x="1519311" y="202446"/>
                </a:cubicBezTo>
                <a:cubicBezTo>
                  <a:pt x="1935691" y="131067"/>
                  <a:pt x="1579287" y="170447"/>
                  <a:pt x="1885071" y="103972"/>
                </a:cubicBezTo>
                <a:cubicBezTo>
                  <a:pt x="2076855" y="62280"/>
                  <a:pt x="2209969" y="70156"/>
                  <a:pt x="2419643" y="61769"/>
                </a:cubicBezTo>
                <a:cubicBezTo>
                  <a:pt x="3291057" y="-25371"/>
                  <a:pt x="3157899" y="-24112"/>
                  <a:pt x="4712677" y="89905"/>
                </a:cubicBezTo>
                <a:cubicBezTo>
                  <a:pt x="4758974" y="93300"/>
                  <a:pt x="4778326" y="155554"/>
                  <a:pt x="4811151" y="188379"/>
                </a:cubicBezTo>
                <a:cubicBezTo>
                  <a:pt x="4820529" y="216514"/>
                  <a:pt x="4828272" y="245249"/>
                  <a:pt x="4839286" y="272785"/>
                </a:cubicBezTo>
                <a:cubicBezTo>
                  <a:pt x="4847074" y="292256"/>
                  <a:pt x="4867422" y="308085"/>
                  <a:pt x="4867422" y="329056"/>
                </a:cubicBezTo>
                <a:cubicBezTo>
                  <a:pt x="4867422" y="484675"/>
                  <a:pt x="4863219" y="592781"/>
                  <a:pt x="4811151" y="722951"/>
                </a:cubicBezTo>
                <a:cubicBezTo>
                  <a:pt x="4793386" y="767364"/>
                  <a:pt x="4776474" y="803342"/>
                  <a:pt x="4726745" y="821425"/>
                </a:cubicBezTo>
                <a:cubicBezTo>
                  <a:pt x="4695583" y="832756"/>
                  <a:pt x="4661096" y="830803"/>
                  <a:pt x="4628271" y="835492"/>
                </a:cubicBezTo>
                <a:cubicBezTo>
                  <a:pt x="4595446" y="844871"/>
                  <a:pt x="4563912" y="862364"/>
                  <a:pt x="4529797" y="863628"/>
                </a:cubicBezTo>
                <a:cubicBezTo>
                  <a:pt x="4435960" y="867104"/>
                  <a:pt x="4342256" y="853639"/>
                  <a:pt x="4248443" y="849560"/>
                </a:cubicBezTo>
                <a:cubicBezTo>
                  <a:pt x="4234389" y="848949"/>
                  <a:pt x="4220308" y="849560"/>
                  <a:pt x="4206240" y="849560"/>
                </a:cubicBezTo>
              </a:path>
            </a:pathLst>
          </a:cu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88A48EED-24D3-46DE-AC50-FA25255B6213}"/>
              </a:ext>
            </a:extLst>
          </p:cNvPr>
          <p:cNvSpPr/>
          <p:nvPr/>
        </p:nvSpPr>
        <p:spPr>
          <a:xfrm>
            <a:off x="4332849" y="3024554"/>
            <a:ext cx="2082019" cy="1041009"/>
          </a:xfrm>
          <a:custGeom>
            <a:avLst/>
            <a:gdLst>
              <a:gd name="connsiteX0" fmla="*/ 0 w 2082019"/>
              <a:gd name="connsiteY0" fmla="*/ 1041009 h 1041009"/>
              <a:gd name="connsiteX1" fmla="*/ 112542 w 2082019"/>
              <a:gd name="connsiteY1" fmla="*/ 1026941 h 1041009"/>
              <a:gd name="connsiteX2" fmla="*/ 506437 w 2082019"/>
              <a:gd name="connsiteY2" fmla="*/ 942535 h 1041009"/>
              <a:gd name="connsiteX3" fmla="*/ 717453 w 2082019"/>
              <a:gd name="connsiteY3" fmla="*/ 815926 h 1041009"/>
              <a:gd name="connsiteX4" fmla="*/ 773723 w 2082019"/>
              <a:gd name="connsiteY4" fmla="*/ 773723 h 1041009"/>
              <a:gd name="connsiteX5" fmla="*/ 928468 w 2082019"/>
              <a:gd name="connsiteY5" fmla="*/ 675249 h 1041009"/>
              <a:gd name="connsiteX6" fmla="*/ 1055077 w 2082019"/>
              <a:gd name="connsiteY6" fmla="*/ 618978 h 1041009"/>
              <a:gd name="connsiteX7" fmla="*/ 1252025 w 2082019"/>
              <a:gd name="connsiteY7" fmla="*/ 520504 h 1041009"/>
              <a:gd name="connsiteX8" fmla="*/ 1308296 w 2082019"/>
              <a:gd name="connsiteY8" fmla="*/ 492369 h 1041009"/>
              <a:gd name="connsiteX9" fmla="*/ 1547446 w 2082019"/>
              <a:gd name="connsiteY9" fmla="*/ 309489 h 1041009"/>
              <a:gd name="connsiteX10" fmla="*/ 1645920 w 2082019"/>
              <a:gd name="connsiteY10" fmla="*/ 253218 h 1041009"/>
              <a:gd name="connsiteX11" fmla="*/ 1842868 w 2082019"/>
              <a:gd name="connsiteY11" fmla="*/ 112541 h 1041009"/>
              <a:gd name="connsiteX12" fmla="*/ 1913206 w 2082019"/>
              <a:gd name="connsiteY12" fmla="*/ 28135 h 1041009"/>
              <a:gd name="connsiteX13" fmla="*/ 2039816 w 2082019"/>
              <a:gd name="connsiteY13" fmla="*/ 14068 h 1041009"/>
              <a:gd name="connsiteX14" fmla="*/ 2082019 w 2082019"/>
              <a:gd name="connsiteY14" fmla="*/ 0 h 104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082019" h="1041009">
                <a:moveTo>
                  <a:pt x="0" y="1041009"/>
                </a:moveTo>
                <a:cubicBezTo>
                  <a:pt x="37514" y="1036320"/>
                  <a:pt x="75325" y="1033587"/>
                  <a:pt x="112542" y="1026941"/>
                </a:cubicBezTo>
                <a:cubicBezTo>
                  <a:pt x="336049" y="987029"/>
                  <a:pt x="339828" y="984188"/>
                  <a:pt x="506437" y="942535"/>
                </a:cubicBezTo>
                <a:cubicBezTo>
                  <a:pt x="730009" y="782842"/>
                  <a:pt x="474246" y="957797"/>
                  <a:pt x="717453" y="815926"/>
                </a:cubicBezTo>
                <a:cubicBezTo>
                  <a:pt x="737705" y="804112"/>
                  <a:pt x="754215" y="786728"/>
                  <a:pt x="773723" y="773723"/>
                </a:cubicBezTo>
                <a:cubicBezTo>
                  <a:pt x="824595" y="739808"/>
                  <a:pt x="874896" y="704714"/>
                  <a:pt x="928468" y="675249"/>
                </a:cubicBezTo>
                <a:cubicBezTo>
                  <a:pt x="968935" y="652992"/>
                  <a:pt x="1013413" y="638904"/>
                  <a:pt x="1055077" y="618978"/>
                </a:cubicBezTo>
                <a:cubicBezTo>
                  <a:pt x="1121292" y="587310"/>
                  <a:pt x="1186376" y="553329"/>
                  <a:pt x="1252025" y="520504"/>
                </a:cubicBezTo>
                <a:cubicBezTo>
                  <a:pt x="1270782" y="511126"/>
                  <a:pt x="1291638" y="505108"/>
                  <a:pt x="1308296" y="492369"/>
                </a:cubicBezTo>
                <a:cubicBezTo>
                  <a:pt x="1388013" y="431409"/>
                  <a:pt x="1460315" y="359278"/>
                  <a:pt x="1547446" y="309489"/>
                </a:cubicBezTo>
                <a:cubicBezTo>
                  <a:pt x="1580271" y="290732"/>
                  <a:pt x="1614464" y="274189"/>
                  <a:pt x="1645920" y="253218"/>
                </a:cubicBezTo>
                <a:cubicBezTo>
                  <a:pt x="1713047" y="208467"/>
                  <a:pt x="1842868" y="112541"/>
                  <a:pt x="1842868" y="112541"/>
                </a:cubicBezTo>
                <a:cubicBezTo>
                  <a:pt x="1855739" y="93235"/>
                  <a:pt x="1889995" y="35872"/>
                  <a:pt x="1913206" y="28135"/>
                </a:cubicBezTo>
                <a:cubicBezTo>
                  <a:pt x="1953490" y="14707"/>
                  <a:pt x="1997931" y="21049"/>
                  <a:pt x="2039816" y="14068"/>
                </a:cubicBezTo>
                <a:cubicBezTo>
                  <a:pt x="2054443" y="11630"/>
                  <a:pt x="2067951" y="4689"/>
                  <a:pt x="2082019" y="0"/>
                </a:cubicBezTo>
              </a:path>
            </a:pathLst>
          </a:custGeom>
          <a:noFill/>
          <a:ln w="476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0962D4D-27CD-46B3-9F07-1BC7BE347102}"/>
              </a:ext>
            </a:extLst>
          </p:cNvPr>
          <p:cNvSpPr txBox="1"/>
          <p:nvPr/>
        </p:nvSpPr>
        <p:spPr>
          <a:xfrm>
            <a:off x="3778898" y="2773162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latin typeface="+mn-ea"/>
              </a:rPr>
              <a:t>GPIO4</a:t>
            </a:r>
            <a:endParaRPr lang="ko-KR" altLang="en-US" b="1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81C51EF-CD05-4B5F-8A07-A8486CD18CAB}"/>
              </a:ext>
            </a:extLst>
          </p:cNvPr>
          <p:cNvSpPr txBox="1"/>
          <p:nvPr/>
        </p:nvSpPr>
        <p:spPr>
          <a:xfrm>
            <a:off x="4394581" y="4024397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latin typeface="+mn-ea"/>
              </a:rPr>
              <a:t>GPIO18</a:t>
            </a:r>
            <a:endParaRPr lang="ko-KR" altLang="en-US" b="1" dirty="0">
              <a:latin typeface="+mn-ea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04CFD9B-B386-4AD7-8228-467A5C779CC4}"/>
              </a:ext>
            </a:extLst>
          </p:cNvPr>
          <p:cNvSpPr txBox="1"/>
          <p:nvPr/>
        </p:nvSpPr>
        <p:spPr>
          <a:xfrm>
            <a:off x="4394581" y="4336163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latin typeface="+mn-ea"/>
              </a:rPr>
              <a:t>GPIO12</a:t>
            </a:r>
            <a:endParaRPr lang="ko-KR" altLang="en-US" b="1" dirty="0"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76FB2C0-5ED2-484A-A526-D624E959BCBF}"/>
              </a:ext>
            </a:extLst>
          </p:cNvPr>
          <p:cNvSpPr txBox="1"/>
          <p:nvPr/>
        </p:nvSpPr>
        <p:spPr>
          <a:xfrm>
            <a:off x="4372138" y="4653865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latin typeface="+mn-ea"/>
              </a:rPr>
              <a:t>GPIO13</a:t>
            </a:r>
            <a:endParaRPr lang="ko-KR" altLang="en-US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43631137"/>
      </p:ext>
    </p:extLst>
  </p:cSld>
  <p:clrMapOvr>
    <a:masterClrMapping/>
  </p:clrMapOvr>
  <p:transition spd="slow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2A9D980-311E-4BB7-BD0A-0D2C54B8950B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7" indent="-342900">
              <a:buFont typeface="Arial" panose="020B0604020202020204" pitchFamily="34" charset="0"/>
              <a:buChar char="•"/>
            </a:pPr>
            <a:r>
              <a:rPr lang="en-US" altLang="ko-KR" sz="2000" b="1" dirty="0">
                <a:solidFill>
                  <a:schemeClr val="tx1"/>
                </a:solidFill>
              </a:rPr>
              <a:t>chatGPT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AAE79019-19FF-4AC5-BA94-B2CE32464E57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데이터 수집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E15789-BEDF-46EB-B717-9866E4D253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3352" y="908720"/>
            <a:ext cx="4424929" cy="5139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ko-KR" altLang="en-US" b="1" dirty="0">
                <a:latin typeface="Arial" panose="020B0604020202020204" pitchFamily="34" charset="0"/>
              </a:rPr>
              <a:t>총 </a:t>
            </a:r>
            <a:r>
              <a:rPr lang="en-US" altLang="ko-KR" b="1" dirty="0">
                <a:latin typeface="Arial" panose="020B0604020202020204" pitchFamily="34" charset="0"/>
              </a:rPr>
              <a:t>1</a:t>
            </a:r>
            <a:r>
              <a:rPr lang="ko-KR" altLang="en-US" b="1" dirty="0">
                <a:latin typeface="Arial" panose="020B0604020202020204" pitchFamily="34" charset="0"/>
              </a:rPr>
              <a:t>만개 데이터 생성</a:t>
            </a:r>
            <a:endParaRPr lang="en-US" altLang="ko-KR" b="1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ko-KR" altLang="en-US" b="1" dirty="0">
                <a:latin typeface="Arial" panose="020B0604020202020204" pitchFamily="34" charset="0"/>
              </a:rPr>
              <a:t>판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정 기준</a:t>
            </a:r>
          </a:p>
          <a:p>
            <a:pPr marL="265113" marR="0" lvl="0" indent="192088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양품(OK, </a:t>
            </a: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label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1)</a:t>
            </a:r>
            <a:endParaRPr kumimoji="0" lang="ko-KR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2438" marR="0" lvl="1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온도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22.0℃ ~ 28.0℃</a:t>
            </a:r>
            <a:endParaRPr kumimoji="0" lang="ko-KR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2438" marR="0" lvl="1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습도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40.0% ~ 80.0%</a:t>
            </a:r>
            <a:b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→ 두 조건을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모두 만족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하면 OK</a:t>
            </a:r>
          </a:p>
          <a:p>
            <a:pPr marL="452438" marR="0" lvl="0" indent="176213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불량(NOK, </a:t>
            </a: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label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0)</a:t>
            </a:r>
            <a:r>
              <a:rPr kumimoji="0" lang="en-US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b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아래 중 하나라도 해당하면 모두 불량</a:t>
            </a:r>
          </a:p>
          <a:p>
            <a:pPr marL="452438" marR="0" lvl="1" indent="176213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온도가 너무 낮음 →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temp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&lt; 22.0</a:t>
            </a:r>
            <a:endParaRPr kumimoji="0" lang="ko-KR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2438" marR="0" lvl="1" indent="176213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온도가 너무 높음 →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temp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&gt; 28.0</a:t>
            </a:r>
            <a:endParaRPr kumimoji="0" lang="ko-KR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2438" marR="0" lvl="1" indent="176213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너무 건조함 →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humi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&lt; 40.0</a:t>
            </a:r>
            <a:endParaRPr kumimoji="0" lang="ko-KR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2438" marR="0" lvl="1" indent="176213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너무 습함 →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humi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&gt; 80.0</a:t>
            </a:r>
            <a:endParaRPr kumimoji="0" lang="ko-KR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A6CC66D-7F8A-47E5-BDFE-B18142EE58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3952" y="764704"/>
            <a:ext cx="5029902" cy="563006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13480258"/>
      </p:ext>
    </p:extLst>
  </p:cSld>
  <p:clrMapOvr>
    <a:masterClrMapping/>
  </p:clrMapOvr>
  <p:transition spd="slow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9576" y="908721"/>
            <a:ext cx="7845076" cy="3239001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cxnSp>
        <p:nvCxnSpPr>
          <p:cNvPr id="12" name="직선 화살표 연결선 11"/>
          <p:cNvCxnSpPr/>
          <p:nvPr/>
        </p:nvCxnSpPr>
        <p:spPr>
          <a:xfrm flipH="1" flipV="1">
            <a:off x="6436223" y="3169183"/>
            <a:ext cx="10274" cy="380143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994435" y="3479192"/>
            <a:ext cx="1207382" cy="307777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ko-KR" altLang="en-US" sz="1400" b="1"/>
              <a:t>코드 입력 창</a:t>
            </a:r>
          </a:p>
        </p:txBody>
      </p:sp>
      <p:cxnSp>
        <p:nvCxnSpPr>
          <p:cNvPr id="14" name="직선 화살표 연결선 13"/>
          <p:cNvCxnSpPr/>
          <p:nvPr/>
        </p:nvCxnSpPr>
        <p:spPr>
          <a:xfrm flipV="1">
            <a:off x="5449910" y="3189732"/>
            <a:ext cx="0" cy="597236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64620" y="3786969"/>
            <a:ext cx="1386918" cy="307777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ko-KR" altLang="en-US" sz="1400" b="1"/>
              <a:t>코드 실행 버튼</a:t>
            </a:r>
          </a:p>
        </p:txBody>
      </p:sp>
      <p:cxnSp>
        <p:nvCxnSpPr>
          <p:cNvPr id="21" name="직선 화살표 연결선 20"/>
          <p:cNvCxnSpPr/>
          <p:nvPr/>
        </p:nvCxnSpPr>
        <p:spPr>
          <a:xfrm flipH="1" flipV="1">
            <a:off x="8051019" y="3443009"/>
            <a:ext cx="29075" cy="190070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27548" y="3634193"/>
            <a:ext cx="2050561" cy="307777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ko-KR" altLang="en-US" sz="1400" b="1"/>
              <a:t>코드 입력 창 추가 버튼</a:t>
            </a:r>
          </a:p>
        </p:txBody>
      </p:sp>
      <p:cxnSp>
        <p:nvCxnSpPr>
          <p:cNvPr id="23" name="직선 화살표 연결선 22"/>
          <p:cNvCxnSpPr/>
          <p:nvPr/>
        </p:nvCxnSpPr>
        <p:spPr>
          <a:xfrm flipH="1">
            <a:off x="2501227" y="3981208"/>
            <a:ext cx="249987" cy="744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757393" y="3786968"/>
            <a:ext cx="1683474" cy="3077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ko-KR" altLang="en-US" sz="1400" b="1"/>
              <a:t>가상환경 드라이브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CBE946CC-79B7-5B26-76E6-9AD1D092A4B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F987F6-197F-1C12-BACB-21B94EC39BE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45C77FA-11F7-CF73-15F7-2F89CFDE51F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A6933F42-3D53-6EC6-75E0-49B376363F4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7634B87-8965-F3DC-FF53-07C8507E0559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1-1. google </a:t>
            </a:r>
            <a:r>
              <a:rPr lang="en-US" altLang="ko-KR" sz="2000" b="1" dirty="0" err="1">
                <a:solidFill>
                  <a:schemeClr val="tx1"/>
                </a:solidFill>
              </a:rPr>
              <a:t>colab</a:t>
            </a:r>
            <a:r>
              <a:rPr lang="en-US" altLang="ko-KR" sz="2000" b="1" dirty="0">
                <a:solidFill>
                  <a:schemeClr val="tx1"/>
                </a:solidFill>
              </a:rPr>
              <a:t> </a:t>
            </a:r>
            <a:r>
              <a:rPr lang="ko-KR" altLang="en-US" sz="2000" b="1" dirty="0">
                <a:solidFill>
                  <a:schemeClr val="tx1"/>
                </a:solidFill>
              </a:rPr>
              <a:t>접속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CE3B835-CFC3-EA53-8FB4-7997F9BDD49F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1. Colab </a:t>
            </a:r>
            <a:r>
              <a:rPr lang="ko-KR" altLang="en-US" sz="2000" b="1" dirty="0"/>
              <a:t>준비 및 </a:t>
            </a:r>
            <a:r>
              <a:rPr lang="en-US" altLang="ko-KR" sz="2000" b="1" dirty="0"/>
              <a:t>csv </a:t>
            </a:r>
            <a:r>
              <a:rPr lang="ko-KR" altLang="en-US" sz="2000" b="1" dirty="0"/>
              <a:t>업로드</a:t>
            </a:r>
          </a:p>
        </p:txBody>
      </p:sp>
    </p:spTree>
    <p:extLst>
      <p:ext uri="{BB962C8B-B14F-4D97-AF65-F5344CB8AC3E}">
        <p14:creationId xmlns:p14="http://schemas.microsoft.com/office/powerpoint/2010/main" val="2203934629"/>
      </p:ext>
    </p:extLst>
  </p:cSld>
  <p:clrMapOvr>
    <a:masterClrMapping/>
  </p:clrMapOvr>
  <p:transition spd="slow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9ABD8-1667-9A3B-E53D-3F99B34AD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01EC2531-E8DB-916E-5FED-424336A93A6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9B798518-002A-C573-1ECC-70BB76447E7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A81C00A6-7823-06B5-2CBD-F6A122ECB7D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C202EB2D-22BF-06ED-A05E-C9FEAB915B5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6FDCDB8-9DBB-A2D5-FB2E-7DADB51EAF6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1F0112-EAB1-EA09-21C8-60BB0F3B2E1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013EDFD-8AD7-833B-B4EA-A59DD00A8F3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3AF9CA0-BEFC-30E2-F954-A3FE580D296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9371623-21FA-C658-E694-0CDEC9097CA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1-2. </a:t>
            </a:r>
            <a:r>
              <a:rPr lang="ko-KR" altLang="en-US" sz="2000" b="1" dirty="0">
                <a:solidFill>
                  <a:schemeClr val="tx1"/>
                </a:solidFill>
              </a:rPr>
              <a:t>라이브러리 불러오기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707D3C6-3B46-513C-4636-4EC157FC41F0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1. Colab </a:t>
            </a:r>
            <a:r>
              <a:rPr lang="ko-KR" altLang="en-US" sz="2000" b="1" dirty="0"/>
              <a:t>준비 및 </a:t>
            </a:r>
            <a:r>
              <a:rPr lang="en-US" altLang="ko-KR" sz="2000" b="1" dirty="0"/>
              <a:t>csv </a:t>
            </a:r>
            <a:r>
              <a:rPr lang="ko-KR" altLang="en-US" sz="2000" b="1" dirty="0"/>
              <a:t>업로드</a:t>
            </a:r>
          </a:p>
        </p:txBody>
      </p:sp>
      <p:pic>
        <p:nvPicPr>
          <p:cNvPr id="9" name="그림 8" descr="스크린샷, 라인, 텍스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08030-92EE-677C-49EB-7B8233CD2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908720"/>
            <a:ext cx="8164064" cy="206721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D261BAB-E0A8-9AD1-19DF-03B71DC903E5}"/>
              </a:ext>
            </a:extLst>
          </p:cNvPr>
          <p:cNvSpPr txBox="1"/>
          <p:nvPr/>
        </p:nvSpPr>
        <p:spPr>
          <a:xfrm>
            <a:off x="1809423" y="1412776"/>
            <a:ext cx="6108700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buNone/>
            </a:pPr>
            <a:r>
              <a:rPr lang="en-US" altLang="ko-KR" sz="2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pandas </a:t>
            </a:r>
            <a:r>
              <a:rPr lang="en-US" altLang="ko-KR" sz="2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pd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sz="2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2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numpy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2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np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sz="2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2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matplotlib.pyplot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2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2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</a:t>
            </a:r>
            <a:endParaRPr lang="en-US" altLang="ko-KR" sz="2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400"/>
              </a:lnSpc>
              <a:buNone/>
            </a:pPr>
            <a:r>
              <a:rPr lang="en-US" altLang="ko-KR" sz="2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seaborn </a:t>
            </a:r>
            <a:r>
              <a:rPr lang="en-US" altLang="ko-KR" sz="2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2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sns</a:t>
            </a:r>
            <a:endParaRPr lang="en-US" altLang="ko-KR" sz="2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077755"/>
      </p:ext>
    </p:extLst>
  </p:cSld>
  <p:clrMapOvr>
    <a:masterClrMapping/>
  </p:clrMapOvr>
  <p:transition spd="slow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05B64-2859-BA2F-4B9C-8C1D20A77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7E3B790F-B7BE-3D2F-F4E7-84A235091A4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7603754C-EB25-0FB6-6C93-C3CD22F3C33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B0950DA7-8DF1-5915-4735-1F7429A4E6B9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AD865BD8-CCE0-B162-F68F-6EBDE0B87B0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4C1932F3-46EB-09C0-2817-3D701B05F10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B2D35F-FA4B-F199-3466-7B411301565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BB132968-B0AD-2324-A3EE-1771EFE3D46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D8B7E13-FA70-5F1B-E574-28F20E4A151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E3E8EE1-17F4-D759-E2CC-559191B246A7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1-3. CSV</a:t>
            </a:r>
            <a:r>
              <a:rPr lang="ko-KR" altLang="en-US" sz="2000" b="1" dirty="0">
                <a:solidFill>
                  <a:schemeClr val="tx1"/>
                </a:solidFill>
              </a:rPr>
              <a:t> 파일 업로드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152FA7F-5844-4A92-FD6D-7DBBA6EB8811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1. Colab </a:t>
            </a:r>
            <a:r>
              <a:rPr lang="ko-KR" altLang="en-US" sz="2000" b="1" dirty="0"/>
              <a:t>준비 및 </a:t>
            </a:r>
            <a:r>
              <a:rPr lang="en-US" altLang="ko-KR" sz="2000" b="1" dirty="0"/>
              <a:t>csv </a:t>
            </a:r>
            <a:r>
              <a:rPr lang="ko-KR" altLang="en-US" sz="2000" b="1" dirty="0"/>
              <a:t>업로드</a:t>
            </a:r>
          </a:p>
        </p:txBody>
      </p:sp>
      <p:pic>
        <p:nvPicPr>
          <p:cNvPr id="9" name="그림 8" descr="스크린샷, 라인, 텍스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E6BCF46-F27C-59A0-D49C-259A868D1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908720"/>
            <a:ext cx="8164064" cy="206721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3C05ECA-B625-3452-1633-202E511571C5}"/>
              </a:ext>
            </a:extLst>
          </p:cNvPr>
          <p:cNvSpPr txBox="1"/>
          <p:nvPr/>
        </p:nvSpPr>
        <p:spPr>
          <a:xfrm>
            <a:off x="1889449" y="1484784"/>
            <a:ext cx="6108700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buNone/>
            </a:pPr>
            <a:r>
              <a:rPr lang="en-US" altLang="ko-KR" sz="2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google.colab </a:t>
            </a:r>
            <a:r>
              <a:rPr lang="en-US" altLang="ko-KR" sz="2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files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uploaded = files.upload()</a:t>
            </a:r>
          </a:p>
        </p:txBody>
      </p:sp>
      <p:pic>
        <p:nvPicPr>
          <p:cNvPr id="12" name="그림 11" descr="텍스트, 폰트, 스크린샷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BF7755A-EF36-8D85-77D6-ADF3D5AF8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440" y="3068960"/>
            <a:ext cx="8154538" cy="120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076100"/>
      </p:ext>
    </p:extLst>
  </p:cSld>
  <p:clrMapOvr>
    <a:masterClrMapping/>
  </p:clrMapOvr>
  <p:transition spd="slow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DAF86-B74A-FEB2-D71A-70B6793CB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B4F3EC28-64F3-06BD-C1F7-3D8D3AA3AB4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1320ADA4-6056-EA59-8C6C-75F2CAB420D3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CEE8ED4D-AB3D-D513-28D6-5C7131C106A3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B2D92E06-54DA-6642-FA61-F9E0334CC50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D370AA49-8BCF-935F-3C12-9E6BE8AD864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CB7D9-B5C0-7278-C351-3168F78C47B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7D1F330-1D94-BE7E-C71E-6720AC70D1A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8A62EF7-DB76-DF5F-0C3F-C8BAEB10048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FB003C2-3E0C-1829-30C3-C7879518865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>
                <a:solidFill>
                  <a:schemeClr val="tx1"/>
                </a:solidFill>
              </a:rPr>
              <a:t>2-1. CSV </a:t>
            </a:r>
            <a:r>
              <a:rPr lang="ko-KR" altLang="en-US" sz="2000" b="1">
                <a:solidFill>
                  <a:schemeClr val="tx1"/>
                </a:solidFill>
              </a:rPr>
              <a:t>읽기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7DBD614-2E95-88C8-DBFB-4A8945E40D20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2. </a:t>
            </a:r>
            <a:r>
              <a:rPr lang="ko-KR" altLang="en-US" sz="2000" b="1" dirty="0"/>
              <a:t>데이터 읽기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및 확인</a:t>
            </a:r>
          </a:p>
        </p:txBody>
      </p:sp>
      <p:pic>
        <p:nvPicPr>
          <p:cNvPr id="9" name="그림 8" descr="스크린샷, 라인, 텍스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78E4A00-8140-A2F1-C85B-AC356F0FA7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908721"/>
            <a:ext cx="8712968" cy="172819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7B2569C-05F9-D067-CEF6-ACFE561C7E58}"/>
              </a:ext>
            </a:extLst>
          </p:cNvPr>
          <p:cNvSpPr txBox="1"/>
          <p:nvPr/>
        </p:nvSpPr>
        <p:spPr>
          <a:xfrm>
            <a:off x="1775520" y="1556792"/>
            <a:ext cx="7524326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buNone/>
            </a:pP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df = </a:t>
            </a:r>
            <a:r>
              <a:rPr lang="en-US" altLang="ko-KR" sz="2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pd.read_csv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2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"TH_quality_10000.csv"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sz="2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df.head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</p:txBody>
      </p:sp>
      <p:pic>
        <p:nvPicPr>
          <p:cNvPr id="12" name="그림 11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1A293E-3395-E511-9039-4A33516AF9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472" y="2780928"/>
            <a:ext cx="5268060" cy="2724530"/>
          </a:xfrm>
          <a:prstGeom prst="rect">
            <a:avLst/>
          </a:prstGeom>
          <a:ln w="22225"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310902461"/>
      </p:ext>
    </p:extLst>
  </p:cSld>
  <p:clrMapOvr>
    <a:masterClrMapping/>
  </p:clrMapOvr>
  <p:transition spd="slow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70FB6-DCEF-DA0D-C5AC-B7D700C3C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99EE40C-199C-0F3A-C332-2628418B127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54727F7A-1C95-9FEB-B263-872D09EC00F9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08C998FF-8F8B-F1E6-8533-B24A95A3777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7555F102-8E98-A84E-D8C9-407645B5A87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1C5FAAE-40C2-66AF-B7CB-C5890FC35BC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8B7292-538F-8FF3-B82B-A7DAD6C19CA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F3F8CED6-E980-D37F-F480-42EF31FBF94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5C7016B-8BF7-EF0C-D3DE-B7127F788749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8D864FE-6401-BD8E-D7DB-BAB064ECE5C7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>
                <a:solidFill>
                  <a:schemeClr val="tx1"/>
                </a:solidFill>
              </a:rPr>
              <a:t>2-2. </a:t>
            </a:r>
            <a:r>
              <a:rPr lang="ko-KR" altLang="en-US" sz="2000" b="1">
                <a:solidFill>
                  <a:schemeClr val="tx1"/>
                </a:solidFill>
              </a:rPr>
              <a:t>데이터 정보 확인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DFC1040-6186-F5C6-C0DD-D03147077EAD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2. </a:t>
            </a:r>
            <a:r>
              <a:rPr lang="ko-KR" altLang="en-US" sz="2000" b="1" dirty="0"/>
              <a:t>데이터 읽기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및 확인</a:t>
            </a:r>
          </a:p>
        </p:txBody>
      </p:sp>
      <p:pic>
        <p:nvPicPr>
          <p:cNvPr id="9" name="그림 8" descr="스크린샷, 라인, 텍스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183D04-C87D-C82F-7F04-118EF389A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908721"/>
            <a:ext cx="8712968" cy="12961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57C1532-EC32-E619-3DA4-DC2AD3D7817C}"/>
              </a:ext>
            </a:extLst>
          </p:cNvPr>
          <p:cNvSpPr txBox="1"/>
          <p:nvPr/>
        </p:nvSpPr>
        <p:spPr>
          <a:xfrm>
            <a:off x="1943014" y="1521851"/>
            <a:ext cx="6108700" cy="319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df.info()</a:t>
            </a:r>
          </a:p>
        </p:txBody>
      </p:sp>
      <p:pic>
        <p:nvPicPr>
          <p:cNvPr id="14" name="그림 13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FE7580-C420-5F95-E0D1-686D586B3D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464" y="2348880"/>
            <a:ext cx="4677428" cy="2743583"/>
          </a:xfrm>
          <a:prstGeom prst="rect">
            <a:avLst/>
          </a:prstGeom>
          <a:ln w="25400"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5009432"/>
      </p:ext>
    </p:extLst>
  </p:cSld>
  <p:clrMapOvr>
    <a:masterClrMapping/>
  </p:clrMapOvr>
  <p:transition spd="slow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204B-8937-5559-FD44-4DCA69429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EC873A12-6547-E48A-CE56-B7E3570830A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6218D2EF-0E69-C735-BA08-92831CCB61F9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30CE0F5B-372D-BAB8-A9B9-FEBEA83D924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8712B649-CABD-5051-699A-B431BE4955B4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4F04E738-B6EE-EBC9-2201-B3539E47150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8D37721-FF1D-806B-27AC-71EE2D317759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8628D25-1D3F-4EB9-C3E8-09891D4FC009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BB13EA-33BF-814E-07D7-9D54053F77B4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E0A64E3-F067-47B3-0781-B8445B9FD480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2-3. </a:t>
            </a:r>
            <a:r>
              <a:rPr lang="ko-KR" altLang="en-US" sz="2000" b="1" dirty="0">
                <a:solidFill>
                  <a:schemeClr val="tx1"/>
                </a:solidFill>
              </a:rPr>
              <a:t>통계 요약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57894C8-464A-5900-32FA-7CE8FAAAB513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2. </a:t>
            </a:r>
            <a:r>
              <a:rPr lang="ko-KR" altLang="en-US" sz="2000" b="1" dirty="0"/>
              <a:t>데이터 읽기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및 확인</a:t>
            </a:r>
          </a:p>
        </p:txBody>
      </p:sp>
      <p:pic>
        <p:nvPicPr>
          <p:cNvPr id="9" name="그림 8" descr="스크린샷, 라인, 텍스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448D44A-B2AD-D232-ECA5-C0E06A1D01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908721"/>
            <a:ext cx="8712968" cy="12961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7D1C1F-13DB-E02C-33B7-101D70185AE0}"/>
              </a:ext>
            </a:extLst>
          </p:cNvPr>
          <p:cNvSpPr txBox="1"/>
          <p:nvPr/>
        </p:nvSpPr>
        <p:spPr>
          <a:xfrm>
            <a:off x="1997534" y="1397133"/>
            <a:ext cx="6108700" cy="319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2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df.describe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</p:txBody>
      </p:sp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E56F695-DC16-692B-061B-D727E17766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472" y="2348880"/>
            <a:ext cx="6411220" cy="3982006"/>
          </a:xfrm>
          <a:prstGeom prst="rect">
            <a:avLst/>
          </a:prstGeom>
          <a:ln w="19050"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768571557"/>
      </p:ext>
    </p:extLst>
  </p:cSld>
  <p:clrMapOvr>
    <a:masterClrMapping/>
  </p:clrMapOvr>
  <p:transition spd="slow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7FA7F-8C3A-408A-561F-CB60708FA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BD9A9328-6864-C3AB-1FBE-10C7771434E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3C74F5D8-D256-33AA-B879-A2239FE3DB7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5464B001-2FDF-A021-4580-7B6BED676EC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2CC8FD8-BA33-1FE6-88D9-EC80610B641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50588DFC-AE18-C34D-E43C-8F7E2B317B3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4B366B-2BDB-B5DA-E090-084DFAE15EE9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4B6E981B-C935-B6B3-D840-2CEF0682286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7ED52622-2A93-A436-E4EB-3B8848912653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B248D73-D70E-46FB-42CB-565CAE3DC842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3-1. </a:t>
            </a:r>
            <a:r>
              <a:rPr lang="ko-KR" altLang="en-US" sz="2000" b="1" dirty="0">
                <a:solidFill>
                  <a:schemeClr val="tx1"/>
                </a:solidFill>
              </a:rPr>
              <a:t>라벨 분포 확인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FA895D0-0F42-7F49-6BDE-4FD48FF92267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품질 비율 분석</a:t>
            </a:r>
          </a:p>
        </p:txBody>
      </p:sp>
      <p:pic>
        <p:nvPicPr>
          <p:cNvPr id="9" name="그림 8" descr="스크린샷, 라인, 텍스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29DF4C-920F-A791-0C3B-8225F3795A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908721"/>
            <a:ext cx="8712968" cy="12961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FAF532B-C6FF-8BDF-589C-E6BF71BBE897}"/>
              </a:ext>
            </a:extLst>
          </p:cNvPr>
          <p:cNvSpPr txBox="1"/>
          <p:nvPr/>
        </p:nvSpPr>
        <p:spPr>
          <a:xfrm>
            <a:off x="1999555" y="1556792"/>
            <a:ext cx="6104658" cy="319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df[</a:t>
            </a:r>
            <a:r>
              <a:rPr lang="en-US" altLang="ko-KR" sz="2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'label'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</a:t>
            </a:r>
            <a:r>
              <a:rPr lang="en-US" altLang="ko-KR" sz="2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value_counts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</p:txBody>
      </p:sp>
      <p:pic>
        <p:nvPicPr>
          <p:cNvPr id="12" name="그림 11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D3FCDB5-F33E-4CAF-172A-96175AA20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480" y="2271555"/>
            <a:ext cx="2600688" cy="2381582"/>
          </a:xfrm>
          <a:prstGeom prst="rect">
            <a:avLst/>
          </a:prstGeom>
          <a:ln w="25400">
            <a:solidFill>
              <a:schemeClr val="accent1">
                <a:shade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82109701"/>
      </p:ext>
    </p:extLst>
  </p:cSld>
  <p:clrMapOvr>
    <a:masterClrMapping/>
  </p:clrMapOvr>
  <p:transition spd="slow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16BC6-0043-FC63-139C-174AEA547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503E0CE2-4324-87C2-B712-27F230F09373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F91CA9FF-6405-6842-9E68-99C5BA3B491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059C0CA5-7954-0CEA-04B7-DE0C007E828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C1785241-8F27-4026-D1F4-8C9AF122AD2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FB0AB883-2E80-49C9-13F4-D217DAC7DCF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39C2D86-1F5F-2CDF-C031-D6C9F9638464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73ABD6E-A706-C9AC-BA64-158F843AF1F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00F8055-C2B5-F696-9B50-EFFB36B3651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8AA193C-6F55-0737-2A74-DDA39CDB726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3-2. </a:t>
            </a:r>
            <a:r>
              <a:rPr lang="ko-KR" altLang="en-US" sz="2000" b="1" dirty="0">
                <a:solidFill>
                  <a:schemeClr val="tx1"/>
                </a:solidFill>
              </a:rPr>
              <a:t>라벨 분포 그래프 표시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DE14C34-F923-D592-A120-DAC48E30F7C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품질 비율 분석</a:t>
            </a:r>
          </a:p>
        </p:txBody>
      </p:sp>
      <p:pic>
        <p:nvPicPr>
          <p:cNvPr id="9" name="그림 8" descr="스크린샷, 라인, 텍스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9F8FB80-B76B-1E9B-E750-6A783F4B98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286" y="764704"/>
            <a:ext cx="9433048" cy="266429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A1C238A-027E-262A-A099-F9C260782B3F}"/>
              </a:ext>
            </a:extLst>
          </p:cNvPr>
          <p:cNvSpPr txBox="1"/>
          <p:nvPr/>
        </p:nvSpPr>
        <p:spPr>
          <a:xfrm>
            <a:off x="2279576" y="1359576"/>
            <a:ext cx="6726469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buNone/>
            </a:pP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plt.figure(</a:t>
            </a:r>
            <a:r>
              <a:rPr lang="en-US" altLang="ko-KR" sz="2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figsize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=(</a:t>
            </a:r>
            <a:r>
              <a:rPr lang="en-US" altLang="ko-KR" sz="2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5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2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sz="2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sns.countplot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(data=df, x=</a:t>
            </a:r>
            <a:r>
              <a:rPr lang="en-US" altLang="ko-KR" sz="2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'label'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sz="2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plt.xticks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([</a:t>
            </a:r>
            <a:r>
              <a:rPr lang="en-US" altLang="ko-KR" sz="2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2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[</a:t>
            </a:r>
            <a:r>
              <a:rPr lang="en-US" altLang="ko-KR" sz="2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'NOK(0)'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2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'OK(1)'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sz="2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plt.title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2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"OK / NOK Counts"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sz="2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plt.show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</p:txBody>
      </p:sp>
      <p:pic>
        <p:nvPicPr>
          <p:cNvPr id="14" name="그림 13" descr="텍스트, 스크린샷, 도표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18F8A5B-3387-8F79-4271-F262E713E1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8732" y="3454346"/>
            <a:ext cx="4387268" cy="3331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708329"/>
      </p:ext>
    </p:extLst>
  </p:cSld>
  <p:clrMapOvr>
    <a:masterClrMapping/>
  </p:clrMapOvr>
  <p:transition spd="slow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37BCC-B44B-C871-BFAD-C9AB30018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319A4E30-4923-9A71-B579-DFCABB3B440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F16449CA-0DCC-48A9-7D74-BD378A035C5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87ED519A-B0D9-0D77-B51B-0C4A1FB33B4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B74428D4-E11F-468F-5BAF-EED2ADD9C644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65806700-F285-6892-DF64-2EECA13B87A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56D882-D8D8-2D78-A5D3-918672310DB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AA3846-8D5D-588C-6323-D8F33A1259B3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D6ABB8-8743-4C9A-F80B-0D49BE02C16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F7CE84-FFA7-4049-AE0F-3151C92A069C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4-1. </a:t>
            </a:r>
            <a:r>
              <a:rPr lang="ko-KR" altLang="en-US" sz="2000" b="1" dirty="0">
                <a:solidFill>
                  <a:schemeClr val="tx1"/>
                </a:solidFill>
              </a:rPr>
              <a:t>히스토그램</a:t>
            </a:r>
            <a:r>
              <a:rPr lang="en-US" altLang="ko-KR" sz="2000" b="1" dirty="0">
                <a:solidFill>
                  <a:schemeClr val="tx1"/>
                </a:solidFill>
              </a:rPr>
              <a:t>, </a:t>
            </a:r>
            <a:r>
              <a:rPr lang="ko-KR" altLang="en-US" sz="2000" b="1" dirty="0">
                <a:solidFill>
                  <a:schemeClr val="tx1"/>
                </a:solidFill>
              </a:rPr>
              <a:t>커널 밀도 그래프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C055332-C81F-A0AC-EF54-3DD3291A4FCC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4. </a:t>
            </a:r>
            <a:r>
              <a:rPr lang="ko-KR" altLang="en-US" sz="2000" b="1" dirty="0"/>
              <a:t>온도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습도 분포 분석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A1EE3C-85E1-F6DD-C6B2-F32999B9A3E2}"/>
              </a:ext>
            </a:extLst>
          </p:cNvPr>
          <p:cNvSpPr txBox="1"/>
          <p:nvPr/>
        </p:nvSpPr>
        <p:spPr>
          <a:xfrm>
            <a:off x="345387" y="764704"/>
            <a:ext cx="6867021" cy="3777957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plt.figure(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figsize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=(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12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</a:p>
          <a:p>
            <a:pPr>
              <a:lnSpc>
                <a:spcPts val="2400"/>
              </a:lnSpc>
              <a:buNone/>
            </a:pPr>
            <a:endParaRPr lang="en-US" altLang="ko-KR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plt.subplot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sns.histplot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(df[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'temp'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kde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True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bins=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plt.title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"Temperature Distribution)"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endParaRPr lang="en-US" altLang="ko-KR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plt.subplot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sns.histplot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(df[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humi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kde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True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bins=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plt.title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"Humidity Distribution"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endParaRPr lang="en-US" altLang="ko-KR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plt.tight_layout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plt.show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</p:txBody>
      </p:sp>
      <p:pic>
        <p:nvPicPr>
          <p:cNvPr id="12" name="그림 11" descr="스크린샷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C678927-F8D4-65CE-851F-BEC89DBFA2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56" y="3907502"/>
            <a:ext cx="9171206" cy="2950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873718"/>
      </p:ext>
    </p:extLst>
  </p:cSld>
  <p:clrMapOvr>
    <a:masterClrMapping/>
  </p:clrMapOvr>
  <p:transition spd="slow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A80BF-80BF-A25C-D5FD-BAB62C5F2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D19620E1-BF33-2118-D79E-F1CBDD402CD3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F82DBE17-7A2C-40C6-592B-34FECFE54A4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67B92947-F1F7-92AB-7E87-6D860A080533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85C47F2-C9D9-4B60-5343-0CE905CAC7F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3465F58B-4C0E-9576-FA4A-0DD285CA6D1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77DC9BC-F165-88DB-9736-964CCEB3A4C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485CE3A7-67A7-398E-2A87-9043460A260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F3B122B-9B24-1724-46C6-5094F6B89C1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CEEE762-D817-CA8B-7F5E-2231CCE4C6DC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5-1. </a:t>
            </a:r>
            <a:r>
              <a:rPr lang="ko-KR" altLang="en-US" sz="2000" b="1" dirty="0">
                <a:solidFill>
                  <a:schemeClr val="tx1"/>
                </a:solidFill>
              </a:rPr>
              <a:t>그룹별 평균</a:t>
            </a:r>
            <a:r>
              <a:rPr lang="en-US" altLang="ko-KR" sz="2000" b="1" dirty="0">
                <a:solidFill>
                  <a:schemeClr val="tx1"/>
                </a:solidFill>
              </a:rPr>
              <a:t>, </a:t>
            </a:r>
            <a:r>
              <a:rPr lang="ko-KR" altLang="en-US" sz="2000" b="1" dirty="0">
                <a:solidFill>
                  <a:schemeClr val="tx1"/>
                </a:solidFill>
              </a:rPr>
              <a:t>표준편차 비교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A80BEA6-B747-DC11-C423-B37F9D6636C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5. OK vs. NOK </a:t>
            </a:r>
            <a:r>
              <a:rPr lang="ko-KR" altLang="en-US" sz="2000" b="1" dirty="0"/>
              <a:t>통계 비교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BDABD1-54B3-933C-6DBA-D71900929B85}"/>
              </a:ext>
            </a:extLst>
          </p:cNvPr>
          <p:cNvSpPr txBox="1"/>
          <p:nvPr/>
        </p:nvSpPr>
        <p:spPr>
          <a:xfrm>
            <a:off x="119336" y="980728"/>
            <a:ext cx="11809312" cy="700192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group_stats =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df.groupby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'label'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)[[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'temp'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humi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]].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agg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([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'mean'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'std'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'min'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'max'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group_stats</a:t>
            </a:r>
            <a:endParaRPr lang="en-US" altLang="ko-KR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</p:txBody>
      </p:sp>
      <p:pic>
        <p:nvPicPr>
          <p:cNvPr id="14" name="그림 13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49B7463-B103-BA89-65B3-5BB44E352A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52" y="1952419"/>
            <a:ext cx="8849960" cy="2953162"/>
          </a:xfrm>
          <a:prstGeom prst="rect">
            <a:avLst/>
          </a:prstGeom>
          <a:ln>
            <a:solidFill>
              <a:schemeClr val="accent1">
                <a:shade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00585382"/>
      </p:ext>
    </p:extLst>
  </p:cSld>
  <p:clrMapOvr>
    <a:masterClrMapping/>
  </p:clrMapOvr>
  <p:transition spd="slow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/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711624" y="1441753"/>
            <a:ext cx="6424864" cy="3974493"/>
          </a:xfrm>
          <a:prstGeom prst="rect">
            <a:avLst/>
          </a:prstGeom>
          <a:noFill/>
          <a:ln w="635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Arial" panose="020B0604020202020204" pitchFamily="34" charset="0"/>
              <a:buChar char="•"/>
            </a:pPr>
            <a:endParaRPr lang="ko-KR" altLang="en-US"/>
          </a:p>
        </p:txBody>
      </p:sp>
      <p:cxnSp>
        <p:nvCxnSpPr>
          <p:cNvPr id="8" name="직선 연결선 7"/>
          <p:cNvCxnSpPr/>
          <p:nvPr/>
        </p:nvCxnSpPr>
        <p:spPr>
          <a:xfrm>
            <a:off x="3929923" y="2882251"/>
            <a:ext cx="956788" cy="5152"/>
          </a:xfrm>
          <a:prstGeom prst="line">
            <a:avLst/>
          </a:prstGeom>
          <a:ln w="3492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3352726" y="3470546"/>
            <a:ext cx="2077452" cy="994611"/>
          </a:xfrm>
          <a:prstGeom prst="rect">
            <a:avLst/>
          </a:prstGeom>
          <a:noFill/>
          <a:ln w="34925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연결선 9"/>
          <p:cNvCxnSpPr/>
          <p:nvPr/>
        </p:nvCxnSpPr>
        <p:spPr>
          <a:xfrm>
            <a:off x="3913058" y="5074863"/>
            <a:ext cx="956788" cy="5152"/>
          </a:xfrm>
          <a:prstGeom prst="line">
            <a:avLst/>
          </a:prstGeom>
          <a:ln w="3492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>
            <a:endCxn id="9" idx="0"/>
          </p:cNvCxnSpPr>
          <p:nvPr/>
        </p:nvCxnSpPr>
        <p:spPr>
          <a:xfrm flipH="1">
            <a:off x="4391453" y="2894837"/>
            <a:ext cx="3983" cy="575709"/>
          </a:xfrm>
          <a:prstGeom prst="line">
            <a:avLst/>
          </a:prstGeom>
          <a:ln w="3492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/>
          <p:cNvCxnSpPr>
            <a:stCxn id="9" idx="3"/>
            <a:endCxn id="9" idx="1"/>
          </p:cNvCxnSpPr>
          <p:nvPr/>
        </p:nvCxnSpPr>
        <p:spPr>
          <a:xfrm flipH="1">
            <a:off x="3352726" y="3967851"/>
            <a:ext cx="2077452" cy="0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/>
        </p:nvCxnSpPr>
        <p:spPr>
          <a:xfrm flipH="1">
            <a:off x="4391453" y="4465157"/>
            <a:ext cx="3983" cy="609707"/>
          </a:xfrm>
          <a:prstGeom prst="line">
            <a:avLst/>
          </a:prstGeom>
          <a:ln w="3492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타원 13"/>
          <p:cNvSpPr/>
          <p:nvPr/>
        </p:nvSpPr>
        <p:spPr>
          <a:xfrm>
            <a:off x="4334760" y="2273602"/>
            <a:ext cx="147115" cy="151391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/>
          <p:cNvSpPr/>
          <p:nvPr/>
        </p:nvSpPr>
        <p:spPr>
          <a:xfrm>
            <a:off x="4334761" y="2000889"/>
            <a:ext cx="147115" cy="151391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/>
          <p:cNvSpPr/>
          <p:nvPr/>
        </p:nvSpPr>
        <p:spPr>
          <a:xfrm>
            <a:off x="4334762" y="1639945"/>
            <a:ext cx="147115" cy="151391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화살표 연결선 21"/>
          <p:cNvCxnSpPr/>
          <p:nvPr/>
        </p:nvCxnSpPr>
        <p:spPr>
          <a:xfrm flipH="1">
            <a:off x="5502366" y="3967851"/>
            <a:ext cx="65618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230740" y="381396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/>
              <a:t>중앙값</a:t>
            </a:r>
          </a:p>
        </p:txBody>
      </p:sp>
      <p:cxnSp>
        <p:nvCxnSpPr>
          <p:cNvPr id="24" name="직선 화살표 연결선 23"/>
          <p:cNvCxnSpPr>
            <a:stCxn id="25" idx="1"/>
          </p:cNvCxnSpPr>
          <p:nvPr/>
        </p:nvCxnSpPr>
        <p:spPr>
          <a:xfrm flipH="1">
            <a:off x="5006111" y="2894836"/>
            <a:ext cx="1224938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31050" y="2740947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/>
              <a:t>최대값</a:t>
            </a:r>
          </a:p>
        </p:txBody>
      </p:sp>
      <p:cxnSp>
        <p:nvCxnSpPr>
          <p:cNvPr id="26" name="직선 화살표 연결선 25"/>
          <p:cNvCxnSpPr/>
          <p:nvPr/>
        </p:nvCxnSpPr>
        <p:spPr>
          <a:xfrm flipH="1">
            <a:off x="5502366" y="3489180"/>
            <a:ext cx="65618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30739" y="3335291"/>
            <a:ext cx="22846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/>
              <a:t>최대값과 중앙값의 중간값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62863" y="3028802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chemeClr val="accent2">
                    <a:lumMod val="50000"/>
                  </a:schemeClr>
                </a:solidFill>
              </a:rPr>
              <a:t>25%</a:t>
            </a:r>
            <a:endParaRPr lang="ko-KR" altLang="en-US" sz="1400" b="1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662863" y="3560441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chemeClr val="accent2">
                    <a:lumMod val="50000"/>
                  </a:schemeClr>
                </a:solidFill>
              </a:rPr>
              <a:t>25%</a:t>
            </a:r>
            <a:endParaRPr lang="ko-KR" altLang="en-US" sz="1400" b="1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654022" y="4062616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chemeClr val="accent2">
                    <a:lumMod val="50000"/>
                  </a:schemeClr>
                </a:solidFill>
              </a:rPr>
              <a:t>25%</a:t>
            </a:r>
            <a:endParaRPr lang="ko-KR" altLang="en-US" sz="1400" b="1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662862" y="4625168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chemeClr val="accent2">
                    <a:lumMod val="50000"/>
                  </a:schemeClr>
                </a:solidFill>
              </a:rPr>
              <a:t>25%</a:t>
            </a:r>
            <a:endParaRPr lang="ko-KR" altLang="en-US" sz="1400" b="1">
              <a:solidFill>
                <a:schemeClr val="accent2">
                  <a:lumMod val="50000"/>
                </a:schemeClr>
              </a:solidFill>
            </a:endParaRPr>
          </a:p>
        </p:txBody>
      </p:sp>
      <p:cxnSp>
        <p:nvCxnSpPr>
          <p:cNvPr id="32" name="직선 화살표 연결선 31"/>
          <p:cNvCxnSpPr/>
          <p:nvPr/>
        </p:nvCxnSpPr>
        <p:spPr>
          <a:xfrm flipH="1">
            <a:off x="5502366" y="4446522"/>
            <a:ext cx="65618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230739" y="4292633"/>
            <a:ext cx="22846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/>
              <a:t>중앙값과 최소값의 중간값</a:t>
            </a:r>
          </a:p>
        </p:txBody>
      </p:sp>
      <p:cxnSp>
        <p:nvCxnSpPr>
          <p:cNvPr id="34" name="직선 화살표 연결선 33"/>
          <p:cNvCxnSpPr>
            <a:stCxn id="35" idx="1"/>
          </p:cNvCxnSpPr>
          <p:nvPr/>
        </p:nvCxnSpPr>
        <p:spPr>
          <a:xfrm flipH="1">
            <a:off x="5006111" y="5093852"/>
            <a:ext cx="1224938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231050" y="4939963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/>
              <a:t>최소값</a:t>
            </a:r>
          </a:p>
        </p:txBody>
      </p:sp>
      <p:cxnSp>
        <p:nvCxnSpPr>
          <p:cNvPr id="36" name="직선 화살표 연결선 35"/>
          <p:cNvCxnSpPr>
            <a:stCxn id="37" idx="1"/>
          </p:cNvCxnSpPr>
          <p:nvPr/>
        </p:nvCxnSpPr>
        <p:spPr>
          <a:xfrm flipH="1">
            <a:off x="5006111" y="2091381"/>
            <a:ext cx="1224938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231049" y="1937492"/>
            <a:ext cx="25587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/>
              <a:t>범위에서 벗어난 값들</a:t>
            </a:r>
            <a:r>
              <a:rPr lang="en-US" altLang="ko-KR" sz="1400"/>
              <a:t>(outlier)</a:t>
            </a:r>
            <a:endParaRPr lang="ko-KR" altLang="en-US" sz="140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F538D18C-E80F-ADF7-05DB-F8F2B553DCE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FF13F7-56E2-17D3-3DAC-AC21F9CF3434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2EEF30AD-8699-0346-0868-3E7C1351671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00BF75E-FA8A-BD68-56F0-FDBB10FD6BD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BCFA327-E148-731C-BC2B-29342058486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8" name="Rectangle 2">
            <a:extLst>
              <a:ext uri="{FF2B5EF4-FFF2-40B4-BE49-F238E27FC236}">
                <a16:creationId xmlns:a16="http://schemas.microsoft.com/office/drawing/2014/main" id="{ECFFAB50-512B-E24E-3908-E43F68D23B1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9" name="Rectangle 2">
            <a:extLst>
              <a:ext uri="{FF2B5EF4-FFF2-40B4-BE49-F238E27FC236}">
                <a16:creationId xmlns:a16="http://schemas.microsoft.com/office/drawing/2014/main" id="{7A07E18F-B16A-8B6E-A912-B63EC360FA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31708E9-1904-23DE-B1B7-32EEDCE67B8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EFCC85A-CC14-36B1-2175-9B44D2A31A4D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5-2. Boxplot </a:t>
            </a:r>
            <a:r>
              <a:rPr lang="ko-KR" altLang="en-US" sz="2000" b="1" dirty="0">
                <a:solidFill>
                  <a:schemeClr val="tx1"/>
                </a:solidFill>
              </a:rPr>
              <a:t>으로 비교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F2B3A97-93FE-F030-ABA9-AA5F02FAABDD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5. OK vs. NOK </a:t>
            </a:r>
            <a:r>
              <a:rPr lang="ko-KR" altLang="en-US" sz="2000" b="1" dirty="0"/>
              <a:t>통계 비교</a:t>
            </a:r>
          </a:p>
        </p:txBody>
      </p:sp>
    </p:spTree>
    <p:extLst>
      <p:ext uri="{BB962C8B-B14F-4D97-AF65-F5344CB8AC3E}">
        <p14:creationId xmlns:p14="http://schemas.microsoft.com/office/powerpoint/2010/main" val="2549314782"/>
      </p:ext>
    </p:extLst>
  </p:cSld>
  <p:clrMapOvr>
    <a:masterClrMapping/>
  </p:clrMapOvr>
  <p:transition spd="slow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B6E35-AA6C-984A-4961-D09DB3926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F96D185A-1E41-3AE7-32E9-33AE6484800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3407A83B-6304-9E42-E33D-3FF2F4413C9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4116B415-C8A5-C4ED-CFE0-773E1418D7A9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3E3BC471-FD9F-8EB6-6046-172CDD27BF8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FC307052-A096-5841-623D-AD2FEE36C46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9C75C0-EE6F-D0ED-0A0C-C63E915ED23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CBAF50D-BC76-B766-94FC-AB1E2DB3B63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18EEDF0-F2B6-56B9-DAC4-FCB8A5D331D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24703B7-BB8C-6E03-AD77-B046DF406A3A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5-2. Boxplot </a:t>
            </a:r>
            <a:r>
              <a:rPr lang="ko-KR" altLang="en-US" sz="2000" b="1" dirty="0">
                <a:solidFill>
                  <a:schemeClr val="tx1"/>
                </a:solidFill>
              </a:rPr>
              <a:t>으로 비교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8D13A92-1C7B-05AB-1BD4-6E6DB65172B5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5. OK vs. NOK </a:t>
            </a:r>
            <a:r>
              <a:rPr lang="ko-KR" altLang="en-US" sz="2000" b="1" dirty="0"/>
              <a:t>통계 비교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999D6D-B594-CF68-156B-0792DF4EDB7A}"/>
              </a:ext>
            </a:extLst>
          </p:cNvPr>
          <p:cNvSpPr txBox="1"/>
          <p:nvPr/>
        </p:nvSpPr>
        <p:spPr>
          <a:xfrm>
            <a:off x="35915" y="676258"/>
            <a:ext cx="6048672" cy="4393510"/>
          </a:xfrm>
          <a:prstGeom prst="rect">
            <a:avLst/>
          </a:prstGeom>
          <a:noFill/>
          <a:ln w="12700">
            <a:solidFill>
              <a:schemeClr val="accent1">
                <a:shade val="5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plt.figure(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figsize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=(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12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</a:p>
          <a:p>
            <a:pPr>
              <a:lnSpc>
                <a:spcPts val="2400"/>
              </a:lnSpc>
              <a:buNone/>
            </a:pPr>
            <a:endParaRPr lang="en-US" altLang="ko-KR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plt.subplot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sns.boxplot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(data=df, x=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'label'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y=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'temp'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plt.xticks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([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[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'NOK(0)'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'OK(1)'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plt.title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"OK/NOK Temp. Distribution"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endParaRPr lang="en-US" altLang="ko-KR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plt.subplot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sns.boxplot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(data=df, x=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'label'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y=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humi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plt.xticks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([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[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'NOK(0)'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'OK(1)'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plt.title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"OK/NOK </a:t>
            </a:r>
            <a:r>
              <a:rPr lang="en-US" altLang="ko-KR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Humi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. Distribution"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endParaRPr lang="en-US" altLang="ko-KR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plt.tight_layout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plt.show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</p:txBody>
      </p:sp>
      <p:pic>
        <p:nvPicPr>
          <p:cNvPr id="12" name="그림 11" descr="도표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B06D23E-2F49-E1C5-77F0-421086611C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0388" y="4055046"/>
            <a:ext cx="8413102" cy="2821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4690"/>
      </p:ext>
    </p:extLst>
  </p:cSld>
  <p:clrMapOvr>
    <a:masterClrMapping/>
  </p:clrMapOvr>
  <p:transition spd="slow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7AEB0-E213-A189-64D9-133A9560A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952BCEF0-FC02-B8DA-44CB-5AF6B2906EA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7B1491AC-F062-8100-BA95-3331D1509313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097BF302-A024-D228-AD8D-CB7A35E4622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B841E914-C0F6-0EFC-D397-9D8902460FA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CE818EB-BF53-4F45-690D-8C25127929C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A86C6AB-9C78-C2AB-2A74-1A98D924313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C9422BB-250B-97D1-6E06-68F13314740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E842FD6-B917-6797-EA56-19E1D1BCCF09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4561824-C7DC-4734-F341-50A89D9D0D40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6-1. 2</a:t>
            </a:r>
            <a:r>
              <a:rPr lang="ko-KR" altLang="en-US" sz="2000" b="1" dirty="0">
                <a:solidFill>
                  <a:schemeClr val="tx1"/>
                </a:solidFill>
              </a:rPr>
              <a:t>차원 </a:t>
            </a:r>
            <a:r>
              <a:rPr lang="ko-KR" altLang="en-US" sz="2000" b="1" dirty="0" err="1">
                <a:solidFill>
                  <a:schemeClr val="tx1"/>
                </a:solidFill>
              </a:rPr>
              <a:t>산점도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C2DD10F-459D-67C6-AB88-8D9081D6C01A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6. </a:t>
            </a:r>
            <a:r>
              <a:rPr lang="ko-KR" altLang="en-US" sz="2000" b="1" dirty="0"/>
              <a:t>온도</a:t>
            </a:r>
            <a:r>
              <a:rPr lang="en-US" altLang="ko-KR" sz="2000" b="1" dirty="0"/>
              <a:t>,</a:t>
            </a:r>
            <a:r>
              <a:rPr lang="ko-KR" altLang="en-US" sz="2000" b="1" dirty="0"/>
              <a:t> 습도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품질 분석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502F83-C26A-293B-0963-0F6616F53F5C}"/>
              </a:ext>
            </a:extLst>
          </p:cNvPr>
          <p:cNvSpPr txBox="1"/>
          <p:nvPr/>
        </p:nvSpPr>
        <p:spPr>
          <a:xfrm>
            <a:off x="119336" y="764704"/>
            <a:ext cx="8712968" cy="2546851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plt.figure(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figsize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=(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6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6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sns.scatterplot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(data=df, x=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'temp'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y=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humi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hue=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'label'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        palette={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'red'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'blue'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}, alpha=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0.5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plt.legend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(title=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'label'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labels=[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'OK(1)'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'NOK(0)'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plt.title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"Temp. vs </a:t>
            </a:r>
            <a:r>
              <a:rPr lang="en-US" altLang="ko-KR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Humi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(OK/NOK)"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plt.xlabel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"temp"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plt.ylabel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humi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plt.show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</p:txBody>
      </p:sp>
      <p:pic>
        <p:nvPicPr>
          <p:cNvPr id="14" name="그림 13" descr="텍스트, 스크린샷, 도표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894475-C41C-54D1-55C6-1880A1E531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696" y="2333178"/>
            <a:ext cx="4734304" cy="452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13940"/>
      </p:ext>
    </p:extLst>
  </p:cSld>
  <p:clrMapOvr>
    <a:masterClrMapping/>
  </p:clrMapOvr>
  <p:transition spd="slow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7C4A1-F6B4-53C7-AC3C-4DC4C4F0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B8AD6D83-9AB4-E16D-30F0-3DD6602AA99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119A235F-D991-5D04-8688-CEEE5A68F16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8C2528D2-32BD-A8E3-534E-AED3B737A25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A2211B1A-5651-0BB7-A504-FF59AFF4B549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286BE17F-6F6A-B1F5-01B2-D1F200065F8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40EC5F-39D2-36CC-9686-857FE4CC52D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5E0707C-D044-63F0-1D65-4CE88539F50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7A202F1-9DB7-3BA6-ACA7-435E0605FB6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3840AC3-C905-A721-A6D3-AFAF11E25AC4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7-1. </a:t>
            </a:r>
            <a:r>
              <a:rPr lang="ko-KR" altLang="en-US" sz="2000" b="1" dirty="0">
                <a:solidFill>
                  <a:schemeClr val="tx1"/>
                </a:solidFill>
              </a:rPr>
              <a:t>상관계수 행렬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4920D4-17E7-7769-B23E-A1B7C834EFD5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7. </a:t>
            </a:r>
            <a:r>
              <a:rPr lang="ko-KR" altLang="en-US" sz="2000" b="1" dirty="0"/>
              <a:t>상관 분석 </a:t>
            </a:r>
            <a:r>
              <a:rPr lang="en-US" altLang="ko-KR" sz="2000" b="1" dirty="0"/>
              <a:t>(Correlation)</a:t>
            </a:r>
            <a:endParaRPr lang="ko-KR" altLang="en-US" sz="2000" b="1" dirty="0"/>
          </a:p>
        </p:txBody>
      </p:sp>
      <p:pic>
        <p:nvPicPr>
          <p:cNvPr id="9" name="그림 8" descr="스크린샷, 라인, 텍스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3C47FF3-7C41-8C71-2A49-D6ECFB15C4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92" y="980728"/>
            <a:ext cx="9073008" cy="12961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86ED349-25F9-5EA6-142F-816AA86DB159}"/>
              </a:ext>
            </a:extLst>
          </p:cNvPr>
          <p:cNvSpPr txBox="1"/>
          <p:nvPr/>
        </p:nvSpPr>
        <p:spPr>
          <a:xfrm>
            <a:off x="1494704" y="1446046"/>
            <a:ext cx="802261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buNone/>
            </a:pP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corr = df[[</a:t>
            </a:r>
            <a:r>
              <a:rPr lang="en-US" altLang="ko-KR" sz="2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'temp'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2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2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humi</a:t>
            </a:r>
            <a:r>
              <a:rPr lang="en-US" altLang="ko-KR" sz="2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2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'label'</a:t>
            </a: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]].corr()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sz="2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corr</a:t>
            </a:r>
          </a:p>
        </p:txBody>
      </p:sp>
      <p:pic>
        <p:nvPicPr>
          <p:cNvPr id="12" name="그림 11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C64BC3-2659-2180-91FF-0614E0880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464" y="2420888"/>
            <a:ext cx="4724475" cy="1728193"/>
          </a:xfrm>
          <a:prstGeom prst="rect">
            <a:avLst/>
          </a:prstGeom>
          <a:ln>
            <a:solidFill>
              <a:schemeClr val="accent1">
                <a:shade val="50000"/>
              </a:schemeClr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AF047AF-4E91-CF4C-66DD-759801CAC0D7}"/>
              </a:ext>
            </a:extLst>
          </p:cNvPr>
          <p:cNvSpPr txBox="1"/>
          <p:nvPr/>
        </p:nvSpPr>
        <p:spPr>
          <a:xfrm>
            <a:off x="1271464" y="4725144"/>
            <a:ext cx="10441160" cy="1538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300"/>
              </a:lnSpc>
              <a:buNone/>
            </a:pPr>
            <a:r>
              <a:rPr lang="ko-KR" altLang="en-US" sz="1600" b="1" dirty="0">
                <a:latin typeface="+mn-ea"/>
              </a:rPr>
              <a:t>상관계수란</a:t>
            </a:r>
            <a:r>
              <a:rPr lang="en-US" altLang="ko-KR" sz="1600" b="1" dirty="0">
                <a:latin typeface="+mn-ea"/>
              </a:rPr>
              <a:t>?</a:t>
            </a:r>
          </a:p>
          <a:p>
            <a:pPr marL="176213" indent="187325">
              <a:lnSpc>
                <a:spcPts val="2300"/>
              </a:lnSpc>
              <a:buFont typeface="Arial" panose="020B0604020202020204" pitchFamily="34" charset="0"/>
              <a:buChar char="•"/>
              <a:tabLst>
                <a:tab pos="93663" algn="l"/>
              </a:tabLst>
            </a:pPr>
            <a:r>
              <a:rPr lang="ko-KR" altLang="en-US" sz="1600" dirty="0">
                <a:latin typeface="+mn-ea"/>
              </a:rPr>
              <a:t>범위</a:t>
            </a:r>
            <a:r>
              <a:rPr lang="en-US" altLang="ko-KR" sz="1600" dirty="0">
                <a:latin typeface="+mn-ea"/>
              </a:rPr>
              <a:t>: -1 ~ +1</a:t>
            </a:r>
            <a:endParaRPr lang="ko-KR" altLang="en-US" sz="1600" dirty="0">
              <a:latin typeface="+mn-ea"/>
            </a:endParaRPr>
          </a:p>
          <a:p>
            <a:pPr marL="176213" indent="187325">
              <a:lnSpc>
                <a:spcPts val="2300"/>
              </a:lnSpc>
              <a:buFont typeface="Arial" panose="020B0604020202020204" pitchFamily="34" charset="0"/>
              <a:buChar char="•"/>
              <a:tabLst>
                <a:tab pos="93663" algn="l"/>
              </a:tabLst>
            </a:pPr>
            <a:r>
              <a:rPr lang="en-US" altLang="ko-KR" sz="1600" dirty="0">
                <a:latin typeface="+mn-ea"/>
              </a:rPr>
              <a:t>+1</a:t>
            </a:r>
            <a:r>
              <a:rPr lang="ko-KR" altLang="en-US" sz="1600" dirty="0">
                <a:latin typeface="+mn-ea"/>
              </a:rPr>
              <a:t>에 가까울수록</a:t>
            </a:r>
            <a:r>
              <a:rPr lang="en-US" altLang="ko-KR" sz="1600" dirty="0">
                <a:latin typeface="+mn-ea"/>
              </a:rPr>
              <a:t>: “A</a:t>
            </a:r>
            <a:r>
              <a:rPr lang="ko-KR" altLang="en-US" sz="1600" dirty="0">
                <a:latin typeface="+mn-ea"/>
              </a:rPr>
              <a:t>가 커질수록 </a:t>
            </a:r>
            <a:r>
              <a:rPr lang="en-US" altLang="ko-KR" sz="1600" dirty="0">
                <a:latin typeface="+mn-ea"/>
              </a:rPr>
              <a:t>B</a:t>
            </a:r>
            <a:r>
              <a:rPr lang="ko-KR" altLang="en-US" sz="1600" dirty="0">
                <a:latin typeface="+mn-ea"/>
              </a:rPr>
              <a:t>도 </a:t>
            </a:r>
            <a:r>
              <a:rPr lang="ko-KR" altLang="en-US" sz="1600" dirty="0" err="1">
                <a:latin typeface="+mn-ea"/>
              </a:rPr>
              <a:t>커진다”는</a:t>
            </a:r>
            <a:r>
              <a:rPr lang="ko-KR" altLang="en-US" sz="1600" dirty="0">
                <a:latin typeface="+mn-ea"/>
              </a:rPr>
              <a:t> 강한 양의 선형 관계</a:t>
            </a:r>
          </a:p>
          <a:p>
            <a:pPr marL="176213" indent="187325">
              <a:lnSpc>
                <a:spcPts val="2300"/>
              </a:lnSpc>
              <a:buFont typeface="Arial" panose="020B0604020202020204" pitchFamily="34" charset="0"/>
              <a:buChar char="•"/>
              <a:tabLst>
                <a:tab pos="93663" algn="l"/>
              </a:tabLst>
            </a:pPr>
            <a:r>
              <a:rPr lang="en-US" altLang="ko-KR" sz="1600" dirty="0">
                <a:latin typeface="+mn-ea"/>
              </a:rPr>
              <a:t>-1</a:t>
            </a:r>
            <a:r>
              <a:rPr lang="ko-KR" altLang="en-US" sz="1600" dirty="0">
                <a:latin typeface="+mn-ea"/>
              </a:rPr>
              <a:t>에 가까울수록</a:t>
            </a:r>
            <a:r>
              <a:rPr lang="en-US" altLang="ko-KR" sz="1600" dirty="0">
                <a:latin typeface="+mn-ea"/>
              </a:rPr>
              <a:t>: “A</a:t>
            </a:r>
            <a:r>
              <a:rPr lang="ko-KR" altLang="en-US" sz="1600" dirty="0">
                <a:latin typeface="+mn-ea"/>
              </a:rPr>
              <a:t>가 커질수록 </a:t>
            </a:r>
            <a:r>
              <a:rPr lang="en-US" altLang="ko-KR" sz="1600" dirty="0">
                <a:latin typeface="+mn-ea"/>
              </a:rPr>
              <a:t>B</a:t>
            </a:r>
            <a:r>
              <a:rPr lang="ko-KR" altLang="en-US" sz="1600" dirty="0">
                <a:latin typeface="+mn-ea"/>
              </a:rPr>
              <a:t>는 </a:t>
            </a:r>
            <a:r>
              <a:rPr lang="ko-KR" altLang="en-US" sz="1600" dirty="0" err="1">
                <a:latin typeface="+mn-ea"/>
              </a:rPr>
              <a:t>작아진다”는</a:t>
            </a:r>
            <a:r>
              <a:rPr lang="ko-KR" altLang="en-US" sz="1600" dirty="0">
                <a:latin typeface="+mn-ea"/>
              </a:rPr>
              <a:t> 강한 음의 선형 관계</a:t>
            </a:r>
          </a:p>
          <a:p>
            <a:pPr marL="176213" indent="187325">
              <a:lnSpc>
                <a:spcPts val="2300"/>
              </a:lnSpc>
              <a:buFont typeface="Arial" panose="020B0604020202020204" pitchFamily="34" charset="0"/>
              <a:buChar char="•"/>
              <a:tabLst>
                <a:tab pos="93663" algn="l"/>
              </a:tabLst>
            </a:pPr>
            <a:r>
              <a:rPr lang="en-US" altLang="ko-KR" sz="1600" dirty="0">
                <a:latin typeface="+mn-ea"/>
              </a:rPr>
              <a:t>0</a:t>
            </a:r>
            <a:r>
              <a:rPr lang="ko-KR" altLang="en-US" sz="1600" dirty="0">
                <a:latin typeface="+mn-ea"/>
              </a:rPr>
              <a:t>에 가까울수록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선형 관계는 거의 없다</a:t>
            </a:r>
            <a:r>
              <a:rPr lang="en-US" altLang="ko-KR" sz="1600" dirty="0"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8179955"/>
      </p:ext>
    </p:extLst>
  </p:cSld>
  <p:clrMapOvr>
    <a:masterClrMapping/>
  </p:clrMapOvr>
  <p:transition spd="slow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1D0D6-B390-F35E-8052-6342BCF5A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5F234B94-0347-CD57-083C-F83E0AE7947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D0D1BE8E-C57C-7C23-0F53-E1F0F876ADA3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74291FC4-4035-32C5-F1AF-24399335E29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3F82C61E-9834-047C-D765-BA0614BE242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4B94527B-A89C-9F53-6AB7-E3CA61935FE4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97DF78-3F9E-C057-8A8B-DA167737FFC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9F95795-08E9-E2E7-0B6D-34C324C5A79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A117680-E95A-E0C1-1EC0-5B9D44F36B9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29B9B69-562B-1316-82C2-F0AE84BB86F3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7-2. </a:t>
            </a:r>
            <a:r>
              <a:rPr lang="ko-KR" altLang="en-US" sz="2000" b="1" dirty="0" err="1">
                <a:solidFill>
                  <a:schemeClr val="tx1"/>
                </a:solidFill>
              </a:rPr>
              <a:t>히트맵으로</a:t>
            </a:r>
            <a:r>
              <a:rPr lang="ko-KR" altLang="en-US" sz="2000" b="1" dirty="0">
                <a:solidFill>
                  <a:schemeClr val="tx1"/>
                </a:solidFill>
              </a:rPr>
              <a:t> 시각화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DCB0726-7C0B-87DE-1C06-EA32D0246E6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7. </a:t>
            </a:r>
            <a:r>
              <a:rPr lang="ko-KR" altLang="en-US" sz="2000" b="1" dirty="0"/>
              <a:t>상관 분석 </a:t>
            </a:r>
            <a:r>
              <a:rPr lang="en-US" altLang="ko-KR" sz="2000" b="1" dirty="0"/>
              <a:t>(Correlation)</a:t>
            </a:r>
            <a:endParaRPr lang="ko-KR" altLang="en-US" sz="2000" b="1" dirty="0"/>
          </a:p>
        </p:txBody>
      </p:sp>
      <p:pic>
        <p:nvPicPr>
          <p:cNvPr id="8" name="그림 7" descr="스크린샷, 라인, 텍스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AE0E2F-4574-439C-503A-F61838A48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52" y="710878"/>
            <a:ext cx="11191688" cy="199804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01B5778-ACDB-1015-387F-DB10F8932519}"/>
              </a:ext>
            </a:extLst>
          </p:cNvPr>
          <p:cNvSpPr txBox="1"/>
          <p:nvPr/>
        </p:nvSpPr>
        <p:spPr>
          <a:xfrm>
            <a:off x="1631504" y="1169457"/>
            <a:ext cx="1119168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buNone/>
            </a:pPr>
            <a:r>
              <a:rPr lang="en-US" altLang="ko-KR" sz="20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plt.figure(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figsize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=(</a:t>
            </a:r>
            <a:r>
              <a:rPr lang="en-US" altLang="ko-KR" sz="20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20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sz="20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sns.heatmap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(corr,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annot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20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True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cmap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20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20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coolwarm</a:t>
            </a:r>
            <a:r>
              <a:rPr lang="en-US" altLang="ko-KR" sz="20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vmin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20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-1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vmax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20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sz="20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plt.title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20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"Temp/</a:t>
            </a:r>
            <a:r>
              <a:rPr lang="en-US" altLang="ko-KR" sz="20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Humi</a:t>
            </a:r>
            <a:r>
              <a:rPr lang="en-US" altLang="ko-KR" sz="20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/Label Correlation"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sz="20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plt.show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</p:txBody>
      </p:sp>
      <p:pic>
        <p:nvPicPr>
          <p:cNvPr id="15" name="그림 1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525A51-A995-792A-E977-3721378E7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424" y="2946183"/>
            <a:ext cx="4712175" cy="3663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978410"/>
      </p:ext>
    </p:extLst>
  </p:cSld>
  <p:clrMapOvr>
    <a:masterClrMapping/>
  </p:clrMapOvr>
  <p:transition spd="slow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C0519-A4F1-327D-40DE-09BBB64F1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21BCFCC1-49BD-7B27-66BF-FB06891828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63" y="3068960"/>
            <a:ext cx="3581337" cy="358133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11" name="Rectangle 1">
            <a:extLst>
              <a:ext uri="{FF2B5EF4-FFF2-40B4-BE49-F238E27FC236}">
                <a16:creationId xmlns:a16="http://schemas.microsoft.com/office/drawing/2014/main" id="{20A2991B-25CA-7A0C-AC8C-2D3EBE451A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344" y="1412776"/>
            <a:ext cx="10877337" cy="25099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176213" marR="0" lvl="0" indent="269875" algn="l" defTabSz="914400" rtl="0" eaLnBrk="0" fontAlgn="base" latinLnBrk="0" hangingPunct="0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온도(</a:t>
            </a: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temp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), 습도(</a:t>
            </a: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humi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)로 양품(OK) / 불량(NOK)을 판정하는 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품질 검사 모델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만들기</a:t>
            </a:r>
          </a:p>
          <a:p>
            <a:pPr marL="176213" marR="0" lvl="0" indent="269875" algn="l" defTabSz="914400" rtl="0" eaLnBrk="0" fontAlgn="base" latinLnBrk="0" hangingPunct="0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서로 다른 여러 알고리즘(Logistic </a:t>
            </a: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Regression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Decision Tree, </a:t>
            </a: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Random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Forest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SVM, KNN, </a:t>
            </a:r>
            <a:br>
              <a:rPr kumimoji="0" lang="en-US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</a:t>
            </a: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Naive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Bayes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Gradient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Boosting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MLP 등)을 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같은 데이터에 적용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해 보고,</a:t>
            </a:r>
          </a:p>
          <a:p>
            <a:pPr marL="176213" marR="0" lvl="0" indent="269875" algn="l" defTabSz="914400" rtl="0" eaLnBrk="0" fontAlgn="base" latinLnBrk="0" hangingPunct="0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정확도(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), 정밀도(Precision), 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재현율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Recall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), </a:t>
            </a:r>
            <a:b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F1-score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를 비교하면서</a:t>
            </a:r>
            <a:b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</a:t>
            </a:r>
            <a:r>
              <a:rPr kumimoji="0" lang="en-US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어떤 상황에서 어떤 알고리즘이 </a:t>
            </a: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좋은지</a:t>
            </a:r>
            <a:r>
              <a:rPr kumimoji="0" lang="en-US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감을 잡는 것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8F01D7-CB88-A89E-67EC-8AC3C02B9D67}"/>
              </a:ext>
            </a:extLst>
          </p:cNvPr>
          <p:cNvSpPr txBox="1"/>
          <p:nvPr/>
        </p:nvSpPr>
        <p:spPr>
          <a:xfrm>
            <a:off x="2567608" y="207703"/>
            <a:ext cx="77460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dirty="0">
                <a:latin typeface="LG Smart UI SemiBold" panose="020B0700000101010101" pitchFamily="50" charset="-127"/>
                <a:ea typeface="LG Smart UI SemiBold" panose="020B0700000101010101" pitchFamily="50" charset="-127"/>
              </a:rPr>
              <a:t>Machine Learning Modelling</a:t>
            </a:r>
            <a:endParaRPr lang="ko-KR" altLang="en-US" sz="4800" dirty="0">
              <a:latin typeface="LG Smart UI SemiBold" panose="020B0700000101010101" pitchFamily="50" charset="-127"/>
              <a:ea typeface="LG Smart UI SemiBold" panose="020B07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1174111"/>
      </p:ext>
    </p:extLst>
  </p:cSld>
  <p:clrMapOvr>
    <a:masterClrMapping/>
  </p:clrMapOvr>
  <p:transition spd="slow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5E40B-EA77-8188-91F9-1A44F2BDE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260BFC9A-7861-B6C1-0987-8DFBF5A6BC83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892CF243-8826-DBD0-CA7C-DDF17516B04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BE323E6C-9782-BE8E-05A8-DC3554A99AE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CFABEDBC-8983-98EA-ACFB-FACCDA67420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6C3432BC-BAAC-131D-3CC5-57017799B2F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786023-B6B6-B47C-5389-52C7B057FFA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57F2FA9-988F-4BAB-F4A5-19349E67409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AB3E1140-083E-1D08-6FF6-030AFE56CCC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26980EB-F726-E24D-17E6-E8AD10AA33F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1-1. </a:t>
            </a:r>
            <a:r>
              <a:rPr lang="ko-KR" altLang="en-US" sz="2000" b="1" dirty="0">
                <a:solidFill>
                  <a:schemeClr val="tx1"/>
                </a:solidFill>
              </a:rPr>
              <a:t>라이브러리 불러오기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046A765-2C5B-5982-C731-A48340F650B5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1.  </a:t>
            </a:r>
            <a:r>
              <a:rPr lang="ko-KR" altLang="en-US" sz="2000" b="1" dirty="0"/>
              <a:t>모든 모델 공통</a:t>
            </a:r>
          </a:p>
        </p:txBody>
      </p:sp>
      <p:pic>
        <p:nvPicPr>
          <p:cNvPr id="9" name="그림 8" descr="스크린샷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D5C7CFE-593C-89FE-1F61-B66094219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08" y="790206"/>
            <a:ext cx="10801200" cy="527758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D7E54AF-14C5-EC3E-2206-77F6611982A2}"/>
              </a:ext>
            </a:extLst>
          </p:cNvPr>
          <p:cNvSpPr txBox="1"/>
          <p:nvPr/>
        </p:nvSpPr>
        <p:spPr>
          <a:xfrm>
            <a:off x="2063551" y="1306719"/>
            <a:ext cx="9361041" cy="386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buNone/>
            </a:pP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pandas </a:t>
            </a: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pd</a:t>
            </a:r>
          </a:p>
          <a:p>
            <a:pPr>
              <a:lnSpc>
                <a:spcPts val="2100"/>
              </a:lnSpc>
              <a:buNone/>
            </a:pP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numpy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np</a:t>
            </a:r>
          </a:p>
          <a:p>
            <a:pPr>
              <a:lnSpc>
                <a:spcPts val="2100"/>
              </a:lnSpc>
              <a:buNone/>
            </a:pP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matplotlib.pyplot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</a:t>
            </a:r>
            <a:endParaRPr lang="en-US" altLang="ko-KR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100"/>
              </a:lnSpc>
              <a:buNone/>
            </a:pP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seaborn </a:t>
            </a: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sns</a:t>
            </a:r>
            <a:endParaRPr lang="en-US" altLang="ko-KR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100"/>
              </a:lnSpc>
              <a:buNone/>
            </a:pPr>
            <a:endParaRPr lang="en-US" altLang="ko-KR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100"/>
              </a:lnSpc>
              <a:buNone/>
            </a:pP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sklearn.model_selection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train_test_split</a:t>
            </a:r>
            <a:endParaRPr lang="en-US" altLang="ko-KR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100"/>
              </a:lnSpc>
              <a:buNone/>
            </a:pP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sklearn.preprocessing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StandardScaler</a:t>
            </a:r>
          </a:p>
          <a:p>
            <a:pPr>
              <a:lnSpc>
                <a:spcPts val="2100"/>
              </a:lnSpc>
              <a:buNone/>
            </a:pP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sklearn.pipeline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Pipeline</a:t>
            </a:r>
            <a:b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endParaRPr lang="en-US" altLang="ko-KR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100"/>
              </a:lnSpc>
              <a:buNone/>
            </a:pP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sklearn.metrics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(</a:t>
            </a:r>
          </a:p>
          <a:p>
            <a:pPr>
              <a:lnSpc>
                <a:spcPts val="21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accuracy_score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precision_score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recall_score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f1_score,</a:t>
            </a:r>
          </a:p>
          <a:p>
            <a:pPr>
              <a:lnSpc>
                <a:spcPts val="21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confusion_matrix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classification_report</a:t>
            </a:r>
            <a:endParaRPr lang="en-US" altLang="ko-KR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1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100"/>
              </a:lnSpc>
              <a:buNone/>
            </a:pPr>
            <a:r>
              <a:rPr lang="en-US" altLang="ko-KR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“Library load completed."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84741170"/>
      </p:ext>
    </p:extLst>
  </p:cSld>
  <p:clrMapOvr>
    <a:masterClrMapping/>
  </p:clrMapOvr>
  <p:transition spd="slow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4B26D-FE45-8E0D-073F-E4ED21970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E18D416D-84AA-C5AC-7434-927AF4C38E5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4975ECCF-988D-23FF-1326-AF3E2508280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DF12391C-7D06-7253-A3D5-BB2E34315C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F139CC49-9FF6-C6E5-3DFE-0E343357F674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93B0334A-BC0F-91A7-3782-B930DA8F5FE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89CD87-9951-C7E2-0941-2EF50B3588A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77F3761D-39D9-78D9-BED2-DFFC0125401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934B530-3623-F7FA-9A44-5BA853496E3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0513747-CF23-985F-75FB-50392DF533C4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1-2. csv upload &amp; read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EA62398-2D6F-88F2-5C19-BAB5075CCB98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1.  </a:t>
            </a:r>
            <a:r>
              <a:rPr lang="ko-KR" altLang="en-US" sz="2000" b="1" dirty="0"/>
              <a:t>모든 모델 공통</a:t>
            </a:r>
          </a:p>
        </p:txBody>
      </p:sp>
      <p:pic>
        <p:nvPicPr>
          <p:cNvPr id="8" name="그림 7" descr="스크린샷, 라인, 텍스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73FE58B-3232-07B0-D86A-14B120734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52" y="710878"/>
            <a:ext cx="11191688" cy="25741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86BC35F-07FA-CFD7-C9DA-9C223AEFE8DD}"/>
              </a:ext>
            </a:extLst>
          </p:cNvPr>
          <p:cNvSpPr txBox="1"/>
          <p:nvPr/>
        </p:nvSpPr>
        <p:spPr>
          <a:xfrm>
            <a:off x="1708732" y="1196752"/>
            <a:ext cx="7560840" cy="1931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google.colab </a:t>
            </a: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files</a:t>
            </a:r>
          </a:p>
          <a:p>
            <a:pPr>
              <a:lnSpc>
                <a:spcPts val="2400"/>
              </a:lnSpc>
              <a:buNone/>
            </a:pPr>
            <a:endParaRPr lang="en-US" altLang="ko-KR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uploaded = files.upload()   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257693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uploaded.keys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df =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pd.read_csv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"TH_quality_10000.csv"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df.head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</p:txBody>
      </p:sp>
      <p:pic>
        <p:nvPicPr>
          <p:cNvPr id="14" name="그림 1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1CEFAC8-4A7E-022B-977C-88ABFA4E2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873" y="3364265"/>
            <a:ext cx="6878576" cy="3352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136934"/>
      </p:ext>
    </p:extLst>
  </p:cSld>
  <p:clrMapOvr>
    <a:masterClrMapping/>
  </p:clrMapOvr>
  <p:transition spd="slow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18EC0-A617-C866-8E86-6C1F188D4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5FF186E-41F3-CF1B-282A-E6169C0185E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5C2E0E62-CBF6-CD98-6162-489A7FA6DED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07062F79-C301-AD22-640D-84214E58C27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1622E548-7B98-A34E-3B35-A0127A3F611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741EFD5B-02BB-A712-C8B4-CAEAB2EDFEA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D8F3BF-871D-48B7-48BA-88E4C2C7EF5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D537BB7-05CD-489E-4997-A4536CD4F46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26D9B48-A3D7-8BC4-B787-C6CFD04DE77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23399C7-A4E2-AF61-E141-42235EAF8925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>
                <a:solidFill>
                  <a:schemeClr val="tx1"/>
                </a:solidFill>
              </a:rPr>
              <a:t>1-3. </a:t>
            </a:r>
            <a:r>
              <a:rPr lang="ko-KR" altLang="en-US" sz="2000" b="1">
                <a:solidFill>
                  <a:schemeClr val="tx1"/>
                </a:solidFill>
              </a:rPr>
              <a:t>입력과 정답 분리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A5B73DA-79FD-C6C5-C58C-C19910A0D539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1.  </a:t>
            </a:r>
            <a:r>
              <a:rPr lang="ko-KR" altLang="en-US" sz="2000" b="1" dirty="0"/>
              <a:t>모든 모델 공통</a:t>
            </a:r>
          </a:p>
        </p:txBody>
      </p:sp>
      <p:pic>
        <p:nvPicPr>
          <p:cNvPr id="8" name="그림 7" descr="스크린샷, 라인, 텍스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41EE0D-8CE1-F986-1AFB-57EC91262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384" y="764704"/>
            <a:ext cx="8496944" cy="178201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23C2650-AEC8-FEB0-B7DD-42A726DF6175}"/>
              </a:ext>
            </a:extLst>
          </p:cNvPr>
          <p:cNvSpPr txBox="1"/>
          <p:nvPr/>
        </p:nvSpPr>
        <p:spPr>
          <a:xfrm>
            <a:off x="1719985" y="1151729"/>
            <a:ext cx="7776864" cy="1007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 = df[[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"temp"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humi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]].values  </a:t>
            </a:r>
            <a:endParaRPr lang="ko-KR" altLang="en-US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 = df[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"label"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].values          </a:t>
            </a:r>
            <a:endParaRPr lang="ko-KR" altLang="en-US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x, y</a:t>
            </a:r>
          </a:p>
        </p:txBody>
      </p:sp>
      <p:pic>
        <p:nvPicPr>
          <p:cNvPr id="20" name="그림 19" descr="텍스트, 폰트, 친필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9823F63-F7B6-41D9-8B10-B259771A68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456" y="2692488"/>
            <a:ext cx="4001058" cy="2057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276313"/>
      </p:ext>
    </p:extLst>
  </p:cSld>
  <p:clrMapOvr>
    <a:masterClrMapping/>
  </p:clrMapOvr>
  <p:transition spd="slow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770A5-5790-EDC7-A432-441485AA0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ABD00244-7950-6C7A-04E0-4C1D98719CD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15A115B8-9BF7-2F3D-E44D-A19B6DFF8C59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9644C50E-3D53-B09F-9875-EABB1C32BCC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5FB594BA-89F4-D54D-4FD1-FFB401929054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575D01A0-2675-5F35-EE7F-87FE486E2433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615594-9E92-FDE5-DCC5-6D087186527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5BB0706-BC6A-B355-1747-0A9EB10FA4F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5876119-FC50-39B5-EC01-B09E4E9144F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B26F6A9-8D1E-B121-C336-54FF8C93EAF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>
                <a:solidFill>
                  <a:schemeClr val="tx1"/>
                </a:solidFill>
              </a:rPr>
              <a:t>1-4. Train, Test </a:t>
            </a:r>
            <a:r>
              <a:rPr lang="ko-KR" altLang="en-US" sz="2000" b="1">
                <a:solidFill>
                  <a:schemeClr val="tx1"/>
                </a:solidFill>
              </a:rPr>
              <a:t>데이터 분리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1D2E9E7-0B5F-A39F-F1E7-9E4CED65F7A1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1.  </a:t>
            </a:r>
            <a:r>
              <a:rPr lang="ko-KR" altLang="en-US" sz="2000" b="1" dirty="0"/>
              <a:t>모든 모델 공통</a:t>
            </a:r>
          </a:p>
        </p:txBody>
      </p:sp>
      <p:pic>
        <p:nvPicPr>
          <p:cNvPr id="8" name="그림 7" descr="스크린샷, 라인, 텍스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8575201-B6C9-B273-360B-B004593B1D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52" y="710878"/>
            <a:ext cx="11191688" cy="25741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DE7A3F0-025E-90FB-89A9-DB20BA7B4F43}"/>
              </a:ext>
            </a:extLst>
          </p:cNvPr>
          <p:cNvSpPr txBox="1"/>
          <p:nvPr/>
        </p:nvSpPr>
        <p:spPr>
          <a:xfrm>
            <a:off x="1708732" y="1340768"/>
            <a:ext cx="9391488" cy="16235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x_train,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x_test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y_train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y_test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train_test_split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x, y,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test_size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0.2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random_state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42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stratify=y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"Train data size:"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x_train.shape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"Test data size :"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x_test.shape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</p:txBody>
      </p:sp>
      <p:pic>
        <p:nvPicPr>
          <p:cNvPr id="12" name="그림 11" descr="텍스트, 폰트, 화이트, 타이포그래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6B87C72-AC2F-1C40-C651-373A0BA54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48" y="3335784"/>
            <a:ext cx="4110402" cy="579090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11" name="Rectangle 1">
            <a:extLst>
              <a:ext uri="{FF2B5EF4-FFF2-40B4-BE49-F238E27FC236}">
                <a16:creationId xmlns:a16="http://schemas.microsoft.com/office/drawing/2014/main" id="{C8C5FC64-A083-4D97-949D-B9C952AE4E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8378" y="4653136"/>
            <a:ext cx="4855945" cy="1862754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7800" marR="0" lvl="0" indent="-177800" algn="l" defTabSz="914400" rtl="0" eaLnBrk="0" fontAlgn="base" latinLnBrk="0" hangingPunct="0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+mn-ea"/>
              </a:rPr>
              <a:t>random_state=</a:t>
            </a:r>
            <a:r>
              <a:rPr lang="en-US" altLang="ko-KR" sz="1600" b="1" dirty="0">
                <a:solidFill>
                  <a:srgbClr val="116644"/>
                </a:solidFill>
                <a:effectLst/>
                <a:latin typeface="+mn-ea"/>
              </a:rPr>
              <a:t>42</a:t>
            </a:r>
            <a:endParaRPr kumimoji="0" lang="en-US" altLang="ko-KR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177800" marR="0" lvl="0" indent="-177800" algn="l" defTabSz="914400" rtl="0" eaLnBrk="0" fontAlgn="base" latinLnBrk="0" hangingPunct="0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데이터를 나눌 때 사용하는 "랜덤 기준값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시드값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)"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177800" marR="0" lvl="0" indent="1588" algn="l" defTabSz="914400" rtl="0" eaLnBrk="0" fontAlgn="base" latinLnBrk="0" hangingPunct="0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데이터를 섞어서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train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/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test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분리</a:t>
            </a:r>
            <a:r>
              <a:rPr lang="ko-KR" altLang="en-US" sz="1400" dirty="0">
                <a:latin typeface="+mn-ea"/>
              </a:rPr>
              <a:t>하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는데, </a:t>
            </a:r>
          </a:p>
          <a:p>
            <a:pPr marL="177800" marR="0" lvl="0" indent="1588" algn="l" defTabSz="914400" rtl="0" eaLnBrk="0" fontAlgn="base" latinLnBrk="0" hangingPunct="0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이 값을 고정하면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항상 같은 결과로 나뉨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</a:p>
          <a:p>
            <a:pPr marL="177800" marR="0" lvl="0" indent="-177800" algn="l" defTabSz="914400" rtl="0" eaLnBrk="0" fontAlgn="base" latinLnBrk="0" hangingPunct="0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즉,</a:t>
            </a:r>
          </a:p>
          <a:p>
            <a:pPr marL="361950" marR="0" lvl="0" indent="-180975" algn="l" defTabSz="914400" rtl="0" eaLnBrk="0" fontAlgn="base" latinLnBrk="0" hangingPunct="0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random_state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=42 → 실행할 때마다 동일하게 분할됨 </a:t>
            </a:r>
          </a:p>
          <a:p>
            <a:pPr marL="361950" marR="0" lvl="0" indent="-180975" algn="l" defTabSz="914400" rtl="0" eaLnBrk="0" fontAlgn="base" latinLnBrk="0" hangingPunct="0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값이 없으면 → 실행할 때마다 결과가 달라짐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76FCE3-632A-46D3-9609-FCBC8DE22EDC}"/>
              </a:ext>
            </a:extLst>
          </p:cNvPr>
          <p:cNvSpPr txBox="1"/>
          <p:nvPr/>
        </p:nvSpPr>
        <p:spPr>
          <a:xfrm>
            <a:off x="6404476" y="4653136"/>
            <a:ext cx="4480064" cy="1410707"/>
          </a:xfrm>
          <a:prstGeom prst="rect">
            <a:avLst/>
          </a:prstGeom>
          <a:noFill/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+mn-ea"/>
              </a:rPr>
              <a:t>stratify=y</a:t>
            </a:r>
            <a:endParaRPr lang="en-US" altLang="ko-KR" sz="1400" b="1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ts val="2100"/>
              </a:lnSpc>
              <a:buNone/>
            </a:pPr>
            <a:r>
              <a:rPr lang="en-US" altLang="ko-KR" sz="1400" dirty="0">
                <a:latin typeface="+mn-ea"/>
              </a:rPr>
              <a:t>- </a:t>
            </a:r>
            <a:r>
              <a:rPr lang="ko-KR" altLang="en-US" sz="1400" dirty="0">
                <a:latin typeface="+mn-ea"/>
              </a:rPr>
              <a:t>클래스 비율을 유지하면서 나누는 옵션</a:t>
            </a:r>
            <a:endParaRPr lang="en-US" altLang="ko-KR" sz="1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ts val="2100"/>
              </a:lnSpc>
            </a:pPr>
            <a:r>
              <a:rPr lang="en-US" altLang="ko-KR" sz="1400" dirty="0">
                <a:latin typeface="+mn-ea"/>
              </a:rPr>
              <a:t>- </a:t>
            </a:r>
            <a:r>
              <a:rPr lang="ko-KR" altLang="en-US" sz="1400" dirty="0">
                <a:latin typeface="+mn-ea"/>
              </a:rPr>
              <a:t>만약 전체 데이터에서 </a:t>
            </a:r>
          </a:p>
          <a:p>
            <a:pPr marL="85725" lvl="1">
              <a:lnSpc>
                <a:spcPts val="2100"/>
              </a:lnSpc>
            </a:pPr>
            <a:r>
              <a:rPr lang="en-US" altLang="ko-KR" sz="1400" dirty="0">
                <a:latin typeface="+mn-ea"/>
              </a:rPr>
              <a:t> A </a:t>
            </a:r>
            <a:r>
              <a:rPr lang="ko-KR" altLang="en-US" sz="1400" dirty="0">
                <a:latin typeface="+mn-ea"/>
              </a:rPr>
              <a:t>클래스 </a:t>
            </a:r>
            <a:r>
              <a:rPr lang="en-US" altLang="ko-KR" sz="1400" dirty="0">
                <a:latin typeface="+mn-ea"/>
              </a:rPr>
              <a:t>70% , B </a:t>
            </a:r>
            <a:r>
              <a:rPr lang="ko-KR" altLang="en-US" sz="1400" dirty="0">
                <a:latin typeface="+mn-ea"/>
              </a:rPr>
              <a:t>클래스 </a:t>
            </a:r>
            <a:r>
              <a:rPr lang="en-US" altLang="ko-KR" sz="1400" dirty="0">
                <a:latin typeface="+mn-ea"/>
              </a:rPr>
              <a:t>30% </a:t>
            </a:r>
            <a:r>
              <a:rPr lang="ko-KR" altLang="en-US" sz="1400" dirty="0">
                <a:latin typeface="+mn-ea"/>
              </a:rPr>
              <a:t>라면</a:t>
            </a:r>
            <a:r>
              <a:rPr lang="en-US" altLang="ko-KR" sz="1400" dirty="0">
                <a:latin typeface="+mn-ea"/>
              </a:rPr>
              <a:t>,</a:t>
            </a:r>
          </a:p>
          <a:p>
            <a:pPr>
              <a:lnSpc>
                <a:spcPts val="2100"/>
              </a:lnSpc>
            </a:pPr>
            <a:r>
              <a:rPr lang="en-US" altLang="ko-KR" sz="1400" dirty="0">
                <a:latin typeface="+mn-ea"/>
              </a:rPr>
              <a:t> </a:t>
            </a:r>
            <a:r>
              <a:rPr lang="ko-KR" altLang="en-US" sz="1400" dirty="0">
                <a:latin typeface="+mn-ea"/>
              </a:rPr>
              <a:t> </a:t>
            </a:r>
            <a:r>
              <a:rPr lang="en-US" altLang="ko-KR" sz="1400" dirty="0">
                <a:latin typeface="+mn-ea"/>
              </a:rPr>
              <a:t>train/test </a:t>
            </a:r>
            <a:r>
              <a:rPr lang="ko-KR" altLang="en-US" sz="1400" dirty="0">
                <a:latin typeface="+mn-ea"/>
              </a:rPr>
              <a:t>나눠도 이 비율 유지</a:t>
            </a:r>
            <a:endParaRPr lang="en-US" altLang="ko-KR" sz="1400" b="0" dirty="0">
              <a:solidFill>
                <a:srgbClr val="000000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35331373"/>
      </p:ext>
    </p:extLst>
  </p:cSld>
  <p:clrMapOvr>
    <a:masterClrMapping/>
  </p:clrMapOvr>
  <p:transition spd="slow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89EAB-8054-5256-A7A0-83620ECC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DE548E76-BBEE-7562-8F3F-01AF58FDF2E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D33D400B-5E1C-5582-CC1C-43D259432A39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D630275C-5832-5514-F44A-D1ECB269892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875DCF65-2272-54AD-8E6E-BA05957D80A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F6A134DB-6543-0271-DBC6-094224C058B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D90245-73C6-CF99-FFAE-F429B617E7F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5DA5DC7-F31C-E37F-A8BD-11B13988F38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7FB1425-B491-FB4F-F968-35C90F04F6A4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EEEB5D5-6D70-B116-43B4-DB190C0B3137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7" indent="-342900">
              <a:buFont typeface="Arial" panose="020B0604020202020204" pitchFamily="34" charset="0"/>
              <a:buChar char="•"/>
            </a:pPr>
            <a:r>
              <a:rPr lang="ko-KR" altLang="en-US" sz="2000" b="1" dirty="0">
                <a:solidFill>
                  <a:schemeClr val="tx1"/>
                </a:solidFill>
              </a:rPr>
              <a:t>여러 모델 반복 학습을 위해 공통 평가 함수 작성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F3AFD10-E4C1-A327-348E-7CF9853774B1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2.  </a:t>
            </a:r>
            <a:r>
              <a:rPr lang="ko-KR" altLang="en-US" sz="2000" b="1" dirty="0"/>
              <a:t>평가함수 공통 정의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0CD872-04FA-476B-2971-52B0680D37D7}"/>
              </a:ext>
            </a:extLst>
          </p:cNvPr>
          <p:cNvSpPr txBox="1"/>
          <p:nvPr/>
        </p:nvSpPr>
        <p:spPr>
          <a:xfrm>
            <a:off x="335360" y="695250"/>
            <a:ext cx="11331183" cy="6097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def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evaluate_model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urier New" panose="02070309020205020404" pitchFamily="49" charset="0"/>
              </a:rPr>
              <a:t>name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urier New" panose="02070309020205020404" pitchFamily="49" charset="0"/>
              </a:rPr>
              <a:t>model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x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urier New" panose="02070309020205020404" pitchFamily="49" charset="0"/>
              </a:rPr>
              <a:t>_train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urier New" panose="02070309020205020404" pitchFamily="49" charset="0"/>
              </a:rPr>
              <a:t>y_train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x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urier New" panose="02070309020205020404" pitchFamily="49" charset="0"/>
              </a:rPr>
              <a:t>_test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1080"/>
                </a:solidFill>
                <a:effectLst/>
                <a:latin typeface="Courier New" panose="02070309020205020404" pitchFamily="49" charset="0"/>
              </a:rPr>
              <a:t>y_test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urier New" panose="02070309020205020404" pitchFamily="49" charset="0"/>
              </a:rPr>
              <a:t>results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):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"""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모델 학습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+ 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예측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+ 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주요 지표 계산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+ 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결과 저장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"""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800"/>
              </a:lnSpc>
              <a:buNone/>
            </a:pPr>
            <a:r>
              <a:rPr lang="ko-KR" altLang="en-US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model.fit(x_train, y_train)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y_pred = model.predict(x_test)</a:t>
            </a:r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endParaRPr lang="en-US" altLang="ko-KR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acc  = accuracy_score(y_test, y_pred)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prec = precision_score(y_test, y_pred, zero_division=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rec  = recall_score(y_test, y_pred, zero_division=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f1   = f1_score(y_test, y_pred, zero_division=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endParaRPr lang="en-US" altLang="ko-KR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"\n==== [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{name}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] ===="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"Accuracy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: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{acc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:.4f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"Precision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{prec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:.4f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"Recall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  :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{rec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:.4f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"F1-score :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{f1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:.4f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"\n[Confusion Matrix]"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confusion_matrix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y_test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y_pred))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"\n[Classification Report]"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classification_report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y_test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y_pred, digits=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zero_division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results.append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({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"model"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: name,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"accuracy"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: acc,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"precision"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: prec,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"recall"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: rec,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"f1"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: f1</a:t>
            </a:r>
          </a:p>
          <a:p>
            <a:pPr>
              <a:lnSpc>
                <a:spcPts val="18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})</a:t>
            </a:r>
          </a:p>
        </p:txBody>
      </p:sp>
    </p:spTree>
    <p:extLst>
      <p:ext uri="{BB962C8B-B14F-4D97-AF65-F5344CB8AC3E}">
        <p14:creationId xmlns:p14="http://schemas.microsoft.com/office/powerpoint/2010/main" val="2150056181"/>
      </p:ext>
    </p:extLst>
  </p:cSld>
  <p:clrMapOvr>
    <a:masterClrMapping/>
  </p:clrMapOvr>
  <p:transition spd="slow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89EAB-8054-5256-A7A0-83620ECC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DE548E76-BBEE-7562-8F3F-01AF58FDF2E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D33D400B-5E1C-5582-CC1C-43D259432A39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D630275C-5832-5514-F44A-D1ECB269892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875DCF65-2272-54AD-8E6E-BA05957D80A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F6A134DB-6543-0271-DBC6-094224C058B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D90245-73C6-CF99-FFAE-F429B617E7F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5DA5DC7-F31C-E37F-A8BD-11B13988F38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7FB1425-B491-FB4F-F968-35C90F04F6A4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EEEB5D5-6D70-B116-43B4-DB190C0B3137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F3AFD10-E4C1-A327-348E-7CF9853774B1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2.  </a:t>
            </a:r>
            <a:r>
              <a:rPr lang="ko-KR" altLang="en-US" sz="2000" b="1" dirty="0"/>
              <a:t>평가함수 공통 정의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146A60-C98E-44DA-AFD9-2D8E2C0D062E}"/>
              </a:ext>
            </a:extLst>
          </p:cNvPr>
          <p:cNvSpPr txBox="1"/>
          <p:nvPr/>
        </p:nvSpPr>
        <p:spPr>
          <a:xfrm>
            <a:off x="1885809" y="2132856"/>
            <a:ext cx="82157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/>
              <a:t>이제 다양한 </a:t>
            </a:r>
            <a:r>
              <a:rPr lang="en-US" altLang="ko-KR" sz="2400" dirty="0"/>
              <a:t>ML </a:t>
            </a:r>
            <a:r>
              <a:rPr lang="ko-KR" altLang="en-US" sz="2400" dirty="0"/>
              <a:t>학습 모델들을 적용하여 서로 비교해보자</a:t>
            </a:r>
            <a:r>
              <a:rPr lang="en-US" altLang="ko-KR" sz="2400" dirty="0"/>
              <a:t>.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479715858"/>
      </p:ext>
    </p:extLst>
  </p:cSld>
  <p:clrMapOvr>
    <a:masterClrMapping/>
  </p:clrMapOvr>
  <p:transition spd="slow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9612E-8459-1504-19D2-32F13D098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55461DBC-23B6-0A86-AD35-584A94D8E2A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E2316790-8C83-B162-F385-89BF98B3BF7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F79AC61A-3179-3A13-48CA-78F8A6CABBF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34D80AAE-B372-4C84-5AE1-2C35212A131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3BBB1B5-A2F4-1A2F-AF97-9E00D55F7ED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62B7A93-38F9-6D78-C326-7370BDCAC51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5149BD33-169E-E032-50E8-0CB29598188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7AD3331-3E0B-25F9-F8FF-E957F40FE9F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B46C5A6-7061-AF3D-641E-FE98E5442C7A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bg1"/>
                </a:solidFill>
              </a:rPr>
              <a:t>3-1. Logistic Regression (</a:t>
            </a:r>
            <a:r>
              <a:rPr lang="ko-KR" altLang="en-US" sz="2000" b="1" dirty="0">
                <a:solidFill>
                  <a:schemeClr val="bg1"/>
                </a:solidFill>
              </a:rPr>
              <a:t>로지스틱 회귀</a:t>
            </a:r>
            <a:r>
              <a:rPr lang="en-US" altLang="ko-KR" sz="2000" b="1" dirty="0">
                <a:solidFill>
                  <a:schemeClr val="bg1"/>
                </a:solidFill>
              </a:rPr>
              <a:t>)</a:t>
            </a:r>
            <a:endParaRPr lang="ko-KR" altLang="en-US" sz="2000" b="1" dirty="0">
              <a:solidFill>
                <a:schemeClr val="bg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4C784D2-32DB-4403-4857-DFE72A54B53C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B9B43A1-B8CC-06A4-28B4-1D9D97302B66}"/>
                  </a:ext>
                </a:extLst>
              </p:cNvPr>
              <p:cNvSpPr txBox="1"/>
              <p:nvPr/>
            </p:nvSpPr>
            <p:spPr>
              <a:xfrm>
                <a:off x="119336" y="635819"/>
                <a:ext cx="8665640" cy="60000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ts val="2900"/>
                  </a:lnSpc>
                  <a:buNone/>
                </a:pPr>
                <a:r>
                  <a:rPr lang="en-US" altLang="ko-KR" b="1" dirty="0">
                    <a:solidFill>
                      <a:srgbClr val="0000FF"/>
                    </a:solidFill>
                    <a:latin typeface="+mn-ea"/>
                  </a:rPr>
                  <a:t>1) </a:t>
                </a:r>
                <a:r>
                  <a:rPr lang="ko-KR" altLang="en-US" b="1" dirty="0">
                    <a:solidFill>
                      <a:srgbClr val="0000FF"/>
                    </a:solidFill>
                    <a:latin typeface="+mn-ea"/>
                  </a:rPr>
                  <a:t>로지스틱 회귀의 핵심 아이디어</a:t>
                </a:r>
                <a:endParaRPr lang="en-US" altLang="ko-KR" b="1" dirty="0">
                  <a:solidFill>
                    <a:srgbClr val="0000FF"/>
                  </a:solidFill>
                  <a:latin typeface="+mn-ea"/>
                </a:endParaRPr>
              </a:p>
              <a:p>
                <a:pPr>
                  <a:lnSpc>
                    <a:spcPts val="2900"/>
                  </a:lnSpc>
                  <a:buNone/>
                </a:pPr>
                <a:r>
                  <a:rPr lang="en-US" altLang="ko-KR" b="1" dirty="0">
                    <a:latin typeface="+mn-ea"/>
                  </a:rPr>
                  <a:t>(1) </a:t>
                </a:r>
                <a:r>
                  <a:rPr lang="ko-KR" altLang="en-US" b="1" dirty="0">
                    <a:latin typeface="+mn-ea"/>
                  </a:rPr>
                  <a:t>선형 결합 점수</a:t>
                </a:r>
                <a:r>
                  <a:rPr lang="en-US" altLang="ko-KR" b="1" dirty="0">
                    <a:latin typeface="+mn-ea"/>
                  </a:rPr>
                  <a:t>(Linear Combination Score)</a:t>
                </a:r>
                <a:r>
                  <a:rPr lang="ko-KR" altLang="en-US" b="1" dirty="0">
                    <a:latin typeface="+mn-ea"/>
                  </a:rPr>
                  <a:t> 만들기</a:t>
                </a:r>
              </a:p>
              <a:p>
                <a:pPr>
                  <a:lnSpc>
                    <a:spcPts val="2900"/>
                  </a:lnSpc>
                  <a:buNone/>
                </a:pPr>
                <a:r>
                  <a:rPr lang="en-US" altLang="ko-KR" dirty="0">
                    <a:latin typeface="+mn-ea"/>
                  </a:rPr>
                  <a:t>   temp, </a:t>
                </a:r>
                <a:r>
                  <a:rPr lang="en-US" altLang="ko-KR" dirty="0" err="1">
                    <a:latin typeface="+mn-ea"/>
                  </a:rPr>
                  <a:t>humi</a:t>
                </a:r>
                <a:r>
                  <a:rPr lang="ko-KR" altLang="en-US" dirty="0">
                    <a:latin typeface="+mn-ea"/>
                  </a:rPr>
                  <a:t>가 입력이면 모델은 먼저 </a:t>
                </a:r>
                <a:r>
                  <a:rPr lang="ko-KR" altLang="en-US" b="1" dirty="0">
                    <a:latin typeface="+mn-ea"/>
                  </a:rPr>
                  <a:t>선형 결합 점수</a:t>
                </a:r>
                <a:r>
                  <a:rPr lang="ko-KR" altLang="en-US" dirty="0">
                    <a:latin typeface="+mn-ea"/>
                  </a:rPr>
                  <a:t>를 계산한다</a:t>
                </a:r>
                <a:r>
                  <a:rPr lang="en-US" altLang="ko-KR" dirty="0">
                    <a:latin typeface="+mn-ea"/>
                  </a:rPr>
                  <a:t>.</a:t>
                </a:r>
              </a:p>
              <a:p>
                <a:pPr marL="269875" indent="176213">
                  <a:lnSpc>
                    <a:spcPts val="29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b="1" dirty="0">
                    <a:latin typeface="+mn-ea"/>
                  </a:rPr>
                  <a:t>점수</a:t>
                </a:r>
                <a:r>
                  <a:rPr lang="en-US" altLang="ko-KR" b="1" dirty="0">
                    <a:latin typeface="+mn-ea"/>
                  </a:rPr>
                  <a:t>(Score)</a:t>
                </a:r>
                <a:r>
                  <a:rPr lang="ko-KR" altLang="en-US" b="1" dirty="0">
                    <a:latin typeface="+mn-ea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b="1" i="1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ko-KR" b="1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ko-KR" alt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altLang="ko-KR" b="1" i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altLang="ko-KR" b="1" i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ko-KR" alt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altLang="ko-KR" b="1" i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ko-KR" altLang="en-US" b="1" i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ko-KR" altLang="en-US" b="1" i="1">
                        <a:latin typeface="Cambria Math" panose="02040503050406030204" pitchFamily="18" charset="0"/>
                      </a:rPr>
                      <m:t>𝒕𝒆𝒎𝒑</m:t>
                    </m:r>
                    <m:r>
                      <a:rPr lang="en-US" altLang="ko-KR" b="1" i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ko-KR" alt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altLang="ko-KR" b="1" i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ko-KR" altLang="en-US" b="1" i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ko-K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ko-KR" altLang="en-US" b="1" i="1">
                        <a:latin typeface="Cambria Math" panose="02040503050406030204" pitchFamily="18" charset="0"/>
                      </a:rPr>
                      <m:t>𝒖𝒎𝒊</m:t>
                    </m:r>
                  </m:oMath>
                </a14:m>
                <a:endParaRPr lang="en-US" altLang="ko-KR" b="1" dirty="0">
                  <a:latin typeface="+mn-ea"/>
                </a:endParaRPr>
              </a:p>
              <a:p>
                <a:pPr marL="269875" indent="176213">
                  <a:lnSpc>
                    <a:spcPts val="2900"/>
                  </a:lnSpc>
                  <a:buFont typeface="Arial" panose="020B0604020202020204" pitchFamily="34" charset="0"/>
                  <a:buChar char="•"/>
                </a:pPr>
                <a:endParaRPr lang="ko-KR" altLang="en-US" dirty="0">
                  <a:latin typeface="+mn-ea"/>
                </a:endParaRPr>
              </a:p>
              <a:p>
                <a:pPr>
                  <a:lnSpc>
                    <a:spcPts val="2900"/>
                  </a:lnSpc>
                  <a:buNone/>
                </a:pPr>
                <a:r>
                  <a:rPr lang="en-US" altLang="ko-KR" b="1" dirty="0">
                    <a:latin typeface="+mn-ea"/>
                  </a:rPr>
                  <a:t>(2) </a:t>
                </a:r>
                <a:r>
                  <a:rPr lang="ko-KR" altLang="en-US" b="1" dirty="0">
                    <a:latin typeface="+mn-ea"/>
                  </a:rPr>
                  <a:t>점수를 확률로 바꾸기 </a:t>
                </a:r>
                <a:r>
                  <a:rPr lang="en-US" altLang="ko-KR" b="1" dirty="0">
                    <a:latin typeface="+mn-ea"/>
                  </a:rPr>
                  <a:t>(sigmoid, </a:t>
                </a:r>
                <a:r>
                  <a:rPr lang="ko-KR" altLang="en-US" b="1" dirty="0" err="1">
                    <a:latin typeface="+mn-ea"/>
                  </a:rPr>
                  <a:t>시그모이드</a:t>
                </a:r>
                <a:r>
                  <a:rPr lang="en-US" altLang="ko-KR" b="1" dirty="0">
                    <a:latin typeface="+mn-ea"/>
                  </a:rPr>
                  <a:t>)</a:t>
                </a:r>
              </a:p>
              <a:p>
                <a:pPr>
                  <a:lnSpc>
                    <a:spcPts val="2900"/>
                  </a:lnSpc>
                  <a:buNone/>
                </a:pPr>
                <a:r>
                  <a:rPr lang="ko-KR" altLang="en-US" dirty="0">
                    <a:latin typeface="+mn-ea"/>
                  </a:rPr>
                  <a:t>   점수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ko-KR" altLang="en-US" dirty="0">
                    <a:latin typeface="+mn-ea"/>
                  </a:rPr>
                  <a:t>는 </a:t>
                </a:r>
                <a:r>
                  <a:rPr lang="en-US" altLang="ko-KR" dirty="0">
                    <a:latin typeface="+mn-ea"/>
                  </a:rPr>
                  <a:t>-</a:t>
                </a:r>
                <a:r>
                  <a:rPr lang="ko-KR" altLang="en-US" dirty="0">
                    <a:latin typeface="+mn-ea"/>
                  </a:rPr>
                  <a:t>무한</a:t>
                </a:r>
                <a:r>
                  <a:rPr lang="en-US" altLang="ko-KR" dirty="0">
                    <a:latin typeface="+mn-ea"/>
                  </a:rPr>
                  <a:t>~+</a:t>
                </a:r>
                <a:r>
                  <a:rPr lang="ko-KR" altLang="en-US" dirty="0">
                    <a:latin typeface="+mn-ea"/>
                  </a:rPr>
                  <a:t>무한 값이므로</a:t>
                </a:r>
                <a:r>
                  <a:rPr lang="en-US" altLang="ko-KR" dirty="0">
                    <a:latin typeface="+mn-ea"/>
                  </a:rPr>
                  <a:t>, </a:t>
                </a:r>
                <a:r>
                  <a:rPr lang="ko-KR" altLang="en-US" dirty="0">
                    <a:latin typeface="+mn-ea"/>
                  </a:rPr>
                  <a:t>이를 </a:t>
                </a:r>
                <a:r>
                  <a:rPr lang="en-US" altLang="ko-KR" dirty="0">
                    <a:latin typeface="+mn-ea"/>
                  </a:rPr>
                  <a:t>0~1</a:t>
                </a:r>
                <a:r>
                  <a:rPr lang="ko-KR" altLang="en-US" dirty="0">
                    <a:latin typeface="+mn-ea"/>
                  </a:rPr>
                  <a:t>로 압축해 확률처럼 만들어야 한다</a:t>
                </a:r>
                <a:r>
                  <a:rPr lang="en-US" altLang="ko-KR" dirty="0">
                    <a:latin typeface="+mn-ea"/>
                  </a:rPr>
                  <a:t>.</a:t>
                </a:r>
              </a:p>
              <a:p>
                <a:pPr marL="269875" indent="176213">
                  <a:lnSpc>
                    <a:spcPts val="29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2000" b="1" i="1">
                        <a:latin typeface="Cambria Math" panose="02040503050406030204" pitchFamily="18" charset="0"/>
                      </a:rPr>
                      <m:t>𝑷</m:t>
                    </m:r>
                    <m:d>
                      <m:dPr>
                        <m:ctrlPr>
                          <a:rPr lang="ko-KR" altLang="en-US" sz="20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b="1" i="1">
                            <a:latin typeface="Cambria Math" panose="02040503050406030204" pitchFamily="18" charset="0"/>
                          </a:rPr>
                          <m:t>𝑶𝑲</m:t>
                        </m:r>
                      </m:e>
                    </m:d>
                    <m:r>
                      <a:rPr lang="en-US" altLang="ko-KR" sz="2000" b="1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2000" b="1" i="1">
                        <a:latin typeface="Cambria Math" panose="02040503050406030204" pitchFamily="18" charset="0"/>
                      </a:rPr>
                      <m:t>𝝈</m:t>
                    </m:r>
                    <m:d>
                      <m:dPr>
                        <m:ctrlPr>
                          <a:rPr lang="ko-KR" altLang="en-US" sz="20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</m:d>
                    <m:r>
                      <a:rPr lang="en-US" altLang="ko-KR" sz="2000" b="1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ko-KR" altLang="en-US" sz="20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1" i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altLang="ko-KR" sz="2000" b="1" i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altLang="ko-KR" sz="2000" b="1" i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ko-KR" altLang="en-US" sz="20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en-US" sz="2000" b="1" i="1">
                                <a:latin typeface="Cambria Math" panose="02040503050406030204" pitchFamily="18" charset="0"/>
                              </a:rPr>
                              <m:t>𝒆</m:t>
                            </m:r>
                          </m:e>
                          <m:sup>
                            <m:r>
                              <a:rPr lang="ko-KR" altLang="en-US" sz="2000" b="1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ko-KR" altLang="en-US" sz="2000" b="1" i="1">
                                <a:latin typeface="Cambria Math" panose="02040503050406030204" pitchFamily="18" charset="0"/>
                              </a:rPr>
                              <m:t>𝒛</m:t>
                            </m:r>
                          </m:sup>
                        </m:sSup>
                      </m:den>
                    </m:f>
                  </m:oMath>
                </a14:m>
                <a:endParaRPr lang="ko-KR" altLang="en-US" sz="2000" b="1" dirty="0">
                  <a:latin typeface="+mn-ea"/>
                </a:endParaRPr>
              </a:p>
              <a:p>
                <a:pPr>
                  <a:lnSpc>
                    <a:spcPts val="2900"/>
                  </a:lnSpc>
                  <a:buNone/>
                </a:pPr>
                <a:endParaRPr lang="en-US" altLang="ko-KR" b="1" dirty="0">
                  <a:latin typeface="+mn-ea"/>
                </a:endParaRPr>
              </a:p>
              <a:p>
                <a:pPr>
                  <a:lnSpc>
                    <a:spcPts val="2900"/>
                  </a:lnSpc>
                  <a:buNone/>
                </a:pPr>
                <a:r>
                  <a:rPr lang="en-US" altLang="ko-KR" b="1" dirty="0">
                    <a:latin typeface="+mn-ea"/>
                  </a:rPr>
                  <a:t>(3) </a:t>
                </a:r>
                <a:r>
                  <a:rPr lang="ko-KR" altLang="en-US" b="1" dirty="0">
                    <a:latin typeface="+mn-ea"/>
                  </a:rPr>
                  <a:t>경계선</a:t>
                </a:r>
                <a:r>
                  <a:rPr lang="en-US" altLang="ko-KR" b="1" dirty="0">
                    <a:latin typeface="+mn-ea"/>
                  </a:rPr>
                  <a:t>(</a:t>
                </a:r>
                <a:r>
                  <a:rPr lang="ko-KR" altLang="en-US" b="1" dirty="0">
                    <a:latin typeface="+mn-ea"/>
                  </a:rPr>
                  <a:t>결정경계</a:t>
                </a:r>
                <a:r>
                  <a:rPr lang="en-US" altLang="ko-KR" b="1" dirty="0">
                    <a:latin typeface="+mn-ea"/>
                  </a:rPr>
                  <a:t>)</a:t>
                </a:r>
                <a:r>
                  <a:rPr lang="ko-KR" altLang="en-US" b="1" dirty="0">
                    <a:latin typeface="+mn-ea"/>
                  </a:rPr>
                  <a:t>의 의미</a:t>
                </a:r>
              </a:p>
              <a:p>
                <a:pPr>
                  <a:lnSpc>
                    <a:spcPts val="2900"/>
                  </a:lnSpc>
                  <a:buNone/>
                </a:pPr>
                <a:r>
                  <a:rPr lang="en-US" altLang="ko-KR" dirty="0">
                    <a:latin typeface="+mn-ea"/>
                  </a:rPr>
                  <a:t>   OK/NOK</a:t>
                </a:r>
                <a:r>
                  <a:rPr lang="ko-KR" altLang="en-US" dirty="0">
                    <a:latin typeface="+mn-ea"/>
                  </a:rPr>
                  <a:t>를 나누는 기준을 보통 </a:t>
                </a:r>
                <a:r>
                  <a:rPr lang="en-US" altLang="ko-KR" dirty="0">
                    <a:latin typeface="+mn-ea"/>
                  </a:rPr>
                  <a:t>0.5</a:t>
                </a:r>
                <a:r>
                  <a:rPr lang="ko-KR" altLang="en-US" dirty="0">
                    <a:latin typeface="+mn-ea"/>
                  </a:rPr>
                  <a:t>로 잡으면</a:t>
                </a:r>
                <a:r>
                  <a:rPr lang="en-US" altLang="ko-KR" dirty="0">
                    <a:latin typeface="+mn-ea"/>
                  </a:rPr>
                  <a:t>,</a:t>
                </a:r>
              </a:p>
              <a:p>
                <a:pPr marL="269875" indent="176213">
                  <a:lnSpc>
                    <a:spcPts val="29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𝑂𝐾</m:t>
                        </m:r>
                      </m:e>
                    </m:d>
                    <m:r>
                      <a:rPr lang="en-US" altLang="ko-KR" i="0">
                        <a:latin typeface="Cambria Math" panose="02040503050406030204" pitchFamily="18" charset="0"/>
                      </a:rPr>
                      <m:t>=0.5</m:t>
                    </m:r>
                    <m:r>
                      <m:rPr>
                        <m:nor/>
                      </m:rPr>
                      <a:rPr lang="ko-KR" altLang="en-US" b="0" i="1">
                        <a:latin typeface="+mn-ea"/>
                      </a:rPr>
                      <m:t>  </m:t>
                    </m:r>
                    <m:r>
                      <a:rPr lang="ko-KR" altLang="en-US" b="0" i="0">
                        <a:latin typeface="Cambria Math" panose="02040503050406030204" pitchFamily="18" charset="0"/>
                      </a:rPr>
                      <m:t>⟺</m:t>
                    </m:r>
                    <m:r>
                      <m:rPr>
                        <m:nor/>
                      </m:rPr>
                      <a:rPr lang="ko-KR" altLang="en-US" b="0" i="1">
                        <a:latin typeface="+mn-ea"/>
                      </a:rPr>
                      <m:t>  </m:t>
                    </m:r>
                    <m:r>
                      <a:rPr lang="ko-KR" altLang="en-US" b="0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altLang="ko-KR" b="0" i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ko-KR" dirty="0">
                  <a:latin typeface="+mn-ea"/>
                </a:endParaRPr>
              </a:p>
              <a:p>
                <a:pPr marL="269875" indent="176213">
                  <a:lnSpc>
                    <a:spcPts val="2900"/>
                  </a:lnSpc>
                  <a:buFont typeface="Arial" panose="020B0604020202020204" pitchFamily="34" charset="0"/>
                  <a:buChar char="•"/>
                </a:pPr>
                <a:endParaRPr lang="ko-KR" altLang="en-US" dirty="0">
                  <a:latin typeface="+mn-ea"/>
                </a:endParaRPr>
              </a:p>
              <a:p>
                <a:pPr>
                  <a:lnSpc>
                    <a:spcPts val="2900"/>
                  </a:lnSpc>
                  <a:buNone/>
                </a:pPr>
                <a:r>
                  <a:rPr lang="ko-KR" altLang="en-US" dirty="0">
                    <a:latin typeface="+mn-ea"/>
                  </a:rPr>
                  <a:t>즉 </a:t>
                </a:r>
                <a:r>
                  <a:rPr lang="ko-KR" altLang="en-US" b="1" dirty="0">
                    <a:latin typeface="+mn-ea"/>
                  </a:rPr>
                  <a:t>결정경계는  </a:t>
                </a:r>
                <a14:m>
                  <m:oMath xmlns:m="http://schemas.openxmlformats.org/officeDocument/2006/math">
                    <m:r>
                      <a:rPr lang="en-US" altLang="ko-KR" b="1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i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i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i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𝑡𝑒𝑚𝑝</m:t>
                    </m:r>
                    <m:r>
                      <a:rPr lang="en-US" altLang="ko-KR" i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i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ko-KR" altLang="en-US" i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𝑢𝑚𝑖</m:t>
                    </m:r>
                    <m:r>
                      <a:rPr lang="en-US" altLang="ko-KR" i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ko-KR" altLang="en-US" dirty="0">
                  <a:latin typeface="+mn-ea"/>
                </a:endParaRPr>
              </a:p>
              <a:p>
                <a:pPr>
                  <a:lnSpc>
                    <a:spcPts val="2900"/>
                  </a:lnSpc>
                  <a:buNone/>
                </a:pPr>
                <a:r>
                  <a:rPr lang="ko-KR" altLang="en-US" dirty="0">
                    <a:latin typeface="+mn-ea"/>
                  </a:rPr>
                  <a:t>이게 </a:t>
                </a:r>
                <a:r>
                  <a:rPr lang="en-US" altLang="ko-KR" dirty="0">
                    <a:latin typeface="+mn-ea"/>
                  </a:rPr>
                  <a:t>2D</a:t>
                </a:r>
                <a:r>
                  <a:rPr lang="ko-KR" altLang="en-US" dirty="0">
                    <a:latin typeface="+mn-ea"/>
                  </a:rPr>
                  <a:t>에서는 </a:t>
                </a:r>
                <a:r>
                  <a:rPr lang="ko-KR" altLang="en-US" b="1" dirty="0">
                    <a:latin typeface="+mn-ea"/>
                  </a:rPr>
                  <a:t>직선</a:t>
                </a:r>
                <a:r>
                  <a:rPr lang="ko-KR" altLang="en-US" dirty="0">
                    <a:latin typeface="+mn-ea"/>
                  </a:rPr>
                  <a:t>이 된다</a:t>
                </a:r>
                <a:r>
                  <a:rPr lang="en-US" altLang="ko-KR" dirty="0">
                    <a:latin typeface="+mn-ea"/>
                  </a:rPr>
                  <a:t>.</a:t>
                </a:r>
              </a:p>
              <a:p>
                <a:pPr>
                  <a:lnSpc>
                    <a:spcPts val="2900"/>
                  </a:lnSpc>
                  <a:buNone/>
                </a:pPr>
                <a:endParaRPr lang="en-US" altLang="ko-KR" dirty="0">
                  <a:latin typeface="+mn-ea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B9B43A1-B8CC-06A4-28B4-1D9D97302B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336" y="635819"/>
                <a:ext cx="8665640" cy="6000040"/>
              </a:xfrm>
              <a:prstGeom prst="rect">
                <a:avLst/>
              </a:prstGeom>
              <a:blipFill>
                <a:blip r:embed="rId2"/>
                <a:stretch>
                  <a:fillRect l="-6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0598F2C-C52E-B152-0669-F1EFF9D80543}"/>
                  </a:ext>
                </a:extLst>
              </p:cNvPr>
              <p:cNvSpPr txBox="1"/>
              <p:nvPr/>
            </p:nvSpPr>
            <p:spPr>
              <a:xfrm>
                <a:off x="6041233" y="1844824"/>
                <a:ext cx="3079103" cy="603370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>
                <a:spAutoFit/>
              </a:bodyPr>
              <a:lstStyle/>
              <a:p>
                <a:pPr indent="176213">
                  <a:lnSpc>
                    <a:spcPts val="21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400" i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+mn-ea"/>
                  </a:rPr>
                  <a:t>: </a:t>
                </a:r>
                <a:r>
                  <a:rPr lang="ko-KR" altLang="en-US" sz="1400" dirty="0">
                    <a:latin typeface="+mn-ea"/>
                  </a:rPr>
                  <a:t>절편</a:t>
                </a:r>
                <a:r>
                  <a:rPr lang="en-US" altLang="ko-KR" sz="1400" dirty="0">
                    <a:latin typeface="+mn-ea"/>
                  </a:rPr>
                  <a:t>(</a:t>
                </a:r>
                <a:r>
                  <a:rPr lang="ko-KR" altLang="en-US" sz="1400" dirty="0">
                    <a:latin typeface="+mn-ea"/>
                  </a:rPr>
                  <a:t>기본값</a:t>
                </a:r>
                <a:r>
                  <a:rPr lang="en-US" altLang="ko-KR" sz="1400" dirty="0">
                    <a:latin typeface="+mn-ea"/>
                  </a:rPr>
                  <a:t>/offset/bias)</a:t>
                </a:r>
              </a:p>
              <a:p>
                <a:pPr indent="176213">
                  <a:lnSpc>
                    <a:spcPts val="21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4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400" i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ko-KR" alt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400" i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+mn-ea"/>
                  </a:rPr>
                  <a:t>: </a:t>
                </a:r>
                <a:r>
                  <a:rPr lang="ko-KR" altLang="en-US" sz="1400" dirty="0">
                    <a:latin typeface="+mn-ea"/>
                  </a:rPr>
                  <a:t>각 변수의 영향력</a:t>
                </a:r>
                <a:r>
                  <a:rPr lang="en-US" altLang="ko-KR" sz="1400" dirty="0">
                    <a:latin typeface="+mn-ea"/>
                  </a:rPr>
                  <a:t>(</a:t>
                </a:r>
                <a:r>
                  <a:rPr lang="ko-KR" altLang="en-US" sz="1400" dirty="0">
                    <a:latin typeface="+mn-ea"/>
                  </a:rPr>
                  <a:t>가중치</a:t>
                </a:r>
                <a:r>
                  <a:rPr lang="en-US" altLang="ko-KR" sz="1400" dirty="0">
                    <a:latin typeface="+mn-ea"/>
                  </a:rPr>
                  <a:t>)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0598F2C-C52E-B152-0669-F1EFF9D805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1233" y="1844824"/>
                <a:ext cx="3079103" cy="603370"/>
              </a:xfrm>
              <a:prstGeom prst="rect">
                <a:avLst/>
              </a:prstGeom>
              <a:blipFill>
                <a:blip r:embed="rId3"/>
                <a:stretch>
                  <a:fillRect l="-198"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DA59A66-C91D-4D42-DFF8-DC3C2B89094D}"/>
                  </a:ext>
                </a:extLst>
              </p:cNvPr>
              <p:cNvSpPr txBox="1"/>
              <p:nvPr/>
            </p:nvSpPr>
            <p:spPr>
              <a:xfrm>
                <a:off x="3503712" y="3217134"/>
                <a:ext cx="3240360" cy="837409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>
                <a:spAutoFit/>
              </a:bodyPr>
              <a:lstStyle/>
              <a:p>
                <a:pPr indent="176213">
                  <a:lnSpc>
                    <a:spcPts val="2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400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ko-KR" altLang="en-US" sz="1400" dirty="0">
                    <a:latin typeface="+mn-ea"/>
                  </a:rPr>
                  <a:t>가 매우 크면 </a:t>
                </a:r>
                <a14:m>
                  <m:oMath xmlns:m="http://schemas.openxmlformats.org/officeDocument/2006/math">
                    <m:r>
                      <a:rPr lang="ko-KR" altLang="en-US" sz="1400" b="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ko-KR" alt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400" b="0" i="1">
                            <a:latin typeface="Cambria Math" panose="02040503050406030204" pitchFamily="18" charset="0"/>
                          </a:rPr>
                          <m:t>𝑂𝐾</m:t>
                        </m:r>
                      </m:e>
                    </m:d>
                    <m:r>
                      <a:rPr lang="ko-KR" altLang="en-US" sz="1400" b="0" i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altLang="ko-KR" sz="1400" b="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ko-KR" altLang="en-US" sz="1400" dirty="0">
                  <a:latin typeface="+mn-ea"/>
                </a:endParaRPr>
              </a:p>
              <a:p>
                <a:pPr indent="176213">
                  <a:lnSpc>
                    <a:spcPts val="2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400" b="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ko-KR" altLang="en-US" sz="1400" dirty="0">
                    <a:latin typeface="+mn-ea"/>
                  </a:rPr>
                  <a:t>가 매우 작으면 </a:t>
                </a:r>
                <a14:m>
                  <m:oMath xmlns:m="http://schemas.openxmlformats.org/officeDocument/2006/math">
                    <m:r>
                      <a:rPr lang="ko-KR" altLang="en-US" sz="1400" b="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ko-KR" alt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400" b="0" i="1">
                            <a:latin typeface="Cambria Math" panose="02040503050406030204" pitchFamily="18" charset="0"/>
                          </a:rPr>
                          <m:t>𝑂𝐾</m:t>
                        </m:r>
                      </m:e>
                    </m:d>
                    <m:r>
                      <a:rPr lang="ko-KR" altLang="en-US" sz="1400" b="0" i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altLang="ko-KR" sz="1400" b="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altLang="ko-KR" sz="1400" dirty="0">
                  <a:latin typeface="+mn-ea"/>
                </a:endParaRPr>
              </a:p>
              <a:p>
                <a:pPr indent="176213">
                  <a:lnSpc>
                    <a:spcPts val="2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sz="1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ko-KR" altLang="en-US" sz="1400" dirty="0">
                    <a:latin typeface="+mn-ea"/>
                  </a:rPr>
                  <a:t>가 </a:t>
                </a:r>
                <a:r>
                  <a:rPr lang="en-US" altLang="ko-KR" sz="1400" dirty="0">
                    <a:latin typeface="+mn-ea"/>
                  </a:rPr>
                  <a:t>‘0’ </a:t>
                </a:r>
                <a:r>
                  <a:rPr lang="ko-KR" altLang="en-US" sz="1400" dirty="0">
                    <a:latin typeface="+mn-ea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sz="14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ko-KR" alt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400" i="1">
                            <a:latin typeface="Cambria Math" panose="02040503050406030204" pitchFamily="18" charset="0"/>
                          </a:rPr>
                          <m:t>𝑂𝐾</m:t>
                        </m:r>
                      </m:e>
                    </m:d>
                    <m:r>
                      <a:rPr lang="ko-KR" altLang="en-US" sz="140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altLang="ko-KR" sz="14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ko-KR" sz="1400" dirty="0">
                    <a:latin typeface="+mn-ea"/>
                  </a:rPr>
                  <a:t>.5</a:t>
                </a:r>
                <a:endParaRPr lang="ko-KR" altLang="en-US" sz="1400" dirty="0">
                  <a:latin typeface="+mn-ea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DA59A66-C91D-4D42-DFF8-DC3C2B8909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712" y="3217134"/>
                <a:ext cx="3240360" cy="837409"/>
              </a:xfrm>
              <a:prstGeom prst="rect">
                <a:avLst/>
              </a:prstGeom>
              <a:blipFill>
                <a:blip r:embed="rId4"/>
                <a:stretch>
                  <a:fillRect l="-377" b="-65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A2DCCBBA-EE82-C8EA-5035-92AEABA00251}"/>
              </a:ext>
            </a:extLst>
          </p:cNvPr>
          <p:cNvSpPr txBox="1"/>
          <p:nvPr/>
        </p:nvSpPr>
        <p:spPr>
          <a:xfrm>
            <a:off x="6888088" y="3217133"/>
            <a:ext cx="5040560" cy="580352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/>
          <a:p>
            <a:pPr indent="176213">
              <a:lnSpc>
                <a:spcPts val="2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Sigmoid : </a:t>
            </a:r>
            <a:r>
              <a:rPr lang="ko-KR" altLang="en-US" sz="1400" dirty="0"/>
              <a:t>어떤 실수값 </a:t>
            </a:r>
            <a:r>
              <a:rPr lang="en-US" altLang="ko-KR" sz="1400" dirty="0"/>
              <a:t>z(−∞~+∞)</a:t>
            </a:r>
            <a:r>
              <a:rPr lang="ko-KR" altLang="en-US" sz="1400" dirty="0"/>
              <a:t>을 입력으로 받아서    </a:t>
            </a:r>
            <a:br>
              <a:rPr lang="en-US" altLang="ko-KR" sz="1400" dirty="0"/>
            </a:br>
            <a:r>
              <a:rPr lang="en-US" altLang="ko-KR" sz="1400" dirty="0"/>
              <a:t>   0~1 </a:t>
            </a:r>
            <a:r>
              <a:rPr lang="ko-KR" altLang="en-US" sz="1400" dirty="0"/>
              <a:t>사이 값</a:t>
            </a:r>
            <a:r>
              <a:rPr lang="en-US" altLang="ko-KR" sz="1400" dirty="0"/>
              <a:t>(</a:t>
            </a:r>
            <a:r>
              <a:rPr lang="ko-KR" altLang="en-US" sz="1400" dirty="0"/>
              <a:t>확률처럼 해석 가능</a:t>
            </a:r>
            <a:r>
              <a:rPr lang="en-US" altLang="ko-KR" sz="1400" dirty="0"/>
              <a:t>)</a:t>
            </a:r>
            <a:r>
              <a:rPr lang="ko-KR" altLang="en-US" sz="1400" dirty="0"/>
              <a:t>으로 바꿔주는 </a:t>
            </a:r>
            <a:r>
              <a:rPr lang="en-US" altLang="ko-KR" sz="1400" dirty="0"/>
              <a:t>S</a:t>
            </a:r>
            <a:r>
              <a:rPr lang="ko-KR" altLang="en-US" sz="1400" dirty="0"/>
              <a:t>자 함수</a:t>
            </a:r>
            <a:endParaRPr lang="ko-KR" altLang="en-US" sz="1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0233265"/>
      </p:ext>
    </p:extLst>
  </p:cSld>
  <p:clrMapOvr>
    <a:masterClrMapping/>
  </p:clrMapOvr>
  <p:transition spd="slow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0295B-5C35-8EC7-ADD7-9E0AFC418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CFA99FBA-B618-03A6-3618-2AA065640A6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5A810458-6FD6-19DC-F70C-FF40D8BDD9D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225CB12-8E3F-4DD7-FBAD-F2FB3B29E08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E2F58EE1-CA9D-5B8B-AE42-9D565D8ACDC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C673D66D-B61A-0177-E144-27544D187FE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189CC8-0141-6C3F-624D-4926E3463EE4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FF788760-2FAE-71A0-4077-3D7D5D846CC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707633B-4C5C-3B11-1D55-37A15B1B2154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FABEFFF-9978-3534-3A0C-5601D4A2511B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bg1"/>
                </a:solidFill>
              </a:rPr>
              <a:t>3-1. Logistic Regression (</a:t>
            </a:r>
            <a:r>
              <a:rPr lang="ko-KR" altLang="en-US" sz="2000" b="1" dirty="0">
                <a:solidFill>
                  <a:schemeClr val="bg1"/>
                </a:solidFill>
              </a:rPr>
              <a:t>로지스틱 회귀</a:t>
            </a:r>
            <a:r>
              <a:rPr lang="en-US" altLang="ko-KR" sz="2000" b="1" dirty="0">
                <a:solidFill>
                  <a:schemeClr val="bg1"/>
                </a:solidFill>
              </a:rPr>
              <a:t>)</a:t>
            </a:r>
            <a:endParaRPr lang="ko-KR" altLang="en-US" sz="2000" b="1" dirty="0">
              <a:solidFill>
                <a:schemeClr val="bg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06D415F-B214-9CAC-3828-258EC44C5D8D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A40F061-8535-F60E-260F-AB8EA4A0AEE9}"/>
                  </a:ext>
                </a:extLst>
              </p:cNvPr>
              <p:cNvSpPr txBox="1"/>
              <p:nvPr/>
            </p:nvSpPr>
            <p:spPr>
              <a:xfrm>
                <a:off x="191344" y="908720"/>
                <a:ext cx="8665640" cy="26529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ts val="2900"/>
                  </a:lnSpc>
                  <a:buNone/>
                </a:pPr>
                <a:r>
                  <a:rPr lang="en-US" altLang="ko-KR" b="1" dirty="0">
                    <a:latin typeface="+mn-ea"/>
                  </a:rPr>
                  <a:t>(4) “</a:t>
                </a:r>
                <a:r>
                  <a:rPr lang="ko-KR" altLang="en-US" b="1" dirty="0">
                    <a:latin typeface="+mn-ea"/>
                  </a:rPr>
                  <a:t>경계선에서 얼마나 </a:t>
                </a:r>
                <a:r>
                  <a:rPr lang="ko-KR" altLang="en-US" b="1" dirty="0" err="1">
                    <a:latin typeface="+mn-ea"/>
                  </a:rPr>
                  <a:t>떨어졌는가”의</a:t>
                </a:r>
                <a:r>
                  <a:rPr lang="ko-KR" altLang="en-US" b="1" dirty="0">
                    <a:latin typeface="+mn-ea"/>
                  </a:rPr>
                  <a:t> 의미</a:t>
                </a:r>
              </a:p>
              <a:p>
                <a:pPr marL="363538" indent="260350">
                  <a:lnSpc>
                    <a:spcPts val="29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ko-KR" altLang="en-US" dirty="0">
                    <a:latin typeface="+mn-ea"/>
                  </a:rPr>
                  <a:t>값 자체</a:t>
                </a:r>
                <a:r>
                  <a:rPr lang="en-US" altLang="ko-KR" dirty="0">
                    <a:latin typeface="+mn-ea"/>
                  </a:rPr>
                  <a:t>(</a:t>
                </a:r>
                <a:r>
                  <a:rPr lang="ko-KR" altLang="en-US" dirty="0">
                    <a:latin typeface="+mn-ea"/>
                  </a:rPr>
                  <a:t>부호와 크기</a:t>
                </a:r>
                <a:r>
                  <a:rPr lang="en-US" altLang="ko-KR" dirty="0">
                    <a:latin typeface="+mn-ea"/>
                  </a:rPr>
                  <a:t>)</a:t>
                </a:r>
                <a:r>
                  <a:rPr lang="ko-KR" altLang="en-US" dirty="0">
                    <a:latin typeface="+mn-ea"/>
                  </a:rPr>
                  <a:t>가 “경계로부터의 방향</a:t>
                </a:r>
                <a:r>
                  <a:rPr lang="en-US" altLang="ko-KR" dirty="0">
                    <a:latin typeface="+mn-ea"/>
                  </a:rPr>
                  <a:t>/</a:t>
                </a:r>
                <a:r>
                  <a:rPr lang="ko-KR" altLang="en-US" dirty="0" err="1">
                    <a:latin typeface="+mn-ea"/>
                  </a:rPr>
                  <a:t>강도”를</a:t>
                </a:r>
                <a:r>
                  <a:rPr lang="ko-KR" altLang="en-US" dirty="0">
                    <a:latin typeface="+mn-ea"/>
                  </a:rPr>
                  <a:t> 나타냅니다</a:t>
                </a:r>
                <a:r>
                  <a:rPr lang="en-US" altLang="ko-KR" dirty="0">
                    <a:latin typeface="+mn-ea"/>
                  </a:rPr>
                  <a:t>.</a:t>
                </a:r>
              </a:p>
              <a:p>
                <a:pPr marL="539750" lvl="1">
                  <a:lnSpc>
                    <a:spcPts val="2900"/>
                  </a:lnSpc>
                </a:pPr>
                <a:r>
                  <a:rPr lang="en-US" altLang="ko-KR" dirty="0"/>
                  <a:t>- 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altLang="ko-KR" i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ko-KR" altLang="en-US" dirty="0">
                    <a:latin typeface="+mn-ea"/>
                  </a:rPr>
                  <a:t>면 </a:t>
                </a:r>
                <a:r>
                  <a:rPr lang="en-US" altLang="ko-KR" dirty="0">
                    <a:latin typeface="+mn-ea"/>
                  </a:rPr>
                  <a:t>OK </a:t>
                </a:r>
                <a:r>
                  <a:rPr lang="ko-KR" altLang="en-US" dirty="0">
                    <a:latin typeface="+mn-ea"/>
                  </a:rPr>
                  <a:t>쪽</a:t>
                </a:r>
              </a:p>
              <a:p>
                <a:pPr marL="539750" lvl="1">
                  <a:lnSpc>
                    <a:spcPts val="2900"/>
                  </a:lnSpc>
                </a:pPr>
                <a:r>
                  <a:rPr lang="en-US" altLang="ko-KR" dirty="0"/>
                  <a:t>- 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altLang="ko-KR" i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ko-KR" altLang="en-US" dirty="0">
                    <a:latin typeface="+mn-ea"/>
                  </a:rPr>
                  <a:t>면 </a:t>
                </a:r>
                <a:r>
                  <a:rPr lang="en-US" altLang="ko-KR" dirty="0">
                    <a:latin typeface="+mn-ea"/>
                  </a:rPr>
                  <a:t>NOK </a:t>
                </a:r>
                <a:r>
                  <a:rPr lang="ko-KR" altLang="en-US" dirty="0">
                    <a:latin typeface="+mn-ea"/>
                  </a:rPr>
                  <a:t>쪽</a:t>
                </a:r>
              </a:p>
              <a:p>
                <a:pPr marL="539750" lvl="1">
                  <a:lnSpc>
                    <a:spcPts val="2900"/>
                  </a:lnSpc>
                </a:pPr>
                <a:r>
                  <a:rPr lang="en-US" altLang="ko-KR" dirty="0"/>
                  <a:t>- 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</a:rPr>
                      <m:t>∣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ko-KR" altLang="en-US" i="0">
                        <a:latin typeface="Cambria Math" panose="02040503050406030204" pitchFamily="18" charset="0"/>
                      </a:rPr>
                      <m:t>∣</m:t>
                    </m:r>
                  </m:oMath>
                </a14:m>
                <a:r>
                  <a:rPr lang="ko-KR" altLang="en-US" dirty="0">
                    <a:latin typeface="+mn-ea"/>
                  </a:rPr>
                  <a:t>가 클수록 확률이 </a:t>
                </a:r>
                <a:r>
                  <a:rPr lang="en-US" altLang="ko-KR" dirty="0">
                    <a:latin typeface="+mn-ea"/>
                  </a:rPr>
                  <a:t>0 </a:t>
                </a:r>
                <a:r>
                  <a:rPr lang="ko-KR" altLang="en-US" dirty="0">
                    <a:latin typeface="+mn-ea"/>
                  </a:rPr>
                  <a:t>또는 </a:t>
                </a:r>
                <a:r>
                  <a:rPr lang="en-US" altLang="ko-KR" dirty="0">
                    <a:latin typeface="+mn-ea"/>
                  </a:rPr>
                  <a:t>1 </a:t>
                </a:r>
                <a:r>
                  <a:rPr lang="ko-KR" altLang="en-US" dirty="0">
                    <a:latin typeface="+mn-ea"/>
                  </a:rPr>
                  <a:t>쪽으로 강하게 치우침</a:t>
                </a:r>
                <a:endParaRPr lang="en-US" altLang="ko-KR" dirty="0">
                  <a:latin typeface="+mn-ea"/>
                </a:endParaRPr>
              </a:p>
              <a:p>
                <a:pPr marL="539750" lvl="1" indent="177800">
                  <a:lnSpc>
                    <a:spcPts val="2900"/>
                  </a:lnSpc>
                  <a:buFont typeface="Arial" panose="020B0604020202020204" pitchFamily="34" charset="0"/>
                  <a:buChar char="•"/>
                </a:pPr>
                <a:endParaRPr lang="ko-KR" altLang="en-US" dirty="0">
                  <a:latin typeface="+mn-ea"/>
                </a:endParaRPr>
              </a:p>
              <a:p>
                <a:pPr marL="176213" indent="269875">
                  <a:lnSpc>
                    <a:spcPts val="2900"/>
                  </a:lnSpc>
                  <a:buNone/>
                </a:pPr>
                <a:r>
                  <a:rPr lang="ko-KR" altLang="en-US" dirty="0">
                    <a:latin typeface="+mn-ea"/>
                  </a:rPr>
                  <a:t> </a:t>
                </a:r>
                <a:endParaRPr lang="en-US" altLang="ko-KR" dirty="0">
                  <a:latin typeface="+mn-ea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A40F061-8535-F60E-260F-AB8EA4A0AE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344" y="908720"/>
                <a:ext cx="8665640" cy="2652970"/>
              </a:xfrm>
              <a:prstGeom prst="rect">
                <a:avLst/>
              </a:prstGeom>
              <a:blipFill>
                <a:blip r:embed="rId2"/>
                <a:stretch>
                  <a:fillRect l="-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2442623"/>
      </p:ext>
    </p:extLst>
  </p:cSld>
  <p:clrMapOvr>
    <a:masterClrMapping/>
  </p:clrMapOvr>
  <p:transition spd="slow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FE4B7-19B1-4C28-3E2E-1D551A029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91AE2765-BDCA-3821-7617-DE255FADC3E3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5F990D63-3140-0B55-0DA6-52E54137F22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5B38D51A-AB79-8216-7AFB-801B1A894EC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86945A00-AC5D-588D-F24B-AF9A55344FC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9980478E-1462-BA3B-069C-392432510BD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8F974C-697B-7A4A-3058-3A53D811EC1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BE294197-7EDD-F98A-53EB-7F45F49A023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47C24BE-19E1-6229-6ADD-A2926C9B5AE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40911D5-0C9A-1694-26B4-3C09EDF909D0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bg1"/>
                </a:solidFill>
              </a:rPr>
              <a:t>3-1. Logistic Regression (</a:t>
            </a:r>
            <a:r>
              <a:rPr lang="ko-KR" altLang="en-US" sz="2000" b="1" dirty="0">
                <a:solidFill>
                  <a:schemeClr val="bg1"/>
                </a:solidFill>
              </a:rPr>
              <a:t>로지스틱 회귀</a:t>
            </a:r>
            <a:r>
              <a:rPr lang="en-US" altLang="ko-KR" sz="2000" b="1" dirty="0">
                <a:solidFill>
                  <a:schemeClr val="bg1"/>
                </a:solidFill>
              </a:rPr>
              <a:t>)</a:t>
            </a:r>
            <a:endParaRPr lang="ko-KR" altLang="en-US" sz="2000" b="1" dirty="0">
              <a:solidFill>
                <a:schemeClr val="bg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55F59A7-288B-A584-094E-1E5A17F069C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989FE14-79EC-6A2A-BBB4-2031033FD670}"/>
                  </a:ext>
                </a:extLst>
              </p:cNvPr>
              <p:cNvSpPr txBox="1"/>
              <p:nvPr/>
            </p:nvSpPr>
            <p:spPr>
              <a:xfrm>
                <a:off x="263352" y="647620"/>
                <a:ext cx="11017224" cy="59078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ts val="2400"/>
                  </a:lnSpc>
                  <a:buNone/>
                </a:pPr>
                <a:r>
                  <a:rPr lang="en-US" altLang="ko-KR" sz="1600" b="1" dirty="0">
                    <a:solidFill>
                      <a:srgbClr val="0000FF"/>
                    </a:solidFill>
                    <a:latin typeface="+mn-ea"/>
                  </a:rPr>
                  <a:t>2) </a:t>
                </a:r>
                <a:r>
                  <a:rPr lang="ko-KR" altLang="en-US" sz="1600" b="1" dirty="0">
                    <a:solidFill>
                      <a:srgbClr val="0000FF"/>
                    </a:solidFill>
                    <a:latin typeface="+mn-ea"/>
                  </a:rPr>
                  <a:t>장점</a:t>
                </a:r>
                <a:endParaRPr lang="en-US" altLang="ko-KR" sz="1600" b="1" dirty="0">
                  <a:solidFill>
                    <a:srgbClr val="0000FF"/>
                  </a:solidFill>
                  <a:latin typeface="+mn-ea"/>
                </a:endParaRPr>
              </a:p>
              <a:p>
                <a:pPr indent="176213">
                  <a:lnSpc>
                    <a:spcPts val="2400"/>
                  </a:lnSpc>
                  <a:buNone/>
                </a:pPr>
                <a:r>
                  <a:rPr lang="en-US" altLang="ko-KR" sz="1600" b="1" dirty="0">
                    <a:latin typeface="+mn-ea"/>
                  </a:rPr>
                  <a:t>(1) </a:t>
                </a:r>
                <a:r>
                  <a:rPr lang="ko-KR" altLang="en-US" sz="1600" b="1" dirty="0">
                    <a:latin typeface="+mn-ea"/>
                  </a:rPr>
                  <a:t>빠르고 가볍다</a:t>
                </a:r>
              </a:p>
              <a:p>
                <a:pPr marL="363538" indent="176213">
                  <a:lnSpc>
                    <a:spcPts val="24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학습</a:t>
                </a:r>
                <a:r>
                  <a:rPr lang="en-US" altLang="ko-KR" sz="1600" dirty="0">
                    <a:latin typeface="+mn-ea"/>
                  </a:rPr>
                  <a:t>/</a:t>
                </a:r>
                <a:r>
                  <a:rPr lang="ko-KR" altLang="en-US" sz="1600" dirty="0">
                    <a:latin typeface="+mn-ea"/>
                  </a:rPr>
                  <a:t>예측 계산이 단순해서 </a:t>
                </a:r>
                <a:r>
                  <a:rPr lang="ko-KR" altLang="en-US" sz="1600" b="1" dirty="0">
                    <a:latin typeface="+mn-ea"/>
                  </a:rPr>
                  <a:t>데이터가 커도 빠름</a:t>
                </a:r>
                <a:endParaRPr lang="ko-KR" altLang="en-US" sz="1600" dirty="0">
                  <a:latin typeface="+mn-ea"/>
                </a:endParaRPr>
              </a:p>
              <a:p>
                <a:pPr marL="363538" indent="176213">
                  <a:lnSpc>
                    <a:spcPts val="24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임베디드</a:t>
                </a:r>
                <a:r>
                  <a:rPr lang="en-US" altLang="ko-KR" sz="1600" dirty="0">
                    <a:latin typeface="+mn-ea"/>
                  </a:rPr>
                  <a:t>/</a:t>
                </a:r>
                <a:r>
                  <a:rPr lang="ko-KR" altLang="en-US" sz="1600" dirty="0">
                    <a:latin typeface="+mn-ea"/>
                  </a:rPr>
                  <a:t>현장 </a:t>
                </a:r>
                <a:r>
                  <a:rPr lang="en-US" altLang="ko-KR" sz="1600" dirty="0">
                    <a:latin typeface="+mn-ea"/>
                  </a:rPr>
                  <a:t>PC</a:t>
                </a:r>
                <a:r>
                  <a:rPr lang="ko-KR" altLang="en-US" sz="1600" dirty="0">
                    <a:latin typeface="+mn-ea"/>
                  </a:rPr>
                  <a:t>에서 실시간 판단에 유리</a:t>
                </a:r>
              </a:p>
              <a:p>
                <a:pPr marL="176213">
                  <a:lnSpc>
                    <a:spcPts val="2400"/>
                  </a:lnSpc>
                  <a:buNone/>
                </a:pPr>
                <a:r>
                  <a:rPr lang="en-US" altLang="ko-KR" sz="1600" b="1" dirty="0">
                    <a:latin typeface="+mn-ea"/>
                  </a:rPr>
                  <a:t>(2) </a:t>
                </a:r>
                <a:r>
                  <a:rPr lang="ko-KR" altLang="en-US" sz="1600" b="1" dirty="0">
                    <a:latin typeface="+mn-ea"/>
                  </a:rPr>
                  <a:t>해석이 쉽다</a:t>
                </a:r>
                <a:endParaRPr lang="en-US" altLang="ko-KR" sz="1600" b="1" dirty="0">
                  <a:latin typeface="+mn-ea"/>
                </a:endParaRPr>
              </a:p>
              <a:p>
                <a:pPr>
                  <a:lnSpc>
                    <a:spcPts val="2400"/>
                  </a:lnSpc>
                  <a:buNone/>
                </a:pPr>
                <a:r>
                  <a:rPr lang="ko-KR" altLang="en-US" sz="1600" dirty="0">
                    <a:latin typeface="+mn-ea"/>
                  </a:rPr>
                  <a:t>      가중치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i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i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sz="1600" dirty="0">
                    <a:latin typeface="+mn-ea"/>
                  </a:rPr>
                  <a:t>미</a:t>
                </a:r>
                <a:r>
                  <a:rPr lang="en-US" altLang="ko-KR" sz="1600" dirty="0">
                    <a:latin typeface="+mn-ea"/>
                  </a:rPr>
                  <a:t> </a:t>
                </a:r>
                <a:r>
                  <a:rPr lang="en-US" altLang="ko-KR" sz="1600" dirty="0">
                    <a:latin typeface="+mn-ea"/>
                    <a:sym typeface="Wingdings" panose="05000000000000000000" pitchFamily="2" charset="2"/>
                  </a:rPr>
                  <a:t> </a:t>
                </a:r>
                <a:r>
                  <a:rPr lang="ko-KR" altLang="en-US" sz="1600" b="1" dirty="0">
                    <a:latin typeface="+mn-ea"/>
                  </a:rPr>
                  <a:t>다른 변수가 동일할 때</a:t>
                </a:r>
                <a:r>
                  <a:rPr lang="en-US" altLang="ko-KR" sz="1600" dirty="0">
                    <a:latin typeface="+mn-ea"/>
                  </a:rPr>
                  <a:t>, temp</a:t>
                </a:r>
                <a:r>
                  <a:rPr lang="ko-KR" altLang="en-US" sz="1600" dirty="0">
                    <a:latin typeface="+mn-ea"/>
                  </a:rPr>
                  <a:t>가 </a:t>
                </a:r>
                <a:r>
                  <a:rPr lang="en-US" altLang="ko-KR" sz="1600" dirty="0">
                    <a:latin typeface="+mn-ea"/>
                  </a:rPr>
                  <a:t>1 </a:t>
                </a:r>
                <a:r>
                  <a:rPr lang="ko-KR" altLang="en-US" sz="1600" dirty="0">
                    <a:latin typeface="+mn-ea"/>
                  </a:rPr>
                  <a:t>증가하면 </a:t>
                </a:r>
                <a:r>
                  <a:rPr lang="en-US" altLang="ko-KR" sz="1600" dirty="0">
                    <a:latin typeface="+mn-ea"/>
                  </a:rPr>
                  <a:t>OK </a:t>
                </a:r>
                <a:r>
                  <a:rPr lang="ko-KR" altLang="en-US" sz="1600" dirty="0">
                    <a:latin typeface="+mn-ea"/>
                  </a:rPr>
                  <a:t>쪽으로 점수가 얼마나 변하는지</a:t>
                </a:r>
              </a:p>
              <a:p>
                <a:pPr marL="363538" indent="176213">
                  <a:lnSpc>
                    <a:spcPts val="24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부호</a:t>
                </a:r>
                <a:r>
                  <a:rPr lang="en-US" altLang="ko-KR" sz="1600" dirty="0">
                    <a:latin typeface="+mn-ea"/>
                  </a:rPr>
                  <a:t>:</a:t>
                </a:r>
              </a:p>
              <a:p>
                <a:pPr lvl="1" indent="260350">
                  <a:lnSpc>
                    <a:spcPts val="2400"/>
                  </a:lnSpc>
                </a:pPr>
                <a:r>
                  <a:rPr lang="en-US" altLang="ko-KR" sz="1600" dirty="0"/>
                  <a:t>-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i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altLang="ko-KR" sz="1600" dirty="0">
                    <a:latin typeface="+mn-ea"/>
                  </a:rPr>
                  <a:t>: temp</a:t>
                </a:r>
                <a:r>
                  <a:rPr lang="ko-KR" altLang="en-US" sz="1600" dirty="0">
                    <a:latin typeface="+mn-ea"/>
                  </a:rPr>
                  <a:t>가 높을수록 </a:t>
                </a:r>
                <a:r>
                  <a:rPr lang="en-US" altLang="ko-KR" sz="1600" dirty="0">
                    <a:latin typeface="+mn-ea"/>
                  </a:rPr>
                  <a:t>OK </a:t>
                </a:r>
                <a:r>
                  <a:rPr lang="ko-KR" altLang="en-US" sz="1600" dirty="0">
                    <a:latin typeface="+mn-ea"/>
                  </a:rPr>
                  <a:t>확률이 증가하는 경향</a:t>
                </a:r>
              </a:p>
              <a:p>
                <a:pPr lvl="1" indent="260350">
                  <a:lnSpc>
                    <a:spcPts val="2400"/>
                  </a:lnSpc>
                </a:pPr>
                <a:r>
                  <a:rPr lang="en-US" altLang="ko-KR" sz="1600" dirty="0"/>
                  <a:t>-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i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altLang="ko-KR" sz="1600" dirty="0">
                    <a:latin typeface="+mn-ea"/>
                  </a:rPr>
                  <a:t>: temp</a:t>
                </a:r>
                <a:r>
                  <a:rPr lang="ko-KR" altLang="en-US" sz="1600" dirty="0">
                    <a:latin typeface="+mn-ea"/>
                  </a:rPr>
                  <a:t>가 높을수록 </a:t>
                </a:r>
                <a:r>
                  <a:rPr lang="en-US" altLang="ko-KR" sz="1600" dirty="0">
                    <a:latin typeface="+mn-ea"/>
                  </a:rPr>
                  <a:t>NOK </a:t>
                </a:r>
                <a:r>
                  <a:rPr lang="ko-KR" altLang="en-US" sz="1600" dirty="0">
                    <a:latin typeface="+mn-ea"/>
                  </a:rPr>
                  <a:t>확률이 증가하는 경향</a:t>
                </a:r>
              </a:p>
              <a:p>
                <a:pPr marL="363538" indent="176213">
                  <a:lnSpc>
                    <a:spcPts val="24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크기</a:t>
                </a:r>
                <a:r>
                  <a:rPr lang="en-US" altLang="ko-KR" sz="1600" dirty="0">
                    <a:latin typeface="+mn-ea"/>
                  </a:rPr>
                  <a:t>:</a:t>
                </a:r>
              </a:p>
              <a:p>
                <a:pPr marL="717550" lvl="1" indent="176213">
                  <a:lnSpc>
                    <a:spcPts val="2400"/>
                  </a:lnSpc>
                </a:pPr>
                <a:r>
                  <a:rPr lang="en-US" altLang="ko-KR" sz="1600" dirty="0">
                    <a:latin typeface="+mn-ea"/>
                  </a:rPr>
                  <a:t>-  </a:t>
                </a:r>
                <a:r>
                  <a:rPr lang="ko-KR" altLang="en-US" sz="1600" dirty="0">
                    <a:latin typeface="+mn-ea"/>
                  </a:rPr>
                  <a:t>절댓값이 클수록 영향이 큼</a:t>
                </a:r>
                <a:endParaRPr lang="en-US" altLang="ko-KR" sz="1600" dirty="0">
                  <a:latin typeface="+mn-ea"/>
                </a:endParaRPr>
              </a:p>
              <a:p>
                <a:pPr marL="176213">
                  <a:lnSpc>
                    <a:spcPts val="2400"/>
                  </a:lnSpc>
                  <a:buNone/>
                </a:pPr>
                <a:r>
                  <a:rPr lang="en-US" altLang="ko-KR" sz="1600" b="1" dirty="0">
                    <a:latin typeface="+mn-ea"/>
                  </a:rPr>
                  <a:t>(3) </a:t>
                </a:r>
                <a:r>
                  <a:rPr lang="ko-KR" altLang="en-US" sz="1600" b="1" dirty="0">
                    <a:latin typeface="+mn-ea"/>
                  </a:rPr>
                  <a:t>확률 출력이 바로 나온다</a:t>
                </a:r>
              </a:p>
              <a:p>
                <a:pPr marL="363538" indent="176213">
                  <a:lnSpc>
                    <a:spcPts val="24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단순히 </a:t>
                </a:r>
                <a:r>
                  <a:rPr lang="en-US" altLang="ko-KR" sz="1600" dirty="0">
                    <a:latin typeface="+mn-ea"/>
                  </a:rPr>
                  <a:t>OK/NOK</a:t>
                </a:r>
                <a:r>
                  <a:rPr lang="ko-KR" altLang="en-US" sz="1600" dirty="0">
                    <a:latin typeface="+mn-ea"/>
                  </a:rPr>
                  <a:t>만 내는 게 아니라 확률</a:t>
                </a:r>
                <a:r>
                  <a:rPr lang="en-US" altLang="ko-KR" sz="1600" dirty="0">
                    <a:latin typeface="+mn-ea"/>
                  </a:rPr>
                  <a:t>(</a:t>
                </a:r>
                <a:r>
                  <a:rPr lang="ko-KR" altLang="en-US" sz="1600" dirty="0">
                    <a:latin typeface="+mn-ea"/>
                  </a:rPr>
                  <a:t>신뢰도</a:t>
                </a:r>
                <a:r>
                  <a:rPr lang="en-US" altLang="ko-KR" sz="1600" dirty="0">
                    <a:latin typeface="+mn-ea"/>
                  </a:rPr>
                  <a:t>)</a:t>
                </a:r>
                <a:r>
                  <a:rPr lang="ko-KR" altLang="en-US" sz="1600" dirty="0">
                    <a:latin typeface="+mn-ea"/>
                  </a:rPr>
                  <a:t>을 주므로</a:t>
                </a:r>
                <a:r>
                  <a:rPr lang="en-US" altLang="ko-KR" sz="1600" dirty="0">
                    <a:latin typeface="+mn-ea"/>
                  </a:rPr>
                  <a:t>,</a:t>
                </a:r>
              </a:p>
              <a:p>
                <a:pPr lvl="1">
                  <a:lnSpc>
                    <a:spcPts val="2400"/>
                  </a:lnSpc>
                </a:pPr>
                <a:r>
                  <a:rPr lang="en-US" altLang="ko-KR" sz="1600" dirty="0">
                    <a:latin typeface="+mn-ea"/>
                  </a:rPr>
                  <a:t>-  “0.52</a:t>
                </a:r>
                <a:r>
                  <a:rPr lang="ko-KR" altLang="en-US" sz="1600" dirty="0">
                    <a:latin typeface="+mn-ea"/>
                  </a:rPr>
                  <a:t>처럼 애매한 구간은 재검사”</a:t>
                </a:r>
              </a:p>
              <a:p>
                <a:pPr lvl="1">
                  <a:lnSpc>
                    <a:spcPts val="2400"/>
                  </a:lnSpc>
                </a:pPr>
                <a:r>
                  <a:rPr lang="en-US" altLang="ko-KR" sz="1600" dirty="0">
                    <a:latin typeface="+mn-ea"/>
                  </a:rPr>
                  <a:t>-  </a:t>
                </a:r>
                <a:r>
                  <a:rPr lang="ko-KR" altLang="en-US" sz="1600" dirty="0">
                    <a:latin typeface="+mn-ea"/>
                  </a:rPr>
                  <a:t>“</a:t>
                </a:r>
                <a:r>
                  <a:rPr lang="en-US" altLang="ko-KR" sz="1600" dirty="0">
                    <a:latin typeface="+mn-ea"/>
                  </a:rPr>
                  <a:t>0.95 </a:t>
                </a:r>
                <a:r>
                  <a:rPr lang="ko-KR" altLang="en-US" sz="1600" dirty="0">
                    <a:latin typeface="+mn-ea"/>
                  </a:rPr>
                  <a:t>이상만 </a:t>
                </a:r>
                <a:r>
                  <a:rPr lang="en-US" altLang="ko-KR" sz="1600" dirty="0">
                    <a:latin typeface="+mn-ea"/>
                  </a:rPr>
                  <a:t>OK </a:t>
                </a:r>
                <a:r>
                  <a:rPr lang="ko-KR" altLang="en-US" sz="1600" dirty="0">
                    <a:latin typeface="+mn-ea"/>
                  </a:rPr>
                  <a:t>처리”</a:t>
                </a:r>
                <a:br>
                  <a:rPr lang="ko-KR" altLang="en-US" sz="1600" dirty="0">
                    <a:latin typeface="+mn-ea"/>
                  </a:rPr>
                </a:br>
                <a:r>
                  <a:rPr lang="ko-KR" altLang="en-US" sz="1600" dirty="0">
                    <a:latin typeface="+mn-ea"/>
                  </a:rPr>
                  <a:t>   와 같은 운영 정책</a:t>
                </a:r>
                <a:r>
                  <a:rPr lang="en-US" altLang="ko-KR" sz="1600" dirty="0">
                    <a:latin typeface="+mn-ea"/>
                  </a:rPr>
                  <a:t>(</a:t>
                </a:r>
                <a:r>
                  <a:rPr lang="ko-KR" altLang="en-US" sz="1600" dirty="0" err="1">
                    <a:latin typeface="+mn-ea"/>
                  </a:rPr>
                  <a:t>임계값</a:t>
                </a:r>
                <a:r>
                  <a:rPr lang="ko-KR" altLang="en-US" sz="1600" dirty="0">
                    <a:latin typeface="+mn-ea"/>
                  </a:rPr>
                  <a:t> 조정</a:t>
                </a:r>
                <a:r>
                  <a:rPr lang="en-US" altLang="ko-KR" sz="1600" dirty="0">
                    <a:latin typeface="+mn-ea"/>
                  </a:rPr>
                  <a:t>)</a:t>
                </a:r>
                <a:r>
                  <a:rPr lang="ko-KR" altLang="en-US" sz="1600" dirty="0">
                    <a:latin typeface="+mn-ea"/>
                  </a:rPr>
                  <a:t>을 적용하기 쉽습니다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76213">
                  <a:lnSpc>
                    <a:spcPts val="2400"/>
                  </a:lnSpc>
                  <a:buNone/>
                </a:pPr>
                <a:r>
                  <a:rPr lang="en-US" altLang="ko-KR" sz="1600" b="1" dirty="0">
                    <a:latin typeface="+mn-ea"/>
                  </a:rPr>
                  <a:t>(4) </a:t>
                </a:r>
                <a:r>
                  <a:rPr lang="ko-KR" altLang="en-US" sz="1600" b="1" dirty="0">
                    <a:latin typeface="+mn-ea"/>
                  </a:rPr>
                  <a:t>과적합을 제어하기 쉽다</a:t>
                </a:r>
                <a:endParaRPr lang="en-US" altLang="ko-KR" sz="1600" b="1" dirty="0">
                  <a:latin typeface="+mn-ea"/>
                </a:endParaRPr>
              </a:p>
              <a:p>
                <a:pPr marL="363538" indent="176213">
                  <a:lnSpc>
                    <a:spcPts val="24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+mn-ea"/>
                  </a:rPr>
                  <a:t>L2/L1 </a:t>
                </a:r>
                <a:r>
                  <a:rPr lang="ko-KR" altLang="en-US" sz="1600" dirty="0">
                    <a:latin typeface="+mn-ea"/>
                  </a:rPr>
                  <a:t>정규화로 가중치를 억제해 </a:t>
                </a:r>
                <a:r>
                  <a:rPr lang="ko-KR" altLang="en-US" sz="1600" b="1" dirty="0">
                    <a:latin typeface="+mn-ea"/>
                  </a:rPr>
                  <a:t>안정적인 모델</a:t>
                </a:r>
                <a:r>
                  <a:rPr lang="ko-KR" altLang="en-US" sz="1600" dirty="0">
                    <a:latin typeface="+mn-ea"/>
                  </a:rPr>
                  <a:t>을 만들기 좋다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363538" indent="176213">
                  <a:lnSpc>
                    <a:spcPts val="24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특히 센서 데이터는 잡음이 있으니 너무 예민하게 학습되는 걸 막는 데 유리하다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989FE14-79EC-6A2A-BBB4-2031033FD6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352" y="647620"/>
                <a:ext cx="11017224" cy="5907836"/>
              </a:xfrm>
              <a:prstGeom prst="rect">
                <a:avLst/>
              </a:prstGeom>
              <a:blipFill>
                <a:blip r:embed="rId2"/>
                <a:stretch>
                  <a:fillRect l="-277" b="-41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4226891"/>
      </p:ext>
    </p:extLst>
  </p:cSld>
  <p:clrMapOvr>
    <a:masterClrMapping/>
  </p:clrMapOvr>
  <p:transition spd="slow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C9591-1FDC-C407-6911-6F8C9385C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6604F306-C9F7-09CF-2B05-ADE6B3C3976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49104DE5-3AAE-D686-AFFE-40C0DF02148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6CAF5B19-243C-1499-E2B3-72153D2296A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C9F02652-6819-013F-6259-7524BA71468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59A1BD2B-182B-4AFB-B9BD-1DF7120D0EC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FB4743-D721-7765-A1A5-5EC40318BD1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EAA4BB1-7998-F698-0ADD-9ED11FC1FD5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BC068E7-1460-2715-4FCF-6AC67DB3484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F0F940B-A40F-3B70-CDE1-848B55E3D1A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bg1"/>
                </a:solidFill>
              </a:rPr>
              <a:t>3-1. Logistic Regression (</a:t>
            </a:r>
            <a:r>
              <a:rPr lang="ko-KR" altLang="en-US" sz="2000" b="1" dirty="0">
                <a:solidFill>
                  <a:schemeClr val="bg1"/>
                </a:solidFill>
              </a:rPr>
              <a:t>로지스틱 회귀</a:t>
            </a:r>
            <a:r>
              <a:rPr lang="en-US" altLang="ko-KR" sz="2000" b="1" dirty="0">
                <a:solidFill>
                  <a:schemeClr val="bg1"/>
                </a:solidFill>
              </a:rPr>
              <a:t>)</a:t>
            </a:r>
            <a:endParaRPr lang="ko-KR" altLang="en-US" sz="2000" b="1" dirty="0">
              <a:solidFill>
                <a:schemeClr val="bg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2BA2015-2B4E-F339-EE91-4A850E018A4B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6CECC1-59DB-33CD-628B-25CF64882786}"/>
              </a:ext>
            </a:extLst>
          </p:cNvPr>
          <p:cNvSpPr txBox="1"/>
          <p:nvPr/>
        </p:nvSpPr>
        <p:spPr>
          <a:xfrm>
            <a:off x="263352" y="691360"/>
            <a:ext cx="7848872" cy="5372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300"/>
              </a:lnSpc>
              <a:buNone/>
            </a:pPr>
            <a:r>
              <a:rPr lang="en-US" altLang="ko-KR" sz="1600" b="1" dirty="0">
                <a:solidFill>
                  <a:srgbClr val="0000FF"/>
                </a:solidFill>
                <a:latin typeface="+mn-ea"/>
              </a:rPr>
              <a:t>3) </a:t>
            </a:r>
            <a:r>
              <a:rPr lang="ko-KR" altLang="en-US" sz="1600" b="1" dirty="0">
                <a:solidFill>
                  <a:srgbClr val="0000FF"/>
                </a:solidFill>
                <a:latin typeface="+mn-ea"/>
              </a:rPr>
              <a:t>단점</a:t>
            </a:r>
            <a:endParaRPr lang="en-US" altLang="ko-KR" sz="1600" b="1" dirty="0">
              <a:solidFill>
                <a:srgbClr val="0000FF"/>
              </a:solidFill>
              <a:latin typeface="+mn-ea"/>
            </a:endParaRPr>
          </a:p>
          <a:p>
            <a:pPr marL="176213">
              <a:lnSpc>
                <a:spcPts val="2300"/>
              </a:lnSpc>
              <a:buNone/>
            </a:pPr>
            <a:r>
              <a:rPr lang="en-US" altLang="ko-KR" sz="1600" b="1" dirty="0">
                <a:latin typeface="+mn-ea"/>
              </a:rPr>
              <a:t>1) </a:t>
            </a:r>
            <a:r>
              <a:rPr lang="ko-KR" altLang="en-US" sz="1600" b="1" dirty="0">
                <a:latin typeface="+mn-ea"/>
              </a:rPr>
              <a:t>비선형 경계가 약하다</a:t>
            </a:r>
          </a:p>
          <a:p>
            <a:pPr marL="363538" indent="176213">
              <a:lnSpc>
                <a:spcPts val="23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기본 로지스틱 회귀는 결정경계가 직선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선형</a:t>
            </a:r>
            <a:r>
              <a:rPr lang="en-US" altLang="ko-KR" sz="1600" dirty="0">
                <a:latin typeface="+mn-ea"/>
              </a:rPr>
              <a:t>)</a:t>
            </a:r>
            <a:r>
              <a:rPr lang="ko-KR" altLang="en-US" sz="1600" dirty="0">
                <a:latin typeface="+mn-ea"/>
              </a:rPr>
              <a:t>이다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pPr marL="363538" indent="176213">
              <a:lnSpc>
                <a:spcPts val="23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실제로 </a:t>
            </a:r>
            <a:r>
              <a:rPr lang="en-US" altLang="ko-KR" sz="1600" dirty="0">
                <a:latin typeface="+mn-ea"/>
              </a:rPr>
              <a:t>OK/NOK</a:t>
            </a:r>
            <a:r>
              <a:rPr lang="ko-KR" altLang="en-US" sz="1600" dirty="0">
                <a:latin typeface="+mn-ea"/>
              </a:rPr>
              <a:t>가 “곡선 </a:t>
            </a:r>
            <a:r>
              <a:rPr lang="ko-KR" altLang="en-US" sz="1600" dirty="0" err="1">
                <a:latin typeface="+mn-ea"/>
              </a:rPr>
              <a:t>모양”으로</a:t>
            </a:r>
            <a:r>
              <a:rPr lang="ko-KR" altLang="en-US" sz="1600" dirty="0">
                <a:latin typeface="+mn-ea"/>
              </a:rPr>
              <a:t> 나뉘면 잘 못 잡는다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pPr marL="93663" indent="176213">
              <a:lnSpc>
                <a:spcPts val="2300"/>
              </a:lnSpc>
              <a:buNone/>
            </a:pPr>
            <a:r>
              <a:rPr lang="ko-KR" altLang="en-US" sz="1600" b="1" dirty="0">
                <a:solidFill>
                  <a:srgbClr val="0000FF"/>
                </a:solidFill>
                <a:latin typeface="+mn-ea"/>
              </a:rPr>
              <a:t>해결 아이디어</a:t>
            </a:r>
            <a:r>
              <a:rPr lang="en-US" altLang="ko-KR" sz="1600" b="1" dirty="0">
                <a:solidFill>
                  <a:srgbClr val="0000FF"/>
                </a:solidFill>
                <a:latin typeface="+mn-ea"/>
              </a:rPr>
              <a:t>:</a:t>
            </a:r>
          </a:p>
          <a:p>
            <a:pPr marL="363538" indent="176213">
              <a:lnSpc>
                <a:spcPts val="23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특성 확장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예</a:t>
            </a:r>
            <a:r>
              <a:rPr lang="en-US" altLang="ko-KR" sz="1600" dirty="0">
                <a:latin typeface="+mn-ea"/>
              </a:rPr>
              <a:t>: temp², humi², temp*</a:t>
            </a:r>
            <a:r>
              <a:rPr lang="en-US" altLang="ko-KR" sz="1600" dirty="0" err="1">
                <a:latin typeface="+mn-ea"/>
              </a:rPr>
              <a:t>humi</a:t>
            </a:r>
            <a:r>
              <a:rPr lang="en-US" altLang="ko-KR" sz="1600" dirty="0">
                <a:latin typeface="+mn-ea"/>
              </a:rPr>
              <a:t> </a:t>
            </a:r>
            <a:r>
              <a:rPr lang="ko-KR" altLang="en-US" sz="1600" dirty="0">
                <a:latin typeface="+mn-ea"/>
              </a:rPr>
              <a:t>같은 </a:t>
            </a:r>
            <a:r>
              <a:rPr lang="ko-KR" altLang="en-US" sz="1600" dirty="0" err="1">
                <a:latin typeface="+mn-ea"/>
              </a:rPr>
              <a:t>다항항</a:t>
            </a:r>
            <a:r>
              <a:rPr lang="ko-KR" altLang="en-US" sz="1600" dirty="0">
                <a:latin typeface="+mn-ea"/>
              </a:rPr>
              <a:t> 추가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 marL="363538" indent="176213">
              <a:lnSpc>
                <a:spcPts val="23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혹은 </a:t>
            </a:r>
            <a:r>
              <a:rPr lang="en-US" altLang="ko-KR" sz="1600" dirty="0">
                <a:latin typeface="+mn-ea"/>
              </a:rPr>
              <a:t>SVM(RBF), </a:t>
            </a:r>
            <a:r>
              <a:rPr lang="ko-KR" altLang="en-US" sz="1600" dirty="0">
                <a:latin typeface="+mn-ea"/>
              </a:rPr>
              <a:t>트리</a:t>
            </a:r>
            <a:r>
              <a:rPr lang="en-US" altLang="ko-KR" sz="1600" dirty="0">
                <a:latin typeface="+mn-ea"/>
              </a:rPr>
              <a:t>/</a:t>
            </a:r>
            <a:r>
              <a:rPr lang="ko-KR" altLang="en-US" sz="1600" dirty="0" err="1">
                <a:latin typeface="+mn-ea"/>
              </a:rPr>
              <a:t>랜덤포레스트</a:t>
            </a:r>
            <a:r>
              <a:rPr lang="en-US" altLang="ko-KR" sz="1600" dirty="0">
                <a:latin typeface="+mn-ea"/>
              </a:rPr>
              <a:t>, XGBoost </a:t>
            </a:r>
            <a:r>
              <a:rPr lang="ko-KR" altLang="en-US" sz="1600" dirty="0">
                <a:latin typeface="+mn-ea"/>
              </a:rPr>
              <a:t>같은 비선형 모델 사용</a:t>
            </a:r>
          </a:p>
          <a:p>
            <a:pPr marL="176213">
              <a:lnSpc>
                <a:spcPts val="2300"/>
              </a:lnSpc>
              <a:buNone/>
            </a:pPr>
            <a:r>
              <a:rPr lang="en-US" altLang="ko-KR" sz="1600" b="1" dirty="0">
                <a:latin typeface="+mn-ea"/>
              </a:rPr>
              <a:t>2) </a:t>
            </a:r>
            <a:r>
              <a:rPr lang="ko-KR" altLang="en-US" sz="1600" b="1" dirty="0">
                <a:latin typeface="+mn-ea"/>
              </a:rPr>
              <a:t>변수 스케일에 민감하다</a:t>
            </a:r>
          </a:p>
          <a:p>
            <a:pPr marL="363538" indent="176213">
              <a:lnSpc>
                <a:spcPts val="23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</a:rPr>
              <a:t>temp(20~30)</a:t>
            </a:r>
            <a:r>
              <a:rPr lang="ko-KR" altLang="en-US" sz="1600" dirty="0">
                <a:latin typeface="+mn-ea"/>
              </a:rPr>
              <a:t>와 </a:t>
            </a:r>
            <a:r>
              <a:rPr lang="en-US" altLang="ko-KR" sz="1600" dirty="0" err="1">
                <a:latin typeface="+mn-ea"/>
              </a:rPr>
              <a:t>humi</a:t>
            </a:r>
            <a:r>
              <a:rPr lang="en-US" altLang="ko-KR" sz="1600" dirty="0">
                <a:latin typeface="+mn-ea"/>
              </a:rPr>
              <a:t>(50~90)</a:t>
            </a:r>
            <a:r>
              <a:rPr lang="ko-KR" altLang="en-US" sz="1600" dirty="0">
                <a:latin typeface="+mn-ea"/>
              </a:rPr>
              <a:t>처럼 범위가 다르면</a:t>
            </a:r>
            <a:r>
              <a:rPr lang="en-US" altLang="ko-KR" sz="1600" dirty="0">
                <a:latin typeface="+mn-ea"/>
              </a:rPr>
              <a:t>,</a:t>
            </a:r>
          </a:p>
          <a:p>
            <a:pPr marL="539750" lvl="1">
              <a:lnSpc>
                <a:spcPts val="2300"/>
              </a:lnSpc>
            </a:pPr>
            <a:r>
              <a:rPr lang="en-US" altLang="ko-KR" sz="1600" dirty="0">
                <a:latin typeface="+mn-ea"/>
              </a:rPr>
              <a:t>- </a:t>
            </a:r>
            <a:r>
              <a:rPr lang="ko-KR" altLang="en-US" sz="1600" dirty="0">
                <a:latin typeface="+mn-ea"/>
              </a:rPr>
              <a:t>학습이 불안정해지거나</a:t>
            </a:r>
          </a:p>
          <a:p>
            <a:pPr marL="539750" lvl="1">
              <a:lnSpc>
                <a:spcPts val="2300"/>
              </a:lnSpc>
            </a:pPr>
            <a:r>
              <a:rPr lang="en-US" altLang="ko-KR" sz="1600" dirty="0">
                <a:latin typeface="+mn-ea"/>
              </a:rPr>
              <a:t>- </a:t>
            </a:r>
            <a:r>
              <a:rPr lang="ko-KR" altLang="en-US" sz="1600" dirty="0">
                <a:latin typeface="+mn-ea"/>
              </a:rPr>
              <a:t>가중치 해석이 왜곡될 수 있다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pPr marL="363538" indent="176213">
              <a:lnSpc>
                <a:spcPts val="23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보통 표준화</a:t>
            </a:r>
            <a:r>
              <a:rPr lang="en-US" altLang="ko-KR" sz="1600" dirty="0">
                <a:latin typeface="+mn-ea"/>
              </a:rPr>
              <a:t>(StandardScaler)</a:t>
            </a:r>
            <a:r>
              <a:rPr lang="ko-KR" altLang="en-US" sz="1600" dirty="0">
                <a:latin typeface="+mn-ea"/>
              </a:rPr>
              <a:t>를 같이 쓴다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pPr marL="176213">
              <a:lnSpc>
                <a:spcPts val="2300"/>
              </a:lnSpc>
              <a:buNone/>
            </a:pPr>
            <a:r>
              <a:rPr lang="en-US" altLang="ko-KR" sz="1600" b="1" dirty="0">
                <a:latin typeface="+mn-ea"/>
              </a:rPr>
              <a:t>3) </a:t>
            </a:r>
            <a:r>
              <a:rPr lang="ko-KR" altLang="en-US" sz="1600" b="1" dirty="0">
                <a:latin typeface="+mn-ea"/>
              </a:rPr>
              <a:t>이상치</a:t>
            </a:r>
            <a:r>
              <a:rPr lang="en-US" altLang="ko-KR" sz="1600" b="1" dirty="0">
                <a:latin typeface="+mn-ea"/>
              </a:rPr>
              <a:t>(outlier) </a:t>
            </a:r>
            <a:r>
              <a:rPr lang="ko-KR" altLang="en-US" sz="1600" b="1" dirty="0">
                <a:latin typeface="+mn-ea"/>
              </a:rPr>
              <a:t>영향</a:t>
            </a:r>
          </a:p>
          <a:p>
            <a:pPr marL="363538" indent="176213">
              <a:lnSpc>
                <a:spcPts val="23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센서 </a:t>
            </a:r>
            <a:r>
              <a:rPr lang="ko-KR" altLang="en-US" sz="1600" dirty="0" err="1">
                <a:latin typeface="+mn-ea"/>
              </a:rPr>
              <a:t>튐값</a:t>
            </a:r>
            <a:r>
              <a:rPr lang="en-US" altLang="ko-KR" sz="1600" dirty="0">
                <a:latin typeface="+mn-ea"/>
              </a:rPr>
              <a:t>/</a:t>
            </a:r>
            <a:r>
              <a:rPr lang="ko-KR" altLang="en-US" sz="1600" dirty="0">
                <a:latin typeface="+mn-ea"/>
              </a:rPr>
              <a:t>통신 오류 등 이상치가 있으면 경계가 쓸데없이 움직일 수 있다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pPr marL="363538" indent="176213">
              <a:lnSpc>
                <a:spcPts val="23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이상치 제거</a:t>
            </a:r>
            <a:r>
              <a:rPr lang="en-US" altLang="ko-KR" sz="1600" dirty="0">
                <a:latin typeface="+mn-ea"/>
              </a:rPr>
              <a:t>/</a:t>
            </a:r>
            <a:r>
              <a:rPr lang="ko-KR" altLang="en-US" sz="1600" dirty="0" err="1">
                <a:latin typeface="+mn-ea"/>
              </a:rPr>
              <a:t>클리핑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 err="1">
                <a:latin typeface="+mn-ea"/>
              </a:rPr>
              <a:t>로버스트</a:t>
            </a:r>
            <a:r>
              <a:rPr lang="ko-KR" altLang="en-US" sz="1600" dirty="0">
                <a:latin typeface="+mn-ea"/>
              </a:rPr>
              <a:t> 전처리가 도움이 된다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pPr indent="176213">
              <a:lnSpc>
                <a:spcPts val="2300"/>
              </a:lnSpc>
              <a:buNone/>
            </a:pPr>
            <a:r>
              <a:rPr lang="en-US" altLang="ko-KR" sz="1600" b="1" dirty="0">
                <a:latin typeface="+mn-ea"/>
              </a:rPr>
              <a:t>4) </a:t>
            </a:r>
            <a:r>
              <a:rPr lang="ko-KR" altLang="en-US" sz="1600" b="1" dirty="0">
                <a:latin typeface="+mn-ea"/>
              </a:rPr>
              <a:t>데이터가 선형으로 분리되지 않을 때 한계</a:t>
            </a:r>
          </a:p>
          <a:p>
            <a:pPr marL="363538" indent="176213">
              <a:lnSpc>
                <a:spcPts val="23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두 클래스가 많이 겹치면 확률이 전반적으로 </a:t>
            </a:r>
            <a:r>
              <a:rPr lang="en-US" altLang="ko-KR" sz="1600" dirty="0">
                <a:latin typeface="+mn-ea"/>
              </a:rPr>
              <a:t>0.4~0.6</a:t>
            </a:r>
            <a:r>
              <a:rPr lang="ko-KR" altLang="en-US" sz="1600" dirty="0">
                <a:latin typeface="+mn-ea"/>
              </a:rPr>
              <a:t>처럼 애매해지고</a:t>
            </a:r>
            <a:r>
              <a:rPr lang="en-US" altLang="ko-KR" sz="1600" dirty="0">
                <a:latin typeface="+mn-ea"/>
              </a:rPr>
              <a:t>,</a:t>
            </a:r>
          </a:p>
          <a:p>
            <a:pPr marL="363538" indent="176213">
              <a:lnSpc>
                <a:spcPts val="23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결국 성능이 제한됩니다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모델이 단순해서 생기는 표현력 한계</a:t>
            </a:r>
            <a:r>
              <a:rPr lang="en-US" altLang="ko-KR" sz="1600" dirty="0">
                <a:latin typeface="+mn-ea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240882191"/>
      </p:ext>
    </p:extLst>
  </p:cSld>
  <p:clrMapOvr>
    <a:masterClrMapping/>
  </p:clrMapOvr>
  <p:transition spd="slow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0EFB8-D800-B82D-99A7-284FE8393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CE709FE0-6FE0-E1C0-EBCA-EEE674E40F44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B9F8ABF-F0A0-BE85-1A1E-CBABF069D6A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347793A6-3301-D03F-DA13-837A6900ACB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7B2D8585-BED7-92F4-DB38-322A70C232D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4D0CBC4E-421A-8667-ACA8-E4AA3BC506C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8AFF260-1378-1DB5-14AB-387918C7A8C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2EC2E0DF-26DE-BA5B-083B-E819DAB74B1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5477AA1-EFE4-F91C-BE0C-4D2EC2F550D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AE0CF32-3EE3-FBA9-C37E-083366055C55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bg1"/>
                </a:solidFill>
              </a:rPr>
              <a:t>3-1. Logistic Regression</a:t>
            </a:r>
            <a:endParaRPr lang="ko-KR" altLang="en-US" sz="2000" b="1" dirty="0">
              <a:solidFill>
                <a:schemeClr val="bg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69CE88C-2564-7398-B02F-1B39D45E66AF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FAAE4E-B87B-E8B4-8400-72ABA3FA808A}"/>
              </a:ext>
            </a:extLst>
          </p:cNvPr>
          <p:cNvSpPr txBox="1"/>
          <p:nvPr/>
        </p:nvSpPr>
        <p:spPr>
          <a:xfrm>
            <a:off x="191344" y="764704"/>
            <a:ext cx="8413102" cy="347018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sklearn.linear_model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LogisticRegression</a:t>
            </a:r>
            <a:endParaRPr lang="en-US" altLang="ko-KR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sklearn.pipeline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Pipeline 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sklearn.preprocessing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StandardScaler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results = []</a:t>
            </a:r>
            <a:endParaRPr lang="ko-KR" altLang="en-US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400"/>
              </a:lnSpc>
              <a:buNone/>
            </a:pPr>
            <a:endParaRPr lang="ko-KR" altLang="en-US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log_reg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Pipeline([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(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"scaler"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StandardScaler()),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(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clf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LogisticRegression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evaluate_model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"Logistic Regression"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log_reg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       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x_train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y_train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x_test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y_test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results)</a:t>
            </a:r>
          </a:p>
        </p:txBody>
      </p:sp>
      <p:pic>
        <p:nvPicPr>
          <p:cNvPr id="13" name="그림 12" descr="텍스트, 스크린샷, 폰트, 영수증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96A14D-01A0-591B-422C-E99639F35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0216" y="3410779"/>
            <a:ext cx="4151784" cy="3303706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975997-E8BB-4461-AD32-1DFFE1ED2821}"/>
              </a:ext>
            </a:extLst>
          </p:cNvPr>
          <p:cNvSpPr txBox="1"/>
          <p:nvPr/>
        </p:nvSpPr>
        <p:spPr>
          <a:xfrm flipH="1">
            <a:off x="407368" y="4615771"/>
            <a:ext cx="6867051" cy="1189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2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Pipeline</a:t>
            </a:r>
            <a:r>
              <a:rPr lang="ko-KR" altLang="en-US" sz="1400" dirty="0"/>
              <a:t> </a:t>
            </a:r>
            <a:r>
              <a:rPr lang="en-US" altLang="ko-KR" sz="1400" dirty="0"/>
              <a:t>=</a:t>
            </a:r>
            <a:r>
              <a:rPr lang="ko-KR" altLang="en-US" sz="1400" dirty="0"/>
              <a:t> 전처리 </a:t>
            </a:r>
            <a:r>
              <a:rPr lang="en-US" altLang="ko-KR" sz="1400" dirty="0"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sym typeface="Wingdings" panose="05000000000000000000" pitchFamily="2" charset="2"/>
              </a:rPr>
              <a:t>학습을 하나로 묶어 처리하는 클래스</a:t>
            </a:r>
            <a:endParaRPr lang="en-US" altLang="ko-KR" sz="1400" dirty="0"/>
          </a:p>
          <a:p>
            <a:pPr marL="285750" indent="-285750">
              <a:lnSpc>
                <a:spcPts val="22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StandardScaler()   </a:t>
            </a:r>
            <a:r>
              <a:rPr lang="en-US" altLang="ko-KR" sz="1400" dirty="0">
                <a:sym typeface="Wingdings" panose="05000000000000000000" pitchFamily="2" charset="2"/>
              </a:rPr>
              <a:t>  </a:t>
            </a:r>
            <a:r>
              <a:rPr lang="ko-KR" altLang="en-US" sz="1400" dirty="0">
                <a:sym typeface="Wingdings" panose="05000000000000000000" pitchFamily="2" charset="2"/>
              </a:rPr>
              <a:t>데이터 정규화</a:t>
            </a:r>
            <a:br>
              <a:rPr lang="en-US" altLang="ko-KR" sz="1400" dirty="0">
                <a:sym typeface="Wingdings" panose="05000000000000000000" pitchFamily="2" charset="2"/>
              </a:rPr>
            </a:br>
            <a:r>
              <a:rPr lang="en-US" altLang="ko-KR" sz="1400" dirty="0">
                <a:sym typeface="Wingdings" panose="05000000000000000000" pitchFamily="2" charset="2"/>
              </a:rPr>
              <a:t>- </a:t>
            </a:r>
            <a:r>
              <a:rPr lang="ko-KR" altLang="en-US" sz="1400" dirty="0">
                <a:sym typeface="Wingdings" panose="05000000000000000000" pitchFamily="2" charset="2"/>
              </a:rPr>
              <a:t>온도</a:t>
            </a:r>
            <a:r>
              <a:rPr lang="en-US" altLang="ko-KR" sz="1400" dirty="0">
                <a:sym typeface="Wingdings" panose="05000000000000000000" pitchFamily="2" charset="2"/>
              </a:rPr>
              <a:t>, </a:t>
            </a:r>
            <a:r>
              <a:rPr lang="ko-KR" altLang="en-US" sz="1400" dirty="0">
                <a:sym typeface="Wingdings" panose="05000000000000000000" pitchFamily="2" charset="2"/>
              </a:rPr>
              <a:t>습도는 단위와 범위가 다르므로 숫자가 큰 값이 결과에 더 큰 영향 미침 </a:t>
            </a:r>
            <a:br>
              <a:rPr lang="en-US" altLang="ko-KR" sz="1400" dirty="0">
                <a:sym typeface="Wingdings" panose="05000000000000000000" pitchFamily="2" charset="2"/>
              </a:rPr>
            </a:br>
            <a:r>
              <a:rPr lang="en-US" altLang="ko-KR" sz="1400" dirty="0">
                <a:sym typeface="Wingdings" panose="05000000000000000000" pitchFamily="2" charset="2"/>
              </a:rPr>
              <a:t>- </a:t>
            </a:r>
            <a:r>
              <a:rPr lang="ko-KR" altLang="en-US" sz="1400" dirty="0">
                <a:sym typeface="Wingdings" panose="05000000000000000000" pitchFamily="2" charset="2"/>
              </a:rPr>
              <a:t>이걸 평균 </a:t>
            </a:r>
            <a:r>
              <a:rPr lang="en-US" altLang="ko-KR" sz="1400" dirty="0">
                <a:sym typeface="Wingdings" panose="05000000000000000000" pitchFamily="2" charset="2"/>
              </a:rPr>
              <a:t>0, </a:t>
            </a:r>
            <a:r>
              <a:rPr lang="ko-KR" altLang="en-US" sz="1400" dirty="0">
                <a:sym typeface="Wingdings" panose="05000000000000000000" pitchFamily="2" charset="2"/>
              </a:rPr>
              <a:t>표준편차 </a:t>
            </a:r>
            <a:r>
              <a:rPr lang="en-US" altLang="ko-KR" sz="1400" dirty="0">
                <a:sym typeface="Wingdings" panose="05000000000000000000" pitchFamily="2" charset="2"/>
              </a:rPr>
              <a:t>1</a:t>
            </a:r>
            <a:r>
              <a:rPr lang="ko-KR" altLang="en-US" sz="1400" dirty="0">
                <a:sym typeface="Wingdings" panose="05000000000000000000" pitchFamily="2" charset="2"/>
              </a:rPr>
              <a:t>로 맞춤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FC6888-D977-42F4-8111-7A704DCAE7A6}"/>
              </a:ext>
            </a:extLst>
          </p:cNvPr>
          <p:cNvSpPr txBox="1"/>
          <p:nvPr/>
        </p:nvSpPr>
        <p:spPr>
          <a:xfrm>
            <a:off x="888266" y="5848532"/>
            <a:ext cx="3227514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b="1" dirty="0"/>
              <a:t>         변환 전        변환 후 </a:t>
            </a:r>
            <a:endParaRPr lang="en-US" altLang="ko-KR" sz="1400" b="1" dirty="0"/>
          </a:p>
          <a:p>
            <a:r>
              <a:rPr lang="en-US" altLang="ko-KR" sz="1400" b="1" dirty="0"/>
              <a:t>temp: 20~35 → -1.5 ~ +1.5 </a:t>
            </a:r>
          </a:p>
          <a:p>
            <a:r>
              <a:rPr lang="en-US" altLang="ko-KR" sz="1400" b="1" dirty="0" err="1"/>
              <a:t>humi</a:t>
            </a:r>
            <a:r>
              <a:rPr lang="en-US" altLang="ko-KR" sz="1400" b="1" dirty="0"/>
              <a:t>: 40~90 → -1.5 ~ +1.5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652977045"/>
      </p:ext>
    </p:extLst>
  </p:cSld>
  <p:clrMapOvr>
    <a:masterClrMapping/>
  </p:clrMapOvr>
  <p:transition spd="slow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B14C0-5F6E-F96D-5C83-30986A75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E56DFEAE-C0BA-22E1-F16B-2AB6A2E1F41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C06615FE-1191-8A3A-9A28-6469BD583E0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660F34FF-F84F-B6CF-1B64-1436AB3DAFB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FF5F1CA-9CC7-085E-20B8-8CD18092E07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E7345637-F08A-EC19-C22D-2F4E8367252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03A589-D739-F530-C884-E627A77B745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CB12DDB-1AF2-AC04-19C6-21D412FE162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D32E5C9-51C4-7192-9BAA-91CB2215F68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6310142-D765-6CAF-C507-B07A9A3721A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bg1"/>
                </a:solidFill>
              </a:rPr>
              <a:t>3-1. Logistic Regression</a:t>
            </a:r>
            <a:endParaRPr lang="ko-KR" altLang="en-US" sz="2000" b="1" dirty="0">
              <a:solidFill>
                <a:schemeClr val="bg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D2DDB97-F978-C4C6-A1D5-ACBDA2A55F5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7DA7F8-33DA-2D0E-3AC9-758038098193}"/>
              </a:ext>
            </a:extLst>
          </p:cNvPr>
          <p:cNvSpPr txBox="1"/>
          <p:nvPr/>
        </p:nvSpPr>
        <p:spPr>
          <a:xfrm>
            <a:off x="191344" y="843244"/>
            <a:ext cx="11665296" cy="700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results_df = 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pd.DataFrame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(results)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results_df.sort_values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(by=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"f1"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ascending=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False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).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reset_index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(drop=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True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</p:txBody>
      </p:sp>
      <p:pic>
        <p:nvPicPr>
          <p:cNvPr id="12" name="그림 11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B6C5E30-08B3-05B5-FE19-E353F11B83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17" y="1755083"/>
            <a:ext cx="7887801" cy="1009791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E9793EB-31D6-46E6-BC66-53E4E6E75B85}"/>
              </a:ext>
            </a:extLst>
          </p:cNvPr>
          <p:cNvSpPr txBox="1"/>
          <p:nvPr/>
        </p:nvSpPr>
        <p:spPr>
          <a:xfrm>
            <a:off x="335360" y="3284984"/>
            <a:ext cx="8089074" cy="24798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accuracy 0.9 : </a:t>
            </a:r>
            <a:r>
              <a:rPr lang="ko-KR" altLang="en-US" dirty="0"/>
              <a:t>전체 </a:t>
            </a:r>
            <a:r>
              <a:rPr lang="en-US" altLang="ko-KR" dirty="0"/>
              <a:t>2</a:t>
            </a:r>
            <a:r>
              <a:rPr lang="ko-KR" altLang="en-US" dirty="0"/>
              <a:t>천개 중 </a:t>
            </a:r>
            <a:r>
              <a:rPr lang="en-US" altLang="ko-KR" dirty="0"/>
              <a:t>90% </a:t>
            </a:r>
            <a:r>
              <a:rPr lang="ko-KR" altLang="en-US" dirty="0"/>
              <a:t>정확히 분류</a:t>
            </a:r>
            <a:endParaRPr lang="en-US" altLang="ko-KR" dirty="0"/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precision 0.9 : OK </a:t>
            </a:r>
            <a:r>
              <a:rPr lang="ko-KR" altLang="en-US" dirty="0"/>
              <a:t>예측한 것 중에 </a:t>
            </a:r>
            <a:r>
              <a:rPr lang="en-US" altLang="ko-KR" dirty="0"/>
              <a:t>90%</a:t>
            </a:r>
            <a:r>
              <a:rPr lang="ko-KR" altLang="en-US" dirty="0"/>
              <a:t>가 실제 </a:t>
            </a:r>
            <a:r>
              <a:rPr lang="en-US" altLang="ko-KR" dirty="0"/>
              <a:t>OK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recall 1.0 : </a:t>
            </a:r>
            <a:r>
              <a:rPr lang="ko-KR" altLang="en-US" dirty="0"/>
              <a:t>실제 </a:t>
            </a:r>
            <a:r>
              <a:rPr lang="en-US" altLang="ko-KR" dirty="0"/>
              <a:t>OK</a:t>
            </a:r>
            <a:r>
              <a:rPr lang="ko-KR" altLang="en-US" dirty="0"/>
              <a:t>를 </a:t>
            </a:r>
            <a:r>
              <a:rPr lang="en-US" altLang="ko-KR" dirty="0"/>
              <a:t>100% </a:t>
            </a:r>
            <a:r>
              <a:rPr lang="ko-KR" altLang="en-US" dirty="0"/>
              <a:t>찾아냄</a:t>
            </a:r>
            <a:endParaRPr lang="en-US" altLang="ko-KR" dirty="0"/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f1-score 0.947368 : </a:t>
            </a:r>
            <a:r>
              <a:rPr lang="ko-KR" altLang="en-US" dirty="0"/>
              <a:t>매우 높은 조화</a:t>
            </a:r>
            <a:endParaRPr lang="en-US" altLang="ko-KR" dirty="0"/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lnSpc>
                <a:spcPts val="2700"/>
              </a:lnSpc>
              <a:buFont typeface="Wingdings" panose="05000000000000000000" pitchFamily="2" charset="2"/>
              <a:buChar char="à"/>
            </a:pPr>
            <a:r>
              <a:rPr lang="ko-KR" altLang="en-US" b="1" dirty="0">
                <a:solidFill>
                  <a:srgbClr val="C00000"/>
                </a:solidFill>
                <a:sym typeface="Wingdings" panose="05000000000000000000" pitchFamily="2" charset="2"/>
              </a:rPr>
              <a:t>하지만</a:t>
            </a:r>
            <a:r>
              <a:rPr lang="en-US" altLang="ko-KR" b="1" dirty="0">
                <a:solidFill>
                  <a:srgbClr val="C00000"/>
                </a:solidFill>
                <a:sym typeface="Wingdings" panose="05000000000000000000" pitchFamily="2" charset="2"/>
              </a:rPr>
              <a:t>, NOK</a:t>
            </a:r>
            <a:r>
              <a:rPr lang="ko-KR" altLang="en-US" b="1" dirty="0">
                <a:solidFill>
                  <a:srgbClr val="C00000"/>
                </a:solidFill>
                <a:sym typeface="Wingdings" panose="05000000000000000000" pitchFamily="2" charset="2"/>
              </a:rPr>
              <a:t>도 모두 </a:t>
            </a:r>
            <a:r>
              <a:rPr lang="en-US" altLang="ko-KR" b="1" dirty="0">
                <a:solidFill>
                  <a:srgbClr val="C00000"/>
                </a:solidFill>
                <a:sym typeface="Wingdings" panose="05000000000000000000" pitchFamily="2" charset="2"/>
              </a:rPr>
              <a:t>OK</a:t>
            </a:r>
            <a:r>
              <a:rPr lang="ko-KR" altLang="en-US" b="1" dirty="0">
                <a:solidFill>
                  <a:srgbClr val="C00000"/>
                </a:solidFill>
                <a:sym typeface="Wingdings" panose="05000000000000000000" pitchFamily="2" charset="2"/>
              </a:rPr>
              <a:t>로 예측하고 있음</a:t>
            </a:r>
            <a:endParaRPr lang="en-US" altLang="ko-KR" b="1" dirty="0">
              <a:solidFill>
                <a:srgbClr val="C00000"/>
              </a:solidFill>
              <a:sym typeface="Wingdings" panose="05000000000000000000" pitchFamily="2" charset="2"/>
            </a:endParaRPr>
          </a:p>
          <a:p>
            <a:pPr marL="285750" indent="-285750">
              <a:lnSpc>
                <a:spcPts val="2700"/>
              </a:lnSpc>
              <a:buFont typeface="Wingdings" panose="05000000000000000000" pitchFamily="2" charset="2"/>
              <a:buChar char="à"/>
            </a:pPr>
            <a:r>
              <a:rPr lang="ko-KR" altLang="en-US" b="1" dirty="0">
                <a:solidFill>
                  <a:srgbClr val="C00000"/>
                </a:solidFill>
                <a:sym typeface="Wingdings" panose="05000000000000000000" pitchFamily="2" charset="2"/>
              </a:rPr>
              <a:t>모두 </a:t>
            </a:r>
            <a:r>
              <a:rPr lang="en-US" altLang="ko-KR" b="1" dirty="0">
                <a:solidFill>
                  <a:srgbClr val="C00000"/>
                </a:solidFill>
                <a:sym typeface="Wingdings" panose="05000000000000000000" pitchFamily="2" charset="2"/>
              </a:rPr>
              <a:t>OK</a:t>
            </a:r>
            <a:r>
              <a:rPr lang="ko-KR" altLang="en-US" b="1" dirty="0">
                <a:solidFill>
                  <a:srgbClr val="C00000"/>
                </a:solidFill>
                <a:sym typeface="Wingdings" panose="05000000000000000000" pitchFamily="2" charset="2"/>
              </a:rPr>
              <a:t>로 예측해도 정확도가 </a:t>
            </a:r>
            <a:r>
              <a:rPr lang="en-US" altLang="ko-KR" b="1" dirty="0">
                <a:solidFill>
                  <a:srgbClr val="C00000"/>
                </a:solidFill>
                <a:sym typeface="Wingdings" panose="05000000000000000000" pitchFamily="2" charset="2"/>
              </a:rPr>
              <a:t>90% </a:t>
            </a:r>
            <a:r>
              <a:rPr lang="ko-KR" altLang="en-US" b="1" dirty="0">
                <a:solidFill>
                  <a:srgbClr val="C00000"/>
                </a:solidFill>
                <a:sym typeface="Wingdings" panose="05000000000000000000" pitchFamily="2" charset="2"/>
              </a:rPr>
              <a:t>이므로 불량을 굳이 찾으려 하지 않음</a:t>
            </a:r>
            <a:r>
              <a:rPr lang="en-US" altLang="ko-KR" b="1" dirty="0">
                <a:solidFill>
                  <a:srgbClr val="C00000"/>
                </a:solidFill>
                <a:sym typeface="Wingdings" panose="05000000000000000000" pitchFamily="2" charset="2"/>
              </a:rPr>
              <a:t>.</a:t>
            </a:r>
            <a:endParaRPr lang="ko-KR" altLang="en-US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0171517"/>
      </p:ext>
    </p:extLst>
  </p:cSld>
  <p:clrMapOvr>
    <a:masterClrMapping/>
  </p:clrMapOvr>
  <p:transition spd="slow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B14C0-5F6E-F96D-5C83-30986A75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E56DFEAE-C0BA-22E1-F16B-2AB6A2E1F41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C06615FE-1191-8A3A-9A28-6469BD583E0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660F34FF-F84F-B6CF-1B64-1436AB3DAFB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FF5F1CA-9CC7-085E-20B8-8CD18092E07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E7345637-F08A-EC19-C22D-2F4E8367252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03A589-D739-F530-C884-E627A77B745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CB12DDB-1AF2-AC04-19C6-21D412FE162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D32E5C9-51C4-7192-9BAA-91CB2215F68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6310142-D765-6CAF-C507-B07A9A3721A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bg1"/>
                </a:solidFill>
              </a:rPr>
              <a:t>3-1. Logistic Regression</a:t>
            </a:r>
            <a:endParaRPr lang="ko-KR" altLang="en-US" sz="2000" b="1" dirty="0">
              <a:solidFill>
                <a:schemeClr val="bg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D2DDB97-F978-C4C6-A1D5-ACBDA2A55F5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9793EB-31D6-46E6-BC66-53E4E6E75B85}"/>
              </a:ext>
            </a:extLst>
          </p:cNvPr>
          <p:cNvSpPr txBox="1"/>
          <p:nvPr/>
        </p:nvSpPr>
        <p:spPr>
          <a:xfrm>
            <a:off x="119336" y="836712"/>
            <a:ext cx="8136904" cy="4023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Wingdings" panose="05000000000000000000" pitchFamily="2" charset="2"/>
              <a:buChar char="§"/>
            </a:pPr>
            <a:r>
              <a:rPr lang="ko-KR" altLang="en-US"/>
              <a:t>진짜 불량을 하나도 못 잡는 문제 해결</a:t>
            </a:r>
            <a:endParaRPr lang="ko-KR" altLang="en-US" b="1" dirty="0">
              <a:solidFill>
                <a:srgbClr val="C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13DB0C-09E0-4896-A5C0-89FF261C3B58}"/>
              </a:ext>
            </a:extLst>
          </p:cNvPr>
          <p:cNvSpPr txBox="1"/>
          <p:nvPr/>
        </p:nvSpPr>
        <p:spPr>
          <a:xfrm>
            <a:off x="414958" y="1259515"/>
            <a:ext cx="11033726" cy="14411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altLang="ko-KR" dirty="0"/>
              <a:t>1. </a:t>
            </a:r>
            <a:r>
              <a:rPr lang="en-US" altLang="ko-KR" dirty="0" err="1"/>
              <a:t>LogisticRegression</a:t>
            </a:r>
            <a:r>
              <a:rPr lang="en-US" altLang="ko-KR" dirty="0"/>
              <a:t>(</a:t>
            </a:r>
            <a:r>
              <a:rPr lang="en-US" altLang="ko-KR" dirty="0" err="1"/>
              <a:t>class_weight</a:t>
            </a:r>
            <a:r>
              <a:rPr lang="en-US" altLang="ko-KR" dirty="0"/>
              <a:t>=‘balanced’))  </a:t>
            </a:r>
            <a:r>
              <a:rPr lang="ko-KR" altLang="en-US" dirty="0"/>
              <a:t>적용</a:t>
            </a:r>
            <a:br>
              <a:rPr lang="en-US" altLang="ko-KR" dirty="0"/>
            </a:br>
            <a:r>
              <a:rPr lang="en-US" altLang="ko-KR" dirty="0"/>
              <a:t>   - </a:t>
            </a:r>
            <a:r>
              <a:rPr lang="ko-KR" altLang="en-US" dirty="0"/>
              <a:t>불량 샘플에 더 높은 가중치 부여</a:t>
            </a:r>
            <a:br>
              <a:rPr lang="en-US" altLang="ko-KR" dirty="0"/>
            </a:br>
            <a:r>
              <a:rPr lang="en-US" altLang="ko-KR" dirty="0"/>
              <a:t>   - </a:t>
            </a:r>
            <a:r>
              <a:rPr lang="ko-KR" altLang="en-US" dirty="0"/>
              <a:t>로지스틱 회귀 학습할 때 </a:t>
            </a:r>
            <a:r>
              <a:rPr lang="en-US" altLang="ko-KR" dirty="0"/>
              <a:t>Loss</a:t>
            </a:r>
            <a:r>
              <a:rPr lang="ko-KR" altLang="en-US" dirty="0"/>
              <a:t>를 최소화하는 방향으로 가중치 업데이트</a:t>
            </a:r>
            <a:br>
              <a:rPr lang="en-US" altLang="ko-KR" dirty="0"/>
            </a:br>
            <a:r>
              <a:rPr lang="en-US" altLang="ko-KR" dirty="0"/>
              <a:t>   - </a:t>
            </a:r>
            <a:r>
              <a:rPr lang="ko-KR" altLang="en-US" dirty="0"/>
              <a:t>기본 설정에서는 모든 샘플의 오차를 동등하게 취급하지만</a:t>
            </a:r>
            <a:r>
              <a:rPr lang="en-US" altLang="ko-KR" dirty="0"/>
              <a:t>, balanced</a:t>
            </a:r>
            <a:r>
              <a:rPr lang="ko-KR" altLang="en-US" dirty="0"/>
              <a:t>로 변경하면 오차 가중치를 높임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994724-C083-46C6-9261-1C97BA82B1EB}"/>
              </a:ext>
            </a:extLst>
          </p:cNvPr>
          <p:cNvSpPr txBox="1"/>
          <p:nvPr/>
        </p:nvSpPr>
        <p:spPr>
          <a:xfrm>
            <a:off x="983432" y="2721064"/>
            <a:ext cx="6696744" cy="1569660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log_reg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Pipeline([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"scaler"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StandardScaler()),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clf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LogisticRegression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class_weight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'balanced'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evaluate_model(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"Logistic Regression"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log_reg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x_train, y_train, x_test, y_test, results)</a:t>
            </a: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900200CB-11DD-4DD0-8869-F54CC9CD09FC}"/>
              </a:ext>
            </a:extLst>
          </p:cNvPr>
          <p:cNvCxnSpPr/>
          <p:nvPr/>
        </p:nvCxnSpPr>
        <p:spPr>
          <a:xfrm flipH="1">
            <a:off x="7536160" y="3356992"/>
            <a:ext cx="1008112" cy="0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38EB993-62FE-44E4-941A-9C25D37D4A60}"/>
              </a:ext>
            </a:extLst>
          </p:cNvPr>
          <p:cNvSpPr txBox="1"/>
          <p:nvPr/>
        </p:nvSpPr>
        <p:spPr>
          <a:xfrm>
            <a:off x="6384032" y="3561397"/>
            <a:ext cx="5807968" cy="3323987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==== [Logistic Regression] ==== </a:t>
            </a:r>
          </a:p>
          <a:p>
            <a:r>
              <a:rPr lang="en-US" altLang="ko-KR" sz="14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Accuracy : 0.5385 </a:t>
            </a:r>
          </a:p>
          <a:p>
            <a:r>
              <a:rPr lang="en-US" altLang="ko-KR" sz="14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Precision: 0.1936 </a:t>
            </a:r>
          </a:p>
          <a:p>
            <a:r>
              <a:rPr lang="en-US" altLang="ko-KR" sz="14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Recall   : 0.5245 </a:t>
            </a:r>
          </a:p>
          <a:p>
            <a:r>
              <a:rPr lang="en-US" altLang="ko-KR" sz="14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F1-score : 0.2828 </a:t>
            </a:r>
          </a:p>
          <a:p>
            <a:r>
              <a:rPr lang="en-US" altLang="ko-KR" sz="14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[Confusion Matrix] </a:t>
            </a:r>
          </a:p>
          <a:p>
            <a:r>
              <a:rPr lang="en-US" altLang="ko-KR" sz="14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[[895 758] </a:t>
            </a:r>
          </a:p>
          <a:p>
            <a:r>
              <a:rPr lang="en-US" altLang="ko-KR" sz="1400" dirty="0">
                <a:solidFill>
                  <a:srgbClr val="1F1F1F"/>
                </a:solidFill>
                <a:latin typeface="Courier New" panose="02070309020205020404" pitchFamily="49" charset="0"/>
              </a:rPr>
              <a:t> </a:t>
            </a:r>
            <a:r>
              <a:rPr lang="en-US" altLang="ko-KR" sz="14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[165 182]] </a:t>
            </a:r>
          </a:p>
          <a:p>
            <a:r>
              <a:rPr lang="en-US" altLang="ko-KR" sz="14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[Classification Report] </a:t>
            </a:r>
          </a:p>
          <a:p>
            <a:r>
              <a:rPr lang="en-US" altLang="ko-KR" sz="1400" dirty="0">
                <a:solidFill>
                  <a:srgbClr val="1F1F1F"/>
                </a:solidFill>
                <a:latin typeface="Courier New" panose="02070309020205020404" pitchFamily="49" charset="0"/>
              </a:rPr>
              <a:t>             </a:t>
            </a:r>
            <a:r>
              <a:rPr lang="en-US" altLang="ko-KR" sz="14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precision recall f1-score support </a:t>
            </a:r>
          </a:p>
          <a:p>
            <a:r>
              <a:rPr lang="en-US" altLang="ko-KR" sz="14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      0       0.844    0.541   0.660    1653 </a:t>
            </a:r>
          </a:p>
          <a:p>
            <a:r>
              <a:rPr lang="en-US" altLang="ko-KR" sz="14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      1       0.194    0.524   0.283     347 </a:t>
            </a:r>
          </a:p>
          <a:p>
            <a:r>
              <a:rPr lang="en-US" altLang="ko-KR" sz="14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accuracy                       0.538    2000 </a:t>
            </a:r>
          </a:p>
          <a:p>
            <a:r>
              <a:rPr lang="en-US" altLang="ko-KR" sz="14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macro avg     0.519    0.533   0.471    2000 </a:t>
            </a:r>
          </a:p>
          <a:p>
            <a:r>
              <a:rPr lang="en-US" altLang="ko-KR" sz="1400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weighted avg  0.731    0.538   0.594    2000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59105003"/>
      </p:ext>
    </p:extLst>
  </p:cSld>
  <p:clrMapOvr>
    <a:masterClrMapping/>
  </p:clrMapOvr>
  <p:transition spd="slow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B14C0-5F6E-F96D-5C83-30986A75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E56DFEAE-C0BA-22E1-F16B-2AB6A2E1F41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C06615FE-1191-8A3A-9A28-6469BD583E0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660F34FF-F84F-B6CF-1B64-1436AB3DAFB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FF5F1CA-9CC7-085E-20B8-8CD18092E07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E7345637-F08A-EC19-C22D-2F4E8367252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03A589-D739-F530-C884-E627A77B745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CB12DDB-1AF2-AC04-19C6-21D412FE162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D32E5C9-51C4-7192-9BAA-91CB2215F68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6310142-D765-6CAF-C507-B07A9A3721A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bg1"/>
                </a:solidFill>
              </a:rPr>
              <a:t>3-1. Logistic Regression</a:t>
            </a:r>
            <a:endParaRPr lang="ko-KR" altLang="en-US" sz="2000" b="1" dirty="0">
              <a:solidFill>
                <a:schemeClr val="bg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D2DDB97-F978-C4C6-A1D5-ACBDA2A55F5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9793EB-31D6-46E6-BC66-53E4E6E75B85}"/>
              </a:ext>
            </a:extLst>
          </p:cNvPr>
          <p:cNvSpPr txBox="1"/>
          <p:nvPr/>
        </p:nvSpPr>
        <p:spPr>
          <a:xfrm>
            <a:off x="119336" y="836712"/>
            <a:ext cx="8136904" cy="4023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공정 불량은 </a:t>
            </a:r>
            <a:r>
              <a:rPr lang="en-US" altLang="ko-KR" dirty="0"/>
              <a:t>temp, </a:t>
            </a:r>
            <a:r>
              <a:rPr lang="en-US" altLang="ko-KR" dirty="0" err="1"/>
              <a:t>humi</a:t>
            </a:r>
            <a:r>
              <a:rPr lang="en-US" altLang="ko-KR" dirty="0"/>
              <a:t> </a:t>
            </a:r>
            <a:r>
              <a:rPr lang="ko-KR" altLang="en-US" dirty="0"/>
              <a:t>관계가 비선형일 수 있음</a:t>
            </a:r>
            <a:endParaRPr lang="ko-KR" altLang="en-US" b="1" dirty="0">
              <a:solidFill>
                <a:srgbClr val="C0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AC11BD8-D63C-4983-8BF9-228EDEC30D7C}"/>
              </a:ext>
            </a:extLst>
          </p:cNvPr>
          <p:cNvSpPr txBox="1"/>
          <p:nvPr/>
        </p:nvSpPr>
        <p:spPr>
          <a:xfrm>
            <a:off x="479376" y="1256921"/>
            <a:ext cx="610840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예)</a:t>
            </a:r>
          </a:p>
          <a:p>
            <a:r>
              <a:rPr lang="ko-KR" altLang="en-US" dirty="0" err="1"/>
              <a:t>temp</a:t>
            </a:r>
            <a:r>
              <a:rPr lang="ko-KR" altLang="en-US" dirty="0"/>
              <a:t> 높고 + </a:t>
            </a:r>
            <a:r>
              <a:rPr lang="ko-KR" altLang="en-US" dirty="0" err="1"/>
              <a:t>humi</a:t>
            </a:r>
            <a:r>
              <a:rPr lang="ko-KR" altLang="en-US" dirty="0"/>
              <a:t> 낮으면  → 정상</a:t>
            </a:r>
          </a:p>
          <a:p>
            <a:r>
              <a:rPr lang="ko-KR" altLang="en-US" dirty="0" err="1"/>
              <a:t>temp</a:t>
            </a:r>
            <a:r>
              <a:rPr lang="ko-KR" altLang="en-US" dirty="0"/>
              <a:t> 높고 + </a:t>
            </a:r>
            <a:r>
              <a:rPr lang="ko-KR" altLang="en-US" dirty="0" err="1"/>
              <a:t>humi</a:t>
            </a:r>
            <a:r>
              <a:rPr lang="ko-KR" altLang="en-US" dirty="0"/>
              <a:t> 높으면  → 불량</a:t>
            </a:r>
          </a:p>
          <a:p>
            <a:r>
              <a:rPr lang="ko-KR" altLang="en-US" dirty="0" err="1"/>
              <a:t>temp</a:t>
            </a:r>
            <a:r>
              <a:rPr lang="ko-KR" altLang="en-US" dirty="0"/>
              <a:t> 낮고 + </a:t>
            </a:r>
            <a:r>
              <a:rPr lang="ko-KR" altLang="en-US" dirty="0" err="1"/>
              <a:t>humi</a:t>
            </a:r>
            <a:r>
              <a:rPr lang="ko-KR" altLang="en-US" dirty="0"/>
              <a:t> 높으면  → 정상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624CF8-F9B4-48A2-B0B7-61E59E9D4D03}"/>
              </a:ext>
            </a:extLst>
          </p:cNvPr>
          <p:cNvSpPr txBox="1"/>
          <p:nvPr/>
        </p:nvSpPr>
        <p:spPr>
          <a:xfrm>
            <a:off x="119336" y="2636912"/>
            <a:ext cx="8136904" cy="7486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이런 경우 로지스틱 회귀의 직선 </a:t>
            </a:r>
            <a:r>
              <a:rPr lang="ko-KR" altLang="en-US" dirty="0" err="1"/>
              <a:t>결정경계로는분리</a:t>
            </a:r>
            <a:r>
              <a:rPr lang="ko-KR" altLang="en-US" dirty="0"/>
              <a:t> 불가능</a:t>
            </a:r>
            <a:endParaRPr lang="en-US" altLang="ko-KR" dirty="0"/>
          </a:p>
          <a:p>
            <a:pPr marL="285750" indent="-285750">
              <a:lnSpc>
                <a:spcPts val="27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solidFill>
                  <a:srgbClr val="C00000"/>
                </a:solidFill>
              </a:rPr>
              <a:t>다른 모델을 사용해야 함</a:t>
            </a:r>
          </a:p>
        </p:txBody>
      </p:sp>
    </p:spTree>
    <p:extLst>
      <p:ext uri="{BB962C8B-B14F-4D97-AF65-F5344CB8AC3E}">
        <p14:creationId xmlns:p14="http://schemas.microsoft.com/office/powerpoint/2010/main" val="373475559"/>
      </p:ext>
    </p:extLst>
  </p:cSld>
  <p:clrMapOvr>
    <a:masterClrMapping/>
  </p:clrMapOvr>
  <p:transition spd="slow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4E48A-FD9D-3682-1A93-0E86C8269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B10369B8-6179-BA65-AA38-1B21B11AAA9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DDCEC218-A45C-66CB-4A86-62D5CA90344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60B5CC63-AA2D-B354-51DB-F392DB0892F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E6C7AC7-498E-95ED-1A25-30F25802608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603BEE79-B300-63A8-BBE1-2EA1EF8C99D9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BFEB7F-8101-BACD-54A7-DA452444F2F3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C4FA18B9-8FE7-B0B6-B93D-7B37938FD5A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50E530E-70E9-2992-2A87-782F5C21D1D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B58F9C3-4FC1-25C0-5ECC-E0B256F410D6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3-2. Decision Tree(</a:t>
            </a:r>
            <a:r>
              <a:rPr lang="ko-KR" altLang="en-US" sz="2000" b="1" dirty="0">
                <a:solidFill>
                  <a:schemeClr val="tx1"/>
                </a:solidFill>
              </a:rPr>
              <a:t>의사결정 나무</a:t>
            </a:r>
            <a:r>
              <a:rPr lang="en-US" altLang="ko-KR" sz="2000" b="1" dirty="0">
                <a:solidFill>
                  <a:schemeClr val="tx1"/>
                </a:solidFill>
              </a:rPr>
              <a:t>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8AFB462-5670-03E9-17CC-6323F635935B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63CF6F-5BA4-367D-D768-BE3596655E39}"/>
              </a:ext>
            </a:extLst>
          </p:cNvPr>
          <p:cNvSpPr txBox="1"/>
          <p:nvPr/>
        </p:nvSpPr>
        <p:spPr>
          <a:xfrm>
            <a:off x="6240016" y="6457146"/>
            <a:ext cx="6104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2"/>
              </a:rPr>
              <a:t>1.10. Decision Trees — scikit-learn 1.8.0 documentation</a:t>
            </a:r>
            <a:endParaRPr lang="ko-KR" altLang="en-US" dirty="0"/>
          </a:p>
        </p:txBody>
      </p:sp>
      <p:pic>
        <p:nvPicPr>
          <p:cNvPr id="12" name="그림 11" descr="텍스트, 도표, 라인, 평면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06C4E8C-4FB2-849E-4601-9DF0544C2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8616" y="2420888"/>
            <a:ext cx="5571398" cy="379597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3F94F64-D96A-A446-B7FE-803F5458724F}"/>
              </a:ext>
            </a:extLst>
          </p:cNvPr>
          <p:cNvSpPr txBox="1"/>
          <p:nvPr/>
        </p:nvSpPr>
        <p:spPr>
          <a:xfrm>
            <a:off x="191344" y="764704"/>
            <a:ext cx="12000656" cy="2560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buNone/>
            </a:pPr>
            <a:r>
              <a:rPr lang="en-US" altLang="ko-KR" b="1" dirty="0">
                <a:solidFill>
                  <a:srgbClr val="0000FF"/>
                </a:solidFill>
                <a:latin typeface="+mn-ea"/>
              </a:rPr>
              <a:t>1) Decision Tree</a:t>
            </a:r>
            <a:r>
              <a:rPr lang="ko-KR" altLang="en-US" b="1" dirty="0">
                <a:solidFill>
                  <a:srgbClr val="0000FF"/>
                </a:solidFill>
                <a:latin typeface="+mn-ea"/>
              </a:rPr>
              <a:t>란</a:t>
            </a:r>
            <a:r>
              <a:rPr lang="en-US" altLang="ko-KR" b="1" dirty="0">
                <a:solidFill>
                  <a:srgbClr val="0000FF"/>
                </a:solidFill>
                <a:latin typeface="+mn-ea"/>
              </a:rPr>
              <a:t>?</a:t>
            </a:r>
          </a:p>
          <a:p>
            <a:pPr>
              <a:lnSpc>
                <a:spcPts val="2800"/>
              </a:lnSpc>
              <a:buNone/>
            </a:pPr>
            <a:r>
              <a:rPr lang="ko-KR" altLang="en-US" sz="1600" dirty="0">
                <a:latin typeface="+mn-ea"/>
              </a:rPr>
              <a:t>  </a:t>
            </a:r>
            <a:r>
              <a:rPr lang="ko-KR" altLang="en-US" sz="1600" dirty="0" err="1">
                <a:latin typeface="+mn-ea"/>
              </a:rPr>
              <a:t>결정트리는</a:t>
            </a:r>
            <a:r>
              <a:rPr lang="ko-KR" altLang="en-US" sz="1600" dirty="0">
                <a:latin typeface="+mn-ea"/>
              </a:rPr>
              <a:t> 데이터를 질문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조건문</a:t>
            </a:r>
            <a:r>
              <a:rPr lang="en-US" altLang="ko-KR" sz="1600" dirty="0">
                <a:latin typeface="+mn-ea"/>
              </a:rPr>
              <a:t>)</a:t>
            </a:r>
            <a:r>
              <a:rPr lang="ko-KR" altLang="en-US" sz="1600" dirty="0">
                <a:latin typeface="+mn-ea"/>
              </a:rPr>
              <a:t>으로 계속 나눠가며 최종적으로 클래스</a:t>
            </a:r>
            <a:r>
              <a:rPr lang="en-US" altLang="ko-KR" sz="1600" dirty="0">
                <a:latin typeface="+mn-ea"/>
              </a:rPr>
              <a:t>(OK/NOK)</a:t>
            </a:r>
            <a:r>
              <a:rPr lang="ko-KR" altLang="en-US" sz="1600" dirty="0">
                <a:latin typeface="+mn-ea"/>
              </a:rPr>
              <a:t>를 결정하는 모델이다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pPr marL="176213" indent="187325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예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 lvl="1">
              <a:lnSpc>
                <a:spcPts val="2800"/>
              </a:lnSpc>
            </a:pPr>
            <a:r>
              <a:rPr lang="en-US" altLang="ko-KR" sz="1600" dirty="0">
                <a:latin typeface="+mn-ea"/>
              </a:rPr>
              <a:t>-  </a:t>
            </a:r>
            <a:r>
              <a:rPr lang="ko-KR" altLang="en-US" sz="1600" dirty="0">
                <a:latin typeface="+mn-ea"/>
              </a:rPr>
              <a:t>습도</a:t>
            </a:r>
            <a:r>
              <a:rPr lang="en-US" altLang="ko-KR" sz="1600" dirty="0">
                <a:latin typeface="+mn-ea"/>
              </a:rPr>
              <a:t>(</a:t>
            </a:r>
            <a:r>
              <a:rPr lang="en-US" altLang="ko-KR" sz="1600" dirty="0" err="1">
                <a:latin typeface="+mn-ea"/>
              </a:rPr>
              <a:t>humi</a:t>
            </a:r>
            <a:r>
              <a:rPr lang="en-US" altLang="ko-KR" sz="1600" dirty="0">
                <a:latin typeface="+mn-ea"/>
              </a:rPr>
              <a:t>)</a:t>
            </a:r>
            <a:r>
              <a:rPr lang="ko-KR" altLang="en-US" sz="1600" dirty="0">
                <a:latin typeface="+mn-ea"/>
              </a:rPr>
              <a:t>가 </a:t>
            </a:r>
            <a:r>
              <a:rPr lang="en-US" altLang="ko-KR" sz="1600" dirty="0">
                <a:latin typeface="+mn-ea"/>
              </a:rPr>
              <a:t>85 </a:t>
            </a:r>
            <a:r>
              <a:rPr lang="ko-KR" altLang="en-US" sz="1600" dirty="0">
                <a:latin typeface="+mn-ea"/>
              </a:rPr>
              <a:t>이상인가</a:t>
            </a:r>
            <a:r>
              <a:rPr lang="en-US" altLang="ko-KR" sz="1600" dirty="0">
                <a:latin typeface="+mn-ea"/>
              </a:rPr>
              <a:t>?</a:t>
            </a:r>
          </a:p>
          <a:p>
            <a:pPr lvl="1">
              <a:lnSpc>
                <a:spcPts val="2800"/>
              </a:lnSpc>
            </a:pPr>
            <a:r>
              <a:rPr lang="en-US" altLang="ko-KR" sz="1600" dirty="0">
                <a:latin typeface="+mn-ea"/>
              </a:rPr>
              <a:t>-  </a:t>
            </a:r>
            <a:r>
              <a:rPr lang="ko-KR" altLang="en-US" sz="1600" dirty="0">
                <a:latin typeface="+mn-ea"/>
              </a:rPr>
              <a:t>온도</a:t>
            </a:r>
            <a:r>
              <a:rPr lang="en-US" altLang="ko-KR" sz="1600" dirty="0">
                <a:latin typeface="+mn-ea"/>
              </a:rPr>
              <a:t>(temp)</a:t>
            </a:r>
            <a:r>
              <a:rPr lang="ko-KR" altLang="en-US" sz="1600" dirty="0">
                <a:latin typeface="+mn-ea"/>
              </a:rPr>
              <a:t>가 </a:t>
            </a:r>
            <a:r>
              <a:rPr lang="en-US" altLang="ko-KR" sz="1600" dirty="0">
                <a:latin typeface="+mn-ea"/>
              </a:rPr>
              <a:t>26 </a:t>
            </a:r>
            <a:r>
              <a:rPr lang="ko-KR" altLang="en-US" sz="1600" dirty="0">
                <a:latin typeface="+mn-ea"/>
              </a:rPr>
              <a:t>이상인가</a:t>
            </a:r>
            <a:r>
              <a:rPr lang="en-US" altLang="ko-KR" sz="1600" dirty="0">
                <a:latin typeface="+mn-ea"/>
              </a:rPr>
              <a:t>?</a:t>
            </a:r>
            <a:br>
              <a:rPr lang="en-US" altLang="ko-KR" sz="1600" dirty="0">
                <a:latin typeface="+mn-ea"/>
              </a:rPr>
            </a:br>
            <a:r>
              <a:rPr lang="ko-KR" altLang="en-US" sz="1600" dirty="0">
                <a:latin typeface="+mn-ea"/>
              </a:rPr>
              <a:t>이런 질문을 순서대로 하면서 마지막에 “</a:t>
            </a:r>
            <a:r>
              <a:rPr lang="en-US" altLang="ko-KR" sz="1600" dirty="0">
                <a:latin typeface="+mn-ea"/>
              </a:rPr>
              <a:t>OK” </a:t>
            </a:r>
            <a:r>
              <a:rPr lang="ko-KR" altLang="en-US" sz="1600" dirty="0">
                <a:latin typeface="+mn-ea"/>
              </a:rPr>
              <a:t>또는 “</a:t>
            </a:r>
            <a:r>
              <a:rPr lang="en-US" altLang="ko-KR" sz="1600" dirty="0">
                <a:latin typeface="+mn-ea"/>
              </a:rPr>
              <a:t>NOK”</a:t>
            </a:r>
            <a:r>
              <a:rPr lang="ko-KR" altLang="en-US" sz="1600" dirty="0">
                <a:latin typeface="+mn-ea"/>
              </a:rPr>
              <a:t>를 내린다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pPr>
              <a:lnSpc>
                <a:spcPts val="2800"/>
              </a:lnSpc>
              <a:buNone/>
            </a:pPr>
            <a:r>
              <a:rPr lang="ko-KR" altLang="en-US" sz="1600" dirty="0">
                <a:latin typeface="+mn-ea"/>
              </a:rPr>
              <a:t>그래서 </a:t>
            </a:r>
            <a:r>
              <a:rPr lang="ko-KR" altLang="en-US" sz="1600" dirty="0" err="1">
                <a:latin typeface="+mn-ea"/>
              </a:rPr>
              <a:t>결정트리는</a:t>
            </a:r>
            <a:r>
              <a:rPr lang="ko-KR" altLang="en-US" sz="1600" dirty="0">
                <a:latin typeface="+mn-ea"/>
              </a:rPr>
              <a:t> 사람이 이해하기 쉬운 </a:t>
            </a:r>
            <a:r>
              <a:rPr lang="en-US" altLang="ko-KR" sz="1600" b="1" dirty="0">
                <a:latin typeface="+mn-ea"/>
              </a:rPr>
              <a:t>if-else </a:t>
            </a:r>
            <a:r>
              <a:rPr lang="ko-KR" altLang="en-US" sz="1600" b="1" dirty="0">
                <a:latin typeface="+mn-ea"/>
              </a:rPr>
              <a:t>규칙들의 집합</a:t>
            </a:r>
            <a:r>
              <a:rPr lang="ko-KR" altLang="en-US" sz="1600" dirty="0">
                <a:latin typeface="+mn-ea"/>
              </a:rPr>
              <a:t>이라고 볼 수 있다</a:t>
            </a:r>
            <a:r>
              <a:rPr lang="en-US" altLang="ko-KR" sz="1600" dirty="0"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90951199"/>
      </p:ext>
    </p:extLst>
  </p:cSld>
  <p:clrMapOvr>
    <a:masterClrMapping/>
  </p:clrMapOvr>
  <p:transition spd="slow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D9CCD-F136-6E39-A9C3-6F8C0AD4F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01892F8C-1527-3EDA-7CAE-B0DEAE69B09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D1A49631-3A08-C206-70E9-C57037AEEAB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FCDFB4EE-62B7-6519-0C9F-7F8A8B30DE5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36F0BFA9-4514-0377-3CAD-61E5839D7AC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88DA72B4-9557-7BED-B0D5-2EE2AE12D5F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656780-5276-488E-EEDB-D2573DC5BB0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B8420BB9-CC6E-EB35-066E-9B0F62D5267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4F6F48A-7B3E-D134-5BAE-E073B9289CE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1E02C7E-CE31-5A41-16E9-9806F1593FB7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3-2. Decision Tree(</a:t>
            </a:r>
            <a:r>
              <a:rPr lang="ko-KR" altLang="en-US" sz="2000" b="1" dirty="0">
                <a:solidFill>
                  <a:schemeClr val="tx1"/>
                </a:solidFill>
              </a:rPr>
              <a:t>의사결정 나무</a:t>
            </a:r>
            <a:r>
              <a:rPr lang="en-US" altLang="ko-KR" sz="2000" b="1" dirty="0">
                <a:solidFill>
                  <a:schemeClr val="tx1"/>
                </a:solidFill>
              </a:rPr>
              <a:t>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E2B73CB-4B99-2966-2741-3C179829CA23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A81BBF-8010-F12F-7E50-97CF5ACE8514}"/>
              </a:ext>
            </a:extLst>
          </p:cNvPr>
          <p:cNvSpPr txBox="1"/>
          <p:nvPr/>
        </p:nvSpPr>
        <p:spPr>
          <a:xfrm>
            <a:off x="119336" y="705052"/>
            <a:ext cx="11737304" cy="2566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buNone/>
            </a:pPr>
            <a:r>
              <a:rPr lang="en-US" altLang="ko-KR" sz="1600" b="1" dirty="0">
                <a:solidFill>
                  <a:srgbClr val="0000FF"/>
                </a:solidFill>
                <a:latin typeface="+mn-ea"/>
              </a:rPr>
              <a:t>2) </a:t>
            </a:r>
            <a:r>
              <a:rPr lang="ko-KR" altLang="en-US" sz="1600" b="1" dirty="0">
                <a:solidFill>
                  <a:srgbClr val="0000FF"/>
                </a:solidFill>
                <a:latin typeface="+mn-ea"/>
              </a:rPr>
              <a:t>원리</a:t>
            </a:r>
            <a:r>
              <a:rPr lang="en-US" altLang="ko-KR" sz="1600" b="1" dirty="0">
                <a:solidFill>
                  <a:srgbClr val="0000FF"/>
                </a:solidFill>
                <a:latin typeface="+mn-ea"/>
              </a:rPr>
              <a:t>(</a:t>
            </a:r>
            <a:r>
              <a:rPr lang="ko-KR" altLang="en-US" sz="1600" b="1" dirty="0">
                <a:solidFill>
                  <a:srgbClr val="0000FF"/>
                </a:solidFill>
                <a:latin typeface="+mn-ea"/>
              </a:rPr>
              <a:t>학습의 핵심 아이디어</a:t>
            </a:r>
            <a:r>
              <a:rPr lang="en-US" altLang="ko-KR" sz="1600" b="1" dirty="0">
                <a:solidFill>
                  <a:srgbClr val="0000FF"/>
                </a:solidFill>
                <a:latin typeface="+mn-ea"/>
              </a:rPr>
              <a:t>)</a:t>
            </a:r>
          </a:p>
          <a:p>
            <a:pPr>
              <a:lnSpc>
                <a:spcPts val="2800"/>
              </a:lnSpc>
              <a:buNone/>
            </a:pPr>
            <a:r>
              <a:rPr lang="ko-KR" altLang="en-US" sz="1600" dirty="0">
                <a:latin typeface="+mn-ea"/>
              </a:rPr>
              <a:t>   </a:t>
            </a:r>
            <a:r>
              <a:rPr lang="ko-KR" altLang="en-US" sz="1600" dirty="0" err="1">
                <a:latin typeface="+mn-ea"/>
              </a:rPr>
              <a:t>결정트리</a:t>
            </a:r>
            <a:r>
              <a:rPr lang="ko-KR" altLang="en-US" sz="1600" dirty="0">
                <a:latin typeface="+mn-ea"/>
              </a:rPr>
              <a:t> 학습의 목표는</a:t>
            </a:r>
            <a:r>
              <a:rPr lang="en-US" altLang="ko-KR" sz="1600" dirty="0">
                <a:latin typeface="+mn-ea"/>
              </a:rPr>
              <a:t>:</a:t>
            </a:r>
          </a:p>
          <a:p>
            <a:pPr>
              <a:lnSpc>
                <a:spcPts val="2800"/>
              </a:lnSpc>
              <a:buNone/>
            </a:pPr>
            <a:r>
              <a:rPr lang="ko-KR" altLang="en-US" sz="1600" b="1" dirty="0">
                <a:latin typeface="+mn-ea"/>
              </a:rPr>
              <a:t>     각 단계에서 데이터를 가장 ‘잘’ 분리하는 질문</a:t>
            </a:r>
            <a:r>
              <a:rPr lang="en-US" altLang="ko-KR" sz="1600" b="1" dirty="0">
                <a:latin typeface="+mn-ea"/>
              </a:rPr>
              <a:t>(</a:t>
            </a:r>
            <a:r>
              <a:rPr lang="ko-KR" altLang="en-US" sz="1600" b="1" dirty="0">
                <a:latin typeface="+mn-ea"/>
              </a:rPr>
              <a:t>특성</a:t>
            </a:r>
            <a:r>
              <a:rPr lang="en-US" altLang="ko-KR" sz="1600" b="1" dirty="0">
                <a:latin typeface="+mn-ea"/>
              </a:rPr>
              <a:t>, </a:t>
            </a:r>
            <a:r>
              <a:rPr lang="ko-KR" altLang="en-US" sz="1600" b="1" dirty="0" err="1">
                <a:latin typeface="+mn-ea"/>
              </a:rPr>
              <a:t>임계값</a:t>
            </a:r>
            <a:r>
              <a:rPr lang="en-US" altLang="ko-KR" sz="1600" b="1" dirty="0">
                <a:latin typeface="+mn-ea"/>
              </a:rPr>
              <a:t>)</a:t>
            </a:r>
            <a:r>
              <a:rPr lang="ko-KR" altLang="en-US" sz="1600" b="1" dirty="0">
                <a:latin typeface="+mn-ea"/>
              </a:rPr>
              <a:t>을 찾자</a:t>
            </a:r>
            <a:r>
              <a:rPr lang="en-US" altLang="ko-KR" sz="1600" b="1" dirty="0">
                <a:latin typeface="+mn-ea"/>
              </a:rPr>
              <a:t>.</a:t>
            </a:r>
          </a:p>
          <a:p>
            <a:pPr>
              <a:lnSpc>
                <a:spcPts val="2800"/>
              </a:lnSpc>
              <a:buNone/>
            </a:pPr>
            <a:endParaRPr lang="ko-KR" altLang="en-US" sz="1600" dirty="0">
              <a:latin typeface="+mn-ea"/>
            </a:endParaRPr>
          </a:p>
          <a:p>
            <a:pPr>
              <a:lnSpc>
                <a:spcPts val="2800"/>
              </a:lnSpc>
              <a:buNone/>
            </a:pPr>
            <a:r>
              <a:rPr lang="ko-KR" altLang="en-US" sz="1600" dirty="0">
                <a:latin typeface="+mn-ea"/>
              </a:rPr>
              <a:t>   즉</a:t>
            </a:r>
            <a:r>
              <a:rPr lang="en-US" altLang="ko-KR" sz="1600" dirty="0">
                <a:latin typeface="+mn-ea"/>
              </a:rPr>
              <a:t>, temp</a:t>
            </a:r>
            <a:r>
              <a:rPr lang="ko-KR" altLang="en-US" sz="1600" dirty="0">
                <a:latin typeface="+mn-ea"/>
              </a:rPr>
              <a:t>를 기준으로 자를까</a:t>
            </a:r>
            <a:r>
              <a:rPr lang="en-US" altLang="ko-KR" sz="1600" dirty="0">
                <a:latin typeface="+mn-ea"/>
              </a:rPr>
              <a:t>?, </a:t>
            </a:r>
            <a:r>
              <a:rPr lang="en-US" altLang="ko-KR" sz="1600" dirty="0" err="1">
                <a:latin typeface="+mn-ea"/>
              </a:rPr>
              <a:t>humi</a:t>
            </a:r>
            <a:r>
              <a:rPr lang="ko-KR" altLang="en-US" sz="1600" dirty="0">
                <a:latin typeface="+mn-ea"/>
              </a:rPr>
              <a:t>를 기준으로 자를까</a:t>
            </a:r>
            <a:r>
              <a:rPr lang="en-US" altLang="ko-KR" sz="1600" dirty="0">
                <a:latin typeface="+mn-ea"/>
              </a:rPr>
              <a:t>?, </a:t>
            </a:r>
            <a:r>
              <a:rPr lang="en-US" altLang="ko-KR" sz="1600" dirty="0" err="1">
                <a:latin typeface="+mn-ea"/>
              </a:rPr>
              <a:t>humi</a:t>
            </a:r>
            <a:r>
              <a:rPr lang="ko-KR" altLang="en-US" sz="1600" dirty="0">
                <a:latin typeface="+mn-ea"/>
              </a:rPr>
              <a:t>를 </a:t>
            </a:r>
            <a:r>
              <a:rPr lang="en-US" altLang="ko-KR" sz="1600" dirty="0">
                <a:latin typeface="+mn-ea"/>
              </a:rPr>
              <a:t>84.5</a:t>
            </a:r>
            <a:r>
              <a:rPr lang="ko-KR" altLang="en-US" sz="1600" dirty="0">
                <a:latin typeface="+mn-ea"/>
              </a:rPr>
              <a:t>에서 나눌까</a:t>
            </a:r>
            <a:r>
              <a:rPr lang="en-US" altLang="ko-KR" sz="1600" dirty="0">
                <a:latin typeface="+mn-ea"/>
              </a:rPr>
              <a:t>? </a:t>
            </a:r>
            <a:r>
              <a:rPr lang="ko-KR" altLang="en-US" sz="1600" dirty="0">
                <a:latin typeface="+mn-ea"/>
              </a:rPr>
              <a:t>같은 선택을 반복해서</a:t>
            </a:r>
            <a:endParaRPr lang="en-US" altLang="ko-KR" sz="1600" dirty="0">
              <a:latin typeface="+mn-ea"/>
            </a:endParaRPr>
          </a:p>
          <a:p>
            <a:pPr>
              <a:lnSpc>
                <a:spcPts val="2800"/>
              </a:lnSpc>
              <a:buNone/>
            </a:pP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   </a:t>
            </a:r>
            <a:r>
              <a:rPr lang="ko-KR" altLang="en-US" sz="1600" b="1" dirty="0">
                <a:latin typeface="+mn-ea"/>
              </a:rPr>
              <a:t>클래스가 섞이지 않도록</a:t>
            </a:r>
            <a:r>
              <a:rPr lang="en-US" altLang="ko-KR" sz="1600" b="1" dirty="0">
                <a:latin typeface="+mn-ea"/>
              </a:rPr>
              <a:t>(=</a:t>
            </a:r>
            <a:r>
              <a:rPr lang="ko-KR" altLang="en-US" sz="1600" b="1" dirty="0">
                <a:latin typeface="+mn-ea"/>
              </a:rPr>
              <a:t>순수해지도록</a:t>
            </a:r>
            <a:r>
              <a:rPr lang="en-US" altLang="ko-KR" sz="1600" b="1" dirty="0">
                <a:latin typeface="+mn-ea"/>
              </a:rPr>
              <a:t>)</a:t>
            </a:r>
            <a:r>
              <a:rPr lang="ko-KR" altLang="en-US" sz="1600" dirty="0">
                <a:latin typeface="+mn-ea"/>
              </a:rPr>
              <a:t> 만들어 가는 것</a:t>
            </a:r>
            <a:r>
              <a:rPr lang="en-US" altLang="ko-KR" sz="1600" dirty="0"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81222173"/>
      </p:ext>
    </p:extLst>
  </p:cSld>
  <p:clrMapOvr>
    <a:masterClrMapping/>
  </p:clrMapOvr>
  <p:transition spd="slow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33BE0-979A-28D2-A36D-7F4B7A7D5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76D829E5-5375-47CF-C9B8-D25CD6E7A51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8C712F93-CE05-CD1E-9140-86A40EBF3E2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6C1C22D3-A735-D869-8B28-338BAC841CF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C51D16B1-A228-D862-3392-39287186A8C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BB0CF87-9D4A-867C-2DD8-087FD36C6D04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18F184-7C8B-34B9-8265-28E8F1C842C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CCF59165-6DB4-F70F-480B-89E7A1FAC374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D0E5D9F-0964-45AB-3C63-A8984F631D88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94BF34C-8C25-FED7-2D33-4B510B6E6C12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3-2. Decision Tree(</a:t>
            </a:r>
            <a:r>
              <a:rPr lang="ko-KR" altLang="en-US" sz="2000" b="1" dirty="0">
                <a:solidFill>
                  <a:schemeClr val="tx1"/>
                </a:solidFill>
              </a:rPr>
              <a:t>의사결정 나무</a:t>
            </a:r>
            <a:r>
              <a:rPr lang="en-US" altLang="ko-KR" sz="2000" b="1" dirty="0">
                <a:solidFill>
                  <a:schemeClr val="tx1"/>
                </a:solidFill>
              </a:rPr>
              <a:t>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8C1E75F-00CB-4016-EA88-F071B4EC1EA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E9D5E93-F462-DA95-4897-6B1EB29B25C4}"/>
                  </a:ext>
                </a:extLst>
              </p:cNvPr>
              <p:cNvSpPr txBox="1"/>
              <p:nvPr/>
            </p:nvSpPr>
            <p:spPr>
              <a:xfrm>
                <a:off x="299356" y="711414"/>
                <a:ext cx="11593288" cy="52441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ts val="2700"/>
                  </a:lnSpc>
                  <a:buNone/>
                </a:pPr>
                <a:r>
                  <a:rPr lang="en-US" altLang="ko-KR" sz="1600" b="1" dirty="0">
                    <a:solidFill>
                      <a:srgbClr val="0000FF"/>
                    </a:solidFill>
                    <a:latin typeface="+mn-ea"/>
                  </a:rPr>
                  <a:t>3) </a:t>
                </a:r>
                <a:r>
                  <a:rPr lang="ko-KR" altLang="en-US" sz="1600" b="1" dirty="0">
                    <a:solidFill>
                      <a:srgbClr val="0000FF"/>
                    </a:solidFill>
                    <a:latin typeface="+mn-ea"/>
                  </a:rPr>
                  <a:t>트리는 어떻게 만들어지나</a:t>
                </a:r>
                <a:r>
                  <a:rPr lang="en-US" altLang="ko-KR" sz="1600" b="1" dirty="0">
                    <a:solidFill>
                      <a:srgbClr val="0000FF"/>
                    </a:solidFill>
                    <a:latin typeface="+mn-ea"/>
                  </a:rPr>
                  <a:t>? (</a:t>
                </a:r>
                <a:r>
                  <a:rPr lang="ko-KR" altLang="en-US" sz="1600" b="1" dirty="0">
                    <a:solidFill>
                      <a:srgbClr val="0000FF"/>
                    </a:solidFill>
                    <a:latin typeface="+mn-ea"/>
                  </a:rPr>
                  <a:t>학습 과정</a:t>
                </a:r>
                <a:r>
                  <a:rPr lang="en-US" altLang="ko-KR" sz="1600" b="1" dirty="0">
                    <a:solidFill>
                      <a:srgbClr val="0000FF"/>
                    </a:solidFill>
                    <a:latin typeface="+mn-ea"/>
                  </a:rPr>
                  <a:t>)</a:t>
                </a:r>
              </a:p>
              <a:p>
                <a:pPr>
                  <a:lnSpc>
                    <a:spcPts val="2700"/>
                  </a:lnSpc>
                  <a:buNone/>
                </a:pPr>
                <a:r>
                  <a:rPr lang="ko-KR" altLang="en-US" sz="1600" dirty="0">
                    <a:latin typeface="+mn-ea"/>
                  </a:rPr>
                  <a:t>  </a:t>
                </a:r>
                <a:r>
                  <a:rPr lang="ko-KR" altLang="en-US" sz="1600" dirty="0" err="1">
                    <a:latin typeface="+mn-ea"/>
                  </a:rPr>
                  <a:t>결정트리는</a:t>
                </a:r>
                <a:r>
                  <a:rPr lang="ko-KR" altLang="en-US" sz="1600" dirty="0">
                    <a:latin typeface="+mn-ea"/>
                  </a:rPr>
                  <a:t> 보통 다음을 반복한다</a:t>
                </a:r>
                <a:r>
                  <a:rPr lang="en-US" altLang="ko-KR" sz="1600" dirty="0">
                    <a:latin typeface="+mn-ea"/>
                  </a:rPr>
                  <a:t>. </a:t>
                </a:r>
              </a:p>
              <a:p>
                <a:pPr marL="176213">
                  <a:lnSpc>
                    <a:spcPts val="2700"/>
                  </a:lnSpc>
                  <a:buNone/>
                </a:pPr>
                <a:r>
                  <a:rPr lang="en-US" altLang="ko-KR" sz="1600" b="1" dirty="0">
                    <a:latin typeface="+mn-ea"/>
                  </a:rPr>
                  <a:t>(1) </a:t>
                </a:r>
                <a:r>
                  <a:rPr lang="ko-KR" altLang="en-US" sz="1600" b="1" dirty="0">
                    <a:latin typeface="+mn-ea"/>
                  </a:rPr>
                  <a:t>현재 노드에 있는 데이터가 섞여 있는지 확인</a:t>
                </a:r>
              </a:p>
              <a:p>
                <a:pPr marL="363538" indent="176213">
                  <a:lnSpc>
                    <a:spcPts val="27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+mn-ea"/>
                  </a:rPr>
                  <a:t>OK</a:t>
                </a:r>
                <a:r>
                  <a:rPr lang="ko-KR" altLang="en-US" sz="1600" dirty="0">
                    <a:latin typeface="+mn-ea"/>
                  </a:rPr>
                  <a:t>와 </a:t>
                </a:r>
                <a:r>
                  <a:rPr lang="en-US" altLang="ko-KR" sz="1600" dirty="0">
                    <a:latin typeface="+mn-ea"/>
                  </a:rPr>
                  <a:t>NOK</a:t>
                </a:r>
                <a:r>
                  <a:rPr lang="ko-KR" altLang="en-US" sz="1600" dirty="0">
                    <a:latin typeface="+mn-ea"/>
                  </a:rPr>
                  <a:t>가 섞여 있으면 → 더 나눌 필요가 있음</a:t>
                </a:r>
              </a:p>
              <a:p>
                <a:pPr marL="363538" indent="176213">
                  <a:lnSpc>
                    <a:spcPts val="27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거의 한쪽이면 → 그 노드는 “잎</a:t>
                </a:r>
                <a:r>
                  <a:rPr lang="en-US" altLang="ko-KR" sz="1600" dirty="0">
                    <a:latin typeface="+mn-ea"/>
                  </a:rPr>
                  <a:t>(leaf)” </a:t>
                </a:r>
                <a:r>
                  <a:rPr lang="ko-KR" altLang="en-US" sz="1600" dirty="0">
                    <a:latin typeface="+mn-ea"/>
                  </a:rPr>
                  <a:t>으로 끝내도 됨</a:t>
                </a:r>
              </a:p>
              <a:p>
                <a:pPr indent="176213">
                  <a:lnSpc>
                    <a:spcPts val="2700"/>
                  </a:lnSpc>
                  <a:buNone/>
                </a:pPr>
                <a:r>
                  <a:rPr lang="en-US" altLang="ko-KR" sz="1600" b="1" dirty="0">
                    <a:latin typeface="+mn-ea"/>
                  </a:rPr>
                  <a:t>(2) </a:t>
                </a:r>
                <a:r>
                  <a:rPr lang="ko-KR" altLang="en-US" sz="1600" b="1" dirty="0">
                    <a:latin typeface="+mn-ea"/>
                  </a:rPr>
                  <a:t>가능한 모든 분할 후보를 시험</a:t>
                </a:r>
              </a:p>
              <a:p>
                <a:pPr marL="363538">
                  <a:lnSpc>
                    <a:spcPts val="2700"/>
                  </a:lnSpc>
                  <a:buNone/>
                </a:pPr>
                <a:r>
                  <a:rPr lang="ko-KR" altLang="en-US" sz="1600" dirty="0">
                    <a:latin typeface="+mn-ea"/>
                  </a:rPr>
                  <a:t>예</a:t>
                </a:r>
                <a:r>
                  <a:rPr lang="en-US" altLang="ko-KR" sz="1600" dirty="0">
                    <a:latin typeface="+mn-ea"/>
                  </a:rPr>
                  <a:t>: </a:t>
                </a:r>
                <a:r>
                  <a:rPr lang="ko-KR" altLang="en-US" sz="1600" dirty="0">
                    <a:latin typeface="+mn-ea"/>
                  </a:rPr>
                  <a:t>특성이 </a:t>
                </a:r>
                <a:r>
                  <a:rPr lang="en-US" altLang="ko-KR" sz="1600" dirty="0">
                    <a:latin typeface="+mn-ea"/>
                  </a:rPr>
                  <a:t>temp, </a:t>
                </a:r>
                <a:r>
                  <a:rPr lang="en-US" altLang="ko-KR" sz="1600" dirty="0" err="1">
                    <a:latin typeface="+mn-ea"/>
                  </a:rPr>
                  <a:t>humi</a:t>
                </a:r>
                <a:r>
                  <a:rPr lang="en-US" altLang="ko-KR" sz="1600" dirty="0">
                    <a:latin typeface="+mn-ea"/>
                  </a:rPr>
                  <a:t> </a:t>
                </a:r>
                <a:r>
                  <a:rPr lang="ko-KR" altLang="en-US" sz="1600" dirty="0">
                    <a:latin typeface="+mn-ea"/>
                  </a:rPr>
                  <a:t>두 개라면</a:t>
                </a:r>
              </a:p>
              <a:p>
                <a:pPr marL="539750" indent="177800">
                  <a:lnSpc>
                    <a:spcPts val="27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+mn-ea"/>
                  </a:rPr>
                  <a:t>temp</a:t>
                </a:r>
                <a:r>
                  <a:rPr lang="ko-KR" altLang="en-US" sz="1600" dirty="0">
                    <a:latin typeface="+mn-ea"/>
                  </a:rPr>
                  <a:t>를 어떤 값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dirty="0">
                    <a:latin typeface="+mn-ea"/>
                  </a:rPr>
                  <a:t>로 자르는 분할</a:t>
                </a:r>
              </a:p>
              <a:p>
                <a:pPr marL="539750" lvl="1" indent="177800">
                  <a:lnSpc>
                    <a:spcPts val="27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>
                    <a:latin typeface="+mn-ea"/>
                  </a:rPr>
                  <a:t>temp ≤ t vs temp &gt; t</a:t>
                </a:r>
              </a:p>
              <a:p>
                <a:pPr marL="539750" indent="177800">
                  <a:lnSpc>
                    <a:spcPts val="27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 err="1">
                    <a:latin typeface="+mn-ea"/>
                  </a:rPr>
                  <a:t>humi</a:t>
                </a:r>
                <a:r>
                  <a:rPr lang="ko-KR" altLang="en-US" sz="1600" dirty="0">
                    <a:latin typeface="+mn-ea"/>
                  </a:rPr>
                  <a:t>를 어떤 값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ko-KR" altLang="en-US" sz="1600" dirty="0">
                    <a:latin typeface="+mn-ea"/>
                  </a:rPr>
                  <a:t>로 자르는 분할</a:t>
                </a:r>
              </a:p>
              <a:p>
                <a:pPr marL="539750" lvl="1" indent="177800">
                  <a:lnSpc>
                    <a:spcPts val="27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 err="1">
                    <a:latin typeface="+mn-ea"/>
                  </a:rPr>
                  <a:t>humi</a:t>
                </a:r>
                <a:r>
                  <a:rPr lang="en-US" altLang="ko-KR" sz="1600" dirty="0">
                    <a:latin typeface="+mn-ea"/>
                  </a:rPr>
                  <a:t> ≤ h vs </a:t>
                </a:r>
                <a:r>
                  <a:rPr lang="en-US" altLang="ko-KR" sz="1600" dirty="0" err="1">
                    <a:latin typeface="+mn-ea"/>
                  </a:rPr>
                  <a:t>humi</a:t>
                </a:r>
                <a:r>
                  <a:rPr lang="en-US" altLang="ko-KR" sz="1600" dirty="0">
                    <a:latin typeface="+mn-ea"/>
                  </a:rPr>
                  <a:t> &gt; h</a:t>
                </a:r>
              </a:p>
              <a:p>
                <a:pPr marL="539750" indent="177800">
                  <a:lnSpc>
                    <a:spcPts val="2700"/>
                  </a:lnSpc>
                  <a:buNone/>
                </a:pPr>
                <a:r>
                  <a:rPr lang="ko-KR" altLang="en-US" sz="1600" dirty="0">
                    <a:latin typeface="+mn-ea"/>
                  </a:rPr>
                  <a:t>여기서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sz="1600" i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ko-KR" altLang="en-US" sz="1600" dirty="0">
                    <a:latin typeface="+mn-ea"/>
                  </a:rPr>
                  <a:t>후보는 보통 </a:t>
                </a:r>
                <a:r>
                  <a:rPr lang="ko-KR" altLang="en-US" sz="1600" b="1" dirty="0">
                    <a:latin typeface="+mn-ea"/>
                  </a:rPr>
                  <a:t>데이터 값 사이의 </a:t>
                </a:r>
                <a:r>
                  <a:rPr lang="ko-KR" altLang="en-US" sz="1600" b="1" dirty="0" err="1">
                    <a:latin typeface="+mn-ea"/>
                  </a:rPr>
                  <a:t>중간값들</a:t>
                </a:r>
                <a:r>
                  <a:rPr lang="ko-KR" altLang="en-US" sz="1600" dirty="0" err="1">
                    <a:latin typeface="+mn-ea"/>
                  </a:rPr>
                  <a:t>을</a:t>
                </a:r>
                <a:r>
                  <a:rPr lang="ko-KR" altLang="en-US" sz="1600" dirty="0">
                    <a:latin typeface="+mn-ea"/>
                  </a:rPr>
                  <a:t> 대상으로 한다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indent="176213">
                  <a:lnSpc>
                    <a:spcPts val="2700"/>
                  </a:lnSpc>
                  <a:buNone/>
                </a:pPr>
                <a:r>
                  <a:rPr lang="en-US" altLang="ko-KR" sz="1600" b="1" dirty="0">
                    <a:latin typeface="+mn-ea"/>
                  </a:rPr>
                  <a:t>(3) “</a:t>
                </a:r>
                <a:r>
                  <a:rPr lang="ko-KR" altLang="en-US" sz="1600" b="1" dirty="0">
                    <a:latin typeface="+mn-ea"/>
                  </a:rPr>
                  <a:t>가장 좋은 </a:t>
                </a:r>
                <a:r>
                  <a:rPr lang="ko-KR" altLang="en-US" sz="1600" b="1" dirty="0" err="1">
                    <a:latin typeface="+mn-ea"/>
                  </a:rPr>
                  <a:t>분할”을</a:t>
                </a:r>
                <a:r>
                  <a:rPr lang="ko-KR" altLang="en-US" sz="1600" b="1" dirty="0">
                    <a:latin typeface="+mn-ea"/>
                  </a:rPr>
                  <a:t> 선택</a:t>
                </a:r>
              </a:p>
              <a:p>
                <a:pPr marL="269875" indent="176213">
                  <a:lnSpc>
                    <a:spcPts val="2700"/>
                  </a:lnSpc>
                  <a:buNone/>
                </a:pPr>
                <a:r>
                  <a:rPr lang="ko-KR" altLang="en-US" sz="1600" dirty="0">
                    <a:latin typeface="+mn-ea"/>
                  </a:rPr>
                  <a:t>가장 좋은 분할이란</a:t>
                </a:r>
                <a:r>
                  <a:rPr lang="en-US" altLang="ko-KR" sz="1600" dirty="0">
                    <a:latin typeface="+mn-ea"/>
                  </a:rPr>
                  <a:t>,  </a:t>
                </a:r>
                <a:r>
                  <a:rPr lang="ko-KR" altLang="en-US" sz="1600" dirty="0">
                    <a:latin typeface="+mn-ea"/>
                  </a:rPr>
                  <a:t>나눈 뒤에 각각의 그룹이 더 순수</a:t>
                </a:r>
                <a:r>
                  <a:rPr lang="en-US" altLang="ko-KR" sz="1600" dirty="0">
                    <a:latin typeface="+mn-ea"/>
                  </a:rPr>
                  <a:t>(OK</a:t>
                </a:r>
                <a:r>
                  <a:rPr lang="ko-KR" altLang="en-US" sz="1600" dirty="0">
                    <a:latin typeface="+mn-ea"/>
                  </a:rPr>
                  <a:t>만</a:t>
                </a:r>
                <a:r>
                  <a:rPr lang="en-US" altLang="ko-KR" sz="1600" dirty="0">
                    <a:latin typeface="+mn-ea"/>
                  </a:rPr>
                  <a:t>, NOK</a:t>
                </a:r>
                <a:r>
                  <a:rPr lang="ko-KR" altLang="en-US" sz="1600" dirty="0">
                    <a:latin typeface="+mn-ea"/>
                  </a:rPr>
                  <a:t>만</a:t>
                </a:r>
                <a:r>
                  <a:rPr lang="en-US" altLang="ko-KR" sz="1600" dirty="0">
                    <a:latin typeface="+mn-ea"/>
                  </a:rPr>
                  <a:t>)</a:t>
                </a:r>
                <a:r>
                  <a:rPr lang="ko-KR" altLang="en-US" sz="1600" dirty="0">
                    <a:latin typeface="+mn-ea"/>
                  </a:rPr>
                  <a:t>해지는 분할</a:t>
                </a:r>
              </a:p>
              <a:p>
                <a:pPr marL="269875" indent="176213">
                  <a:lnSpc>
                    <a:spcPts val="2700"/>
                  </a:lnSpc>
                  <a:buNone/>
                </a:pPr>
                <a:r>
                  <a:rPr lang="en-US" altLang="ko-KR" sz="1600" dirty="0">
                    <a:latin typeface="+mn-ea"/>
                    <a:sym typeface="Wingdings" panose="05000000000000000000" pitchFamily="2" charset="2"/>
                  </a:rPr>
                  <a:t> </a:t>
                </a:r>
                <a:r>
                  <a:rPr lang="ko-KR" altLang="en-US" sz="1600" dirty="0">
                    <a:latin typeface="+mn-ea"/>
                  </a:rPr>
                  <a:t>순수함을 측정하는 대표 기준은 </a:t>
                </a:r>
                <a:r>
                  <a:rPr lang="ko-KR" altLang="en-US" sz="1600" b="1" dirty="0">
                    <a:latin typeface="+mn-ea"/>
                  </a:rPr>
                  <a:t>불순도</a:t>
                </a:r>
                <a:r>
                  <a:rPr lang="en-US" altLang="ko-KR" sz="1600" b="1" dirty="0">
                    <a:latin typeface="+mn-ea"/>
                  </a:rPr>
                  <a:t>(impurity)</a:t>
                </a:r>
                <a:endParaRPr lang="en-US" altLang="ko-KR" sz="1600" dirty="0">
                  <a:latin typeface="+mn-ea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E9D5E93-F462-DA95-4897-6B1EB29B25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356" y="711414"/>
                <a:ext cx="11593288" cy="5244193"/>
              </a:xfrm>
              <a:prstGeom prst="rect">
                <a:avLst/>
              </a:prstGeom>
              <a:blipFill>
                <a:blip r:embed="rId2"/>
                <a:stretch>
                  <a:fillRect l="-263" b="-69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29991548"/>
      </p:ext>
    </p:extLst>
  </p:cSld>
  <p:clrMapOvr>
    <a:masterClrMapping/>
  </p:clrMapOvr>
  <p:transition spd="slow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F0845-41FD-9491-DD05-93124AC46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400E47DD-92B9-4B8E-9EF0-9B63C57C97F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8F0928DD-FF31-B1FA-DFC4-4CB61CE8508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C8638A1F-F97B-97D0-33E7-4397867BE8A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471D649D-CD2B-02B3-C8CD-B921A6477FB3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41BAAFD-0084-C58F-EFCC-A19BFA5E3C3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049FDE-A8F4-85B8-ACC4-3A4F217BE904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F7E0568A-8616-CF70-76D6-B2BFDE636AB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BFA7166-D31B-2F8F-B4B1-F1AF8C2E6CB4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C53B1BB-A744-F31E-F91D-3EBA65B65D27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3-2. Decision Tree(</a:t>
            </a:r>
            <a:r>
              <a:rPr lang="ko-KR" altLang="en-US" sz="2000" b="1" dirty="0">
                <a:solidFill>
                  <a:schemeClr val="tx1"/>
                </a:solidFill>
              </a:rPr>
              <a:t>의사결정 나무</a:t>
            </a:r>
            <a:r>
              <a:rPr lang="en-US" altLang="ko-KR" sz="2000" b="1" dirty="0">
                <a:solidFill>
                  <a:schemeClr val="tx1"/>
                </a:solidFill>
              </a:rPr>
              <a:t>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8D5EF8B-354D-5413-1F4F-833BEF0615A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5C9A56-6162-2401-D10E-CD792000C5A5}"/>
                  </a:ext>
                </a:extLst>
              </p:cNvPr>
              <p:cNvSpPr txBox="1"/>
              <p:nvPr/>
            </p:nvSpPr>
            <p:spPr>
              <a:xfrm>
                <a:off x="263352" y="801612"/>
                <a:ext cx="8208912" cy="48979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ts val="2700"/>
                  </a:lnSpc>
                  <a:buNone/>
                </a:pPr>
                <a:r>
                  <a:rPr lang="en-US" altLang="ko-KR" sz="1600" b="1" dirty="0">
                    <a:solidFill>
                      <a:srgbClr val="0000FF"/>
                    </a:solidFill>
                    <a:latin typeface="+mn-ea"/>
                  </a:rPr>
                  <a:t>4) </a:t>
                </a:r>
                <a:r>
                  <a:rPr lang="ko-KR" altLang="en-US" sz="1600" b="1" dirty="0">
                    <a:solidFill>
                      <a:srgbClr val="0000FF"/>
                    </a:solidFill>
                    <a:latin typeface="+mn-ea"/>
                  </a:rPr>
                  <a:t>불순도</a:t>
                </a:r>
                <a:r>
                  <a:rPr lang="en-US" altLang="ko-KR" sz="1600" b="1" dirty="0">
                    <a:solidFill>
                      <a:srgbClr val="0000FF"/>
                    </a:solidFill>
                    <a:latin typeface="+mn-ea"/>
                  </a:rPr>
                  <a:t>(Impurity)</a:t>
                </a:r>
                <a:r>
                  <a:rPr lang="ko-KR" altLang="en-US" sz="1600" b="1" dirty="0">
                    <a:solidFill>
                      <a:srgbClr val="0000FF"/>
                    </a:solidFill>
                    <a:latin typeface="+mn-ea"/>
                  </a:rPr>
                  <a:t>와 분할 기준</a:t>
                </a:r>
              </a:p>
              <a:p>
                <a:pPr>
                  <a:lnSpc>
                    <a:spcPts val="2700"/>
                  </a:lnSpc>
                  <a:buNone/>
                </a:pPr>
                <a:r>
                  <a:rPr lang="ko-KR" altLang="en-US" sz="1600" dirty="0">
                    <a:latin typeface="+mn-ea"/>
                  </a:rPr>
                  <a:t>  </a:t>
                </a:r>
                <a:r>
                  <a:rPr lang="ko-KR" altLang="en-US" sz="1600" dirty="0" err="1">
                    <a:latin typeface="+mn-ea"/>
                  </a:rPr>
                  <a:t>결정트리는</a:t>
                </a:r>
                <a:r>
                  <a:rPr lang="ko-KR" altLang="en-US" sz="1600" dirty="0">
                    <a:latin typeface="+mn-ea"/>
                  </a:rPr>
                  <a:t> 나누기 전보다 나눈 뒤가 더 순수하면 </a:t>
                </a:r>
                <a:r>
                  <a:rPr lang="ko-KR" altLang="en-US" sz="1600" dirty="0" err="1">
                    <a:latin typeface="+mn-ea"/>
                  </a:rPr>
                  <a:t>좋다를</a:t>
                </a:r>
                <a:r>
                  <a:rPr lang="ko-KR" altLang="en-US" sz="1600" dirty="0">
                    <a:latin typeface="+mn-ea"/>
                  </a:rPr>
                  <a:t> 수치로 평가한다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76213">
                  <a:lnSpc>
                    <a:spcPts val="2700"/>
                  </a:lnSpc>
                  <a:buNone/>
                </a:pPr>
                <a:r>
                  <a:rPr lang="en-US" altLang="ko-KR" sz="1600" b="1" dirty="0">
                    <a:latin typeface="+mn-ea"/>
                  </a:rPr>
                  <a:t>(1) </a:t>
                </a:r>
                <a:r>
                  <a:rPr lang="ko-KR" altLang="en-US" sz="1600" b="1" dirty="0">
                    <a:latin typeface="+mn-ea"/>
                  </a:rPr>
                  <a:t>지니 불순도</a:t>
                </a:r>
                <a:r>
                  <a:rPr lang="en-US" altLang="ko-KR" sz="1600" b="1" dirty="0">
                    <a:latin typeface="+mn-ea"/>
                  </a:rPr>
                  <a:t>(Gini Impurity) — </a:t>
                </a:r>
                <a:r>
                  <a:rPr lang="ko-KR" altLang="en-US" sz="1600" b="1" dirty="0">
                    <a:latin typeface="+mn-ea"/>
                  </a:rPr>
                  <a:t>분류에서 많이 사용</a:t>
                </a:r>
              </a:p>
              <a:p>
                <a:pPr marL="360363" indent="174625">
                  <a:lnSpc>
                    <a:spcPts val="2700"/>
                  </a:lnSpc>
                  <a:buNone/>
                </a:pPr>
                <a:r>
                  <a:rPr lang="ko-KR" altLang="en-US" sz="1600" dirty="0">
                    <a:latin typeface="+mn-ea"/>
                  </a:rPr>
                  <a:t>클래스 비율이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𝑂𝐾</m:t>
                        </m:r>
                      </m:e>
                    </m:d>
                    <m:r>
                      <a:rPr lang="en-US" altLang="ko-KR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ko-KR" sz="1600" dirty="0">
                    <a:latin typeface="+mn-ea"/>
                  </a:rPr>
                  <a:t>,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𝑁𝑂𝐾</m:t>
                        </m:r>
                      </m:e>
                    </m:d>
                    <m:r>
                      <a:rPr lang="en-US" altLang="ko-KR" sz="1600" i="0">
                        <a:latin typeface="Cambria Math" panose="02040503050406030204" pitchFamily="18" charset="0"/>
                      </a:rPr>
                      <m:t>=1−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 sz="1600" dirty="0">
                    <a:latin typeface="+mn-ea"/>
                  </a:rPr>
                  <a:t>일 때</a:t>
                </a:r>
              </a:p>
              <a:p>
                <a:pPr marL="360363" indent="174625">
                  <a:lnSpc>
                    <a:spcPts val="2700"/>
                  </a:lnSpc>
                  <a:buNone/>
                </a:pPr>
                <a:r>
                  <a:rPr lang="ko-KR" altLang="en-US" sz="1600" dirty="0"/>
                  <a:t> 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𝐺𝑖𝑛𝑖</m:t>
                    </m:r>
                    <m:r>
                      <a:rPr lang="en-US" altLang="ko-KR" sz="1600" i="0">
                        <a:latin typeface="Cambria Math" panose="02040503050406030204" pitchFamily="18" charset="0"/>
                      </a:rPr>
                      <m:t>=1−</m:t>
                    </m:r>
                    <m:d>
                      <m:dPr>
                        <m:endChr m:val="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ko-KR" altLang="en-US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altLang="ko-KR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ko-KR" altLang="en-US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sSup>
                              <m:sSupPr>
                                <m:ctrlPr>
                                  <a:rPr lang="ko-KR" alt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"/>
                                    <m:endChr m:val=""/>
                                    <m:ctrlPr>
                                      <a:rPr lang="ko-KR" alt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600" i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altLang="ko-KR" sz="1600" i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</m:d>
                  </m:oMath>
                </a14:m>
                <a:endParaRPr lang="ko-KR" altLang="en-US" sz="1600" dirty="0">
                  <a:latin typeface="+mn-ea"/>
                </a:endParaRPr>
              </a:p>
              <a:p>
                <a:pPr marL="360363" indent="174625">
                  <a:lnSpc>
                    <a:spcPts val="27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한쪽만 있으면</a:t>
                </a:r>
                <a:r>
                  <a:rPr lang="en-US" altLang="ko-KR" sz="1600" dirty="0">
                    <a:latin typeface="+mn-ea"/>
                  </a:rPr>
                  <a:t>(p=0 </a:t>
                </a:r>
                <a:r>
                  <a:rPr lang="ko-KR" altLang="en-US" sz="1600" dirty="0">
                    <a:latin typeface="+mn-ea"/>
                  </a:rPr>
                  <a:t>또는 </a:t>
                </a:r>
                <a:r>
                  <a:rPr lang="en-US" altLang="ko-KR" sz="1600" dirty="0">
                    <a:latin typeface="+mn-ea"/>
                  </a:rPr>
                  <a:t>1) → Gini = 0 (</a:t>
                </a:r>
                <a:r>
                  <a:rPr lang="ko-KR" altLang="en-US" sz="1600" dirty="0">
                    <a:latin typeface="+mn-ea"/>
                  </a:rPr>
                  <a:t>완전 순수</a:t>
                </a:r>
                <a:r>
                  <a:rPr lang="en-US" altLang="ko-KR" sz="1600" dirty="0">
                    <a:latin typeface="+mn-ea"/>
                  </a:rPr>
                  <a:t>)</a:t>
                </a:r>
              </a:p>
              <a:p>
                <a:pPr marL="360363" indent="174625">
                  <a:lnSpc>
                    <a:spcPts val="27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반반이면</a:t>
                </a:r>
                <a:r>
                  <a:rPr lang="en-US" altLang="ko-KR" sz="1600" dirty="0">
                    <a:latin typeface="+mn-ea"/>
                  </a:rPr>
                  <a:t>(p=0.5) → Gini </a:t>
                </a:r>
                <a:r>
                  <a:rPr lang="ko-KR" altLang="en-US" sz="1600" dirty="0">
                    <a:latin typeface="+mn-ea"/>
                  </a:rPr>
                  <a:t>최대 </a:t>
                </a:r>
                <a:r>
                  <a:rPr lang="en-US" altLang="ko-KR" sz="1600" dirty="0">
                    <a:latin typeface="+mn-ea"/>
                  </a:rPr>
                  <a:t>(</a:t>
                </a:r>
                <a:r>
                  <a:rPr lang="ko-KR" altLang="en-US" sz="1600" dirty="0">
                    <a:latin typeface="+mn-ea"/>
                  </a:rPr>
                  <a:t>가장 섞임</a:t>
                </a:r>
                <a:r>
                  <a:rPr lang="en-US" altLang="ko-KR" sz="1600" dirty="0">
                    <a:latin typeface="+mn-ea"/>
                  </a:rPr>
                  <a:t>)</a:t>
                </a:r>
              </a:p>
              <a:p>
                <a:pPr marL="176213">
                  <a:lnSpc>
                    <a:spcPts val="2700"/>
                  </a:lnSpc>
                  <a:buNone/>
                </a:pPr>
                <a:r>
                  <a:rPr lang="en-US" altLang="ko-KR" sz="1600" b="1" dirty="0">
                    <a:latin typeface="+mn-ea"/>
                  </a:rPr>
                  <a:t>(2) </a:t>
                </a:r>
                <a:r>
                  <a:rPr lang="ko-KR" altLang="en-US" sz="1600" b="1" dirty="0">
                    <a:latin typeface="+mn-ea"/>
                  </a:rPr>
                  <a:t>엔트로피</a:t>
                </a:r>
                <a:r>
                  <a:rPr lang="en-US" altLang="ko-KR" sz="1600" b="1" dirty="0">
                    <a:latin typeface="+mn-ea"/>
                  </a:rPr>
                  <a:t>(Entropy) </a:t>
                </a:r>
                <a:endParaRPr lang="ko-KR" altLang="en-US" sz="1600" b="1" dirty="0">
                  <a:latin typeface="+mn-ea"/>
                </a:endParaRPr>
              </a:p>
              <a:p>
                <a:pPr marL="176213" indent="184150">
                  <a:lnSpc>
                    <a:spcPts val="2700"/>
                  </a:lnSpc>
                  <a:buNone/>
                </a:pPr>
                <a:r>
                  <a:rPr lang="ko-KR" altLang="en-US" sz="1600" dirty="0"/>
                  <a:t> 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𝐸𝑛𝑡𝑟𝑜𝑝𝑦</m:t>
                    </m:r>
                    <m:r>
                      <a:rPr lang="en-US" altLang="ko-KR" sz="1600" i="0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ko-KR" alt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func>
                      <m:func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600" i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sSub>
                          <m:sSubPr>
                            <m:ctrlPr>
                              <a:rPr lang="ko-KR" alt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func>
                  </m:oMath>
                </a14:m>
                <a:endParaRPr lang="ko-KR" altLang="en-US" sz="1600" dirty="0">
                  <a:latin typeface="+mn-ea"/>
                </a:endParaRPr>
              </a:p>
              <a:p>
                <a:pPr marL="176213" indent="184150">
                  <a:lnSpc>
                    <a:spcPts val="2700"/>
                  </a:lnSpc>
                  <a:buNone/>
                </a:pPr>
                <a:r>
                  <a:rPr lang="en-US" altLang="ko-KR" sz="1600" dirty="0">
                    <a:latin typeface="+mn-ea"/>
                  </a:rPr>
                  <a:t>( </a:t>
                </a:r>
                <a:r>
                  <a:rPr lang="ko-KR" altLang="en-US" sz="1600" dirty="0">
                    <a:latin typeface="+mn-ea"/>
                  </a:rPr>
                  <a:t>클래스가 </a:t>
                </a:r>
                <a:r>
                  <a:rPr lang="en-US" altLang="ko-KR" sz="1600" dirty="0">
                    <a:latin typeface="+mn-ea"/>
                  </a:rPr>
                  <a:t>‘2’</a:t>
                </a:r>
                <a:r>
                  <a:rPr lang="ko-KR" altLang="en-US" sz="1600" dirty="0">
                    <a:latin typeface="+mn-ea"/>
                  </a:rPr>
                  <a:t>라면</a:t>
                </a:r>
                <a:r>
                  <a:rPr lang="en-US" altLang="ko-KR" sz="1600" dirty="0">
                    <a:latin typeface="Mongolian Baiti" panose="03000500000000000000" pitchFamily="66" charset="0"/>
                    <a:cs typeface="Mongolian Baiti" panose="03000500000000000000" pitchFamily="66" charset="0"/>
                  </a:rPr>
                  <a:t>,</a:t>
                </a:r>
                <a:r>
                  <a:rPr lang="ko-KR" altLang="en-US" sz="1600" dirty="0">
                    <a:latin typeface="Mongolian Baiti" panose="03000500000000000000" pitchFamily="66" charset="0"/>
                    <a:cs typeface="Mongolian Baiti" panose="03000500000000000000" pitchFamily="66" charset="0"/>
                  </a:rPr>
                  <a:t>  </a:t>
                </a:r>
                <a:r>
                  <a:rPr lang="en-US" altLang="ko-KR" sz="1600" dirty="0">
                    <a:latin typeface="Mongolian Baiti" panose="03000500000000000000" pitchFamily="66" charset="0"/>
                    <a:cs typeface="Mongolian Baiti" panose="03000500000000000000" pitchFamily="66" charset="0"/>
                  </a:rPr>
                  <a:t>H(p)=−</a:t>
                </a:r>
                <a:r>
                  <a:rPr lang="en-US" altLang="ko-KR" sz="1600" dirty="0" err="1">
                    <a:latin typeface="Mongolian Baiti" panose="03000500000000000000" pitchFamily="66" charset="0"/>
                    <a:cs typeface="Mongolian Baiti" panose="03000500000000000000" pitchFamily="66" charset="0"/>
                  </a:rPr>
                  <a:t>p</a:t>
                </a:r>
                <a:r>
                  <a:rPr lang="en-US" altLang="ko-KR" sz="1600" i="1" dirty="0" err="1">
                    <a:latin typeface="Mongolian Baiti" panose="03000500000000000000" pitchFamily="66" charset="0"/>
                    <a:cs typeface="Mongolian Baiti" panose="03000500000000000000" pitchFamily="66" charset="0"/>
                  </a:rPr>
                  <a:t>log</a:t>
                </a:r>
                <a:r>
                  <a:rPr lang="en-US" altLang="ko-KR" sz="1600" dirty="0" err="1">
                    <a:latin typeface="Mongolian Baiti" panose="03000500000000000000" pitchFamily="66" charset="0"/>
                    <a:cs typeface="Mongolian Baiti" panose="03000500000000000000" pitchFamily="66" charset="0"/>
                  </a:rPr>
                  <a:t>p</a:t>
                </a:r>
                <a:r>
                  <a:rPr lang="en-US" altLang="ko-KR" sz="1600" dirty="0">
                    <a:latin typeface="Mongolian Baiti" panose="03000500000000000000" pitchFamily="66" charset="0"/>
                    <a:cs typeface="Mongolian Baiti" panose="03000500000000000000" pitchFamily="66" charset="0"/>
                  </a:rPr>
                  <a:t>−(1−p)</a:t>
                </a:r>
                <a:r>
                  <a:rPr lang="en-US" altLang="ko-KR" sz="1600" i="1" dirty="0">
                    <a:latin typeface="Mongolian Baiti" panose="03000500000000000000" pitchFamily="66" charset="0"/>
                    <a:cs typeface="Mongolian Baiti" panose="03000500000000000000" pitchFamily="66" charset="0"/>
                  </a:rPr>
                  <a:t>log</a:t>
                </a:r>
                <a:r>
                  <a:rPr lang="en-US" altLang="ko-KR" sz="1600" dirty="0">
                    <a:latin typeface="Mongolian Baiti" panose="03000500000000000000" pitchFamily="66" charset="0"/>
                    <a:cs typeface="Mongolian Baiti" panose="03000500000000000000" pitchFamily="66" charset="0"/>
                  </a:rPr>
                  <a:t>(1−p) </a:t>
                </a:r>
                <a:r>
                  <a:rPr lang="en-US" altLang="ko-KR" sz="1600" dirty="0">
                    <a:latin typeface="+mn-ea"/>
                  </a:rPr>
                  <a:t>)</a:t>
                </a:r>
              </a:p>
              <a:p>
                <a:pPr marL="176213" indent="184150">
                  <a:lnSpc>
                    <a:spcPts val="2700"/>
                  </a:lnSpc>
                  <a:buNone/>
                </a:pPr>
                <a:r>
                  <a:rPr lang="ko-KR" altLang="en-US" sz="1600" dirty="0">
                    <a:latin typeface="+mn-ea"/>
                  </a:rPr>
                  <a:t>둘 다 “섞이면 크고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한쪽이면 </a:t>
                </a:r>
                <a:r>
                  <a:rPr lang="en-US" altLang="ko-KR" sz="1600" dirty="0">
                    <a:latin typeface="+mn-ea"/>
                  </a:rPr>
                  <a:t>0”</a:t>
                </a:r>
                <a:r>
                  <a:rPr lang="ko-KR" altLang="en-US" sz="1600" dirty="0">
                    <a:latin typeface="+mn-ea"/>
                  </a:rPr>
                  <a:t>이라는 점이 같고</a:t>
                </a:r>
                <a:r>
                  <a:rPr lang="en-US" altLang="ko-KR" sz="1600" dirty="0">
                    <a:latin typeface="+mn-ea"/>
                  </a:rPr>
                  <a:t>,  </a:t>
                </a:r>
                <a:r>
                  <a:rPr lang="ko-KR" altLang="en-US" sz="1600" dirty="0">
                    <a:latin typeface="+mn-ea"/>
                  </a:rPr>
                  <a:t>성능은 비슷한 경우가 많다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76213">
                  <a:lnSpc>
                    <a:spcPts val="2700"/>
                  </a:lnSpc>
                  <a:buNone/>
                </a:pPr>
                <a:r>
                  <a:rPr lang="en-US" altLang="ko-KR" sz="1600" b="1" dirty="0">
                    <a:latin typeface="+mn-ea"/>
                  </a:rPr>
                  <a:t>(3) </a:t>
                </a:r>
                <a:r>
                  <a:rPr lang="ko-KR" altLang="en-US" sz="1600" b="1" dirty="0">
                    <a:latin typeface="+mn-ea"/>
                  </a:rPr>
                  <a:t>정보이득</a:t>
                </a:r>
                <a:r>
                  <a:rPr lang="en-US" altLang="ko-KR" sz="1600" b="1" dirty="0">
                    <a:latin typeface="+mn-ea"/>
                  </a:rPr>
                  <a:t>(Information Gain)</a:t>
                </a:r>
              </a:p>
              <a:p>
                <a:pPr marL="360363" indent="174625">
                  <a:lnSpc>
                    <a:spcPts val="27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“나누기 전 불순도” </a:t>
                </a:r>
                <a:r>
                  <a:rPr lang="en-US" altLang="ko-KR" sz="1600" dirty="0">
                    <a:latin typeface="+mn-ea"/>
                  </a:rPr>
                  <a:t>- “</a:t>
                </a:r>
                <a:r>
                  <a:rPr lang="ko-KR" altLang="en-US" sz="1600" dirty="0">
                    <a:latin typeface="+mn-ea"/>
                  </a:rPr>
                  <a:t>나눈 후 불순도</a:t>
                </a:r>
                <a:r>
                  <a:rPr lang="en-US" altLang="ko-KR" sz="1600" dirty="0">
                    <a:latin typeface="+mn-ea"/>
                  </a:rPr>
                  <a:t>(</a:t>
                </a:r>
                <a:r>
                  <a:rPr lang="ko-KR" altLang="en-US" sz="1600" dirty="0">
                    <a:latin typeface="+mn-ea"/>
                  </a:rPr>
                  <a:t>가중 평균</a:t>
                </a:r>
                <a:r>
                  <a:rPr lang="en-US" altLang="ko-KR" sz="1600" dirty="0">
                    <a:latin typeface="+mn-ea"/>
                  </a:rPr>
                  <a:t>)”</a:t>
                </a:r>
                <a:br>
                  <a:rPr lang="en-US" altLang="ko-KR" sz="1600" dirty="0">
                    <a:latin typeface="+mn-ea"/>
                  </a:rPr>
                </a:br>
                <a:r>
                  <a:rPr lang="ko-KR" altLang="en-US" sz="1600" dirty="0">
                    <a:latin typeface="+mn-ea"/>
                  </a:rPr>
                  <a:t>이 값이 가장 크게 증가</a:t>
                </a:r>
                <a:r>
                  <a:rPr lang="en-US" altLang="ko-KR" sz="1600" dirty="0">
                    <a:latin typeface="+mn-ea"/>
                  </a:rPr>
                  <a:t>(</a:t>
                </a:r>
                <a:r>
                  <a:rPr lang="ko-KR" altLang="en-US" sz="1600" dirty="0">
                    <a:latin typeface="+mn-ea"/>
                  </a:rPr>
                  <a:t>불순도가 가장 크게 감소</a:t>
                </a:r>
                <a:r>
                  <a:rPr lang="en-US" altLang="ko-KR" sz="1600" dirty="0">
                    <a:latin typeface="+mn-ea"/>
                  </a:rPr>
                  <a:t>)</a:t>
                </a:r>
                <a:r>
                  <a:rPr lang="ko-KR" altLang="en-US" sz="1600" dirty="0">
                    <a:latin typeface="+mn-ea"/>
                  </a:rPr>
                  <a:t>하도록 분할을 선택한다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5C9A56-6162-2401-D10E-CD792000C5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352" y="801612"/>
                <a:ext cx="8208912" cy="4897944"/>
              </a:xfrm>
              <a:prstGeom prst="rect">
                <a:avLst/>
              </a:prstGeom>
              <a:blipFill>
                <a:blip r:embed="rId2"/>
                <a:stretch>
                  <a:fillRect l="-371" b="-49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CA8DE1B9-BD1F-47B0-830A-2E088BD57C2E}"/>
              </a:ext>
            </a:extLst>
          </p:cNvPr>
          <p:cNvSpPr txBox="1"/>
          <p:nvPr/>
        </p:nvSpPr>
        <p:spPr>
          <a:xfrm>
            <a:off x="6528048" y="1628800"/>
            <a:ext cx="2432182" cy="14091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</a:pPr>
            <a:r>
              <a:rPr lang="ko-KR" altLang="en-US" sz="1400" b="1" dirty="0"/>
              <a:t>완전 순수하면 </a:t>
            </a:r>
            <a:r>
              <a:rPr lang="en-US" altLang="ko-KR" sz="1400" b="1" dirty="0"/>
              <a:t>Gini = 0</a:t>
            </a:r>
          </a:p>
          <a:p>
            <a:pPr marL="88900" indent="87313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ko-KR" altLang="en-US" sz="1400" dirty="0"/>
              <a:t>모두 </a:t>
            </a:r>
            <a:r>
              <a:rPr lang="en-US" altLang="ko-KR" sz="1400" dirty="0"/>
              <a:t>OK</a:t>
            </a:r>
            <a:r>
              <a:rPr lang="ko-KR" altLang="en-US" sz="1400" dirty="0"/>
              <a:t>면 </a:t>
            </a:r>
            <a:r>
              <a:rPr lang="en-US" altLang="ko-KR" sz="1400" dirty="0"/>
              <a:t>p=1</a:t>
            </a:r>
          </a:p>
          <a:p>
            <a:pPr marL="88900">
              <a:lnSpc>
                <a:spcPts val="2100"/>
              </a:lnSpc>
            </a:pPr>
            <a:r>
              <a:rPr lang="en-US" altLang="ko-KR" sz="1400" dirty="0"/>
              <a:t>  Gini=1−(1</a:t>
            </a:r>
            <a:r>
              <a:rPr lang="en-US" altLang="ko-KR" sz="1400" baseline="30000" dirty="0"/>
              <a:t>2</a:t>
            </a:r>
            <a:r>
              <a:rPr lang="en-US" altLang="ko-KR" sz="1400" dirty="0"/>
              <a:t>+0</a:t>
            </a:r>
            <a:r>
              <a:rPr lang="en-US" altLang="ko-KR" sz="1400" baseline="30000" dirty="0"/>
              <a:t>2</a:t>
            </a:r>
            <a:r>
              <a:rPr lang="en-US" altLang="ko-KR" sz="1400" dirty="0"/>
              <a:t>)=0  </a:t>
            </a:r>
          </a:p>
          <a:p>
            <a:pPr marL="88900" indent="87313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ko-KR" altLang="en-US" sz="1400" dirty="0"/>
              <a:t>모두 </a:t>
            </a:r>
            <a:r>
              <a:rPr lang="en-US" altLang="ko-KR" sz="1400" dirty="0"/>
              <a:t>NOK</a:t>
            </a:r>
            <a:r>
              <a:rPr lang="ko-KR" altLang="en-US" sz="1400" dirty="0"/>
              <a:t>면 </a:t>
            </a:r>
            <a:r>
              <a:rPr lang="en-US" altLang="ko-KR" sz="1400" dirty="0"/>
              <a:t>p=0</a:t>
            </a:r>
          </a:p>
          <a:p>
            <a:pPr marL="88900">
              <a:lnSpc>
                <a:spcPts val="2100"/>
              </a:lnSpc>
            </a:pPr>
            <a:r>
              <a:rPr lang="en-US" altLang="ko-KR" sz="1400" dirty="0"/>
              <a:t>  Gini=1−(0</a:t>
            </a:r>
            <a:r>
              <a:rPr lang="en-US" altLang="ko-KR" sz="1400" baseline="30000" dirty="0"/>
              <a:t>2</a:t>
            </a:r>
            <a:r>
              <a:rPr lang="en-US" altLang="ko-KR" sz="1400" dirty="0"/>
              <a:t>+1</a:t>
            </a:r>
            <a:r>
              <a:rPr lang="en-US" altLang="ko-KR" sz="1400" baseline="30000" dirty="0"/>
              <a:t>2</a:t>
            </a:r>
            <a:r>
              <a:rPr lang="en-US" altLang="ko-KR" sz="1400" dirty="0"/>
              <a:t>)=0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B7D2EF-8E72-4116-BF00-78F9EFEC88C8}"/>
              </a:ext>
            </a:extLst>
          </p:cNvPr>
          <p:cNvSpPr txBox="1"/>
          <p:nvPr/>
        </p:nvSpPr>
        <p:spPr>
          <a:xfrm>
            <a:off x="8256240" y="3274692"/>
            <a:ext cx="3672408" cy="114140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</a:pPr>
            <a:r>
              <a:rPr lang="en-US" altLang="ko-KR" sz="1400" dirty="0"/>
              <a:t>entropy</a:t>
            </a:r>
            <a:r>
              <a:rPr lang="ko-KR" altLang="en-US" sz="1400" dirty="0"/>
              <a:t>는 얼마나 예측이 어려운가를 숫자로 나타낸 값이며 </a:t>
            </a:r>
            <a:r>
              <a:rPr lang="ko-KR" altLang="en-US" sz="1400" dirty="0" err="1"/>
              <a:t>결정트리에서는</a:t>
            </a:r>
            <a:r>
              <a:rPr lang="ko-KR" altLang="en-US" sz="1400" dirty="0"/>
              <a:t> 한 </a:t>
            </a:r>
            <a:r>
              <a:rPr lang="ko-KR" altLang="en-US" sz="1400" dirty="0" err="1"/>
              <a:t>노드안에</a:t>
            </a:r>
            <a:r>
              <a:rPr lang="ko-KR" altLang="en-US" sz="1400" dirty="0"/>
              <a:t> </a:t>
            </a:r>
            <a:r>
              <a:rPr lang="en-US" altLang="ko-KR" sz="1400" dirty="0"/>
              <a:t>OK/NOK</a:t>
            </a:r>
            <a:r>
              <a:rPr lang="ko-KR" altLang="en-US" sz="1400" dirty="0"/>
              <a:t>가 섞여 있으면 </a:t>
            </a:r>
            <a:r>
              <a:rPr lang="en-US" altLang="ko-KR" sz="1400" dirty="0"/>
              <a:t>Entropy</a:t>
            </a:r>
            <a:r>
              <a:rPr lang="ko-KR" altLang="en-US" sz="1400" dirty="0"/>
              <a:t> 가 커지고</a:t>
            </a:r>
            <a:r>
              <a:rPr lang="en-US" altLang="ko-KR" sz="1400" dirty="0"/>
              <a:t>, </a:t>
            </a:r>
            <a:r>
              <a:rPr lang="ko-KR" altLang="en-US" sz="1400" dirty="0"/>
              <a:t>한 쪽만 있으면 </a:t>
            </a:r>
            <a:r>
              <a:rPr lang="en-US" altLang="ko-KR" sz="1400" dirty="0"/>
              <a:t>‘0’</a:t>
            </a:r>
            <a:r>
              <a:rPr lang="ko-KR" altLang="en-US" sz="1400" dirty="0"/>
              <a:t>이 된다</a:t>
            </a:r>
            <a:r>
              <a:rPr lang="en-US" altLang="ko-KR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66536350"/>
      </p:ext>
    </p:extLst>
  </p:cSld>
  <p:clrMapOvr>
    <a:masterClrMapping/>
  </p:clrMapOvr>
  <p:transition spd="slow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7C632-DC5E-4454-B27B-DFD622075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7DE8D2B3-C79F-560B-7733-918F0589163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B90D6BA5-99DE-FDEB-0DB4-A8CC3BEB988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5EFEDA9B-ED54-9CC6-503A-88068EA5113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F8AF55D9-A0FB-0161-A71B-555E33EBACF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8890298-DA1E-9CC5-D8A4-A94CEE7CB51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013951-C7FD-A0FE-9DBC-66BDF7BC1AE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66452C6-6D6D-E0BB-2A64-30DD1A3BD45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E162F32-37DB-E9C3-B937-300CD38E9B5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8915F3E-864A-CB6C-7D57-E6C25D68FB2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3-2. Decision Tree(</a:t>
            </a:r>
            <a:r>
              <a:rPr lang="ko-KR" altLang="en-US" sz="2000" b="1" dirty="0">
                <a:solidFill>
                  <a:schemeClr val="tx1"/>
                </a:solidFill>
              </a:rPr>
              <a:t>의사결정 나무</a:t>
            </a:r>
            <a:r>
              <a:rPr lang="en-US" altLang="ko-KR" sz="2000" b="1" dirty="0">
                <a:solidFill>
                  <a:schemeClr val="tx1"/>
                </a:solidFill>
              </a:rPr>
              <a:t>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A7F891D-3CAE-B2F3-4FEF-0BB72098603B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84D1F8-D58F-476B-B672-C94AD205267D}"/>
              </a:ext>
            </a:extLst>
          </p:cNvPr>
          <p:cNvSpPr txBox="1"/>
          <p:nvPr/>
        </p:nvSpPr>
        <p:spPr>
          <a:xfrm>
            <a:off x="551384" y="836712"/>
            <a:ext cx="11017224" cy="3859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00"/>
              </a:lnSpc>
            </a:pPr>
            <a:r>
              <a:rPr lang="en-US" altLang="ko-KR" sz="1600" b="1" dirty="0">
                <a:solidFill>
                  <a:srgbClr val="0000FF"/>
                </a:solidFill>
                <a:latin typeface="+mn-ea"/>
              </a:rPr>
              <a:t>6) </a:t>
            </a:r>
            <a:r>
              <a:rPr lang="ko-KR" altLang="en-US" sz="1600" b="1" dirty="0" err="1">
                <a:solidFill>
                  <a:srgbClr val="0000FF"/>
                </a:solidFill>
                <a:latin typeface="+mn-ea"/>
              </a:rPr>
              <a:t>결정트리의</a:t>
            </a:r>
            <a:r>
              <a:rPr lang="ko-KR" altLang="en-US" sz="1600" b="1" dirty="0">
                <a:solidFill>
                  <a:srgbClr val="0000FF"/>
                </a:solidFill>
                <a:latin typeface="+mn-ea"/>
              </a:rPr>
              <a:t> 특징</a:t>
            </a:r>
          </a:p>
          <a:p>
            <a:pPr marL="176213">
              <a:lnSpc>
                <a:spcPts val="2700"/>
              </a:lnSpc>
            </a:pPr>
            <a:r>
              <a:rPr lang="en-US" altLang="ko-KR" sz="1600" b="1" dirty="0">
                <a:latin typeface="+mn-ea"/>
              </a:rPr>
              <a:t>(1) </a:t>
            </a:r>
            <a:r>
              <a:rPr lang="ko-KR" altLang="en-US" sz="1600" b="1" dirty="0">
                <a:latin typeface="+mn-ea"/>
              </a:rPr>
              <a:t>비선형 경계를 만들 수 있음</a:t>
            </a:r>
          </a:p>
          <a:p>
            <a:pPr marL="176213" indent="184150">
              <a:lnSpc>
                <a:spcPts val="2700"/>
              </a:lnSpc>
            </a:pPr>
            <a:r>
              <a:rPr lang="ko-KR" altLang="en-US" sz="1600" dirty="0">
                <a:latin typeface="+mn-ea"/>
              </a:rPr>
              <a:t> 로지스틱 회귀는 직선 경계지만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 err="1">
                <a:latin typeface="+mn-ea"/>
              </a:rPr>
              <a:t>결정트리는</a:t>
            </a:r>
            <a:r>
              <a:rPr lang="ko-KR" altLang="en-US" sz="1600" dirty="0">
                <a:latin typeface="+mn-ea"/>
              </a:rPr>
              <a:t> 여러 번 “</a:t>
            </a:r>
            <a:r>
              <a:rPr lang="ko-KR" altLang="en-US" sz="1600" dirty="0" err="1">
                <a:latin typeface="+mn-ea"/>
              </a:rPr>
              <a:t>구간”으로</a:t>
            </a:r>
            <a:r>
              <a:rPr lang="ko-KR" altLang="en-US" sz="1600" dirty="0">
                <a:latin typeface="+mn-ea"/>
              </a:rPr>
              <a:t> 잘라서</a:t>
            </a:r>
            <a:br>
              <a:rPr lang="ko-KR" altLang="en-US" sz="1600" dirty="0">
                <a:latin typeface="+mn-ea"/>
              </a:rPr>
            </a:br>
            <a:r>
              <a:rPr lang="ko-KR" altLang="en-US" sz="1600" dirty="0">
                <a:latin typeface="+mn-ea"/>
              </a:rPr>
              <a:t>  계단형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직사각형 조각</a:t>
            </a:r>
            <a:r>
              <a:rPr lang="en-US" altLang="ko-KR" sz="1600" dirty="0">
                <a:latin typeface="+mn-ea"/>
              </a:rPr>
              <a:t>)</a:t>
            </a:r>
            <a:r>
              <a:rPr lang="ko-KR" altLang="en-US" sz="1600" dirty="0">
                <a:latin typeface="+mn-ea"/>
              </a:rPr>
              <a:t>으로 영역을 나눌 수 있습니다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pPr marL="176213" indent="184150">
              <a:lnSpc>
                <a:spcPts val="2700"/>
              </a:lnSpc>
            </a:pPr>
            <a:r>
              <a:rPr lang="ko-KR" altLang="en-US" sz="1600" dirty="0">
                <a:latin typeface="+mn-ea"/>
              </a:rPr>
              <a:t>즉</a:t>
            </a:r>
            <a:r>
              <a:rPr lang="en-US" altLang="ko-KR" sz="1600" dirty="0">
                <a:latin typeface="+mn-ea"/>
              </a:rPr>
              <a:t>, temp/</a:t>
            </a:r>
            <a:r>
              <a:rPr lang="en-US" altLang="ko-KR" sz="1600" dirty="0" err="1">
                <a:latin typeface="+mn-ea"/>
              </a:rPr>
              <a:t>humi</a:t>
            </a:r>
            <a:r>
              <a:rPr lang="en-US" altLang="ko-KR" sz="1600" dirty="0">
                <a:latin typeface="+mn-ea"/>
              </a:rPr>
              <a:t> </a:t>
            </a:r>
            <a:r>
              <a:rPr lang="ko-KR" altLang="en-US" sz="1600" dirty="0">
                <a:latin typeface="+mn-ea"/>
              </a:rPr>
              <a:t>평면에서</a:t>
            </a:r>
          </a:p>
          <a:p>
            <a:pPr marL="360363" indent="174625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온도 </a:t>
            </a:r>
            <a:r>
              <a:rPr lang="en-US" altLang="ko-KR" sz="1600" dirty="0">
                <a:latin typeface="+mn-ea"/>
              </a:rPr>
              <a:t>25 </a:t>
            </a:r>
            <a:r>
              <a:rPr lang="ko-KR" altLang="en-US" sz="1600" dirty="0">
                <a:latin typeface="+mn-ea"/>
              </a:rPr>
              <a:t>이하 </a:t>
            </a:r>
            <a:r>
              <a:rPr lang="en-US" altLang="ko-KR" sz="1600" dirty="0">
                <a:latin typeface="+mn-ea"/>
              </a:rPr>
              <a:t>+ </a:t>
            </a:r>
            <a:r>
              <a:rPr lang="ko-KR" altLang="en-US" sz="1600" dirty="0">
                <a:latin typeface="+mn-ea"/>
              </a:rPr>
              <a:t>습도 </a:t>
            </a:r>
            <a:r>
              <a:rPr lang="en-US" altLang="ko-KR" sz="1600" dirty="0">
                <a:latin typeface="+mn-ea"/>
              </a:rPr>
              <a:t>80 </a:t>
            </a:r>
            <a:r>
              <a:rPr lang="ko-KR" altLang="en-US" sz="1600" dirty="0">
                <a:latin typeface="+mn-ea"/>
              </a:rPr>
              <a:t>이상은 </a:t>
            </a:r>
            <a:r>
              <a:rPr lang="en-US" altLang="ko-KR" sz="1600" dirty="0">
                <a:latin typeface="+mn-ea"/>
              </a:rPr>
              <a:t>NOK</a:t>
            </a:r>
          </a:p>
          <a:p>
            <a:pPr marL="360363" indent="174625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온도 </a:t>
            </a:r>
            <a:r>
              <a:rPr lang="en-US" altLang="ko-KR" sz="1600" dirty="0">
                <a:latin typeface="+mn-ea"/>
              </a:rPr>
              <a:t>25 </a:t>
            </a:r>
            <a:r>
              <a:rPr lang="ko-KR" altLang="en-US" sz="1600" dirty="0">
                <a:latin typeface="+mn-ea"/>
              </a:rPr>
              <a:t>이상 </a:t>
            </a:r>
            <a:r>
              <a:rPr lang="en-US" altLang="ko-KR" sz="1600" dirty="0">
                <a:latin typeface="+mn-ea"/>
              </a:rPr>
              <a:t>+ </a:t>
            </a:r>
            <a:r>
              <a:rPr lang="ko-KR" altLang="en-US" sz="1600" dirty="0">
                <a:latin typeface="+mn-ea"/>
              </a:rPr>
              <a:t>습도 </a:t>
            </a:r>
            <a:r>
              <a:rPr lang="en-US" altLang="ko-KR" sz="1600" dirty="0">
                <a:latin typeface="+mn-ea"/>
              </a:rPr>
              <a:t>90 </a:t>
            </a:r>
            <a:r>
              <a:rPr lang="ko-KR" altLang="en-US" sz="1600" dirty="0">
                <a:latin typeface="+mn-ea"/>
              </a:rPr>
              <a:t>이상은 </a:t>
            </a:r>
            <a:r>
              <a:rPr lang="en-US" altLang="ko-KR" sz="1600" dirty="0">
                <a:latin typeface="+mn-ea"/>
              </a:rPr>
              <a:t>NOK    </a:t>
            </a:r>
            <a:r>
              <a:rPr lang="ko-KR" altLang="en-US" sz="1600" dirty="0">
                <a:latin typeface="+mn-ea"/>
              </a:rPr>
              <a:t>처럼 복잡한 규칙도 표현 가능합니다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pPr marL="360363" indent="174625">
              <a:lnSpc>
                <a:spcPts val="27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atin typeface="+mn-ea"/>
            </a:endParaRPr>
          </a:p>
          <a:p>
            <a:pPr marL="176213">
              <a:lnSpc>
                <a:spcPts val="2700"/>
              </a:lnSpc>
            </a:pPr>
            <a:r>
              <a:rPr lang="en-US" altLang="ko-KR" sz="1600" b="1" dirty="0">
                <a:latin typeface="+mn-ea"/>
              </a:rPr>
              <a:t>(2) </a:t>
            </a:r>
            <a:r>
              <a:rPr lang="ko-KR" altLang="en-US" sz="1600" b="1" dirty="0">
                <a:latin typeface="+mn-ea"/>
              </a:rPr>
              <a:t>전처리</a:t>
            </a:r>
            <a:r>
              <a:rPr lang="en-US" altLang="ko-KR" sz="1600" b="1" dirty="0">
                <a:latin typeface="+mn-ea"/>
              </a:rPr>
              <a:t>(</a:t>
            </a:r>
            <a:r>
              <a:rPr lang="ko-KR" altLang="en-US" sz="1600" b="1" dirty="0">
                <a:latin typeface="+mn-ea"/>
              </a:rPr>
              <a:t>스케일링</a:t>
            </a:r>
            <a:r>
              <a:rPr lang="en-US" altLang="ko-KR" sz="1600" b="1" dirty="0">
                <a:latin typeface="+mn-ea"/>
              </a:rPr>
              <a:t>)</a:t>
            </a:r>
            <a:r>
              <a:rPr lang="ko-KR" altLang="en-US" sz="1600" b="1" dirty="0">
                <a:latin typeface="+mn-ea"/>
              </a:rPr>
              <a:t>가 거의 필요 없음</a:t>
            </a:r>
          </a:p>
          <a:p>
            <a:pPr marL="360363" indent="174625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</a:rPr>
              <a:t>SVM/</a:t>
            </a:r>
            <a:r>
              <a:rPr lang="ko-KR" altLang="en-US" sz="1600" dirty="0">
                <a:latin typeface="+mn-ea"/>
              </a:rPr>
              <a:t>로지스틱</a:t>
            </a:r>
            <a:r>
              <a:rPr lang="en-US" altLang="ko-KR" sz="1600" dirty="0">
                <a:latin typeface="+mn-ea"/>
              </a:rPr>
              <a:t>/KNN</a:t>
            </a:r>
            <a:r>
              <a:rPr lang="ko-KR" altLang="en-US" sz="1600" dirty="0">
                <a:latin typeface="+mn-ea"/>
              </a:rPr>
              <a:t>은 스케일링이 중요하지만</a:t>
            </a:r>
          </a:p>
          <a:p>
            <a:pPr marL="360363" indent="174625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>
                <a:latin typeface="+mn-ea"/>
              </a:rPr>
              <a:t>결정트리는</a:t>
            </a:r>
            <a:r>
              <a:rPr lang="ko-KR" altLang="en-US" sz="1600" dirty="0">
                <a:latin typeface="+mn-ea"/>
              </a:rPr>
              <a:t> ≤ 기준만 보기 때문에 스케일 영향이 적다</a:t>
            </a:r>
            <a:r>
              <a:rPr lang="en-US" altLang="ko-KR" sz="1600" dirty="0"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98873354"/>
      </p:ext>
    </p:extLst>
  </p:cSld>
  <p:clrMapOvr>
    <a:masterClrMapping/>
  </p:clrMapOvr>
  <p:transition spd="slow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7C632-DC5E-4454-B27B-DFD622075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7DE8D2B3-C79F-560B-7733-918F0589163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B90D6BA5-99DE-FDEB-0DB4-A8CC3BEB988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5EFEDA9B-ED54-9CC6-503A-88068EA5113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F8AF55D9-A0FB-0161-A71B-555E33EBACF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8890298-DA1E-9CC5-D8A4-A94CEE7CB51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013951-C7FD-A0FE-9DBC-66BDF7BC1AE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66452C6-6D6D-E0BB-2A64-30DD1A3BD45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E162F32-37DB-E9C3-B937-300CD38E9B5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8915F3E-864A-CB6C-7D57-E6C25D68FB2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3-2. Decision Tree(</a:t>
            </a:r>
            <a:r>
              <a:rPr lang="ko-KR" altLang="en-US" sz="2000" b="1" dirty="0">
                <a:solidFill>
                  <a:schemeClr val="tx1"/>
                </a:solidFill>
              </a:rPr>
              <a:t>의사결정 나무</a:t>
            </a:r>
            <a:r>
              <a:rPr lang="en-US" altLang="ko-KR" sz="2000" b="1" dirty="0">
                <a:solidFill>
                  <a:schemeClr val="tx1"/>
                </a:solidFill>
              </a:rPr>
              <a:t>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A7F891D-3CAE-B2F3-4FEF-0BB72098603B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C8D138-1329-481C-94AE-D68172A74E56}"/>
              </a:ext>
            </a:extLst>
          </p:cNvPr>
          <p:cNvSpPr txBox="1"/>
          <p:nvPr/>
        </p:nvSpPr>
        <p:spPr>
          <a:xfrm>
            <a:off x="263352" y="764704"/>
            <a:ext cx="10801200" cy="4205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00"/>
              </a:lnSpc>
            </a:pPr>
            <a:r>
              <a:rPr lang="en-US" altLang="ko-KR" sz="1600" b="1" dirty="0">
                <a:solidFill>
                  <a:srgbClr val="0000FF"/>
                </a:solidFill>
                <a:latin typeface="+mn-ea"/>
              </a:rPr>
              <a:t>7) </a:t>
            </a:r>
            <a:r>
              <a:rPr lang="ko-KR" altLang="en-US" sz="1600" b="1" dirty="0">
                <a:solidFill>
                  <a:srgbClr val="0000FF"/>
                </a:solidFill>
                <a:latin typeface="+mn-ea"/>
              </a:rPr>
              <a:t>장점</a:t>
            </a:r>
            <a:endParaRPr lang="en-US" altLang="ko-KR" sz="1600" b="1" dirty="0">
              <a:solidFill>
                <a:srgbClr val="0000FF"/>
              </a:solidFill>
              <a:latin typeface="+mn-ea"/>
            </a:endParaRPr>
          </a:p>
          <a:p>
            <a:pPr marL="176213">
              <a:lnSpc>
                <a:spcPts val="2700"/>
              </a:lnSpc>
            </a:pPr>
            <a:r>
              <a:rPr lang="en-US" altLang="ko-KR" sz="1600" b="1" dirty="0">
                <a:latin typeface="+mn-ea"/>
              </a:rPr>
              <a:t>1) </a:t>
            </a:r>
            <a:r>
              <a:rPr lang="ko-KR" altLang="en-US" sz="1600" b="1" dirty="0">
                <a:latin typeface="+mn-ea"/>
              </a:rPr>
              <a:t>해석이 매우 쉬움</a:t>
            </a:r>
            <a:endParaRPr lang="en-US" altLang="ko-KR" sz="1600" b="1" dirty="0">
              <a:latin typeface="+mn-ea"/>
            </a:endParaRPr>
          </a:p>
          <a:p>
            <a:pPr marL="360363" indent="174625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“왜 </a:t>
            </a:r>
            <a:r>
              <a:rPr lang="en-US" altLang="ko-KR" sz="1600" dirty="0">
                <a:latin typeface="+mn-ea"/>
              </a:rPr>
              <a:t>NOK</a:t>
            </a:r>
            <a:r>
              <a:rPr lang="ko-KR" altLang="en-US" sz="1600" dirty="0">
                <a:latin typeface="+mn-ea"/>
              </a:rPr>
              <a:t>인가</a:t>
            </a:r>
            <a:r>
              <a:rPr lang="en-US" altLang="ko-KR" sz="1600" dirty="0">
                <a:latin typeface="+mn-ea"/>
              </a:rPr>
              <a:t>?”</a:t>
            </a:r>
            <a:r>
              <a:rPr lang="ko-KR" altLang="en-US" sz="1600" dirty="0">
                <a:latin typeface="+mn-ea"/>
              </a:rPr>
              <a:t>를 규칙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조건 경로</a:t>
            </a:r>
            <a:r>
              <a:rPr lang="en-US" altLang="ko-KR" sz="1600" dirty="0">
                <a:latin typeface="+mn-ea"/>
              </a:rPr>
              <a:t>)</a:t>
            </a:r>
            <a:r>
              <a:rPr lang="ko-KR" altLang="en-US" sz="1600" dirty="0">
                <a:latin typeface="+mn-ea"/>
              </a:rPr>
              <a:t>으로 바로 설명 가능</a:t>
            </a:r>
          </a:p>
          <a:p>
            <a:pPr marL="360363" indent="174625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현장</a:t>
            </a:r>
            <a:r>
              <a:rPr lang="en-US" altLang="ko-KR" sz="1600" dirty="0">
                <a:latin typeface="+mn-ea"/>
              </a:rPr>
              <a:t>/</a:t>
            </a:r>
            <a:r>
              <a:rPr lang="ko-KR" altLang="en-US" sz="1600" dirty="0">
                <a:latin typeface="+mn-ea"/>
              </a:rPr>
              <a:t>품질관리에서 설득력 좋음</a:t>
            </a:r>
          </a:p>
          <a:p>
            <a:pPr marL="176213">
              <a:lnSpc>
                <a:spcPts val="2700"/>
              </a:lnSpc>
            </a:pPr>
            <a:r>
              <a:rPr lang="en-US" altLang="ko-KR" sz="1600" b="1" dirty="0">
                <a:latin typeface="+mn-ea"/>
              </a:rPr>
              <a:t>2) </a:t>
            </a:r>
            <a:r>
              <a:rPr lang="ko-KR" altLang="en-US" sz="1600" b="1" dirty="0">
                <a:latin typeface="+mn-ea"/>
              </a:rPr>
              <a:t>비선형 관계를 잘 잡음</a:t>
            </a:r>
          </a:p>
          <a:p>
            <a:pPr marL="360363" indent="174625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단순 선형모델보다 복잡한 패턴을 표현 가능</a:t>
            </a:r>
          </a:p>
          <a:p>
            <a:pPr marL="176213">
              <a:lnSpc>
                <a:spcPts val="2700"/>
              </a:lnSpc>
            </a:pPr>
            <a:r>
              <a:rPr lang="en-US" altLang="ko-KR" sz="1600" b="1" dirty="0">
                <a:latin typeface="+mn-ea"/>
              </a:rPr>
              <a:t>3) </a:t>
            </a:r>
            <a:r>
              <a:rPr lang="ko-KR" altLang="en-US" sz="1600" b="1" dirty="0">
                <a:latin typeface="+mn-ea"/>
              </a:rPr>
              <a:t>전처리가 단순</a:t>
            </a:r>
          </a:p>
          <a:p>
            <a:pPr marL="360363" indent="174625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스케일링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정규화가 필수는 아님</a:t>
            </a:r>
          </a:p>
          <a:p>
            <a:pPr marL="360363" indent="174625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>
                <a:latin typeface="+mn-ea"/>
              </a:rPr>
              <a:t>결측치</a:t>
            </a:r>
            <a:r>
              <a:rPr lang="ko-KR" altLang="en-US" sz="1600" dirty="0">
                <a:latin typeface="+mn-ea"/>
              </a:rPr>
              <a:t> 처리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이상치 처리만 잘 해도 성능이 나오는 경우 많음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  (</a:t>
            </a:r>
            <a:r>
              <a:rPr lang="ko-KR" altLang="en-US" sz="1600" dirty="0">
                <a:latin typeface="+mn-ea"/>
              </a:rPr>
              <a:t>단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구현</a:t>
            </a:r>
            <a:r>
              <a:rPr lang="en-US" altLang="ko-KR" sz="1600" dirty="0">
                <a:latin typeface="+mn-ea"/>
              </a:rPr>
              <a:t>/</a:t>
            </a:r>
            <a:r>
              <a:rPr lang="ko-KR" altLang="en-US" sz="1600" dirty="0">
                <a:latin typeface="+mn-ea"/>
              </a:rPr>
              <a:t>라이브러리마다 </a:t>
            </a:r>
            <a:r>
              <a:rPr lang="ko-KR" altLang="en-US" sz="1600" dirty="0" err="1">
                <a:latin typeface="+mn-ea"/>
              </a:rPr>
              <a:t>결측치</a:t>
            </a:r>
            <a:r>
              <a:rPr lang="ko-KR" altLang="en-US" sz="1600" dirty="0">
                <a:latin typeface="+mn-ea"/>
              </a:rPr>
              <a:t> 지원은 다름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 marL="176213">
              <a:lnSpc>
                <a:spcPts val="2700"/>
              </a:lnSpc>
            </a:pPr>
            <a:r>
              <a:rPr lang="en-US" altLang="ko-KR" sz="1600" b="1" dirty="0">
                <a:latin typeface="+mn-ea"/>
              </a:rPr>
              <a:t>4) </a:t>
            </a:r>
            <a:r>
              <a:rPr lang="ko-KR" altLang="en-US" sz="1600" b="1" dirty="0">
                <a:latin typeface="+mn-ea"/>
              </a:rPr>
              <a:t>학습</a:t>
            </a:r>
            <a:r>
              <a:rPr lang="en-US" altLang="ko-KR" sz="1600" b="1" dirty="0">
                <a:latin typeface="+mn-ea"/>
              </a:rPr>
              <a:t>/</a:t>
            </a:r>
            <a:r>
              <a:rPr lang="ko-KR" altLang="en-US" sz="1600" b="1" dirty="0">
                <a:latin typeface="+mn-ea"/>
              </a:rPr>
              <a:t>예측이 빠른 편</a:t>
            </a:r>
          </a:p>
          <a:p>
            <a:pPr marL="360363" indent="174625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특히 특성 수가 많지 않으면 매우 빠름</a:t>
            </a:r>
          </a:p>
        </p:txBody>
      </p:sp>
    </p:spTree>
    <p:extLst>
      <p:ext uri="{BB962C8B-B14F-4D97-AF65-F5344CB8AC3E}">
        <p14:creationId xmlns:p14="http://schemas.microsoft.com/office/powerpoint/2010/main" val="1395749948"/>
      </p:ext>
    </p:extLst>
  </p:cSld>
  <p:clrMapOvr>
    <a:masterClrMapping/>
  </p:clrMapOvr>
  <p:transition spd="slow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3-2. Decision Tree(</a:t>
            </a:r>
            <a:r>
              <a:rPr lang="ko-KR" altLang="en-US" sz="2000" b="1" dirty="0">
                <a:solidFill>
                  <a:schemeClr val="tx1"/>
                </a:solidFill>
              </a:rPr>
              <a:t>의사결정 나무</a:t>
            </a:r>
            <a:r>
              <a:rPr lang="en-US" altLang="ko-KR" sz="2000" b="1" dirty="0">
                <a:solidFill>
                  <a:schemeClr val="tx1"/>
                </a:solidFill>
              </a:rPr>
              <a:t>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95EB25-AFD3-42FD-83AA-FD11B7B68422}"/>
              </a:ext>
            </a:extLst>
          </p:cNvPr>
          <p:cNvSpPr txBox="1"/>
          <p:nvPr/>
        </p:nvSpPr>
        <p:spPr>
          <a:xfrm>
            <a:off x="191344" y="764704"/>
            <a:ext cx="11631194" cy="4897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00"/>
              </a:lnSpc>
            </a:pPr>
            <a:r>
              <a:rPr lang="en-US" altLang="ko-KR" sz="1600" b="1" dirty="0">
                <a:solidFill>
                  <a:srgbClr val="0000FF"/>
                </a:solidFill>
                <a:latin typeface="+mn-ea"/>
              </a:rPr>
              <a:t>8) </a:t>
            </a:r>
            <a:r>
              <a:rPr lang="ko-KR" altLang="en-US" sz="1600" b="1" dirty="0">
                <a:solidFill>
                  <a:srgbClr val="0000FF"/>
                </a:solidFill>
                <a:latin typeface="+mn-ea"/>
              </a:rPr>
              <a:t>단점</a:t>
            </a:r>
            <a:r>
              <a:rPr lang="en-US" altLang="ko-KR" sz="1600" b="1" dirty="0">
                <a:solidFill>
                  <a:srgbClr val="0000FF"/>
                </a:solidFill>
                <a:latin typeface="+mn-ea"/>
              </a:rPr>
              <a:t>(</a:t>
            </a:r>
            <a:r>
              <a:rPr lang="ko-KR" altLang="en-US" sz="1600" b="1" dirty="0">
                <a:solidFill>
                  <a:srgbClr val="0000FF"/>
                </a:solidFill>
                <a:latin typeface="+mn-ea"/>
              </a:rPr>
              <a:t>주의할 점</a:t>
            </a:r>
            <a:r>
              <a:rPr lang="en-US" altLang="ko-KR" sz="1600" b="1" dirty="0">
                <a:solidFill>
                  <a:srgbClr val="0000FF"/>
                </a:solidFill>
                <a:latin typeface="+mn-ea"/>
              </a:rPr>
              <a:t>)</a:t>
            </a:r>
          </a:p>
          <a:p>
            <a:pPr marL="176213">
              <a:lnSpc>
                <a:spcPts val="2700"/>
              </a:lnSpc>
            </a:pPr>
            <a:r>
              <a:rPr lang="en-US" altLang="ko-KR" sz="1600" b="1" dirty="0">
                <a:latin typeface="+mn-ea"/>
              </a:rPr>
              <a:t>1) </a:t>
            </a:r>
            <a:r>
              <a:rPr lang="ko-KR" altLang="en-US" sz="1600" b="1" dirty="0">
                <a:latin typeface="+mn-ea"/>
              </a:rPr>
              <a:t>과적합이 매우 쉬움 </a:t>
            </a:r>
            <a:r>
              <a:rPr lang="en-US" altLang="ko-KR" sz="1600" b="1" dirty="0">
                <a:latin typeface="+mn-ea"/>
              </a:rPr>
              <a:t>(</a:t>
            </a:r>
            <a:r>
              <a:rPr lang="ko-KR" altLang="en-US" sz="1600" b="1" dirty="0">
                <a:latin typeface="+mn-ea"/>
              </a:rPr>
              <a:t>가장 큰 단점</a:t>
            </a:r>
            <a:r>
              <a:rPr lang="en-US" altLang="ko-KR" sz="1600" b="1" dirty="0">
                <a:latin typeface="+mn-ea"/>
              </a:rPr>
              <a:t>)</a:t>
            </a:r>
          </a:p>
          <a:p>
            <a:pPr marL="360363" indent="174625">
              <a:lnSpc>
                <a:spcPts val="2700"/>
              </a:lnSpc>
            </a:pPr>
            <a:r>
              <a:rPr lang="ko-KR" altLang="en-US" sz="1600" dirty="0">
                <a:latin typeface="+mn-ea"/>
              </a:rPr>
              <a:t>트리는 계속 나누다 보면 훈련 데이터를 “거의 완벽히” 맞출 수 있다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pPr marL="360363" indent="174625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훈련 데이터의 잡음까지 규칙으로 </a:t>
            </a:r>
            <a:r>
              <a:rPr lang="ko-KR" altLang="en-US" sz="1600" dirty="0" err="1">
                <a:latin typeface="+mn-ea"/>
              </a:rPr>
              <a:t>외워버림</a:t>
            </a:r>
            <a:endParaRPr lang="ko-KR" altLang="en-US" sz="1600" dirty="0">
              <a:latin typeface="+mn-ea"/>
            </a:endParaRPr>
          </a:p>
          <a:p>
            <a:pPr marL="360363" indent="174625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새 데이터에서 성능이 떨어짐</a:t>
            </a:r>
          </a:p>
          <a:p>
            <a:pPr marL="176213">
              <a:lnSpc>
                <a:spcPts val="2700"/>
              </a:lnSpc>
            </a:pPr>
            <a:r>
              <a:rPr lang="en-US" altLang="ko-KR" sz="1600" b="1" dirty="0">
                <a:latin typeface="+mn-ea"/>
              </a:rPr>
              <a:t>2) </a:t>
            </a:r>
            <a:r>
              <a:rPr lang="ko-KR" altLang="en-US" sz="1600" b="1" dirty="0">
                <a:latin typeface="+mn-ea"/>
              </a:rPr>
              <a:t>작은 데이터 변화에도 트리가 크게 바뀔 수 있음</a:t>
            </a:r>
            <a:r>
              <a:rPr lang="en-US" altLang="ko-KR" sz="1600" b="1" dirty="0">
                <a:latin typeface="+mn-ea"/>
              </a:rPr>
              <a:t>(</a:t>
            </a:r>
            <a:r>
              <a:rPr lang="ko-KR" altLang="en-US" sz="1600" b="1" dirty="0">
                <a:latin typeface="+mn-ea"/>
              </a:rPr>
              <a:t>불안정</a:t>
            </a:r>
            <a:r>
              <a:rPr lang="en-US" altLang="ko-KR" sz="1600" b="1" dirty="0">
                <a:latin typeface="+mn-ea"/>
              </a:rPr>
              <a:t>)</a:t>
            </a:r>
          </a:p>
          <a:p>
            <a:pPr marL="176213" indent="358775">
              <a:lnSpc>
                <a:spcPts val="2700"/>
              </a:lnSpc>
            </a:pPr>
            <a:r>
              <a:rPr lang="ko-KR" altLang="en-US" sz="1600" dirty="0">
                <a:latin typeface="+mn-ea"/>
              </a:rPr>
              <a:t>훈련 데이터가 조금만 바뀌어도 최초 분할 기준이 달라지면서 트리 구조가 확 바뀌는 경우가 있다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pPr marL="176213">
              <a:lnSpc>
                <a:spcPts val="2700"/>
              </a:lnSpc>
            </a:pPr>
            <a:r>
              <a:rPr lang="en-US" altLang="ko-KR" sz="1600" b="1" dirty="0">
                <a:latin typeface="+mn-ea"/>
              </a:rPr>
              <a:t>3) </a:t>
            </a:r>
            <a:r>
              <a:rPr lang="ko-KR" altLang="en-US" sz="1600" b="1" dirty="0">
                <a:latin typeface="+mn-ea"/>
              </a:rPr>
              <a:t>축에 평행한 분할만 한다</a:t>
            </a:r>
            <a:r>
              <a:rPr lang="en-US" altLang="ko-KR" sz="1600" b="1" dirty="0">
                <a:latin typeface="+mn-ea"/>
              </a:rPr>
              <a:t>(</a:t>
            </a:r>
            <a:r>
              <a:rPr lang="ko-KR" altLang="en-US" sz="1600" b="1" dirty="0">
                <a:latin typeface="+mn-ea"/>
              </a:rPr>
              <a:t>표현 한계</a:t>
            </a:r>
            <a:r>
              <a:rPr lang="en-US" altLang="ko-KR" sz="1600" b="1" dirty="0">
                <a:latin typeface="+mn-ea"/>
              </a:rPr>
              <a:t>)</a:t>
            </a:r>
          </a:p>
          <a:p>
            <a:pPr marL="360363" indent="174625">
              <a:lnSpc>
                <a:spcPts val="2700"/>
              </a:lnSpc>
            </a:pPr>
            <a:r>
              <a:rPr lang="ko-KR" altLang="en-US" sz="1600" dirty="0">
                <a:latin typeface="+mn-ea"/>
              </a:rPr>
              <a:t>기본 </a:t>
            </a:r>
            <a:r>
              <a:rPr lang="ko-KR" altLang="en-US" sz="1600" dirty="0" err="1">
                <a:latin typeface="+mn-ea"/>
              </a:rPr>
              <a:t>결정트리는</a:t>
            </a:r>
            <a:r>
              <a:rPr lang="ko-KR" altLang="en-US" sz="1600" dirty="0">
                <a:latin typeface="+mn-ea"/>
              </a:rPr>
              <a:t> “</a:t>
            </a:r>
            <a:r>
              <a:rPr lang="en-US" altLang="ko-KR" sz="1600" dirty="0">
                <a:latin typeface="+mn-ea"/>
              </a:rPr>
              <a:t>temp ≤ t” </a:t>
            </a:r>
            <a:r>
              <a:rPr lang="ko-KR" altLang="en-US" sz="1600" dirty="0">
                <a:latin typeface="+mn-ea"/>
              </a:rPr>
              <a:t>같이 축에 평행한 경계만 만들기 때문에</a:t>
            </a:r>
            <a:r>
              <a:rPr lang="en-US" altLang="ko-KR" sz="1600" dirty="0">
                <a:latin typeface="+mn-ea"/>
              </a:rPr>
              <a:t>,</a:t>
            </a:r>
            <a:br>
              <a:rPr lang="en-US" altLang="ko-KR" sz="1600" dirty="0">
                <a:latin typeface="+mn-ea"/>
              </a:rPr>
            </a:br>
            <a:r>
              <a:rPr lang="ko-KR" altLang="en-US" sz="1600" dirty="0">
                <a:latin typeface="+mn-ea"/>
              </a:rPr>
              <a:t>대각선 경계가 필요한 문제에서는 비효율적일 수 있다</a:t>
            </a:r>
            <a:r>
              <a:rPr lang="en-US" altLang="ko-KR" sz="1600" dirty="0">
                <a:latin typeface="+mn-ea"/>
              </a:rPr>
              <a:t>.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>
                <a:latin typeface="+mn-ea"/>
              </a:rPr>
              <a:t>여러 번 나누면 근사 가능하지만 깊어질 수 있음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 marL="176213">
              <a:lnSpc>
                <a:spcPts val="2700"/>
              </a:lnSpc>
            </a:pPr>
            <a:r>
              <a:rPr lang="en-US" altLang="ko-KR" sz="1600" b="1" dirty="0">
                <a:latin typeface="+mn-ea"/>
              </a:rPr>
              <a:t>4) </a:t>
            </a:r>
            <a:r>
              <a:rPr lang="ko-KR" altLang="en-US" sz="1600" b="1" dirty="0">
                <a:latin typeface="+mn-ea"/>
              </a:rPr>
              <a:t>클래스 불균형에 취약할 수 있음</a:t>
            </a:r>
          </a:p>
          <a:p>
            <a:pPr marL="360363" indent="174625">
              <a:lnSpc>
                <a:spcPts val="2700"/>
              </a:lnSpc>
            </a:pPr>
            <a:r>
              <a:rPr lang="ko-KR" altLang="en-US" sz="1600" dirty="0">
                <a:latin typeface="+mn-ea"/>
              </a:rPr>
              <a:t>불량</a:t>
            </a:r>
            <a:r>
              <a:rPr lang="en-US" altLang="ko-KR" sz="1600" dirty="0">
                <a:latin typeface="+mn-ea"/>
              </a:rPr>
              <a:t>(NOK)</a:t>
            </a:r>
            <a:r>
              <a:rPr lang="ko-KR" altLang="en-US" sz="1600" dirty="0">
                <a:latin typeface="+mn-ea"/>
              </a:rPr>
              <a:t>이 매우 적으면</a:t>
            </a:r>
            <a:br>
              <a:rPr lang="ko-KR" altLang="en-US" sz="1600" dirty="0">
                <a:latin typeface="+mn-ea"/>
              </a:rPr>
            </a:br>
            <a:r>
              <a:rPr lang="ko-KR" altLang="en-US" sz="1600" dirty="0">
                <a:latin typeface="+mn-ea"/>
              </a:rPr>
              <a:t>트리가 </a:t>
            </a:r>
            <a:r>
              <a:rPr lang="en-US" altLang="ko-KR" sz="1600" dirty="0">
                <a:latin typeface="+mn-ea"/>
              </a:rPr>
              <a:t>OK</a:t>
            </a:r>
            <a:r>
              <a:rPr lang="ko-KR" altLang="en-US" sz="1600" dirty="0">
                <a:latin typeface="+mn-ea"/>
              </a:rPr>
              <a:t>만 맞춰도 정확도 높다고 생각할 수 있다</a:t>
            </a:r>
            <a:r>
              <a:rPr lang="en-US" altLang="ko-KR" sz="1600" dirty="0"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98789814"/>
      </p:ext>
    </p:extLst>
  </p:cSld>
  <p:clrMapOvr>
    <a:masterClrMapping/>
  </p:clrMapOvr>
  <p:transition spd="slow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3-2. Decision Tree(</a:t>
            </a:r>
            <a:r>
              <a:rPr lang="ko-KR" altLang="en-US" sz="2000" b="1" dirty="0">
                <a:solidFill>
                  <a:schemeClr val="tx1"/>
                </a:solidFill>
              </a:rPr>
              <a:t>의사결정 나무</a:t>
            </a:r>
            <a:r>
              <a:rPr lang="en-US" altLang="ko-KR" sz="2000" b="1" dirty="0">
                <a:solidFill>
                  <a:schemeClr val="tx1"/>
                </a:solidFill>
              </a:rPr>
              <a:t>)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code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023375-F405-4ADD-88AB-A5AAA80D582F}"/>
              </a:ext>
            </a:extLst>
          </p:cNvPr>
          <p:cNvSpPr txBox="1"/>
          <p:nvPr/>
        </p:nvSpPr>
        <p:spPr>
          <a:xfrm>
            <a:off x="335360" y="836712"/>
            <a:ext cx="9073008" cy="23391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sklearn.tree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DecisionTreeClassifier</a:t>
            </a:r>
            <a:endParaRPr lang="en-US" altLang="ko-KR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tree_clf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DecisionTreeClassifier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max_depth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         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너무 깊지 않게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과적합 방지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)</a:t>
            </a:r>
            <a:endParaRPr lang="ko-KR" altLang="en-US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random_state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42</a:t>
            </a:r>
            <a:endParaRPr lang="en-US" altLang="ko-KR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results = []</a:t>
            </a:r>
          </a:p>
          <a:p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evaluate_model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"Decision Tree"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tree_clf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       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x_train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y_train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x_test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y_test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results)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FA590A7-BE93-4C3A-9FB2-D2FCAFE658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376" y="3206207"/>
            <a:ext cx="4176464" cy="3531491"/>
          </a:xfrm>
          <a:prstGeom prst="rect">
            <a:avLst/>
          </a:prstGeom>
          <a:ln w="44450">
            <a:solidFill>
              <a:schemeClr val="accent3">
                <a:lumMod val="20000"/>
                <a:lumOff val="80000"/>
              </a:schemeClr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749AFD2-9910-4DC6-80B0-55C4E22F5489}"/>
              </a:ext>
            </a:extLst>
          </p:cNvPr>
          <p:cNvSpPr txBox="1"/>
          <p:nvPr/>
        </p:nvSpPr>
        <p:spPr>
          <a:xfrm>
            <a:off x="4874455" y="4448732"/>
            <a:ext cx="494988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n-ea"/>
              </a:rPr>
              <a:t>2,000</a:t>
            </a:r>
            <a:r>
              <a:rPr lang="ko-KR" altLang="en-US" sz="1400" dirty="0">
                <a:latin typeface="+mn-ea"/>
              </a:rPr>
              <a:t>개 중 </a:t>
            </a:r>
            <a:r>
              <a:rPr lang="en-US" altLang="ko-KR" sz="1400" dirty="0">
                <a:latin typeface="+mn-ea"/>
              </a:rPr>
              <a:t>1994</a:t>
            </a:r>
            <a:r>
              <a:rPr lang="ko-KR" altLang="en-US" sz="1400" dirty="0">
                <a:latin typeface="+mn-ea"/>
              </a:rPr>
              <a:t>개 정확히 예측</a:t>
            </a:r>
            <a:endParaRPr lang="en-US" altLang="ko-KR" sz="1400" dirty="0"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</a:rPr>
              <a:t>불량 판정한 </a:t>
            </a:r>
            <a:r>
              <a:rPr lang="en-US" altLang="ko-KR" sz="1400" dirty="0">
                <a:latin typeface="+mn-ea"/>
              </a:rPr>
              <a:t>345</a:t>
            </a:r>
            <a:r>
              <a:rPr lang="ko-KR" altLang="en-US" sz="1400" dirty="0">
                <a:latin typeface="+mn-ea"/>
              </a:rPr>
              <a:t>개 중 </a:t>
            </a:r>
            <a:r>
              <a:rPr lang="en-US" altLang="ko-KR" sz="1400" dirty="0">
                <a:latin typeface="+mn-ea"/>
              </a:rPr>
              <a:t>343</a:t>
            </a:r>
            <a:r>
              <a:rPr lang="ko-KR" altLang="en-US" sz="1400" dirty="0">
                <a:latin typeface="+mn-ea"/>
              </a:rPr>
              <a:t>건이 실제 불량</a:t>
            </a:r>
            <a:endParaRPr lang="en-US" altLang="ko-KR" sz="1400" dirty="0"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400" dirty="0"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n-ea"/>
              </a:rPr>
              <a:t>Decision Tree</a:t>
            </a:r>
            <a:r>
              <a:rPr lang="ko-KR" altLang="en-US" sz="1400" dirty="0">
                <a:latin typeface="+mn-ea"/>
              </a:rPr>
              <a:t>가 </a:t>
            </a:r>
            <a:r>
              <a:rPr lang="en-US" altLang="ko-KR" sz="1400" dirty="0">
                <a:latin typeface="+mn-ea"/>
              </a:rPr>
              <a:t>Logistic </a:t>
            </a:r>
            <a:r>
              <a:rPr lang="en-US" altLang="ko-KR" sz="1400" dirty="0" err="1">
                <a:latin typeface="+mn-ea"/>
              </a:rPr>
              <a:t>regressin</a:t>
            </a:r>
            <a:r>
              <a:rPr lang="ko-KR" altLang="en-US" sz="1400" dirty="0">
                <a:latin typeface="+mn-ea"/>
              </a:rPr>
              <a:t>보다 압도적으로 좋음</a:t>
            </a:r>
          </a:p>
        </p:txBody>
      </p:sp>
    </p:spTree>
    <p:extLst>
      <p:ext uri="{BB962C8B-B14F-4D97-AF65-F5344CB8AC3E}">
        <p14:creationId xmlns:p14="http://schemas.microsoft.com/office/powerpoint/2010/main" val="2833187510"/>
      </p:ext>
    </p:extLst>
  </p:cSld>
  <p:clrMapOvr>
    <a:masterClrMapping/>
  </p:clrMapOvr>
  <p:transition spd="slow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3-2. Decision Tree(</a:t>
            </a:r>
            <a:r>
              <a:rPr lang="ko-KR" altLang="en-US" sz="2000" b="1" dirty="0">
                <a:solidFill>
                  <a:schemeClr val="tx1"/>
                </a:solidFill>
              </a:rPr>
              <a:t>의사결정 나무</a:t>
            </a:r>
            <a:r>
              <a:rPr lang="en-US" altLang="ko-KR" sz="2000" b="1" dirty="0">
                <a:solidFill>
                  <a:schemeClr val="tx1"/>
                </a:solidFill>
              </a:rPr>
              <a:t>)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tree </a:t>
            </a:r>
            <a:r>
              <a:rPr lang="ko-KR" altLang="en-US" sz="2000" b="1" dirty="0">
                <a:solidFill>
                  <a:schemeClr val="tx1"/>
                </a:solidFill>
                <a:sym typeface="Wingdings" panose="05000000000000000000" pitchFamily="2" charset="2"/>
              </a:rPr>
              <a:t>구조 확인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CAFB21-5CA8-4B79-828B-B4548D262A3F}"/>
              </a:ext>
            </a:extLst>
          </p:cNvPr>
          <p:cNvSpPr txBox="1"/>
          <p:nvPr/>
        </p:nvSpPr>
        <p:spPr>
          <a:xfrm>
            <a:off x="263352" y="695345"/>
            <a:ext cx="6408712" cy="492442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sklearn.tree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plot_tree</a:t>
            </a:r>
            <a:endParaRPr lang="en-US" altLang="ko-KR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feature_names = [</a:t>
            </a:r>
            <a:r>
              <a:rPr lang="en-US" altLang="ko-KR" sz="1600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"x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range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np.asarray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x_train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).shape[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])]</a:t>
            </a:r>
          </a:p>
          <a:p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class_names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[</a:t>
            </a:r>
            <a:r>
              <a:rPr lang="en-US" altLang="ko-KR" sz="1600" b="0" dirty="0">
                <a:solidFill>
                  <a:srgbClr val="257693"/>
                </a:solidFill>
                <a:effectLst/>
                <a:latin typeface="Courier New" panose="02070309020205020404" pitchFamily="49" charset="0"/>
              </a:rPr>
              <a:t>str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(c) </a:t>
            </a:r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c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tree_clf.classes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_]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plt.figure(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figsize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=(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20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</a:p>
          <a:p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plot_tree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tree_clf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feature_names=feature_names,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class_names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class_names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filled=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True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rounded=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True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impurity=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True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proportion=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True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fontsize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10</a:t>
            </a:r>
            <a:endParaRPr lang="en-US" altLang="ko-KR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plt.title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"Decision Tree (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max_depth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=4)"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plt.show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647087445"/>
      </p:ext>
    </p:extLst>
  </p:cSld>
  <p:clrMapOvr>
    <a:masterClrMapping/>
  </p:clrMapOvr>
  <p:transition spd="slow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3-2. Decision Tree(</a:t>
            </a:r>
            <a:r>
              <a:rPr lang="ko-KR" altLang="en-US" sz="2000" b="1" dirty="0">
                <a:solidFill>
                  <a:schemeClr val="tx1"/>
                </a:solidFill>
              </a:rPr>
              <a:t>의사결정 나무</a:t>
            </a:r>
            <a:r>
              <a:rPr lang="en-US" altLang="ko-KR" sz="2000" b="1" dirty="0">
                <a:solidFill>
                  <a:schemeClr val="tx1"/>
                </a:solidFill>
              </a:rPr>
              <a:t>)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tree </a:t>
            </a:r>
            <a:r>
              <a:rPr lang="ko-KR" altLang="en-US" sz="2000" b="1" dirty="0">
                <a:solidFill>
                  <a:schemeClr val="tx1"/>
                </a:solidFill>
                <a:sym typeface="Wingdings" panose="05000000000000000000" pitchFamily="2" charset="2"/>
              </a:rPr>
              <a:t>구조 확인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8FB3294-2551-4836-963D-6DE32EED3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92" y="836712"/>
            <a:ext cx="11424589" cy="5722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170383"/>
      </p:ext>
    </p:extLst>
  </p:cSld>
  <p:clrMapOvr>
    <a:masterClrMapping/>
  </p:clrMapOvr>
  <p:transition spd="slow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3-2. Decision Tree(</a:t>
            </a:r>
            <a:r>
              <a:rPr lang="ko-KR" altLang="en-US" sz="2000" b="1" dirty="0">
                <a:solidFill>
                  <a:schemeClr val="tx1"/>
                </a:solidFill>
              </a:rPr>
              <a:t>의사결정 나무</a:t>
            </a:r>
            <a:r>
              <a:rPr lang="en-US" altLang="ko-KR" sz="2000" b="1" dirty="0">
                <a:solidFill>
                  <a:schemeClr val="tx1"/>
                </a:solidFill>
              </a:rPr>
              <a:t>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2D6935-2642-4516-A10C-FB0951057B65}"/>
              </a:ext>
            </a:extLst>
          </p:cNvPr>
          <p:cNvSpPr txBox="1"/>
          <p:nvPr/>
        </p:nvSpPr>
        <p:spPr>
          <a:xfrm>
            <a:off x="206315" y="764704"/>
            <a:ext cx="3076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b="1" dirty="0">
                <a:latin typeface="+mn-ea"/>
              </a:rPr>
              <a:t>과적합</a:t>
            </a:r>
            <a:r>
              <a:rPr lang="en-US" altLang="ko-KR" b="1" dirty="0">
                <a:latin typeface="+mn-ea"/>
              </a:rPr>
              <a:t>(Overfitting)</a:t>
            </a:r>
            <a:r>
              <a:rPr lang="ko-KR" altLang="en-US" b="1" dirty="0">
                <a:latin typeface="+mn-ea"/>
              </a:rPr>
              <a:t> 문제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A54B53-9B36-4FCF-A7D0-4D5C454074A4}"/>
              </a:ext>
            </a:extLst>
          </p:cNvPr>
          <p:cNvSpPr txBox="1"/>
          <p:nvPr/>
        </p:nvSpPr>
        <p:spPr>
          <a:xfrm>
            <a:off x="551384" y="1150938"/>
            <a:ext cx="9793088" cy="2059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600"/>
              </a:lnSpc>
              <a:buFontTx/>
              <a:buChar char="-"/>
            </a:pPr>
            <a:r>
              <a:rPr lang="ko-KR" altLang="en-US" dirty="0">
                <a:latin typeface="+mn-ea"/>
              </a:rPr>
              <a:t>머신러닝에서 </a:t>
            </a:r>
            <a:r>
              <a:rPr lang="ko-KR" altLang="en-US" b="1" dirty="0">
                <a:latin typeface="+mn-ea"/>
              </a:rPr>
              <a:t>가장 많이 발생하고</a:t>
            </a:r>
            <a:r>
              <a:rPr lang="en-US" altLang="ko-KR" b="1" dirty="0">
                <a:latin typeface="+mn-ea"/>
              </a:rPr>
              <a:t>, </a:t>
            </a:r>
            <a:r>
              <a:rPr lang="ko-KR" altLang="en-US" b="1" dirty="0">
                <a:latin typeface="+mn-ea"/>
              </a:rPr>
              <a:t>가장 중요한 문제 중 하나</a:t>
            </a:r>
            <a:endParaRPr lang="en-US" altLang="ko-KR" b="1" dirty="0">
              <a:latin typeface="+mn-ea"/>
            </a:endParaRPr>
          </a:p>
          <a:p>
            <a:pPr marL="285750" indent="-285750">
              <a:lnSpc>
                <a:spcPts val="2600"/>
              </a:lnSpc>
              <a:buFontTx/>
              <a:buChar char="-"/>
            </a:pPr>
            <a:r>
              <a:rPr lang="ko-KR" altLang="en-US" dirty="0">
                <a:latin typeface="+mn-ea"/>
              </a:rPr>
              <a:t>과적합 </a:t>
            </a:r>
            <a:r>
              <a:rPr lang="en-US" altLang="ko-KR" dirty="0">
                <a:latin typeface="+mn-ea"/>
              </a:rPr>
              <a:t>= “</a:t>
            </a:r>
            <a:r>
              <a:rPr lang="ko-KR" altLang="en-US" dirty="0">
                <a:latin typeface="+mn-ea"/>
              </a:rPr>
              <a:t>훈련 데이터는 잘 맞추는데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새로운 데이터는 못 맞추는 상태”</a:t>
            </a:r>
            <a:endParaRPr lang="en-US" altLang="ko-KR" dirty="0">
              <a:latin typeface="+mn-ea"/>
            </a:endParaRPr>
          </a:p>
          <a:p>
            <a:pPr marL="285750" indent="-285750">
              <a:lnSpc>
                <a:spcPts val="2600"/>
              </a:lnSpc>
              <a:buFontTx/>
              <a:buChar char="-"/>
            </a:pPr>
            <a:r>
              <a:rPr lang="ko-KR" altLang="en-US" dirty="0">
                <a:latin typeface="+mn-ea"/>
              </a:rPr>
              <a:t>데이터 하나하나를 </a:t>
            </a:r>
            <a:r>
              <a:rPr lang="ko-KR" altLang="en-US" b="1" dirty="0">
                <a:latin typeface="+mn-ea"/>
              </a:rPr>
              <a:t>억지로 다 </a:t>
            </a:r>
            <a:r>
              <a:rPr lang="ko-KR" altLang="en-US" b="1" dirty="0" err="1">
                <a:latin typeface="+mn-ea"/>
              </a:rPr>
              <a:t>외워버림</a:t>
            </a:r>
            <a:endParaRPr lang="en-US" altLang="ko-KR" b="1" dirty="0">
              <a:latin typeface="+mn-ea"/>
            </a:endParaRPr>
          </a:p>
          <a:p>
            <a:pPr marL="285750" indent="-285750">
              <a:lnSpc>
                <a:spcPts val="2600"/>
              </a:lnSpc>
              <a:buFontTx/>
              <a:buChar char="-"/>
            </a:pPr>
            <a:r>
              <a:rPr lang="ko-KR" altLang="en-US" b="1" dirty="0">
                <a:latin typeface="+mn-ea"/>
              </a:rPr>
              <a:t>과적합 특징</a:t>
            </a:r>
            <a:br>
              <a:rPr lang="en-US" altLang="ko-KR" b="1" dirty="0">
                <a:latin typeface="+mn-ea"/>
              </a:rPr>
            </a:br>
            <a:r>
              <a:rPr lang="ko-KR" altLang="en-US" dirty="0">
                <a:latin typeface="+mn-ea"/>
              </a:rPr>
              <a:t>학습 데이터 정확도 매우 높으나</a:t>
            </a:r>
            <a:r>
              <a:rPr lang="en-US" altLang="ko-KR" dirty="0">
                <a:latin typeface="+mn-ea"/>
              </a:rPr>
              <a:t>, </a:t>
            </a:r>
            <a:br>
              <a:rPr lang="en-US" altLang="ko-KR" dirty="0">
                <a:latin typeface="+mn-ea"/>
              </a:rPr>
            </a:br>
            <a:r>
              <a:rPr lang="ko-KR" altLang="en-US" dirty="0">
                <a:latin typeface="+mn-ea"/>
              </a:rPr>
              <a:t>테스트 데이터 정확도 낮음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9DE2F9-3344-4CAF-A97F-9646B6A374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1383" y="2369555"/>
            <a:ext cx="5655939" cy="3234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538252"/>
      </p:ext>
    </p:extLst>
  </p:cSld>
  <p:clrMapOvr>
    <a:masterClrMapping/>
  </p:clrMapOvr>
  <p:transition spd="slow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3-2. Decision Tree(</a:t>
            </a:r>
            <a:r>
              <a:rPr lang="ko-KR" altLang="en-US" sz="2000" b="1" dirty="0">
                <a:solidFill>
                  <a:schemeClr val="tx1"/>
                </a:solidFill>
              </a:rPr>
              <a:t>의사결정 나무</a:t>
            </a:r>
            <a:r>
              <a:rPr lang="en-US" altLang="ko-KR" sz="2000" b="1" dirty="0">
                <a:solidFill>
                  <a:schemeClr val="tx1"/>
                </a:solidFill>
              </a:rPr>
              <a:t>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2D6935-2642-4516-A10C-FB0951057B65}"/>
              </a:ext>
            </a:extLst>
          </p:cNvPr>
          <p:cNvSpPr txBox="1"/>
          <p:nvPr/>
        </p:nvSpPr>
        <p:spPr>
          <a:xfrm>
            <a:off x="206315" y="764704"/>
            <a:ext cx="58553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 err="1">
                <a:latin typeface="+mn-ea"/>
              </a:rPr>
              <a:t>Decison</a:t>
            </a:r>
            <a:r>
              <a:rPr lang="en-US" altLang="ko-KR" b="1" dirty="0">
                <a:latin typeface="+mn-ea"/>
              </a:rPr>
              <a:t> tree </a:t>
            </a:r>
            <a:r>
              <a:rPr lang="ko-KR" altLang="en-US" b="1" dirty="0">
                <a:latin typeface="+mn-ea"/>
              </a:rPr>
              <a:t>모델이 과적합</a:t>
            </a:r>
            <a:r>
              <a:rPr lang="en-US" altLang="ko-KR" b="1" dirty="0">
                <a:latin typeface="+mn-ea"/>
              </a:rPr>
              <a:t>(Overfitting)</a:t>
            </a:r>
            <a:r>
              <a:rPr lang="ko-KR" altLang="en-US" b="1" dirty="0">
                <a:latin typeface="+mn-ea"/>
              </a:rPr>
              <a:t> 인지 확인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A9C8E8-C23B-4694-9A7B-2FA97326D2E2}"/>
              </a:ext>
            </a:extLst>
          </p:cNvPr>
          <p:cNvSpPr txBox="1"/>
          <p:nvPr/>
        </p:nvSpPr>
        <p:spPr>
          <a:xfrm>
            <a:off x="610764" y="1273412"/>
            <a:ext cx="10901744" cy="2031325"/>
          </a:xfrm>
          <a:prstGeom prst="rect">
            <a:avLst/>
          </a:prstGeom>
          <a:noFill/>
          <a:ln w="31750">
            <a:solidFill>
              <a:schemeClr val="bg2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def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evaluate_model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urier New" panose="02070309020205020404" pitchFamily="49" charset="0"/>
              </a:rPr>
              <a:t>name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urier New" panose="02070309020205020404" pitchFamily="49" charset="0"/>
              </a:rPr>
              <a:t>model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urier New" panose="02070309020205020404" pitchFamily="49" charset="0"/>
              </a:rPr>
              <a:t>x_train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urier New" panose="02070309020205020404" pitchFamily="49" charset="0"/>
              </a:rPr>
              <a:t>y_train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urier New" panose="02070309020205020404" pitchFamily="49" charset="0"/>
              </a:rPr>
              <a:t>x_test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urier New" panose="02070309020205020404" pitchFamily="49" charset="0"/>
              </a:rPr>
              <a:t>y_test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b="0" dirty="0">
                <a:solidFill>
                  <a:srgbClr val="001080"/>
                </a:solidFill>
                <a:effectLst/>
                <a:latin typeface="Courier New" panose="02070309020205020404" pitchFamily="49" charset="0"/>
              </a:rPr>
              <a:t>results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):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"""</a:t>
            </a:r>
            <a:r>
              <a:rPr lang="ko-KR" alt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모델 학습 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+ </a:t>
            </a:r>
            <a:r>
              <a:rPr lang="ko-KR" alt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예측 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+ </a:t>
            </a:r>
            <a:r>
              <a:rPr lang="ko-KR" alt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주요 지표 계산 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+ </a:t>
            </a:r>
            <a:r>
              <a:rPr lang="ko-KR" alt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결과 저장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"""</a:t>
            </a:r>
            <a:endParaRPr lang="ko-KR" altLang="en-US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ko-KR" alt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model.fit(x_train, y_train)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y_pred = model.predict(x_test)</a:t>
            </a:r>
          </a:p>
          <a:p>
            <a:b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</a:t>
            </a:r>
            <a:r>
              <a:rPr lang="en-US" altLang="ko-KR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"Train:"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accuracy_score(y_train, model.predict(x_train)))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</a:t>
            </a:r>
            <a:r>
              <a:rPr lang="en-US" altLang="ko-KR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"Test: 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accuracy_score(y_test,  model.predict(x_test)))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11C324F3-651E-4E59-98E9-C06847FB7BAB}"/>
              </a:ext>
            </a:extLst>
          </p:cNvPr>
          <p:cNvCxnSpPr/>
          <p:nvPr/>
        </p:nvCxnSpPr>
        <p:spPr>
          <a:xfrm flipH="1">
            <a:off x="9624392" y="2852936"/>
            <a:ext cx="1368152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A2FDBE92-AB09-45D1-A624-21BC1002D1C0}"/>
              </a:ext>
            </a:extLst>
          </p:cNvPr>
          <p:cNvCxnSpPr/>
          <p:nvPr/>
        </p:nvCxnSpPr>
        <p:spPr>
          <a:xfrm flipH="1">
            <a:off x="9624392" y="3068960"/>
            <a:ext cx="1368152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6B0DBC1-DA0E-459C-9502-7A01FA59C4EA}"/>
              </a:ext>
            </a:extLst>
          </p:cNvPr>
          <p:cNvSpPr txBox="1"/>
          <p:nvPr/>
        </p:nvSpPr>
        <p:spPr>
          <a:xfrm>
            <a:off x="773325" y="3553264"/>
            <a:ext cx="2232248" cy="646331"/>
          </a:xfrm>
          <a:prstGeom prst="rect">
            <a:avLst/>
          </a:prstGeom>
          <a:noFill/>
          <a:ln w="41275">
            <a:solidFill>
              <a:schemeClr val="accent5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Train: 0.997375 </a:t>
            </a:r>
          </a:p>
          <a:p>
            <a:r>
              <a:rPr lang="en-US" altLang="ko-KR" b="0" i="0" dirty="0">
                <a:solidFill>
                  <a:srgbClr val="1F1F1F"/>
                </a:solidFill>
                <a:effectLst/>
                <a:latin typeface="Courier New" panose="02070309020205020404" pitchFamily="49" charset="0"/>
              </a:rPr>
              <a:t>Test: 0.997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32664C-73FA-4735-9883-9D3EF123DA84}"/>
              </a:ext>
            </a:extLst>
          </p:cNvPr>
          <p:cNvSpPr txBox="1"/>
          <p:nvPr/>
        </p:nvSpPr>
        <p:spPr>
          <a:xfrm>
            <a:off x="777308" y="4365104"/>
            <a:ext cx="7056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Train </a:t>
            </a:r>
            <a:r>
              <a:rPr lang="ko-KR" altLang="en-US" dirty="0"/>
              <a:t>보다 </a:t>
            </a:r>
            <a:r>
              <a:rPr lang="en-US" altLang="ko-KR" dirty="0"/>
              <a:t>Test </a:t>
            </a:r>
            <a:r>
              <a:rPr lang="ko-KR" altLang="en-US" dirty="0"/>
              <a:t>정확도가 약간 낮으니 과적합이 아님</a:t>
            </a:r>
          </a:p>
        </p:txBody>
      </p:sp>
    </p:spTree>
    <p:extLst>
      <p:ext uri="{BB962C8B-B14F-4D97-AF65-F5344CB8AC3E}">
        <p14:creationId xmlns:p14="http://schemas.microsoft.com/office/powerpoint/2010/main" val="2520452445"/>
      </p:ext>
    </p:extLst>
  </p:cSld>
  <p:clrMapOvr>
    <a:masterClrMapping/>
  </p:clrMapOvr>
  <p:transition spd="slow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3-3. Random Forest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C071E6-96F5-4CF5-B050-81F7A2D0FC08}"/>
              </a:ext>
            </a:extLst>
          </p:cNvPr>
          <p:cNvSpPr txBox="1"/>
          <p:nvPr/>
        </p:nvSpPr>
        <p:spPr>
          <a:xfrm>
            <a:off x="191344" y="836712"/>
            <a:ext cx="11521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solidFill>
                  <a:srgbClr val="0033CC"/>
                </a:solidFill>
                <a:latin typeface="+mn-ea"/>
              </a:rPr>
              <a:t>여러 개의 </a:t>
            </a:r>
            <a:r>
              <a:rPr lang="en-US" altLang="ko-KR" b="1" dirty="0">
                <a:solidFill>
                  <a:srgbClr val="0033CC"/>
                </a:solidFill>
                <a:latin typeface="+mn-ea"/>
              </a:rPr>
              <a:t>Decision Tree</a:t>
            </a:r>
            <a:r>
              <a:rPr lang="ko-KR" altLang="en-US" b="1" dirty="0">
                <a:solidFill>
                  <a:srgbClr val="0033CC"/>
                </a:solidFill>
                <a:latin typeface="+mn-ea"/>
              </a:rPr>
              <a:t>를 </a:t>
            </a:r>
            <a:r>
              <a:rPr lang="en-US" altLang="ko-KR" b="1" dirty="0">
                <a:solidFill>
                  <a:srgbClr val="0033CC"/>
                </a:solidFill>
                <a:latin typeface="+mn-ea"/>
              </a:rPr>
              <a:t>Random</a:t>
            </a:r>
            <a:r>
              <a:rPr lang="ko-KR" altLang="en-US" b="1" dirty="0">
                <a:solidFill>
                  <a:srgbClr val="0033CC"/>
                </a:solidFill>
                <a:latin typeface="+mn-ea"/>
              </a:rPr>
              <a:t>하게 만들어서</a:t>
            </a:r>
            <a:r>
              <a:rPr lang="en-US" altLang="ko-KR" b="1" dirty="0">
                <a:solidFill>
                  <a:srgbClr val="0033CC"/>
                </a:solidFill>
                <a:latin typeface="+mn-ea"/>
              </a:rPr>
              <a:t>, </a:t>
            </a:r>
            <a:r>
              <a:rPr lang="ko-KR" altLang="en-US" b="1" dirty="0">
                <a:solidFill>
                  <a:srgbClr val="0033CC"/>
                </a:solidFill>
                <a:latin typeface="+mn-ea"/>
              </a:rPr>
              <a:t>마지막에 투표</a:t>
            </a:r>
            <a:r>
              <a:rPr lang="en-US" altLang="ko-KR" b="1" dirty="0">
                <a:solidFill>
                  <a:srgbClr val="0033CC"/>
                </a:solidFill>
                <a:latin typeface="+mn-ea"/>
              </a:rPr>
              <a:t>(</a:t>
            </a:r>
            <a:r>
              <a:rPr lang="ko-KR" altLang="en-US" b="1" dirty="0">
                <a:solidFill>
                  <a:srgbClr val="0033CC"/>
                </a:solidFill>
                <a:latin typeface="+mn-ea"/>
              </a:rPr>
              <a:t>또는 평균</a:t>
            </a:r>
            <a:r>
              <a:rPr lang="en-US" altLang="ko-KR" b="1" dirty="0">
                <a:solidFill>
                  <a:srgbClr val="0033CC"/>
                </a:solidFill>
                <a:latin typeface="+mn-ea"/>
              </a:rPr>
              <a:t>)</a:t>
            </a:r>
            <a:r>
              <a:rPr lang="ko-KR" altLang="en-US" b="1" dirty="0">
                <a:solidFill>
                  <a:srgbClr val="0033CC"/>
                </a:solidFill>
                <a:latin typeface="+mn-ea"/>
              </a:rPr>
              <a:t>로 결론을 내리는 모델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643A211C-00A0-4AE2-82E0-48D5E772E0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344" y="1219348"/>
            <a:ext cx="11521280" cy="744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6213" marR="0" lvl="0" indent="187325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Decision Tree 1개는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규칙이 명확하지만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데이터가 조금만 바뀌어도 결과가 크게 달라지고(불안정) 과적합이 잘 </a:t>
            </a:r>
            <a:r>
              <a:rPr lang="ko-KR" altLang="en-US" sz="1600" dirty="0">
                <a:latin typeface="Arial" panose="020B0604020202020204" pitchFamily="34" charset="0"/>
              </a:rPr>
              <a:t>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</a:t>
            </a:r>
          </a:p>
          <a:p>
            <a:pPr marL="176213" marR="0" lvl="0" indent="187325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Random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Forest는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트리를 여러 개 만들고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다수결/평균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을 내서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더 안정적이고 일반화가 잘 되게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만드는 방법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F4E0663-7A7C-4CDF-BB8B-C01896217C87}"/>
              </a:ext>
            </a:extLst>
          </p:cNvPr>
          <p:cNvSpPr txBox="1"/>
          <p:nvPr/>
        </p:nvSpPr>
        <p:spPr>
          <a:xfrm>
            <a:off x="191344" y="2132856"/>
            <a:ext cx="11521280" cy="2830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en-US" altLang="ko-KR" sz="1600" b="1" dirty="0">
                <a:latin typeface="+mn-ea"/>
              </a:rPr>
              <a:t>(1) </a:t>
            </a:r>
            <a:r>
              <a:rPr lang="ko-KR" altLang="en-US" sz="1600" b="1" dirty="0">
                <a:latin typeface="+mn-ea"/>
              </a:rPr>
              <a:t>데이터도 랜덤</a:t>
            </a:r>
            <a:r>
              <a:rPr lang="en-US" altLang="ko-KR" sz="1600" b="1" dirty="0">
                <a:latin typeface="+mn-ea"/>
              </a:rPr>
              <a:t>(</a:t>
            </a:r>
            <a:r>
              <a:rPr lang="ko-KR" altLang="en-US" sz="1600" b="1" dirty="0">
                <a:latin typeface="+mn-ea"/>
              </a:rPr>
              <a:t>부트스트랩 샘플링</a:t>
            </a:r>
            <a:r>
              <a:rPr lang="en-US" altLang="ko-KR" sz="1600" b="1" dirty="0">
                <a:latin typeface="+mn-ea"/>
              </a:rPr>
              <a:t>)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+mn-ea"/>
              </a:rPr>
              <a:t>  전체 훈련 데이터에서 </a:t>
            </a:r>
            <a:r>
              <a:rPr lang="ko-KR" altLang="en-US" sz="1600" b="1" dirty="0">
                <a:latin typeface="+mn-ea"/>
              </a:rPr>
              <a:t>중복을 허용</a:t>
            </a:r>
            <a:r>
              <a:rPr lang="ko-KR" altLang="en-US" sz="1600" dirty="0">
                <a:latin typeface="+mn-ea"/>
              </a:rPr>
              <a:t>해서 랜덤하게 뽑아 트리 하나를 학습한다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pPr marL="176213" indent="187325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예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데이터가 </a:t>
            </a:r>
            <a:r>
              <a:rPr lang="en-US" altLang="ko-KR" sz="1600" dirty="0">
                <a:latin typeface="+mn-ea"/>
              </a:rPr>
              <a:t>10,000</a:t>
            </a:r>
            <a:r>
              <a:rPr lang="ko-KR" altLang="en-US" sz="1600" dirty="0">
                <a:latin typeface="+mn-ea"/>
              </a:rPr>
              <a:t>개면 트리 </a:t>
            </a:r>
            <a:r>
              <a:rPr lang="en-US" altLang="ko-KR" sz="1600" dirty="0">
                <a:latin typeface="+mn-ea"/>
              </a:rPr>
              <a:t>1</a:t>
            </a:r>
            <a:r>
              <a:rPr lang="ko-KR" altLang="en-US" sz="1600" dirty="0">
                <a:latin typeface="+mn-ea"/>
              </a:rPr>
              <a:t>개를 만들 때 </a:t>
            </a:r>
            <a:r>
              <a:rPr lang="en-US" altLang="ko-KR" sz="1600" dirty="0">
                <a:latin typeface="+mn-ea"/>
              </a:rPr>
              <a:t>10,000</a:t>
            </a:r>
            <a:r>
              <a:rPr lang="ko-KR" altLang="en-US" sz="1600" dirty="0">
                <a:latin typeface="+mn-ea"/>
              </a:rPr>
              <a:t>개를 뽑는데 </a:t>
            </a:r>
            <a:r>
              <a:rPr lang="ko-KR" altLang="en-US" sz="1600" b="1" dirty="0">
                <a:latin typeface="+mn-ea"/>
              </a:rPr>
              <a:t>중복이 허용</a:t>
            </a:r>
            <a:r>
              <a:rPr lang="ko-KR" altLang="en-US" sz="1600" dirty="0">
                <a:latin typeface="+mn-ea"/>
              </a:rPr>
              <a:t>된다</a:t>
            </a:r>
            <a:r>
              <a:rPr lang="en-US" altLang="ko-KR" sz="1600" dirty="0">
                <a:latin typeface="+mn-ea"/>
              </a:rPr>
              <a:t>.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  (</a:t>
            </a:r>
            <a:r>
              <a:rPr lang="ko-KR" altLang="en-US" sz="1600" dirty="0">
                <a:latin typeface="+mn-ea"/>
              </a:rPr>
              <a:t>어떤 샘플은 </a:t>
            </a:r>
            <a:r>
              <a:rPr lang="en-US" altLang="ko-KR" sz="1600" dirty="0">
                <a:latin typeface="+mn-ea"/>
              </a:rPr>
              <a:t>2~3</a:t>
            </a:r>
            <a:r>
              <a:rPr lang="ko-KR" altLang="en-US" sz="1600" dirty="0">
                <a:latin typeface="+mn-ea"/>
              </a:rPr>
              <a:t>번 뽑히고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어떤 샘플은 아예 안 뽑힐 수도 있음</a:t>
            </a:r>
            <a:r>
              <a:rPr lang="en-US" altLang="ko-KR" sz="1600" dirty="0">
                <a:latin typeface="+mn-ea"/>
              </a:rPr>
              <a:t>)</a:t>
            </a:r>
          </a:p>
          <a:p>
            <a:pPr marL="176213" indent="187325">
              <a:lnSpc>
                <a:spcPts val="2400"/>
              </a:lnSpc>
            </a:pPr>
            <a:r>
              <a:rPr lang="ko-KR" altLang="en-US" sz="1600" dirty="0">
                <a:latin typeface="+mn-ea"/>
              </a:rPr>
              <a:t>이걸 부트스트랩</a:t>
            </a:r>
            <a:r>
              <a:rPr lang="en-US" altLang="ko-KR" sz="1600" dirty="0">
                <a:latin typeface="+mn-ea"/>
              </a:rPr>
              <a:t>(bootstrap)</a:t>
            </a:r>
            <a:r>
              <a:rPr lang="ko-KR" altLang="en-US" sz="1600" dirty="0">
                <a:latin typeface="+mn-ea"/>
              </a:rPr>
              <a:t>이라고 부른다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pPr>
              <a:lnSpc>
                <a:spcPts val="2400"/>
              </a:lnSpc>
            </a:pPr>
            <a:r>
              <a:rPr lang="en-US" altLang="ko-KR" sz="1600" b="1" dirty="0">
                <a:latin typeface="+mn-ea"/>
              </a:rPr>
              <a:t>(2) </a:t>
            </a:r>
            <a:r>
              <a:rPr lang="ko-KR" altLang="en-US" sz="1600" b="1" dirty="0">
                <a:latin typeface="+mn-ea"/>
              </a:rPr>
              <a:t>특성도 랜덤</a:t>
            </a:r>
            <a:r>
              <a:rPr lang="en-US" altLang="ko-KR" sz="1600" b="1" dirty="0">
                <a:latin typeface="+mn-ea"/>
              </a:rPr>
              <a:t>(</a:t>
            </a:r>
            <a:r>
              <a:rPr lang="ko-KR" altLang="en-US" sz="1600" b="1" dirty="0">
                <a:latin typeface="+mn-ea"/>
              </a:rPr>
              <a:t>특성 부분 선택</a:t>
            </a:r>
            <a:r>
              <a:rPr lang="en-US" altLang="ko-KR" sz="1600" b="1" dirty="0">
                <a:latin typeface="+mn-ea"/>
              </a:rPr>
              <a:t>)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+mn-ea"/>
              </a:rPr>
              <a:t>  각 노드에서 분할할 때도 전체 특성을 다 보지 않고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b="1" dirty="0">
                <a:latin typeface="+mn-ea"/>
              </a:rPr>
              <a:t>일부 특성만 랜덤으로 골라서 그 중에서 최선의 분할</a:t>
            </a:r>
            <a:r>
              <a:rPr lang="ko-KR" altLang="en-US" sz="1600" dirty="0">
                <a:latin typeface="+mn-ea"/>
              </a:rPr>
              <a:t>을 찾는다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pPr marL="176213" indent="187325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예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특성이 </a:t>
            </a:r>
            <a:r>
              <a:rPr lang="en-US" altLang="ko-KR" sz="1600" dirty="0">
                <a:latin typeface="+mn-ea"/>
              </a:rPr>
              <a:t>20</a:t>
            </a:r>
            <a:r>
              <a:rPr lang="ko-KR" altLang="en-US" sz="1600" dirty="0">
                <a:latin typeface="+mn-ea"/>
              </a:rPr>
              <a:t>개면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매번 그중 </a:t>
            </a:r>
            <a:r>
              <a:rPr lang="en-US" altLang="ko-KR" sz="1600" dirty="0">
                <a:latin typeface="+mn-ea"/>
              </a:rPr>
              <a:t>4~5</a:t>
            </a:r>
            <a:r>
              <a:rPr lang="ko-KR" altLang="en-US" sz="1600" dirty="0">
                <a:latin typeface="+mn-ea"/>
              </a:rPr>
              <a:t>개만 랜덤 선택해서 </a:t>
            </a:r>
            <a:r>
              <a:rPr lang="en-US" altLang="ko-KR" sz="1600" dirty="0">
                <a:latin typeface="+mn-ea"/>
              </a:rPr>
              <a:t>split </a:t>
            </a:r>
            <a:r>
              <a:rPr lang="ko-KR" altLang="en-US" sz="1600" dirty="0">
                <a:latin typeface="+mn-ea"/>
              </a:rPr>
              <a:t>후보를 평가</a:t>
            </a:r>
          </a:p>
          <a:p>
            <a:pPr marL="176213" indent="187325">
              <a:lnSpc>
                <a:spcPts val="2400"/>
              </a:lnSpc>
            </a:pPr>
            <a:r>
              <a:rPr lang="ko-KR" altLang="en-US" sz="1600" dirty="0">
                <a:latin typeface="+mn-ea"/>
              </a:rPr>
              <a:t>이 두 가지 랜덤 덕분에 트리들이 서로 “다른 </a:t>
            </a:r>
            <a:r>
              <a:rPr lang="ko-KR" altLang="en-US" sz="1600" dirty="0" err="1">
                <a:latin typeface="+mn-ea"/>
              </a:rPr>
              <a:t>성격”이</a:t>
            </a:r>
            <a:r>
              <a:rPr lang="ko-KR" altLang="en-US" sz="1600" dirty="0">
                <a:latin typeface="+mn-ea"/>
              </a:rPr>
              <a:t> 되고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서로의 실수를 평균</a:t>
            </a:r>
            <a:r>
              <a:rPr lang="en-US" altLang="ko-KR" sz="1600" dirty="0">
                <a:latin typeface="+mn-ea"/>
              </a:rPr>
              <a:t>/</a:t>
            </a:r>
            <a:r>
              <a:rPr lang="ko-KR" altLang="en-US" sz="1600" dirty="0">
                <a:latin typeface="+mn-ea"/>
              </a:rPr>
              <a:t>투표로 상쇄한다</a:t>
            </a:r>
            <a:r>
              <a:rPr lang="en-US" altLang="ko-KR" sz="1600" dirty="0"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30092952"/>
      </p:ext>
    </p:extLst>
  </p:cSld>
  <p:clrMapOvr>
    <a:masterClrMapping/>
  </p:clrMapOvr>
  <p:transition spd="slow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3-3. Random Forest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73906E5-D1AE-4FAB-8E1E-5C33A041D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1" y="675530"/>
            <a:ext cx="9023271" cy="551422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072137F-F62C-43C6-8573-111AED7E2D2E}"/>
              </a:ext>
            </a:extLst>
          </p:cNvPr>
          <p:cNvSpPr txBox="1"/>
          <p:nvPr/>
        </p:nvSpPr>
        <p:spPr>
          <a:xfrm>
            <a:off x="1524001" y="6381328"/>
            <a:ext cx="86049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</a:rPr>
              <a:t>이렇게 중복을 허용한 무작위 샘플링을 </a:t>
            </a:r>
            <a:r>
              <a:rPr lang="en-US" altLang="ko-KR" sz="1400" b="1" dirty="0">
                <a:latin typeface="+mn-ea"/>
              </a:rPr>
              <a:t>Bootstrap Sampling (</a:t>
            </a:r>
            <a:r>
              <a:rPr lang="ko-KR" altLang="en-US" sz="1400" b="1" dirty="0">
                <a:latin typeface="+mn-ea"/>
              </a:rPr>
              <a:t>부트스트랩 샘플링</a:t>
            </a:r>
            <a:r>
              <a:rPr lang="en-US" altLang="ko-KR" sz="1400" b="1" dirty="0">
                <a:latin typeface="+mn-ea"/>
              </a:rPr>
              <a:t>)</a:t>
            </a:r>
            <a:r>
              <a:rPr lang="ko-KR" altLang="en-US" sz="1400" dirty="0">
                <a:latin typeface="+mn-ea"/>
              </a:rPr>
              <a:t> 이라고 함</a:t>
            </a:r>
          </a:p>
        </p:txBody>
      </p:sp>
    </p:spTree>
    <p:extLst>
      <p:ext uri="{BB962C8B-B14F-4D97-AF65-F5344CB8AC3E}">
        <p14:creationId xmlns:p14="http://schemas.microsoft.com/office/powerpoint/2010/main" val="366138242"/>
      </p:ext>
    </p:extLst>
  </p:cSld>
  <p:clrMapOvr>
    <a:masterClrMapping/>
  </p:clrMapOvr>
  <p:transition spd="slow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3-3. Random Forest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855774-E5A5-4DA0-A921-B76A2D778600}"/>
              </a:ext>
            </a:extLst>
          </p:cNvPr>
          <p:cNvSpPr txBox="1"/>
          <p:nvPr/>
        </p:nvSpPr>
        <p:spPr>
          <a:xfrm>
            <a:off x="407368" y="908720"/>
            <a:ext cx="10945216" cy="4813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3100"/>
              </a:lnSpc>
              <a:buFont typeface="Wingdings" panose="05000000000000000000" pitchFamily="2" charset="2"/>
              <a:buChar char="§"/>
            </a:pPr>
            <a:r>
              <a:rPr lang="en-US" altLang="ko-KR" b="1" dirty="0">
                <a:solidFill>
                  <a:srgbClr val="0033CC"/>
                </a:solidFill>
                <a:latin typeface="+mn-ea"/>
              </a:rPr>
              <a:t> Random Forest</a:t>
            </a:r>
            <a:r>
              <a:rPr lang="ko-KR" altLang="en-US" b="1" dirty="0">
                <a:solidFill>
                  <a:srgbClr val="0033CC"/>
                </a:solidFill>
                <a:latin typeface="+mn-ea"/>
              </a:rPr>
              <a:t>의 핵심 특징</a:t>
            </a:r>
            <a:endParaRPr lang="en-US" altLang="ko-KR" b="1" dirty="0">
              <a:solidFill>
                <a:srgbClr val="0033CC"/>
              </a:solidFill>
              <a:latin typeface="+mn-ea"/>
            </a:endParaRPr>
          </a:p>
          <a:p>
            <a:pPr marL="176213">
              <a:lnSpc>
                <a:spcPts val="3100"/>
              </a:lnSpc>
            </a:pPr>
            <a:r>
              <a:rPr lang="en-US" altLang="ko-KR" b="1" dirty="0">
                <a:latin typeface="+mn-ea"/>
              </a:rPr>
              <a:t>1) </a:t>
            </a:r>
            <a:r>
              <a:rPr lang="ko-KR" altLang="en-US" b="1" dirty="0" err="1">
                <a:latin typeface="+mn-ea"/>
              </a:rPr>
              <a:t>결정트리보다</a:t>
            </a:r>
            <a:r>
              <a:rPr lang="ko-KR" altLang="en-US" b="1" dirty="0">
                <a:latin typeface="+mn-ea"/>
              </a:rPr>
              <a:t> 훨씬 과적합이 줄어듦</a:t>
            </a:r>
          </a:p>
          <a:p>
            <a:pPr marL="176213" indent="187325">
              <a:lnSpc>
                <a:spcPts val="3100"/>
              </a:lnSpc>
            </a:pPr>
            <a:r>
              <a:rPr lang="ko-KR" altLang="en-US" dirty="0">
                <a:latin typeface="+mn-ea"/>
              </a:rPr>
              <a:t>   트리 </a:t>
            </a:r>
            <a:r>
              <a:rPr lang="en-US" altLang="ko-KR" dirty="0">
                <a:latin typeface="+mn-ea"/>
              </a:rPr>
              <a:t>1</a:t>
            </a:r>
            <a:r>
              <a:rPr lang="ko-KR" altLang="en-US" dirty="0">
                <a:latin typeface="+mn-ea"/>
              </a:rPr>
              <a:t>개는 “한 사람의 </a:t>
            </a:r>
            <a:r>
              <a:rPr lang="ko-KR" altLang="en-US" dirty="0" err="1">
                <a:latin typeface="+mn-ea"/>
              </a:rPr>
              <a:t>판단”이라</a:t>
            </a:r>
            <a:r>
              <a:rPr lang="ko-KR" altLang="en-US" dirty="0">
                <a:latin typeface="+mn-ea"/>
              </a:rPr>
              <a:t> 편향될 수 있는데</a:t>
            </a:r>
            <a:r>
              <a:rPr lang="en-US" altLang="ko-KR" dirty="0">
                <a:latin typeface="+mn-ea"/>
              </a:rPr>
              <a:t>,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  </a:t>
            </a:r>
            <a:r>
              <a:rPr lang="ko-KR" altLang="en-US" dirty="0">
                <a:latin typeface="+mn-ea"/>
              </a:rPr>
              <a:t>여러 트리의 평균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투표는 “여러 사람의 </a:t>
            </a:r>
            <a:r>
              <a:rPr lang="ko-KR" altLang="en-US" dirty="0" err="1">
                <a:latin typeface="+mn-ea"/>
              </a:rPr>
              <a:t>합의”라</a:t>
            </a:r>
            <a:r>
              <a:rPr lang="ko-KR" altLang="en-US" dirty="0">
                <a:latin typeface="+mn-ea"/>
              </a:rPr>
              <a:t> 안정적이다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176213">
              <a:lnSpc>
                <a:spcPts val="3100"/>
              </a:lnSpc>
            </a:pPr>
            <a:r>
              <a:rPr lang="en-US" altLang="ko-KR" b="1" dirty="0">
                <a:latin typeface="+mn-ea"/>
              </a:rPr>
              <a:t>2) </a:t>
            </a:r>
            <a:r>
              <a:rPr lang="ko-KR" altLang="en-US" b="1" dirty="0">
                <a:latin typeface="+mn-ea"/>
              </a:rPr>
              <a:t>비선형</a:t>
            </a:r>
            <a:r>
              <a:rPr lang="en-US" altLang="ko-KR" b="1" dirty="0">
                <a:latin typeface="+mn-ea"/>
              </a:rPr>
              <a:t>/</a:t>
            </a:r>
            <a:r>
              <a:rPr lang="ko-KR" altLang="en-US" b="1" dirty="0">
                <a:latin typeface="+mn-ea"/>
              </a:rPr>
              <a:t>복잡한 경계도 잘 잡음</a:t>
            </a:r>
          </a:p>
          <a:p>
            <a:pPr marL="176213" indent="187325">
              <a:lnSpc>
                <a:spcPts val="3100"/>
              </a:lnSpc>
            </a:pPr>
            <a:r>
              <a:rPr lang="ko-KR" altLang="en-US" dirty="0">
                <a:latin typeface="+mn-ea"/>
              </a:rPr>
              <a:t>  </a:t>
            </a:r>
            <a:r>
              <a:rPr lang="ko-KR" altLang="en-US" dirty="0" err="1">
                <a:latin typeface="+mn-ea"/>
              </a:rPr>
              <a:t>결정트리</a:t>
            </a:r>
            <a:r>
              <a:rPr lang="ko-KR" altLang="en-US" dirty="0">
                <a:latin typeface="+mn-ea"/>
              </a:rPr>
              <a:t> 자체가 비선형을 잘 잡고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랜덤 </a:t>
            </a:r>
            <a:r>
              <a:rPr lang="ko-KR" altLang="en-US" dirty="0" err="1">
                <a:latin typeface="+mn-ea"/>
              </a:rPr>
              <a:t>포레스트는</a:t>
            </a:r>
            <a:r>
              <a:rPr lang="ko-KR" altLang="en-US" dirty="0">
                <a:latin typeface="+mn-ea"/>
              </a:rPr>
              <a:t> 그걸 여러 개 모으니 더 강해진다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176213">
              <a:lnSpc>
                <a:spcPts val="3100"/>
              </a:lnSpc>
            </a:pPr>
            <a:r>
              <a:rPr lang="en-US" altLang="ko-KR" b="1" dirty="0">
                <a:latin typeface="+mn-ea"/>
              </a:rPr>
              <a:t>3) </a:t>
            </a:r>
            <a:r>
              <a:rPr lang="ko-KR" altLang="en-US" b="1" dirty="0">
                <a:latin typeface="+mn-ea"/>
              </a:rPr>
              <a:t>전처리가 비교적 간단</a:t>
            </a:r>
          </a:p>
          <a:p>
            <a:pPr marL="539750" indent="176213">
              <a:lnSpc>
                <a:spcPts val="31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스케일링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표준화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이 필수는 아니다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539750" indent="176213">
              <a:lnSpc>
                <a:spcPts val="31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범주형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수치형이 섞인 표 데이터에도 강한 편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단</a:t>
            </a:r>
            <a:r>
              <a:rPr lang="en-US" altLang="ko-KR" dirty="0">
                <a:latin typeface="+mn-ea"/>
              </a:rPr>
              <a:t>, </a:t>
            </a:r>
            <a:r>
              <a:rPr lang="en-US" altLang="ko-KR" dirty="0" err="1">
                <a:latin typeface="+mn-ea"/>
              </a:rPr>
              <a:t>sklearn</a:t>
            </a:r>
            <a:r>
              <a:rPr lang="ko-KR" altLang="en-US" dirty="0">
                <a:latin typeface="+mn-ea"/>
              </a:rPr>
              <a:t>은 범주형을 보통 원</a:t>
            </a:r>
            <a:r>
              <a:rPr lang="en-US" altLang="ko-KR" dirty="0">
                <a:latin typeface="+mn-ea"/>
              </a:rPr>
              <a:t>-</a:t>
            </a:r>
            <a:r>
              <a:rPr lang="ko-KR" altLang="en-US" dirty="0">
                <a:latin typeface="+mn-ea"/>
              </a:rPr>
              <a:t>핫으로 처리</a:t>
            </a:r>
            <a:r>
              <a:rPr lang="en-US" altLang="ko-KR" dirty="0">
                <a:latin typeface="+mn-ea"/>
              </a:rPr>
              <a:t>)</a:t>
            </a:r>
          </a:p>
          <a:p>
            <a:pPr marL="176213">
              <a:lnSpc>
                <a:spcPts val="3100"/>
              </a:lnSpc>
            </a:pPr>
            <a:r>
              <a:rPr lang="en-US" altLang="ko-KR" b="1" dirty="0">
                <a:latin typeface="+mn-ea"/>
              </a:rPr>
              <a:t>4) </a:t>
            </a:r>
            <a:r>
              <a:rPr lang="ko-KR" altLang="en-US" b="1" dirty="0">
                <a:latin typeface="+mn-ea"/>
              </a:rPr>
              <a:t>특성 중요도</a:t>
            </a:r>
            <a:r>
              <a:rPr lang="en-US" altLang="ko-KR" b="1" dirty="0">
                <a:latin typeface="+mn-ea"/>
              </a:rPr>
              <a:t>(feature importance)</a:t>
            </a:r>
            <a:r>
              <a:rPr lang="ko-KR" altLang="en-US" b="1" dirty="0">
                <a:latin typeface="+mn-ea"/>
              </a:rPr>
              <a:t>를 제공</a:t>
            </a:r>
          </a:p>
          <a:p>
            <a:pPr marL="539750" indent="176213">
              <a:lnSpc>
                <a:spcPts val="3100"/>
              </a:lnSpc>
            </a:pPr>
            <a:r>
              <a:rPr lang="ko-KR" altLang="en-US" dirty="0">
                <a:latin typeface="+mn-ea"/>
              </a:rPr>
              <a:t>어떤 변수가 분류에 더 영향이 큰지 대략 볼 수 있다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539750" indent="176213">
              <a:lnSpc>
                <a:spcPts val="31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예</a:t>
            </a:r>
            <a:r>
              <a:rPr lang="en-US" altLang="ko-KR" dirty="0">
                <a:latin typeface="+mn-ea"/>
              </a:rPr>
              <a:t>: </a:t>
            </a:r>
            <a:r>
              <a:rPr lang="en-US" altLang="ko-KR" dirty="0" err="1">
                <a:latin typeface="+mn-ea"/>
              </a:rPr>
              <a:t>humi</a:t>
            </a:r>
            <a:r>
              <a:rPr lang="ko-KR" altLang="en-US" dirty="0">
                <a:latin typeface="+mn-ea"/>
              </a:rPr>
              <a:t>가 더 중요한지</a:t>
            </a:r>
            <a:r>
              <a:rPr lang="en-US" altLang="ko-KR" dirty="0">
                <a:latin typeface="+mn-ea"/>
              </a:rPr>
              <a:t>, temp</a:t>
            </a:r>
            <a:r>
              <a:rPr lang="ko-KR" altLang="en-US" dirty="0">
                <a:latin typeface="+mn-ea"/>
              </a:rPr>
              <a:t>가 더 중요한지</a:t>
            </a:r>
          </a:p>
        </p:txBody>
      </p:sp>
    </p:spTree>
    <p:extLst>
      <p:ext uri="{BB962C8B-B14F-4D97-AF65-F5344CB8AC3E}">
        <p14:creationId xmlns:p14="http://schemas.microsoft.com/office/powerpoint/2010/main" val="3987797100"/>
      </p:ext>
    </p:extLst>
  </p:cSld>
  <p:clrMapOvr>
    <a:masterClrMapping/>
  </p:clrMapOvr>
  <p:transition spd="slow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3-3. Random Forest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976874-ECF7-43EE-898B-28ED85596622}"/>
              </a:ext>
            </a:extLst>
          </p:cNvPr>
          <p:cNvSpPr txBox="1"/>
          <p:nvPr/>
        </p:nvSpPr>
        <p:spPr>
          <a:xfrm>
            <a:off x="191344" y="812899"/>
            <a:ext cx="7488832" cy="26161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sklearn.ensemble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RandomForestClassifier</a:t>
            </a:r>
            <a:endParaRPr lang="en-US" altLang="ko-KR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rf_clf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RandomForestClassifier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n_estimators=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100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나무 개수</a:t>
            </a:r>
            <a:endParaRPr lang="ko-KR" altLang="en-US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max_depth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6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         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각 나무의 최대 깊이</a:t>
            </a:r>
            <a:endParaRPr lang="ko-KR" altLang="en-US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random_state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42</a:t>
            </a:r>
            <a:endParaRPr lang="en-US" altLang="ko-KR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results = []</a:t>
            </a:r>
          </a:p>
          <a:p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evaluate_model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"Random Forest"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rf_clf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       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x_train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y_train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x_test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y_test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results)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AE6E926-66A9-480E-BDA8-4EB31A89B0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9098" y="2041630"/>
            <a:ext cx="4902902" cy="4793408"/>
          </a:xfrm>
          <a:prstGeom prst="rect">
            <a:avLst/>
          </a:prstGeom>
          <a:ln w="28575">
            <a:solidFill>
              <a:srgbClr val="FFC000"/>
            </a:solidFill>
          </a:ln>
        </p:spPr>
      </p:pic>
    </p:spTree>
    <p:extLst>
      <p:ext uri="{BB962C8B-B14F-4D97-AF65-F5344CB8AC3E}">
        <p14:creationId xmlns:p14="http://schemas.microsoft.com/office/powerpoint/2010/main" val="1645551264"/>
      </p:ext>
    </p:extLst>
  </p:cSld>
  <p:clrMapOvr>
    <a:masterClrMapping/>
  </p:clrMapOvr>
  <p:transition spd="slow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3-3. Random Forest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047471-A60B-4C73-BE78-217CE383B853}"/>
              </a:ext>
            </a:extLst>
          </p:cNvPr>
          <p:cNvSpPr txBox="1"/>
          <p:nvPr/>
        </p:nvSpPr>
        <p:spPr>
          <a:xfrm>
            <a:off x="191344" y="764704"/>
            <a:ext cx="8240838" cy="48320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sklearn.tree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plot_tree</a:t>
            </a:r>
            <a:endParaRPr lang="en-US" altLang="ko-KR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feature_names = [</a:t>
            </a:r>
            <a:r>
              <a:rPr lang="en-US" altLang="ko-KR" sz="1400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"x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range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np.asarray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x_train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).shape[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])]</a:t>
            </a: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class_names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[</a:t>
            </a:r>
            <a:r>
              <a:rPr lang="en-US" altLang="ko-KR" sz="1400" b="0" dirty="0">
                <a:solidFill>
                  <a:srgbClr val="257693"/>
                </a:solidFill>
                <a:effectLst/>
                <a:latin typeface="Courier New" panose="02070309020205020404" pitchFamily="49" charset="0"/>
              </a:rPr>
              <a:t>str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(c) </a:t>
            </a:r>
            <a:r>
              <a:rPr lang="en-US" altLang="ko-KR" sz="1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c 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rf_clf.classes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_]</a:t>
            </a:r>
          </a:p>
          <a:p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포레스트 안의 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n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번째 트리 선택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 =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endParaRPr lang="en-US" altLang="ko-KR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one_tree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rf_clf.estimators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_[n]</a:t>
            </a:r>
          </a:p>
          <a:p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plt.figure(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figsize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=(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22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plot_tree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one_tree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feature_names=feature_names,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class_names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class_names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filled=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True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rounded=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True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impurity=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True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proportion=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True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max_depth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 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fontsize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10</a:t>
            </a:r>
            <a:endParaRPr lang="en-US" altLang="ko-KR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plt.title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"Random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Forest - Tree #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{n}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(showing up to depth=3)"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plt.show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2C0D50A4-5BDA-4C06-BEB7-EE1A41210D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9106" y="3937175"/>
            <a:ext cx="4748874" cy="2848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15851"/>
      </p:ext>
    </p:extLst>
  </p:cSld>
  <p:clrMapOvr>
    <a:masterClrMapping/>
  </p:clrMapOvr>
  <p:transition spd="slow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3-3. Random Forest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047471-A60B-4C73-BE78-217CE383B853}"/>
              </a:ext>
            </a:extLst>
          </p:cNvPr>
          <p:cNvSpPr txBox="1"/>
          <p:nvPr/>
        </p:nvSpPr>
        <p:spPr>
          <a:xfrm>
            <a:off x="191344" y="764704"/>
            <a:ext cx="8240838" cy="8002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3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3200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max_depth</a:t>
            </a:r>
            <a:r>
              <a:rPr lang="en-US" altLang="ko-KR" sz="3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=20,  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C7963D7-EB69-4D45-80E2-2F0EB3975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1" y="1412776"/>
            <a:ext cx="11012437" cy="5201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547657"/>
      </p:ext>
    </p:extLst>
  </p:cSld>
  <p:clrMapOvr>
    <a:masterClrMapping/>
  </p:clrMapOvr>
  <p:transition spd="slow"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3-4. K-Nearest Neighbors (KNN, K-</a:t>
            </a:r>
            <a:r>
              <a:rPr lang="ko-KR" altLang="en-US" sz="2000" b="1" dirty="0">
                <a:solidFill>
                  <a:schemeClr val="tx1"/>
                </a:solidFill>
              </a:rPr>
              <a:t>최근접 이웃</a:t>
            </a:r>
            <a:r>
              <a:rPr lang="en-US" altLang="ko-KR" sz="2000" b="1" dirty="0">
                <a:solidFill>
                  <a:schemeClr val="tx1"/>
                </a:solidFill>
              </a:rPr>
              <a:t>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8E66D9-C628-4940-9C11-D7090341C2A9}"/>
              </a:ext>
            </a:extLst>
          </p:cNvPr>
          <p:cNvSpPr txBox="1"/>
          <p:nvPr/>
        </p:nvSpPr>
        <p:spPr>
          <a:xfrm>
            <a:off x="479376" y="817561"/>
            <a:ext cx="9217024" cy="698076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ctr">
              <a:lnSpc>
                <a:spcPts val="2500"/>
              </a:lnSpc>
            </a:pPr>
            <a:r>
              <a:rPr lang="en-US" altLang="ko-KR" sz="1600" dirty="0">
                <a:latin typeface="+mn-ea"/>
              </a:rPr>
              <a:t>KNN</a:t>
            </a:r>
            <a:r>
              <a:rPr lang="ko-KR" altLang="en-US" sz="1600" dirty="0">
                <a:latin typeface="+mn-ea"/>
              </a:rPr>
              <a:t>은 </a:t>
            </a:r>
            <a:r>
              <a:rPr lang="ko-KR" altLang="en-US" sz="1600" b="1" dirty="0">
                <a:latin typeface="+mn-ea"/>
              </a:rPr>
              <a:t>새 데이터가 들어오면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과거에 저장해 둔 데이터 중에서 </a:t>
            </a:r>
            <a:r>
              <a:rPr lang="ko-KR" altLang="en-US" sz="1600" b="1" dirty="0">
                <a:latin typeface="+mn-ea"/>
              </a:rPr>
              <a:t>가장 가까운 </a:t>
            </a:r>
            <a:r>
              <a:rPr lang="en-US" altLang="ko-KR" sz="1600" b="1" dirty="0">
                <a:latin typeface="+mn-ea"/>
              </a:rPr>
              <a:t>K</a:t>
            </a:r>
            <a:r>
              <a:rPr lang="ko-KR" altLang="en-US" sz="1600" b="1" dirty="0">
                <a:latin typeface="+mn-ea"/>
              </a:rPr>
              <a:t>개를 찾아서</a:t>
            </a:r>
            <a:br>
              <a:rPr lang="ko-KR" altLang="en-US" sz="1600" dirty="0">
                <a:latin typeface="+mn-ea"/>
              </a:rPr>
            </a:br>
            <a:r>
              <a:rPr lang="ko-KR" altLang="en-US" sz="1600" dirty="0">
                <a:latin typeface="+mn-ea"/>
              </a:rPr>
              <a:t>그 이웃들이 </a:t>
            </a:r>
            <a:r>
              <a:rPr lang="ko-KR" altLang="en-US" sz="1600" b="1" dirty="0">
                <a:latin typeface="+mn-ea"/>
              </a:rPr>
              <a:t>대부분 </a:t>
            </a:r>
            <a:r>
              <a:rPr lang="en-US" altLang="ko-KR" sz="1600" b="1" dirty="0">
                <a:latin typeface="+mn-ea"/>
              </a:rPr>
              <a:t>OK</a:t>
            </a:r>
            <a:r>
              <a:rPr lang="ko-KR" altLang="en-US" sz="1600" b="1" dirty="0">
                <a:latin typeface="+mn-ea"/>
              </a:rPr>
              <a:t>면 </a:t>
            </a:r>
            <a:r>
              <a:rPr lang="en-US" altLang="ko-KR" sz="1600" b="1" dirty="0">
                <a:latin typeface="+mn-ea"/>
              </a:rPr>
              <a:t>OK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b="1" dirty="0">
                <a:latin typeface="+mn-ea"/>
              </a:rPr>
              <a:t>대부분 </a:t>
            </a:r>
            <a:r>
              <a:rPr lang="en-US" altLang="ko-KR" sz="1600" b="1" dirty="0">
                <a:latin typeface="+mn-ea"/>
              </a:rPr>
              <a:t>NOK</a:t>
            </a:r>
            <a:r>
              <a:rPr lang="ko-KR" altLang="en-US" sz="1600" b="1" dirty="0">
                <a:latin typeface="+mn-ea"/>
              </a:rPr>
              <a:t>면 </a:t>
            </a:r>
            <a:r>
              <a:rPr lang="en-US" altLang="ko-KR" sz="1600" b="1" dirty="0">
                <a:latin typeface="+mn-ea"/>
              </a:rPr>
              <a:t>NOK</a:t>
            </a:r>
            <a:r>
              <a:rPr lang="ko-KR" altLang="en-US" sz="1600" dirty="0">
                <a:latin typeface="+mn-ea"/>
              </a:rPr>
              <a:t>로 판단하는 모델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13702421-FD93-41B4-8C07-3F4E68BD4C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368" y="1701604"/>
            <a:ext cx="8493031" cy="34547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1)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원리(작동 방식) — 정말 쉽게</a:t>
            </a:r>
          </a:p>
          <a:p>
            <a:pPr marL="0" marR="0" lvl="0" indent="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입력이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temp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humi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)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두 값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일 때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(1)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학습 단계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b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KNN은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“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학습”을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거의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하지 않는다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  <a:b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 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그냥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훈련 데이터를 통째로 저장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 (그래서 “게으른 학습(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lazy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learning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)”이라고도 함)</a:t>
            </a:r>
          </a:p>
          <a:p>
            <a:pPr marL="0" marR="0" lvl="0" indent="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(2)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예측 단계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(새 샘플 하나가 들어오면):</a:t>
            </a:r>
          </a:p>
          <a:p>
            <a:pPr marR="0" lvl="1" indent="17145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새 샘플과 훈련 데이터 각 점 사이의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거리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를 계산</a:t>
            </a:r>
          </a:p>
          <a:p>
            <a:pPr marR="0" lvl="1" indent="17145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가장 가까운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K개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를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선택</a:t>
            </a:r>
          </a:p>
          <a:p>
            <a:pPr marR="0" lvl="1" indent="17145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그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K개가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가진 라벨(OK/NOK)을 보고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다수결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로 결정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6717445"/>
      </p:ext>
    </p:extLst>
  </p:cSld>
  <p:clrMapOvr>
    <a:masterClrMapping/>
  </p:clrMapOvr>
  <p:transition spd="slow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3-4. K-Nearest Neighbors (KNN, K-</a:t>
            </a:r>
            <a:r>
              <a:rPr lang="ko-KR" altLang="en-US" sz="2000" b="1" dirty="0">
                <a:solidFill>
                  <a:schemeClr val="tx1"/>
                </a:solidFill>
              </a:rPr>
              <a:t>최근접 이웃</a:t>
            </a:r>
            <a:r>
              <a:rPr lang="en-US" altLang="ko-KR" sz="2000" b="1" dirty="0">
                <a:solidFill>
                  <a:schemeClr val="tx1"/>
                </a:solidFill>
              </a:rPr>
              <a:t>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6E236BF-405C-4EB5-89E1-A9497119E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360" y="980728"/>
            <a:ext cx="7479712" cy="5328592"/>
          </a:xfrm>
          <a:prstGeom prst="rect">
            <a:avLst/>
          </a:prstGeom>
        </p:spPr>
      </p:pic>
      <p:sp>
        <p:nvSpPr>
          <p:cNvPr id="11" name="Rectangle 1">
            <a:extLst>
              <a:ext uri="{FF2B5EF4-FFF2-40B4-BE49-F238E27FC236}">
                <a16:creationId xmlns:a16="http://schemas.microsoft.com/office/drawing/2014/main" id="{145B6F6A-75EC-4550-B7AA-D90F11C27A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0176" y="2134588"/>
            <a:ext cx="4354077" cy="10946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원형/사각형 점: 훈련 데이터(OK/NOK)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⭐ 별표: 새 샘플(분류 대상)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선 3개: K=3개의 “가장 가까운 이웃” 연결</a:t>
            </a:r>
          </a:p>
          <a:p>
            <a:pPr marL="0" marR="0" lvl="0" indent="0" algn="l" defTabSz="914400" rtl="0" eaLnBrk="0" fontAlgn="base" latinLnBrk="0" hangingPunct="0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선 옆 숫자: 거리 값(가까울수록 더 비슷하다고 판단)</a:t>
            </a:r>
          </a:p>
        </p:txBody>
      </p:sp>
    </p:spTree>
    <p:extLst>
      <p:ext uri="{BB962C8B-B14F-4D97-AF65-F5344CB8AC3E}">
        <p14:creationId xmlns:p14="http://schemas.microsoft.com/office/powerpoint/2010/main" val="4021388033"/>
      </p:ext>
    </p:extLst>
  </p:cSld>
  <p:clrMapOvr>
    <a:masterClrMapping/>
  </p:clrMapOvr>
  <p:transition spd="slow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3-4. K-Nearest Neighbors (KNN, K-</a:t>
            </a:r>
            <a:r>
              <a:rPr lang="ko-KR" altLang="en-US" sz="2000" b="1" dirty="0">
                <a:solidFill>
                  <a:schemeClr val="tx1"/>
                </a:solidFill>
              </a:rPr>
              <a:t>최근접 이웃</a:t>
            </a:r>
            <a:r>
              <a:rPr lang="en-US" altLang="ko-KR" sz="2000" b="1" dirty="0">
                <a:solidFill>
                  <a:schemeClr val="tx1"/>
                </a:solidFill>
              </a:rPr>
              <a:t>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7E793-B88E-43E0-83D0-6A0426E8CED9}"/>
              </a:ext>
            </a:extLst>
          </p:cNvPr>
          <p:cNvSpPr txBox="1"/>
          <p:nvPr/>
        </p:nvSpPr>
        <p:spPr>
          <a:xfrm>
            <a:off x="263352" y="836712"/>
            <a:ext cx="11161240" cy="4557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00"/>
              </a:lnSpc>
            </a:pPr>
            <a:r>
              <a:rPr lang="en-US" altLang="ko-KR" b="1" dirty="0">
                <a:latin typeface="+mn-ea"/>
              </a:rPr>
              <a:t>2) </a:t>
            </a:r>
            <a:r>
              <a:rPr lang="ko-KR" altLang="en-US" b="1" dirty="0">
                <a:latin typeface="+mn-ea"/>
              </a:rPr>
              <a:t>특징</a:t>
            </a:r>
            <a:endParaRPr lang="en-US" altLang="ko-KR" b="1" dirty="0">
              <a:latin typeface="+mn-ea"/>
            </a:endParaRPr>
          </a:p>
          <a:p>
            <a:pPr>
              <a:lnSpc>
                <a:spcPts val="2700"/>
              </a:lnSpc>
            </a:pPr>
            <a:r>
              <a:rPr lang="en-US" altLang="ko-KR" b="1" dirty="0">
                <a:latin typeface="+mn-ea"/>
              </a:rPr>
              <a:t>  (1) </a:t>
            </a:r>
            <a:r>
              <a:rPr lang="ko-KR" altLang="en-US" b="1" dirty="0">
                <a:latin typeface="+mn-ea"/>
              </a:rPr>
              <a:t>모델 식</a:t>
            </a:r>
            <a:r>
              <a:rPr lang="en-US" altLang="ko-KR" b="1" dirty="0">
                <a:latin typeface="+mn-ea"/>
              </a:rPr>
              <a:t>(</a:t>
            </a:r>
            <a:r>
              <a:rPr lang="ko-KR" altLang="en-US" b="1" dirty="0">
                <a:latin typeface="+mn-ea"/>
              </a:rPr>
              <a:t>공식</a:t>
            </a:r>
            <a:r>
              <a:rPr lang="en-US" altLang="ko-KR" b="1" dirty="0">
                <a:latin typeface="+mn-ea"/>
              </a:rPr>
              <a:t>)</a:t>
            </a:r>
            <a:r>
              <a:rPr lang="ko-KR" altLang="en-US" b="1" dirty="0">
                <a:latin typeface="+mn-ea"/>
              </a:rPr>
              <a:t>이 없다</a:t>
            </a:r>
          </a:p>
          <a:p>
            <a:pPr>
              <a:lnSpc>
                <a:spcPts val="2700"/>
              </a:lnSpc>
            </a:pPr>
            <a:r>
              <a:rPr lang="ko-KR" altLang="en-US" dirty="0">
                <a:latin typeface="+mn-ea"/>
              </a:rPr>
              <a:t>      로지스틱 회귀처럼 가중치가 있는 공식이 아니라</a:t>
            </a:r>
            <a:r>
              <a:rPr lang="en-US" altLang="ko-KR" dirty="0">
                <a:latin typeface="+mn-ea"/>
              </a:rPr>
              <a:t>,  </a:t>
            </a:r>
            <a:r>
              <a:rPr lang="ko-KR" altLang="en-US" b="1" dirty="0">
                <a:latin typeface="+mn-ea"/>
              </a:rPr>
              <a:t>데이터 자체가 모델</a:t>
            </a:r>
            <a:r>
              <a:rPr lang="en-US" altLang="ko-KR" dirty="0">
                <a:latin typeface="+mn-ea"/>
              </a:rPr>
              <a:t>.</a:t>
            </a:r>
          </a:p>
          <a:p>
            <a:pPr>
              <a:lnSpc>
                <a:spcPts val="2700"/>
              </a:lnSpc>
            </a:pPr>
            <a:r>
              <a:rPr lang="ko-KR" altLang="en-US" b="1" dirty="0">
                <a:latin typeface="+mn-ea"/>
              </a:rPr>
              <a:t>  </a:t>
            </a:r>
            <a:r>
              <a:rPr lang="en-US" altLang="ko-KR" b="1" dirty="0">
                <a:latin typeface="+mn-ea"/>
              </a:rPr>
              <a:t>(2) </a:t>
            </a:r>
            <a:r>
              <a:rPr lang="ko-KR" altLang="en-US" b="1" dirty="0">
                <a:latin typeface="+mn-ea"/>
              </a:rPr>
              <a:t>비선형 경계를 아주 잘 만들 수 있음</a:t>
            </a:r>
          </a:p>
          <a:p>
            <a:pPr>
              <a:lnSpc>
                <a:spcPts val="2700"/>
              </a:lnSpc>
            </a:pPr>
            <a:r>
              <a:rPr lang="ko-KR" altLang="en-US" dirty="0">
                <a:latin typeface="+mn-ea"/>
              </a:rPr>
              <a:t>      데이터 모양대로 구불구불한 경계도 잘 표현합니다</a:t>
            </a:r>
            <a:r>
              <a:rPr lang="en-US" altLang="ko-KR" dirty="0">
                <a:latin typeface="+mn-ea"/>
              </a:rPr>
              <a:t>.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   (</a:t>
            </a:r>
            <a:r>
              <a:rPr lang="ko-KR" altLang="en-US" dirty="0" err="1">
                <a:latin typeface="+mn-ea"/>
              </a:rPr>
              <a:t>결정트리와는</a:t>
            </a:r>
            <a:r>
              <a:rPr lang="ko-KR" altLang="en-US" dirty="0">
                <a:latin typeface="+mn-ea"/>
              </a:rPr>
              <a:t> 또 다른 방식</a:t>
            </a:r>
            <a:r>
              <a:rPr lang="en-US" altLang="ko-KR" dirty="0">
                <a:latin typeface="+mn-ea"/>
              </a:rPr>
              <a:t>)</a:t>
            </a:r>
          </a:p>
          <a:p>
            <a:pPr>
              <a:lnSpc>
                <a:spcPts val="2700"/>
              </a:lnSpc>
            </a:pPr>
            <a:r>
              <a:rPr lang="ko-KR" altLang="en-US" b="1" dirty="0">
                <a:latin typeface="+mn-ea"/>
              </a:rPr>
              <a:t>  </a:t>
            </a:r>
            <a:r>
              <a:rPr lang="en-US" altLang="ko-KR" b="1" dirty="0">
                <a:latin typeface="+mn-ea"/>
              </a:rPr>
              <a:t>(3) </a:t>
            </a:r>
            <a:r>
              <a:rPr lang="ko-KR" altLang="en-US" b="1" dirty="0">
                <a:latin typeface="+mn-ea"/>
              </a:rPr>
              <a:t>스케일</a:t>
            </a:r>
            <a:r>
              <a:rPr lang="en-US" altLang="ko-KR" b="1" dirty="0">
                <a:latin typeface="+mn-ea"/>
              </a:rPr>
              <a:t>(</a:t>
            </a:r>
            <a:r>
              <a:rPr lang="ko-KR" altLang="en-US" b="1" dirty="0">
                <a:latin typeface="+mn-ea"/>
              </a:rPr>
              <a:t>단위</a:t>
            </a:r>
            <a:r>
              <a:rPr lang="en-US" altLang="ko-KR" b="1" dirty="0">
                <a:latin typeface="+mn-ea"/>
              </a:rPr>
              <a:t>)</a:t>
            </a:r>
            <a:r>
              <a:rPr lang="ko-KR" altLang="en-US" b="1" dirty="0">
                <a:latin typeface="+mn-ea"/>
              </a:rPr>
              <a:t>에 매우 민감</a:t>
            </a:r>
          </a:p>
          <a:p>
            <a:pPr marL="363538" indent="176213">
              <a:lnSpc>
                <a:spcPts val="2700"/>
              </a:lnSpc>
            </a:pPr>
            <a:r>
              <a:rPr lang="ko-KR" altLang="en-US" dirty="0">
                <a:latin typeface="+mn-ea"/>
              </a:rPr>
              <a:t>거리 계산을 하기 때문에</a:t>
            </a:r>
            <a:r>
              <a:rPr lang="en-US" altLang="ko-KR" dirty="0">
                <a:latin typeface="+mn-ea"/>
              </a:rPr>
              <a:t>,</a:t>
            </a:r>
          </a:p>
          <a:p>
            <a:pPr marL="363538" indent="176213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온도 범위 </a:t>
            </a:r>
            <a:r>
              <a:rPr lang="en-US" altLang="ko-KR" dirty="0">
                <a:latin typeface="+mn-ea"/>
              </a:rPr>
              <a:t>20~30</a:t>
            </a:r>
          </a:p>
          <a:p>
            <a:pPr marL="363538" indent="176213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습도 범위 </a:t>
            </a:r>
            <a:r>
              <a:rPr lang="en-US" altLang="ko-KR" dirty="0">
                <a:latin typeface="+mn-ea"/>
              </a:rPr>
              <a:t>50~90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처럼 범위가 다르면 습도가 거리 계산에 더 크게 영향을 준다</a:t>
            </a:r>
            <a:r>
              <a:rPr lang="en-US" altLang="ko-KR" dirty="0">
                <a:latin typeface="+mn-ea"/>
              </a:rPr>
              <a:t>.</a:t>
            </a:r>
          </a:p>
          <a:p>
            <a:pPr>
              <a:lnSpc>
                <a:spcPts val="27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ts val="2700"/>
              </a:lnSpc>
            </a:pPr>
            <a:r>
              <a:rPr lang="en-US" altLang="ko-KR" dirty="0">
                <a:latin typeface="+mn-ea"/>
              </a:rPr>
              <a:t>  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</a:t>
            </a:r>
            <a:r>
              <a:rPr lang="ko-KR" altLang="en-US" dirty="0">
                <a:latin typeface="+mn-ea"/>
                <a:sym typeface="Wingdings" panose="05000000000000000000" pitchFamily="2" charset="2"/>
              </a:rPr>
              <a:t>따라서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, </a:t>
            </a:r>
            <a:r>
              <a:rPr lang="en-US" altLang="ko-KR" dirty="0">
                <a:latin typeface="+mn-ea"/>
              </a:rPr>
              <a:t>KNN</a:t>
            </a:r>
            <a:r>
              <a:rPr lang="ko-KR" altLang="en-US" dirty="0">
                <a:latin typeface="+mn-ea"/>
              </a:rPr>
              <a:t>은 보통 표준화</a:t>
            </a:r>
            <a:r>
              <a:rPr lang="en-US" altLang="ko-KR" dirty="0">
                <a:latin typeface="+mn-ea"/>
              </a:rPr>
              <a:t>(StandardScaler)</a:t>
            </a:r>
            <a:r>
              <a:rPr lang="ko-KR" altLang="en-US" dirty="0">
                <a:latin typeface="+mn-ea"/>
              </a:rPr>
              <a:t>가 거의 필수이다</a:t>
            </a:r>
            <a:r>
              <a:rPr lang="en-US" altLang="ko-KR" dirty="0"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69714718"/>
      </p:ext>
    </p:extLst>
  </p:cSld>
  <p:clrMapOvr>
    <a:masterClrMapping/>
  </p:clrMapOvr>
  <p:transition spd="slow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3-4. K-Nearest Neighbors (KNN, K-</a:t>
            </a:r>
            <a:r>
              <a:rPr lang="ko-KR" altLang="en-US" sz="2000" b="1" dirty="0">
                <a:solidFill>
                  <a:schemeClr val="tx1"/>
                </a:solidFill>
              </a:rPr>
              <a:t>최근접 이웃</a:t>
            </a:r>
            <a:r>
              <a:rPr lang="en-US" altLang="ko-KR" sz="2000" b="1" dirty="0">
                <a:solidFill>
                  <a:schemeClr val="tx1"/>
                </a:solidFill>
              </a:rPr>
              <a:t>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ACA1FC-303F-4521-B3FA-610437672E72}"/>
              </a:ext>
            </a:extLst>
          </p:cNvPr>
          <p:cNvSpPr txBox="1"/>
          <p:nvPr/>
        </p:nvSpPr>
        <p:spPr>
          <a:xfrm>
            <a:off x="263352" y="836712"/>
            <a:ext cx="11593288" cy="587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en-US" altLang="ko-KR" sz="1600" b="1" dirty="0">
                <a:latin typeface="+mn-ea"/>
              </a:rPr>
              <a:t>1) “</a:t>
            </a:r>
            <a:r>
              <a:rPr lang="ko-KR" altLang="en-US" sz="1600" b="1" dirty="0">
                <a:latin typeface="+mn-ea"/>
              </a:rPr>
              <a:t>비슷한 이미지 찾기” </a:t>
            </a:r>
            <a:r>
              <a:rPr lang="en-US" altLang="ko-KR" sz="1600" b="1" dirty="0">
                <a:latin typeface="+mn-ea"/>
              </a:rPr>
              <a:t>(</a:t>
            </a:r>
            <a:r>
              <a:rPr lang="ko-KR" altLang="en-US" sz="1600" b="1" dirty="0">
                <a:latin typeface="+mn-ea"/>
              </a:rPr>
              <a:t>이미지 검색</a:t>
            </a:r>
            <a:r>
              <a:rPr lang="en-US" altLang="ko-KR" sz="1600" b="1" dirty="0">
                <a:latin typeface="+mn-ea"/>
              </a:rPr>
              <a:t>)</a:t>
            </a:r>
          </a:p>
          <a:p>
            <a:pPr marL="176213" indent="187325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쇼핑몰에서 </a:t>
            </a:r>
            <a:r>
              <a:rPr lang="ko-KR" altLang="en-US" sz="1600" b="1" dirty="0">
                <a:latin typeface="+mn-ea"/>
              </a:rPr>
              <a:t>사진으로 검색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사용자가 올린 옷 사진과 비슷한 상품을 찾음</a:t>
            </a:r>
          </a:p>
          <a:p>
            <a:pPr marL="176213" indent="187325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방식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dirty="0">
                <a:latin typeface="+mn-ea"/>
              </a:rPr>
              <a:t>이미지를 숫자 벡터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 err="1">
                <a:latin typeface="+mn-ea"/>
              </a:rPr>
              <a:t>임베딩</a:t>
            </a:r>
            <a:r>
              <a:rPr lang="en-US" altLang="ko-KR" sz="1600" dirty="0">
                <a:latin typeface="+mn-ea"/>
              </a:rPr>
              <a:t>)</a:t>
            </a:r>
            <a:r>
              <a:rPr lang="ko-KR" altLang="en-US" sz="1600" dirty="0">
                <a:latin typeface="+mn-ea"/>
              </a:rPr>
              <a:t>로 바꾼 뒤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b="1" dirty="0">
                <a:latin typeface="+mn-ea"/>
              </a:rPr>
              <a:t>가장 가까운 벡터 </a:t>
            </a:r>
            <a:r>
              <a:rPr lang="en-US" altLang="ko-KR" sz="1600" b="1" dirty="0">
                <a:latin typeface="+mn-ea"/>
              </a:rPr>
              <a:t>K</a:t>
            </a:r>
            <a:r>
              <a:rPr lang="ko-KR" altLang="en-US" sz="1600" b="1" dirty="0">
                <a:latin typeface="+mn-ea"/>
              </a:rPr>
              <a:t>개</a:t>
            </a:r>
            <a:r>
              <a:rPr lang="ko-KR" altLang="en-US" sz="1600" dirty="0">
                <a:latin typeface="+mn-ea"/>
              </a:rPr>
              <a:t>를 찾음</a:t>
            </a:r>
            <a:r>
              <a:rPr lang="en-US" altLang="ko-KR" sz="1600" dirty="0">
                <a:latin typeface="+mn-ea"/>
              </a:rPr>
              <a:t>(KNN)</a:t>
            </a:r>
          </a:p>
          <a:p>
            <a:pPr>
              <a:lnSpc>
                <a:spcPts val="24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atin typeface="+mn-ea"/>
            </a:endParaRPr>
          </a:p>
          <a:p>
            <a:pPr>
              <a:lnSpc>
                <a:spcPts val="2400"/>
              </a:lnSpc>
            </a:pPr>
            <a:r>
              <a:rPr lang="en-US" altLang="ko-KR" sz="1600" b="1" dirty="0"/>
              <a:t>2) “</a:t>
            </a:r>
            <a:r>
              <a:rPr lang="ko-KR" altLang="en-US" sz="1600" b="1" dirty="0"/>
              <a:t>문장</a:t>
            </a:r>
            <a:r>
              <a:rPr lang="en-US" altLang="ko-KR" sz="1600" b="1" dirty="0"/>
              <a:t>/</a:t>
            </a:r>
            <a:r>
              <a:rPr lang="ko-KR" altLang="en-US" sz="1600" b="1" dirty="0"/>
              <a:t>문서 유사도 검색” </a:t>
            </a:r>
            <a:r>
              <a:rPr lang="en-US" altLang="ko-KR" sz="1600" b="1" dirty="0"/>
              <a:t>(RAG, FAQ </a:t>
            </a:r>
            <a:r>
              <a:rPr lang="ko-KR" altLang="en-US" sz="1600" b="1" dirty="0" err="1"/>
              <a:t>챗봇</a:t>
            </a:r>
            <a:r>
              <a:rPr lang="en-US" altLang="ko-KR" sz="1600" b="1" dirty="0"/>
              <a:t>)</a:t>
            </a:r>
          </a:p>
          <a:p>
            <a:pPr marL="176213" indent="187325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고객 질문이 들어오면</a:t>
            </a:r>
            <a:r>
              <a:rPr lang="en-US" altLang="ko-KR" sz="1600" dirty="0"/>
              <a:t>, </a:t>
            </a:r>
            <a:r>
              <a:rPr lang="ko-KR" altLang="en-US" sz="1600" dirty="0"/>
              <a:t>기존 </a:t>
            </a:r>
            <a:r>
              <a:rPr lang="en-US" altLang="ko-KR" sz="1600" dirty="0"/>
              <a:t>FAQ/</a:t>
            </a:r>
            <a:r>
              <a:rPr lang="ko-KR" altLang="en-US" sz="1600" dirty="0"/>
              <a:t>문서 중 </a:t>
            </a:r>
            <a:r>
              <a:rPr lang="ko-KR" altLang="en-US" sz="1600" b="1" dirty="0"/>
              <a:t>가장 비슷한 문장</a:t>
            </a:r>
            <a:r>
              <a:rPr lang="ko-KR" altLang="en-US" sz="1600" dirty="0"/>
              <a:t>을 찾아 답변 후보로 제시</a:t>
            </a:r>
          </a:p>
          <a:p>
            <a:pPr marL="176213" indent="187325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방식</a:t>
            </a:r>
            <a:r>
              <a:rPr lang="en-US" altLang="ko-KR" sz="1600" dirty="0"/>
              <a:t>: </a:t>
            </a:r>
            <a:r>
              <a:rPr lang="ko-KR" altLang="en-US" sz="1600" dirty="0"/>
              <a:t>문장을 </a:t>
            </a:r>
            <a:r>
              <a:rPr lang="ko-KR" altLang="en-US" sz="1600" dirty="0" err="1"/>
              <a:t>임베딩</a:t>
            </a:r>
            <a:r>
              <a:rPr lang="ko-KR" altLang="en-US" sz="1600" dirty="0"/>
              <a:t> 벡터로 바꾸고 </a:t>
            </a:r>
            <a:r>
              <a:rPr lang="ko-KR" altLang="en-US" sz="1600" b="1" dirty="0"/>
              <a:t>최근접 문서 </a:t>
            </a:r>
            <a:r>
              <a:rPr lang="en-US" altLang="ko-KR" sz="1600" b="1" dirty="0"/>
              <a:t>K</a:t>
            </a:r>
            <a:r>
              <a:rPr lang="ko-KR" altLang="en-US" sz="1600" b="1" dirty="0"/>
              <a:t>개 검색</a:t>
            </a:r>
            <a:endParaRPr lang="ko-KR" altLang="en-US" sz="1600" dirty="0"/>
          </a:p>
          <a:p>
            <a:pPr>
              <a:lnSpc>
                <a:spcPts val="2400"/>
              </a:lnSpc>
            </a:pPr>
            <a:endParaRPr lang="en-US" altLang="ko-KR" sz="1600" dirty="0">
              <a:latin typeface="+mn-ea"/>
            </a:endParaRPr>
          </a:p>
          <a:p>
            <a:pPr>
              <a:lnSpc>
                <a:spcPts val="2400"/>
              </a:lnSpc>
            </a:pPr>
            <a:r>
              <a:rPr lang="en-US" altLang="ko-KR" sz="1600" b="1" dirty="0"/>
              <a:t>3) </a:t>
            </a:r>
            <a:r>
              <a:rPr lang="ko-KR" altLang="en-US" sz="1600" b="1" dirty="0"/>
              <a:t>추천 시스템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전통적 </a:t>
            </a:r>
            <a:r>
              <a:rPr lang="en-US" altLang="ko-KR" sz="1600" b="1" dirty="0" err="1"/>
              <a:t>kNN</a:t>
            </a:r>
            <a:r>
              <a:rPr lang="en-US" altLang="ko-KR" sz="1600" b="1" dirty="0"/>
              <a:t> </a:t>
            </a:r>
            <a:r>
              <a:rPr lang="ko-KR" altLang="en-US" sz="1600" b="1" dirty="0"/>
              <a:t>추천</a:t>
            </a:r>
            <a:r>
              <a:rPr lang="en-US" altLang="ko-KR" sz="1600" b="1" dirty="0"/>
              <a:t>)</a:t>
            </a:r>
          </a:p>
          <a:p>
            <a:pPr marL="176213" indent="187325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나와 비슷한 사용자를 찾아서 그 사람들이 좋아한 상품을 추천</a:t>
            </a:r>
          </a:p>
          <a:p>
            <a:pPr marL="176213" indent="187325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또는 “이 상품과 비슷한 </a:t>
            </a:r>
            <a:r>
              <a:rPr lang="ko-KR" altLang="en-US" sz="1600" dirty="0" err="1"/>
              <a:t>상품”을</a:t>
            </a:r>
            <a:r>
              <a:rPr lang="ko-KR" altLang="en-US" sz="1600" dirty="0"/>
              <a:t> 찾아서 추천</a:t>
            </a:r>
          </a:p>
          <a:p>
            <a:pPr marL="176213" indent="187325">
              <a:lnSpc>
                <a:spcPts val="2400"/>
              </a:lnSpc>
            </a:pPr>
            <a:r>
              <a:rPr lang="ko-KR" altLang="en-US" sz="1600" dirty="0"/>
              <a:t>예</a:t>
            </a:r>
            <a:r>
              <a:rPr lang="en-US" altLang="ko-KR" sz="1600" dirty="0"/>
              <a:t>)  A </a:t>
            </a:r>
            <a:r>
              <a:rPr lang="ko-KR" altLang="en-US" sz="1600" dirty="0"/>
              <a:t>사용자가 좋아한 목록과 비슷한 사용자를 </a:t>
            </a:r>
            <a:r>
              <a:rPr lang="en-US" altLang="ko-KR" sz="1600" dirty="0"/>
              <a:t>K</a:t>
            </a:r>
            <a:r>
              <a:rPr lang="ko-KR" altLang="en-US" sz="1600" dirty="0"/>
              <a:t>명 찾고 그들이 좋아한 것 중 </a:t>
            </a:r>
            <a:r>
              <a:rPr lang="en-US" altLang="ko-KR" sz="1600" dirty="0"/>
              <a:t>A</a:t>
            </a:r>
            <a:r>
              <a:rPr lang="ko-KR" altLang="en-US" sz="1600" dirty="0"/>
              <a:t>가 안 본 것을 추천</a:t>
            </a:r>
          </a:p>
          <a:p>
            <a:pPr>
              <a:lnSpc>
                <a:spcPts val="2400"/>
              </a:lnSpc>
            </a:pPr>
            <a:endParaRPr lang="en-US" altLang="ko-KR" sz="1600" dirty="0">
              <a:latin typeface="+mn-ea"/>
            </a:endParaRPr>
          </a:p>
          <a:p>
            <a:pPr>
              <a:lnSpc>
                <a:spcPts val="2400"/>
              </a:lnSpc>
            </a:pPr>
            <a:r>
              <a:rPr lang="en-US" altLang="ko-KR" sz="1600" b="1" dirty="0"/>
              <a:t>4) </a:t>
            </a:r>
            <a:r>
              <a:rPr lang="ko-KR" altLang="en-US" sz="1600" b="1" dirty="0"/>
              <a:t>품질 검사</a:t>
            </a:r>
            <a:r>
              <a:rPr lang="en-US" altLang="ko-KR" sz="1600" b="1" dirty="0"/>
              <a:t>/</a:t>
            </a:r>
            <a:r>
              <a:rPr lang="ko-KR" altLang="en-US" sz="1600" b="1" dirty="0"/>
              <a:t>센서 기반 판정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현장형</a:t>
            </a:r>
            <a:r>
              <a:rPr lang="en-US" altLang="ko-KR" sz="1600" b="1" dirty="0"/>
              <a:t>)</a:t>
            </a:r>
          </a:p>
          <a:p>
            <a:pPr marL="176213" indent="187325">
              <a:lnSpc>
                <a:spcPts val="2400"/>
              </a:lnSpc>
            </a:pPr>
            <a:r>
              <a:rPr lang="ko-KR" altLang="en-US" sz="1600" dirty="0"/>
              <a:t>예</a:t>
            </a:r>
            <a:r>
              <a:rPr lang="en-US" altLang="ko-KR" sz="1600" dirty="0"/>
              <a:t>: </a:t>
            </a:r>
            <a:r>
              <a:rPr lang="ko-KR" altLang="en-US" sz="1600" dirty="0"/>
              <a:t>온도</a:t>
            </a:r>
            <a:r>
              <a:rPr lang="en-US" altLang="ko-KR" sz="1600" dirty="0"/>
              <a:t>·</a:t>
            </a:r>
            <a:r>
              <a:rPr lang="ko-KR" altLang="en-US" sz="1600" dirty="0"/>
              <a:t>습도</a:t>
            </a:r>
            <a:r>
              <a:rPr lang="en-US" altLang="ko-KR" sz="1600" dirty="0"/>
              <a:t>·</a:t>
            </a:r>
            <a:r>
              <a:rPr lang="ko-KR" altLang="en-US" sz="1600" dirty="0"/>
              <a:t>가스</a:t>
            </a:r>
            <a:r>
              <a:rPr lang="en-US" altLang="ko-KR" sz="1600" dirty="0"/>
              <a:t>·</a:t>
            </a:r>
            <a:r>
              <a:rPr lang="ko-KR" altLang="en-US" sz="1600" dirty="0"/>
              <a:t>진동 같은 </a:t>
            </a:r>
            <a:r>
              <a:rPr lang="ko-KR" altLang="en-US" sz="1600" dirty="0" err="1"/>
              <a:t>센서값으로</a:t>
            </a:r>
            <a:r>
              <a:rPr lang="ko-KR" altLang="en-US" sz="1600" dirty="0"/>
              <a:t> </a:t>
            </a:r>
            <a:r>
              <a:rPr lang="en-US" altLang="ko-KR" sz="1600" dirty="0"/>
              <a:t>OK/NOK</a:t>
            </a:r>
            <a:r>
              <a:rPr lang="ko-KR" altLang="en-US" sz="1600" dirty="0"/>
              <a:t>를 판정할 때</a:t>
            </a:r>
          </a:p>
          <a:p>
            <a:pPr marL="176213" indent="187325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새 측정값이 들어오면 과거 데이터 중 </a:t>
            </a:r>
            <a:r>
              <a:rPr lang="ko-KR" altLang="en-US" sz="1600" b="1" dirty="0"/>
              <a:t>가장 비슷한 </a:t>
            </a:r>
            <a:r>
              <a:rPr lang="en-US" altLang="ko-KR" sz="1600" b="1" dirty="0"/>
              <a:t>K</a:t>
            </a:r>
            <a:r>
              <a:rPr lang="ko-KR" altLang="en-US" sz="1600" b="1" dirty="0"/>
              <a:t>개 상태</a:t>
            </a:r>
            <a:r>
              <a:rPr lang="ko-KR" altLang="en-US" sz="1600" dirty="0"/>
              <a:t>를 찾아서</a:t>
            </a:r>
            <a:br>
              <a:rPr lang="ko-KR" altLang="en-US" sz="1600" dirty="0"/>
            </a:br>
            <a:r>
              <a:rPr lang="ko-KR" altLang="en-US" sz="1600" dirty="0"/>
              <a:t>   “과거에 이 값과 비슷할 때 대부분 불량이었나</a:t>
            </a:r>
            <a:r>
              <a:rPr lang="en-US" altLang="ko-KR" sz="1600" dirty="0"/>
              <a:t>?”</a:t>
            </a:r>
            <a:r>
              <a:rPr lang="ko-KR" altLang="en-US" sz="1600" dirty="0"/>
              <a:t>로 판단</a:t>
            </a:r>
          </a:p>
          <a:p>
            <a:pPr marL="176213" indent="187325">
              <a:lnSpc>
                <a:spcPts val="2400"/>
              </a:lnSpc>
            </a:pPr>
            <a:r>
              <a:rPr lang="en-US" altLang="ko-KR" sz="1600" dirty="0">
                <a:sym typeface="Wingdings" panose="05000000000000000000" pitchFamily="2" charset="2"/>
              </a:rPr>
              <a:t> </a:t>
            </a:r>
            <a:r>
              <a:rPr lang="ko-KR" altLang="en-US" sz="1600" dirty="0"/>
              <a:t> 특히 </a:t>
            </a:r>
            <a:r>
              <a:rPr lang="ko-KR" altLang="en-US" sz="1600" b="1" dirty="0"/>
              <a:t>데이터가 많지 않거나</a:t>
            </a:r>
            <a:r>
              <a:rPr lang="ko-KR" altLang="en-US" sz="1600" dirty="0"/>
              <a:t> 모델을 복잡하게 만들기 어려울 때 “빠른 </a:t>
            </a:r>
            <a:r>
              <a:rPr lang="ko-KR" altLang="en-US" sz="1600" dirty="0" err="1"/>
              <a:t>베이스라인”으로</a:t>
            </a:r>
            <a:r>
              <a:rPr lang="ko-KR" altLang="en-US" sz="1600" dirty="0"/>
              <a:t> 실제로 사용한다</a:t>
            </a:r>
          </a:p>
          <a:p>
            <a:endParaRPr lang="en-US" altLang="ko-KR" sz="1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28014846"/>
      </p:ext>
    </p:extLst>
  </p:cSld>
  <p:clrMapOvr>
    <a:masterClrMapping/>
  </p:clrMapOvr>
  <p:transition spd="slow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3-4. K-Nearest Neighbors (KNN, K-</a:t>
            </a:r>
            <a:r>
              <a:rPr lang="ko-KR" altLang="en-US" sz="2000" b="1" dirty="0">
                <a:solidFill>
                  <a:schemeClr val="tx1"/>
                </a:solidFill>
              </a:rPr>
              <a:t>최근접 이웃</a:t>
            </a:r>
            <a:r>
              <a:rPr lang="en-US" altLang="ko-KR" sz="2000" b="1" dirty="0">
                <a:solidFill>
                  <a:schemeClr val="tx1"/>
                </a:solidFill>
              </a:rPr>
              <a:t>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D2D81B-2A3E-495C-9A30-522BB070D0B8}"/>
              </a:ext>
            </a:extLst>
          </p:cNvPr>
          <p:cNvSpPr txBox="1"/>
          <p:nvPr/>
        </p:nvSpPr>
        <p:spPr>
          <a:xfrm>
            <a:off x="263352" y="824260"/>
            <a:ext cx="8888910" cy="25853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sklearn.neighbors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KNeighborsClassifier</a:t>
            </a:r>
            <a:endParaRPr lang="en-US" altLang="ko-KR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knn_clf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Pipeline([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"scaler"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StandardScaler()),      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거리 기반이므로 스케일링 필수</a:t>
            </a:r>
            <a:endParaRPr lang="ko-KR" altLang="en-US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ko-KR" altLang="en-US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clf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KNeighborsClassifier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n_neighbors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5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results = []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evaluate_model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"KNN (k=5)"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knn_clf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       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x_train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y_train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x_test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y_test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results)</a:t>
            </a:r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D3BEA451-7D54-421C-BCAC-E35C515D00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280" y="3461063"/>
            <a:ext cx="576472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>
                <a:ln>
                  <a:noFill/>
                </a:ln>
                <a:solidFill>
                  <a:srgbClr val="0033CC"/>
                </a:solidFill>
                <a:effectLst/>
                <a:latin typeface="Arial Unicode MS"/>
              </a:rPr>
              <a:t>n_neighbors</a:t>
            </a:r>
            <a:r>
              <a:rPr kumimoji="0" lang="ko-KR" altLang="ko-KR" sz="1600" b="1" i="0" u="none" strike="noStrike" cap="none" normalizeH="0" baseline="0">
                <a:ln>
                  <a:noFill/>
                </a:ln>
                <a:solidFill>
                  <a:srgbClr val="0033CC"/>
                </a:solidFill>
                <a:effectLst/>
              </a:rPr>
              <a:t>를 1, 3, 5, 11 등으로 바꿔보고 성능 변화 비교 </a:t>
            </a:r>
            <a:endParaRPr kumimoji="0" lang="ko-KR" altLang="ko-KR" sz="1600" b="1" i="0" u="none" strike="noStrike" cap="none" normalizeH="0" baseline="0">
              <a:ln>
                <a:noFill/>
              </a:ln>
              <a:solidFill>
                <a:srgbClr val="0033CC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32E51DE-4601-479C-B654-39101FBE6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508" y="2726581"/>
            <a:ext cx="4220164" cy="4086795"/>
          </a:xfrm>
          <a:prstGeom prst="rect">
            <a:avLst/>
          </a:prstGeom>
          <a:ln w="25400">
            <a:solidFill>
              <a:srgbClr val="FFC000"/>
            </a:solidFill>
          </a:ln>
        </p:spPr>
      </p:pic>
    </p:spTree>
    <p:extLst>
      <p:ext uri="{BB962C8B-B14F-4D97-AF65-F5344CB8AC3E}">
        <p14:creationId xmlns:p14="http://schemas.microsoft.com/office/powerpoint/2010/main" val="2708188784"/>
      </p:ext>
    </p:extLst>
  </p:cSld>
  <p:clrMapOvr>
    <a:masterClrMapping/>
  </p:clrMapOvr>
  <p:transition spd="slow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3-5. SVM(Support Vector Machine)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3B1A8D-9C86-43BC-B620-7E87CB6B9A95}"/>
              </a:ext>
            </a:extLst>
          </p:cNvPr>
          <p:cNvSpPr txBox="1"/>
          <p:nvPr/>
        </p:nvSpPr>
        <p:spPr>
          <a:xfrm>
            <a:off x="335360" y="836712"/>
            <a:ext cx="11737304" cy="431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00"/>
              </a:lnSpc>
            </a:pPr>
            <a:r>
              <a:rPr lang="en-US" altLang="ko-KR" sz="2400" b="1" dirty="0">
                <a:solidFill>
                  <a:srgbClr val="0033CC"/>
                </a:solidFill>
                <a:latin typeface="+mn-ea"/>
              </a:rPr>
              <a:t>SVM</a:t>
            </a:r>
            <a:r>
              <a:rPr lang="ko-KR" altLang="en-US" sz="2400" b="1" dirty="0">
                <a:solidFill>
                  <a:srgbClr val="0033CC"/>
                </a:solidFill>
                <a:latin typeface="+mn-ea"/>
              </a:rPr>
              <a:t>의 핵심 아이디어 </a:t>
            </a:r>
            <a:r>
              <a:rPr lang="en-US" altLang="ko-KR" sz="2400" b="1" dirty="0">
                <a:solidFill>
                  <a:srgbClr val="0033CC"/>
                </a:solidFill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sz="2400" b="1" dirty="0">
                <a:solidFill>
                  <a:srgbClr val="0033CC"/>
                </a:solidFill>
                <a:latin typeface="+mn-ea"/>
              </a:rPr>
              <a:t> </a:t>
            </a:r>
            <a:r>
              <a:rPr lang="ko-KR" altLang="en-US" sz="2400" b="1" dirty="0">
                <a:solidFill>
                  <a:srgbClr val="0033CC"/>
                </a:solidFill>
                <a:latin typeface="+mn-ea"/>
              </a:rPr>
              <a:t>가장 넓은 마진을 확보하는 선</a:t>
            </a:r>
            <a:br>
              <a:rPr lang="en-US" altLang="ko-KR" sz="2400" b="1" dirty="0">
                <a:solidFill>
                  <a:srgbClr val="0033CC"/>
                </a:solidFill>
                <a:latin typeface="+mn-ea"/>
              </a:rPr>
            </a:br>
            <a:endParaRPr lang="ko-KR" altLang="en-US" sz="2400" b="1" dirty="0">
              <a:solidFill>
                <a:srgbClr val="0033CC"/>
              </a:solidFill>
              <a:latin typeface="+mn-ea"/>
            </a:endParaRPr>
          </a:p>
          <a:p>
            <a:pPr>
              <a:lnSpc>
                <a:spcPts val="3100"/>
              </a:lnSpc>
            </a:pPr>
            <a:r>
              <a:rPr lang="ko-KR" altLang="en-US" dirty="0">
                <a:latin typeface="+mn-ea"/>
              </a:rPr>
              <a:t>  온도</a:t>
            </a:r>
            <a:r>
              <a:rPr lang="en-US" altLang="ko-KR" dirty="0">
                <a:latin typeface="+mn-ea"/>
              </a:rPr>
              <a:t>(temp)</a:t>
            </a:r>
            <a:r>
              <a:rPr lang="ko-KR" altLang="en-US" dirty="0">
                <a:latin typeface="+mn-ea"/>
              </a:rPr>
              <a:t>와 습도</a:t>
            </a:r>
            <a:r>
              <a:rPr lang="en-US" altLang="ko-KR" dirty="0">
                <a:latin typeface="+mn-ea"/>
              </a:rPr>
              <a:t>(</a:t>
            </a:r>
            <a:r>
              <a:rPr lang="en-US" altLang="ko-KR" dirty="0" err="1">
                <a:latin typeface="+mn-ea"/>
              </a:rPr>
              <a:t>humi</a:t>
            </a:r>
            <a:r>
              <a:rPr lang="en-US" altLang="ko-KR" dirty="0">
                <a:latin typeface="+mn-ea"/>
              </a:rPr>
              <a:t>) 2D </a:t>
            </a:r>
            <a:r>
              <a:rPr lang="ko-KR" altLang="en-US" dirty="0">
                <a:latin typeface="+mn-ea"/>
              </a:rPr>
              <a:t>평면에서 </a:t>
            </a:r>
            <a:r>
              <a:rPr lang="en-US" altLang="ko-KR" dirty="0">
                <a:latin typeface="+mn-ea"/>
              </a:rPr>
              <a:t>OK/NOK </a:t>
            </a:r>
            <a:r>
              <a:rPr lang="ko-KR" altLang="en-US" dirty="0">
                <a:latin typeface="+mn-ea"/>
              </a:rPr>
              <a:t>점들이 섞여 있을 때</a:t>
            </a:r>
            <a:r>
              <a:rPr lang="en-US" altLang="ko-KR" dirty="0">
                <a:latin typeface="+mn-ea"/>
              </a:rPr>
              <a:t>, 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선 하나로 경계선을 나누려면 선을 어디에 그릴까</a:t>
            </a:r>
            <a:r>
              <a:rPr lang="en-US" altLang="ko-KR" dirty="0">
                <a:latin typeface="+mn-ea"/>
              </a:rPr>
              <a:t>?</a:t>
            </a:r>
          </a:p>
          <a:p>
            <a:pPr>
              <a:lnSpc>
                <a:spcPts val="3100"/>
              </a:lnSpc>
            </a:pPr>
            <a:r>
              <a:rPr lang="en-US" altLang="ko-KR" b="1" dirty="0">
                <a:solidFill>
                  <a:srgbClr val="0033CC"/>
                </a:solidFill>
                <a:latin typeface="+mn-ea"/>
              </a:rPr>
              <a:t>SVM</a:t>
            </a:r>
            <a:r>
              <a:rPr lang="ko-KR" altLang="en-US" b="1" dirty="0">
                <a:solidFill>
                  <a:srgbClr val="0033CC"/>
                </a:solidFill>
                <a:latin typeface="+mn-ea"/>
              </a:rPr>
              <a:t>은 </a:t>
            </a:r>
            <a:endParaRPr lang="en-US" altLang="ko-KR" b="1" dirty="0">
              <a:solidFill>
                <a:srgbClr val="0033CC"/>
              </a:solidFill>
              <a:latin typeface="+mn-ea"/>
            </a:endParaRPr>
          </a:p>
          <a:p>
            <a:pPr marL="176213" indent="187325">
              <a:lnSpc>
                <a:spcPts val="3100"/>
              </a:lnSpc>
              <a:buFont typeface="+mj-lt"/>
              <a:buAutoNum type="arabicPeriod"/>
            </a:pPr>
            <a:r>
              <a:rPr lang="en-US" altLang="ko-KR" dirty="0">
                <a:latin typeface="+mn-ea"/>
              </a:rPr>
              <a:t> OK</a:t>
            </a:r>
            <a:r>
              <a:rPr lang="ko-KR" altLang="en-US" dirty="0">
                <a:latin typeface="+mn-ea"/>
              </a:rPr>
              <a:t>와 </a:t>
            </a:r>
            <a:r>
              <a:rPr lang="en-US" altLang="ko-KR" dirty="0">
                <a:latin typeface="+mn-ea"/>
              </a:rPr>
              <a:t>NOK </a:t>
            </a:r>
            <a:r>
              <a:rPr lang="ko-KR" altLang="en-US" dirty="0">
                <a:latin typeface="+mn-ea"/>
              </a:rPr>
              <a:t>사이에 경계선을 하나 그린다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176213" indent="187325">
              <a:lnSpc>
                <a:spcPts val="3100"/>
              </a:lnSpc>
              <a:buFont typeface="+mj-lt"/>
              <a:buAutoNum type="arabicPeriod"/>
            </a:pPr>
            <a:r>
              <a:rPr lang="ko-KR" altLang="en-US" dirty="0">
                <a:latin typeface="+mn-ea"/>
              </a:rPr>
              <a:t> 그 경계선에서 </a:t>
            </a:r>
            <a:r>
              <a:rPr lang="ko-KR" altLang="en-US" b="1" dirty="0">
                <a:latin typeface="+mn-ea"/>
              </a:rPr>
              <a:t>가장 가까운 </a:t>
            </a:r>
            <a:r>
              <a:rPr lang="en-US" altLang="ko-KR" b="1" dirty="0">
                <a:latin typeface="+mn-ea"/>
              </a:rPr>
              <a:t>OK </a:t>
            </a:r>
            <a:r>
              <a:rPr lang="ko-KR" altLang="en-US" b="1" dirty="0">
                <a:latin typeface="+mn-ea"/>
              </a:rPr>
              <a:t>점</a:t>
            </a:r>
            <a:r>
              <a:rPr lang="ko-KR" altLang="en-US" dirty="0">
                <a:latin typeface="+mn-ea"/>
              </a:rPr>
              <a:t>과 </a:t>
            </a:r>
            <a:r>
              <a:rPr lang="ko-KR" altLang="en-US" b="1" dirty="0">
                <a:latin typeface="+mn-ea"/>
              </a:rPr>
              <a:t>가장 가까운 </a:t>
            </a:r>
            <a:r>
              <a:rPr lang="en-US" altLang="ko-KR" b="1" dirty="0">
                <a:latin typeface="+mn-ea"/>
              </a:rPr>
              <a:t>NOK </a:t>
            </a:r>
            <a:r>
              <a:rPr lang="ko-KR" altLang="en-US" b="1" dirty="0">
                <a:latin typeface="+mn-ea"/>
              </a:rPr>
              <a:t>점</a:t>
            </a:r>
            <a:r>
              <a:rPr lang="ko-KR" altLang="en-US" dirty="0">
                <a:latin typeface="+mn-ea"/>
              </a:rPr>
              <a:t>을 찾는다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176213" indent="187325">
              <a:lnSpc>
                <a:spcPts val="3100"/>
              </a:lnSpc>
              <a:buFont typeface="+mj-lt"/>
              <a:buAutoNum type="arabicPeriod"/>
            </a:pPr>
            <a:r>
              <a:rPr lang="ko-KR" altLang="en-US" dirty="0">
                <a:latin typeface="+mn-ea"/>
              </a:rPr>
              <a:t> 그 가장 가까운 </a:t>
            </a:r>
            <a:r>
              <a:rPr lang="ko-KR" altLang="en-US" dirty="0" err="1">
                <a:latin typeface="+mn-ea"/>
              </a:rPr>
              <a:t>점들과의</a:t>
            </a:r>
            <a:r>
              <a:rPr lang="ko-KR" altLang="en-US" dirty="0">
                <a:latin typeface="+mn-ea"/>
              </a:rPr>
              <a:t> 거리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마진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가 </a:t>
            </a:r>
            <a:r>
              <a:rPr lang="ko-KR" altLang="en-US" b="1" dirty="0">
                <a:latin typeface="+mn-ea"/>
              </a:rPr>
              <a:t>최대</a:t>
            </a:r>
            <a:r>
              <a:rPr lang="ko-KR" altLang="en-US" dirty="0">
                <a:latin typeface="+mn-ea"/>
              </a:rPr>
              <a:t>가 되도록 경계선을 잡는다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176213" indent="187325">
              <a:lnSpc>
                <a:spcPts val="3100"/>
              </a:lnSpc>
            </a:pPr>
            <a:r>
              <a:rPr lang="ko-KR" altLang="en-US" dirty="0">
                <a:latin typeface="+mn-ea"/>
              </a:rPr>
              <a:t>왜냐면 마진이 넓을수록</a:t>
            </a:r>
          </a:p>
          <a:p>
            <a:pPr marL="363538" indent="176213">
              <a:lnSpc>
                <a:spcPts val="31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약간의 노이즈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센서 튐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측정 오차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가 있어도</a:t>
            </a:r>
          </a:p>
          <a:p>
            <a:pPr marL="363538" indent="176213">
              <a:lnSpc>
                <a:spcPts val="31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분류가 쉽게 뒤집히지 않아서 </a:t>
            </a:r>
            <a:r>
              <a:rPr lang="ko-KR" altLang="en-US" b="1" dirty="0">
                <a:latin typeface="+mn-ea"/>
              </a:rPr>
              <a:t>일반화가 잘 되기</a:t>
            </a:r>
            <a:r>
              <a:rPr lang="ko-KR" altLang="en-US" dirty="0">
                <a:latin typeface="+mn-ea"/>
              </a:rPr>
              <a:t> 때문</a:t>
            </a:r>
            <a:r>
              <a:rPr lang="en-US" altLang="ko-KR" dirty="0">
                <a:latin typeface="+mn-ea"/>
              </a:rPr>
              <a:t>.</a:t>
            </a:r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8598564"/>
      </p:ext>
    </p:extLst>
  </p:cSld>
  <p:clrMapOvr>
    <a:masterClrMapping/>
  </p:clrMapOvr>
  <p:transition spd="slow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3-5. SVM(Support Vector Machine)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46949AE-EA54-4246-9136-1149A1EC7E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332" y="908720"/>
            <a:ext cx="7593335" cy="5661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273243"/>
      </p:ext>
    </p:extLst>
  </p:cSld>
  <p:clrMapOvr>
    <a:masterClrMapping/>
  </p:clrMapOvr>
  <p:transition spd="slow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3-5. SVM(Support Vector Machine)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1CEEBD1-9845-478E-92E0-552BC33895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368" y="908720"/>
            <a:ext cx="8136904" cy="35496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rgbClr val="0033CC"/>
                </a:solidFill>
                <a:effectLst/>
                <a:latin typeface="Arial" panose="020B0604020202020204" pitchFamily="34" charset="0"/>
              </a:rPr>
              <a:t>Support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rgbClr val="0033CC"/>
                </a:solidFill>
                <a:effectLst/>
                <a:latin typeface="Arial" panose="020B0604020202020204" pitchFamily="34" charset="0"/>
              </a:rPr>
              <a:t>Vector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rgbClr val="0033CC"/>
                </a:solidFill>
                <a:effectLst/>
                <a:latin typeface="Arial" panose="020B0604020202020204" pitchFamily="34" charset="0"/>
              </a:rPr>
              <a:t>(서포트 벡터)란?</a:t>
            </a:r>
          </a:p>
          <a:p>
            <a:pPr marL="0" marR="0" lvl="0" indent="0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경계선을 결정하는 데 핵심이 되는 점들, 즉</a:t>
            </a:r>
          </a:p>
          <a:p>
            <a:pPr marL="0" marR="0" lvl="0" indent="0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 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경계선에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가장 가까이 붙어 있는 몇 개의 데이터 점</a:t>
            </a:r>
            <a:endParaRPr kumimoji="0" lang="ko-KR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 점들을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서포트 벡터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라고 부릅니다.</a:t>
            </a:r>
          </a:p>
          <a:p>
            <a:pPr marL="0" marR="0" lvl="0" indent="0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중요한 성질:</a:t>
            </a:r>
          </a:p>
          <a:p>
            <a:pPr marL="176213" marR="0" lvl="0" indent="276225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SVM의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경계는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대부분의 점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 아니라</a:t>
            </a:r>
          </a:p>
          <a:p>
            <a:pPr marL="176213" marR="0" lvl="0" indent="276225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서포트 벡터(경계 근처 점)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몇 개에 의해 결정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된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5272386"/>
      </p:ext>
    </p:extLst>
  </p:cSld>
  <p:clrMapOvr>
    <a:masterClrMapping/>
  </p:clrMapOvr>
  <p:transition spd="slow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3-5. SVM(Support Vector Machine)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A2D7C099-9926-411E-AAA8-B0A0FEFC1E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732" y="908720"/>
            <a:ext cx="8259615" cy="5790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72862"/>
      </p:ext>
    </p:extLst>
  </p:cSld>
  <p:clrMapOvr>
    <a:masterClrMapping/>
  </p:clrMapOvr>
  <p:transition spd="slow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3-5. SVM(Support Vector Machine)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249A3C-004E-4569-BCB8-5147972826D1}"/>
              </a:ext>
            </a:extLst>
          </p:cNvPr>
          <p:cNvSpPr txBox="1"/>
          <p:nvPr/>
        </p:nvSpPr>
        <p:spPr>
          <a:xfrm>
            <a:off x="191344" y="980728"/>
            <a:ext cx="7776864" cy="4550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500"/>
              </a:lnSpc>
              <a:buAutoNum type="arabicParenR"/>
            </a:pPr>
            <a:r>
              <a:rPr lang="ko-KR" altLang="en-US" b="1" dirty="0">
                <a:latin typeface="+mn-ea"/>
              </a:rPr>
              <a:t>선형 </a:t>
            </a:r>
            <a:r>
              <a:rPr lang="en-US" altLang="ko-KR" b="1" dirty="0">
                <a:latin typeface="+mn-ea"/>
              </a:rPr>
              <a:t>SVM</a:t>
            </a:r>
            <a:r>
              <a:rPr lang="ko-KR" altLang="en-US" b="1" dirty="0">
                <a:latin typeface="+mn-ea"/>
              </a:rPr>
              <a:t>의 </a:t>
            </a:r>
            <a:r>
              <a:rPr lang="ko-KR" altLang="en-US" b="1" dirty="0" err="1">
                <a:latin typeface="+mn-ea"/>
              </a:rPr>
              <a:t>경계식</a:t>
            </a:r>
            <a:br>
              <a:rPr lang="en-US" altLang="ko-KR" b="1" dirty="0">
                <a:latin typeface="+mn-ea"/>
              </a:rPr>
            </a:br>
            <a:endParaRPr lang="en-US" altLang="ko-KR" b="1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en-US" altLang="ko-KR" sz="2400" b="1" dirty="0">
                <a:latin typeface="+mn-ea"/>
              </a:rPr>
              <a:t>    </a:t>
            </a:r>
            <a:r>
              <a:rPr lang="en-US" altLang="ko-KR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w</a:t>
            </a:r>
            <a:r>
              <a:rPr lang="en-US" altLang="ko-KR" sz="2400" baseline="30000" dirty="0">
                <a:latin typeface="Cambria Math" panose="02040503050406030204" pitchFamily="18" charset="0"/>
                <a:ea typeface="Cambria Math" panose="02040503050406030204" pitchFamily="18" charset="0"/>
              </a:rPr>
              <a:t>T</a:t>
            </a:r>
            <a:r>
              <a:rPr lang="en-US" altLang="ko-KR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x+b=0</a:t>
            </a:r>
            <a:br>
              <a:rPr lang="en-US" altLang="ko-KR" b="1" dirty="0">
                <a:latin typeface="+mn-ea"/>
              </a:rPr>
            </a:br>
            <a:endParaRPr lang="en-US" altLang="ko-KR" dirty="0">
              <a:latin typeface="+mn-ea"/>
            </a:endParaRPr>
          </a:p>
          <a:p>
            <a:pPr marL="452438" marR="0" lvl="0" indent="263525" algn="l" defTabSz="914400" rtl="0" eaLnBrk="0" fontAlgn="base" latinLnBrk="0" hangingPunct="0">
              <a:lnSpc>
                <a:spcPts val="2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x: 입력(예: [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temp,humi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]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)</a:t>
            </a:r>
          </a:p>
          <a:p>
            <a:pPr marL="452438" marR="0" lvl="0" indent="263525" algn="l" defTabSz="914400" rtl="0" eaLnBrk="0" fontAlgn="base" latinLnBrk="0" hangingPunct="0">
              <a:lnSpc>
                <a:spcPts val="2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T: Transpose 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452438" marR="0" lvl="0" indent="263525" algn="l" defTabSz="914400" rtl="0" eaLnBrk="0" fontAlgn="base" latinLnBrk="0" hangingPunct="0">
              <a:lnSpc>
                <a:spcPts val="2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w: 경계선의 방향(기울기 역할)</a:t>
            </a:r>
          </a:p>
          <a:p>
            <a:pPr marL="452438" marR="0" lvl="0" indent="263525" algn="l" defTabSz="914400" rtl="0" eaLnBrk="0" fontAlgn="base" latinLnBrk="0" hangingPunct="0">
              <a:lnSpc>
                <a:spcPts val="2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b: 위치(절편 역할)</a:t>
            </a:r>
          </a:p>
          <a:p>
            <a:pPr>
              <a:lnSpc>
                <a:spcPts val="2500"/>
              </a:lnSpc>
              <a:buFont typeface="Arial" panose="020B0604020202020204" pitchFamily="34" charset="0"/>
              <a:buChar char="•"/>
            </a:pP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en-US" altLang="ko-KR" b="1" dirty="0">
                <a:latin typeface="+mn-ea"/>
              </a:rPr>
              <a:t>2) </a:t>
            </a:r>
            <a:r>
              <a:rPr lang="ko-KR" altLang="en-US" b="1" dirty="0">
                <a:latin typeface="+mn-ea"/>
              </a:rPr>
              <a:t>마진 최대화가 의미하는 것</a:t>
            </a:r>
          </a:p>
          <a:p>
            <a:pPr marL="265113">
              <a:lnSpc>
                <a:spcPts val="2500"/>
              </a:lnSpc>
            </a:pPr>
            <a:r>
              <a:rPr lang="en-US" altLang="ko-KR" dirty="0">
                <a:latin typeface="+mn-ea"/>
              </a:rPr>
              <a:t>SVM</a:t>
            </a:r>
            <a:r>
              <a:rPr lang="ko-KR" altLang="en-US" dirty="0">
                <a:latin typeface="+mn-ea"/>
              </a:rPr>
              <a:t> 목표</a:t>
            </a:r>
            <a:endParaRPr lang="en-US" altLang="ko-KR" dirty="0">
              <a:latin typeface="+mn-ea"/>
            </a:endParaRPr>
          </a:p>
          <a:p>
            <a:pPr marL="265113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latin typeface="+mn-ea"/>
              </a:rPr>
              <a:t> w</a:t>
            </a:r>
            <a:r>
              <a:rPr lang="ko-KR" altLang="en-US" b="1" dirty="0">
                <a:latin typeface="+mn-ea"/>
              </a:rPr>
              <a:t>가 너무 커지지 않게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경계가 너무 급해지지 않게</a:t>
            </a:r>
            <a:r>
              <a:rPr lang="en-US" altLang="ko-KR" dirty="0">
                <a:latin typeface="+mn-ea"/>
              </a:rPr>
              <a:t>) </a:t>
            </a:r>
            <a:r>
              <a:rPr lang="ko-KR" altLang="en-US" dirty="0">
                <a:latin typeface="+mn-ea"/>
              </a:rPr>
              <a:t>하면서</a:t>
            </a:r>
          </a:p>
          <a:p>
            <a:pPr marL="265113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 데이터를 잘 구분하도록 한다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265113">
              <a:lnSpc>
                <a:spcPts val="2500"/>
              </a:lnSpc>
            </a:pPr>
            <a:r>
              <a:rPr lang="en-US" altLang="ko-KR" dirty="0">
                <a:latin typeface="+mn-ea"/>
              </a:rPr>
              <a:t>  (</a:t>
            </a:r>
            <a:r>
              <a:rPr lang="ko-KR" altLang="en-US" dirty="0">
                <a:latin typeface="+mn-ea"/>
              </a:rPr>
              <a:t>엄밀한 최적화는 조금 복잡하지만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핵심은 마진 크게 </a:t>
            </a:r>
            <a:r>
              <a:rPr lang="en-US" altLang="ko-KR" dirty="0">
                <a:latin typeface="+mn-ea"/>
              </a:rPr>
              <a:t>= </a:t>
            </a:r>
            <a:r>
              <a:rPr lang="ko-KR" altLang="en-US" dirty="0">
                <a:latin typeface="+mn-ea"/>
              </a:rPr>
              <a:t>안정적이다</a:t>
            </a:r>
            <a:r>
              <a:rPr lang="en-US" altLang="ko-KR" dirty="0">
                <a:latin typeface="+mn-ea"/>
              </a:rPr>
              <a:t>.)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E40B87E-4041-429E-B09B-32CF2F27B8A1}"/>
              </a:ext>
            </a:extLst>
          </p:cNvPr>
          <p:cNvSpPr/>
          <p:nvPr/>
        </p:nvSpPr>
        <p:spPr>
          <a:xfrm>
            <a:off x="7032104" y="736068"/>
            <a:ext cx="4968552" cy="384506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44000" rtlCol="0" anchor="t"/>
          <a:lstStyle/>
          <a:p>
            <a:pPr marL="285750" indent="-192088">
              <a:buFont typeface="Arial" panose="020B0604020202020204" pitchFamily="34" charset="0"/>
              <a:buChar char="•"/>
            </a:pPr>
            <a:r>
              <a:rPr lang="ko-KR" altLang="en-US" sz="1400" b="1" dirty="0">
                <a:solidFill>
                  <a:schemeClr val="tx1"/>
                </a:solidFill>
              </a:rPr>
              <a:t>보통 벡터는 기본적으로 열 벡터로 표현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endParaRPr lang="en-US" altLang="ko-KR" sz="1400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endParaRPr lang="en-US" altLang="ko-KR" sz="1400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endParaRPr lang="en-US" altLang="ko-KR" sz="1400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endParaRPr lang="en-US" altLang="ko-KR" sz="1400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endParaRPr lang="en-US" altLang="ko-KR" sz="1400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r>
              <a:rPr lang="en-US" altLang="ko-KR" sz="1400" b="1" dirty="0">
                <a:solidFill>
                  <a:schemeClr val="tx1"/>
                </a:solidFill>
              </a:rPr>
              <a:t>T(</a:t>
            </a:r>
            <a:r>
              <a:rPr lang="ko-KR" altLang="en-US" sz="1400" b="1" dirty="0">
                <a:solidFill>
                  <a:schemeClr val="tx1"/>
                </a:solidFill>
              </a:rPr>
              <a:t>전치</a:t>
            </a:r>
            <a:r>
              <a:rPr lang="en-US" altLang="ko-KR" sz="1400" b="1" dirty="0">
                <a:solidFill>
                  <a:schemeClr val="tx1"/>
                </a:solidFill>
              </a:rPr>
              <a:t>)</a:t>
            </a:r>
            <a:r>
              <a:rPr lang="ko-KR" altLang="en-US" sz="1400" b="1" dirty="0">
                <a:solidFill>
                  <a:schemeClr val="tx1"/>
                </a:solidFill>
              </a:rPr>
              <a:t>를 하면</a:t>
            </a:r>
            <a:r>
              <a:rPr lang="en-US" altLang="ko-KR" sz="1400" b="1" dirty="0">
                <a:solidFill>
                  <a:schemeClr val="tx1"/>
                </a:solidFill>
              </a:rPr>
              <a:t>, </a:t>
            </a:r>
            <a:r>
              <a:rPr lang="ko-KR" altLang="en-US" sz="1400" b="1" dirty="0">
                <a:solidFill>
                  <a:schemeClr val="tx1"/>
                </a:solidFill>
              </a:rPr>
              <a:t>행 벡터로 변환됨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endParaRPr lang="en-US" altLang="ko-KR" sz="1400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endParaRPr lang="en-US" altLang="ko-KR" sz="1400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endParaRPr lang="en-US" altLang="ko-KR" sz="1400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r>
              <a:rPr lang="ko-KR" altLang="en-US" sz="1400" b="1" dirty="0">
                <a:solidFill>
                  <a:schemeClr val="tx1"/>
                </a:solidFill>
              </a:rPr>
              <a:t>행렬 곱 규칙 적용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endParaRPr lang="en-US" altLang="ko-KR" sz="1400" b="1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endParaRPr lang="en-US" altLang="ko-KR" sz="1400" b="1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endParaRPr lang="en-US" altLang="ko-KR" sz="1400" b="1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endParaRPr lang="en-US" altLang="ko-KR" sz="1400" b="1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r>
              <a:rPr lang="ko-KR" altLang="en-US" sz="1400" b="1" dirty="0">
                <a:solidFill>
                  <a:schemeClr val="tx1"/>
                </a:solidFill>
              </a:rPr>
              <a:t>열벡터 </a:t>
            </a:r>
            <a:r>
              <a:rPr lang="en-US" altLang="ko-KR" sz="1400" b="1" dirty="0">
                <a:solidFill>
                  <a:schemeClr val="tx1"/>
                </a:solidFill>
              </a:rPr>
              <a:t>X </a:t>
            </a:r>
            <a:r>
              <a:rPr lang="ko-KR" altLang="en-US" sz="1400" b="1" dirty="0">
                <a:solidFill>
                  <a:schemeClr val="tx1"/>
                </a:solidFill>
              </a:rPr>
              <a:t>열벡터는 연산 불가 이므로</a:t>
            </a:r>
            <a:r>
              <a:rPr lang="en-US" altLang="ko-KR" sz="1400" b="1" dirty="0">
                <a:solidFill>
                  <a:schemeClr val="tx1"/>
                </a:solidFill>
              </a:rPr>
              <a:t>, </a:t>
            </a:r>
            <a:br>
              <a:rPr lang="en-US" altLang="ko-KR" sz="1400" b="1" dirty="0">
                <a:solidFill>
                  <a:schemeClr val="tx1"/>
                </a:solidFill>
              </a:rPr>
            </a:br>
            <a:r>
              <a:rPr lang="ko-KR" altLang="en-US" sz="1400" b="1" dirty="0">
                <a:solidFill>
                  <a:schemeClr val="tx1"/>
                </a:solidFill>
              </a:rPr>
              <a:t>앞의 벡터를 행벡터로 바꾸어주기 위해 </a:t>
            </a:r>
            <a:r>
              <a:rPr lang="en-US" altLang="ko-KR" sz="1400" b="1" dirty="0">
                <a:solidFill>
                  <a:schemeClr val="tx1"/>
                </a:solidFill>
              </a:rPr>
              <a:t>Transpose </a:t>
            </a:r>
            <a:r>
              <a:rPr lang="ko-KR" altLang="en-US" sz="1400" b="1" dirty="0">
                <a:solidFill>
                  <a:schemeClr val="tx1"/>
                </a:solidFill>
              </a:rPr>
              <a:t>사용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endParaRPr lang="en-US" altLang="ko-KR" sz="1400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endParaRPr lang="en-US" altLang="ko-KR" sz="1400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endParaRPr lang="en-US" altLang="ko-KR" sz="1400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endParaRPr lang="en-US" altLang="ko-KR" sz="1400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endParaRPr lang="en-US" altLang="ko-KR" sz="1400" dirty="0">
              <a:solidFill>
                <a:schemeClr val="tx1"/>
              </a:solidFill>
            </a:endParaRPr>
          </a:p>
          <a:p>
            <a:pPr marL="285750" indent="-192088">
              <a:buFont typeface="Arial" panose="020B0604020202020204" pitchFamily="34" charset="0"/>
              <a:buChar char="•"/>
            </a:pP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47B9DC5-4C5B-451B-A7D2-41D27FDE55C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8F8F6"/>
              </a:clrFrom>
              <a:clrTo>
                <a:srgbClr val="F8F8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496798" y="1210278"/>
            <a:ext cx="2019582" cy="68589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6B1C9C0-46D9-45A5-8A48-BCBDE1C5DA7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8F8F6"/>
              </a:clrFrom>
              <a:clrTo>
                <a:srgbClr val="F8F8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439927" y="2526785"/>
            <a:ext cx="1667108" cy="35247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5D6E261-8EF7-4BA2-B66E-DC6428EC4A5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8F8F6"/>
              </a:clrFrom>
              <a:clrTo>
                <a:srgbClr val="F8F8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439927" y="3323705"/>
            <a:ext cx="2410161" cy="67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148516"/>
      </p:ext>
    </p:extLst>
  </p:cSld>
  <p:clrMapOvr>
    <a:masterClrMapping/>
  </p:clrMapOvr>
  <p:transition spd="slow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3-5. SVM(Support Vector Machine) : </a:t>
            </a:r>
            <a:r>
              <a:rPr lang="ko-KR" altLang="en-US" sz="2000" b="1" dirty="0">
                <a:solidFill>
                  <a:schemeClr val="tx1"/>
                </a:solidFill>
              </a:rPr>
              <a:t>비선형 </a:t>
            </a:r>
            <a:r>
              <a:rPr lang="en-US" altLang="ko-KR" sz="2000" b="1" dirty="0">
                <a:solidFill>
                  <a:schemeClr val="tx1"/>
                </a:solidFill>
              </a:rPr>
              <a:t>SVM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10FB4C-86DA-4B06-A455-9E800D847DF3}"/>
              </a:ext>
            </a:extLst>
          </p:cNvPr>
          <p:cNvSpPr txBox="1"/>
          <p:nvPr/>
        </p:nvSpPr>
        <p:spPr>
          <a:xfrm>
            <a:off x="191344" y="908720"/>
            <a:ext cx="11377264" cy="1441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00"/>
              </a:lnSpc>
            </a:pPr>
            <a:r>
              <a:rPr lang="ko-KR" altLang="en-US" b="1" dirty="0">
                <a:solidFill>
                  <a:srgbClr val="0033CC"/>
                </a:solidFill>
                <a:latin typeface="+mn-ea"/>
              </a:rPr>
              <a:t>데이터가 직선으로 도저히 안 나뉘면</a:t>
            </a:r>
            <a:r>
              <a:rPr lang="en-US" altLang="ko-KR" b="1" dirty="0">
                <a:solidFill>
                  <a:srgbClr val="0033CC"/>
                </a:solidFill>
                <a:latin typeface="+mn-ea"/>
              </a:rPr>
              <a:t>?</a:t>
            </a:r>
          </a:p>
          <a:p>
            <a:pPr>
              <a:lnSpc>
                <a:spcPts val="2700"/>
              </a:lnSpc>
            </a:pPr>
            <a:r>
              <a:rPr lang="en-US" altLang="ko-KR" dirty="0">
                <a:latin typeface="+mn-ea"/>
              </a:rPr>
              <a:t> 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dirty="0">
                <a:latin typeface="+mn-ea"/>
              </a:rPr>
              <a:t>SVM</a:t>
            </a:r>
            <a:r>
              <a:rPr lang="ko-KR" altLang="en-US" dirty="0">
                <a:latin typeface="+mn-ea"/>
              </a:rPr>
              <a:t>은 공간을 바꿔서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더 높은 차원으로</a:t>
            </a:r>
            <a:r>
              <a:rPr lang="en-US" altLang="ko-KR" dirty="0">
                <a:latin typeface="+mn-ea"/>
              </a:rPr>
              <a:t>) </a:t>
            </a:r>
            <a:r>
              <a:rPr lang="ko-KR" altLang="en-US" dirty="0">
                <a:latin typeface="+mn-ea"/>
              </a:rPr>
              <a:t>직선으로 나눌 수 있게 하자라는 아이디어 사용</a:t>
            </a:r>
            <a:r>
              <a:rPr lang="en-US" altLang="ko-KR" dirty="0">
                <a:latin typeface="+mn-ea"/>
              </a:rPr>
              <a:t>.</a:t>
            </a:r>
            <a:br>
              <a:rPr lang="en-US" altLang="ko-KR" dirty="0">
                <a:latin typeface="+mn-ea"/>
              </a:rPr>
            </a:b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  </a:t>
            </a:r>
            <a:endParaRPr lang="ko-KR" altLang="en-US" dirty="0">
              <a:latin typeface="+mn-ea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70EC89C-8725-4405-8746-87BAFE3D4E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592" y="1772816"/>
            <a:ext cx="8424936" cy="402828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9BB6463-5BB7-4B4C-858F-59DA9D0E0270}"/>
              </a:ext>
            </a:extLst>
          </p:cNvPr>
          <p:cNvSpPr txBox="1"/>
          <p:nvPr/>
        </p:nvSpPr>
        <p:spPr>
          <a:xfrm>
            <a:off x="1708732" y="5949280"/>
            <a:ext cx="842493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+mn-ea"/>
              </a:rPr>
              <a:t>위 그림처럼</a:t>
            </a:r>
            <a:r>
              <a:rPr lang="en-US" altLang="ko-KR" sz="1600" dirty="0">
                <a:latin typeface="+mn-ea"/>
              </a:rPr>
              <a:t>, 2D</a:t>
            </a:r>
            <a:r>
              <a:rPr lang="ko-KR" altLang="en-US" sz="1600" dirty="0">
                <a:latin typeface="+mn-ea"/>
              </a:rPr>
              <a:t>에서 원형으로 섞인 데이터는 직선으로 나눌 수 없다</a:t>
            </a:r>
            <a:r>
              <a:rPr lang="en-US" altLang="ko-KR" sz="1600" dirty="0">
                <a:latin typeface="+mn-ea"/>
              </a:rPr>
              <a:t>. </a:t>
            </a:r>
          </a:p>
          <a:p>
            <a:r>
              <a:rPr lang="ko-KR" altLang="en-US" sz="1600" dirty="0">
                <a:latin typeface="+mn-ea"/>
              </a:rPr>
              <a:t>커널은 데이터를 </a:t>
            </a:r>
            <a:r>
              <a:rPr lang="ko-KR" altLang="en-US" sz="1600" b="1" dirty="0">
                <a:latin typeface="+mn-ea"/>
              </a:rPr>
              <a:t>고차원으로 변환</a:t>
            </a:r>
            <a:r>
              <a:rPr lang="ko-KR" altLang="en-US" sz="1600" dirty="0">
                <a:latin typeface="+mn-ea"/>
              </a:rPr>
              <a:t>해서 직선</a:t>
            </a:r>
            <a:r>
              <a:rPr lang="en-US" altLang="ko-KR" sz="1600" dirty="0">
                <a:latin typeface="+mn-ea"/>
              </a:rPr>
              <a:t>(</a:t>
            </a:r>
            <a:r>
              <a:rPr lang="ko-KR" altLang="en-US" sz="1600" dirty="0" err="1">
                <a:latin typeface="+mn-ea"/>
              </a:rPr>
              <a:t>초평면</a:t>
            </a:r>
            <a:r>
              <a:rPr lang="en-US" altLang="ko-KR" sz="1600" dirty="0">
                <a:latin typeface="+mn-ea"/>
              </a:rPr>
              <a:t>)</a:t>
            </a:r>
            <a:r>
              <a:rPr lang="ko-KR" altLang="en-US" sz="1600" dirty="0">
                <a:latin typeface="+mn-ea"/>
              </a:rPr>
              <a:t>으로 나눌 수 있게 해주는 함수이다</a:t>
            </a:r>
            <a:r>
              <a:rPr lang="en-US" altLang="ko-KR" sz="1600" dirty="0">
                <a:latin typeface="+mn-ea"/>
              </a:rPr>
              <a:t>.</a:t>
            </a:r>
            <a:endParaRPr lang="ko-KR" altLang="en-US" sz="1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31608244"/>
      </p:ext>
    </p:extLst>
  </p:cSld>
  <p:clrMapOvr>
    <a:masterClrMapping/>
  </p:clrMapOvr>
  <p:transition spd="slow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3-5. SVM(Support Vector Machine) : </a:t>
            </a:r>
            <a:r>
              <a:rPr lang="ko-KR" altLang="en-US" sz="2000" b="1" dirty="0">
                <a:solidFill>
                  <a:schemeClr val="tx1"/>
                </a:solidFill>
              </a:rPr>
              <a:t>비선형 </a:t>
            </a:r>
            <a:r>
              <a:rPr lang="en-US" altLang="ko-KR" sz="2000" b="1" dirty="0">
                <a:solidFill>
                  <a:schemeClr val="tx1"/>
                </a:solidFill>
              </a:rPr>
              <a:t>SVM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10FB4C-86DA-4B06-A455-9E800D847DF3}"/>
              </a:ext>
            </a:extLst>
          </p:cNvPr>
          <p:cNvSpPr txBox="1"/>
          <p:nvPr/>
        </p:nvSpPr>
        <p:spPr>
          <a:xfrm>
            <a:off x="191344" y="908720"/>
            <a:ext cx="11377264" cy="4211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00"/>
              </a:lnSpc>
            </a:pPr>
            <a:r>
              <a:rPr lang="ko-KR" altLang="en-US" b="1" dirty="0">
                <a:solidFill>
                  <a:srgbClr val="0033CC"/>
                </a:solidFill>
                <a:latin typeface="+mn-ea"/>
              </a:rPr>
              <a:t>데이터가 직선으로 도저히 안 나뉘면</a:t>
            </a:r>
            <a:r>
              <a:rPr lang="en-US" altLang="ko-KR" b="1" dirty="0">
                <a:solidFill>
                  <a:srgbClr val="0033CC"/>
                </a:solidFill>
                <a:latin typeface="+mn-ea"/>
              </a:rPr>
              <a:t>?</a:t>
            </a:r>
          </a:p>
          <a:p>
            <a:pPr>
              <a:lnSpc>
                <a:spcPts val="2700"/>
              </a:lnSpc>
            </a:pPr>
            <a:r>
              <a:rPr lang="en-US" altLang="ko-KR" dirty="0">
                <a:latin typeface="+mn-ea"/>
              </a:rPr>
              <a:t> 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dirty="0">
                <a:latin typeface="+mn-ea"/>
              </a:rPr>
              <a:t>SVM</a:t>
            </a:r>
            <a:r>
              <a:rPr lang="ko-KR" altLang="en-US" dirty="0">
                <a:latin typeface="+mn-ea"/>
              </a:rPr>
              <a:t>은 공간을 바꿔서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더 높은 차원으로</a:t>
            </a:r>
            <a:r>
              <a:rPr lang="en-US" altLang="ko-KR" dirty="0">
                <a:latin typeface="+mn-ea"/>
              </a:rPr>
              <a:t>) </a:t>
            </a:r>
            <a:r>
              <a:rPr lang="ko-KR" altLang="en-US" dirty="0">
                <a:latin typeface="+mn-ea"/>
              </a:rPr>
              <a:t>직선으로 나눌 수 있게 하자라는 아이디어 사용</a:t>
            </a:r>
            <a:r>
              <a:rPr lang="en-US" altLang="ko-KR" dirty="0">
                <a:latin typeface="+mn-ea"/>
              </a:rPr>
              <a:t>.</a:t>
            </a:r>
            <a:br>
              <a:rPr lang="en-US" altLang="ko-KR" dirty="0">
                <a:latin typeface="+mn-ea"/>
              </a:rPr>
            </a:b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    </a:t>
            </a:r>
            <a:r>
              <a:rPr lang="ko-KR" altLang="en-US" dirty="0">
                <a:latin typeface="+mn-ea"/>
              </a:rPr>
              <a:t>이때 사용하는 기술이 </a:t>
            </a:r>
            <a:r>
              <a:rPr lang="ko-KR" altLang="en-US" b="1" dirty="0">
                <a:latin typeface="+mn-ea"/>
              </a:rPr>
              <a:t>커널</a:t>
            </a:r>
            <a:r>
              <a:rPr lang="en-US" altLang="ko-KR" b="1" dirty="0">
                <a:latin typeface="+mn-ea"/>
              </a:rPr>
              <a:t>(kernel)</a:t>
            </a:r>
            <a:endParaRPr lang="en-US" altLang="ko-KR" dirty="0">
              <a:latin typeface="+mn-ea"/>
            </a:endParaRPr>
          </a:p>
          <a:p>
            <a:pPr>
              <a:lnSpc>
                <a:spcPts val="2700"/>
              </a:lnSpc>
            </a:pPr>
            <a:r>
              <a:rPr lang="ko-KR" altLang="en-US" dirty="0">
                <a:latin typeface="+mn-ea"/>
              </a:rPr>
              <a:t>  대표 커널</a:t>
            </a:r>
            <a:r>
              <a:rPr lang="en-US" altLang="ko-KR" dirty="0">
                <a:latin typeface="+mn-ea"/>
              </a:rPr>
              <a:t>:</a:t>
            </a:r>
          </a:p>
          <a:p>
            <a:pPr marL="363538" indent="176213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latin typeface="+mn-ea"/>
              </a:rPr>
              <a:t>Linear</a:t>
            </a:r>
            <a:r>
              <a:rPr lang="en-US" altLang="ko-KR" dirty="0">
                <a:latin typeface="+mn-ea"/>
              </a:rPr>
              <a:t>: </a:t>
            </a:r>
            <a:r>
              <a:rPr lang="ko-KR" altLang="en-US" dirty="0">
                <a:latin typeface="+mn-ea"/>
              </a:rPr>
              <a:t>빠르고 해석 쉬움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기본</a:t>
            </a:r>
            <a:r>
              <a:rPr lang="en-US" altLang="ko-KR" dirty="0">
                <a:latin typeface="+mn-ea"/>
              </a:rPr>
              <a:t>)</a:t>
            </a:r>
          </a:p>
          <a:p>
            <a:pPr marL="363538" indent="176213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latin typeface="+mn-ea"/>
              </a:rPr>
              <a:t>RBF(Radial Basis Function)</a:t>
            </a:r>
            <a:r>
              <a:rPr lang="en-US" altLang="ko-KR" dirty="0">
                <a:latin typeface="+mn-ea"/>
              </a:rPr>
              <a:t>: </a:t>
            </a:r>
            <a:r>
              <a:rPr lang="ko-KR" altLang="en-US" dirty="0">
                <a:latin typeface="+mn-ea"/>
              </a:rPr>
              <a:t>가장 많이 쓰는 비선형 커널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성능 잘 나옴</a:t>
            </a:r>
            <a:r>
              <a:rPr lang="en-US" altLang="ko-KR" dirty="0">
                <a:latin typeface="+mn-ea"/>
              </a:rPr>
              <a:t>)</a:t>
            </a:r>
          </a:p>
          <a:p>
            <a:pPr marL="363538" indent="176213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latin typeface="+mn-ea"/>
              </a:rPr>
              <a:t>Polynomial</a:t>
            </a:r>
            <a:r>
              <a:rPr lang="en-US" altLang="ko-KR" dirty="0">
                <a:latin typeface="+mn-ea"/>
              </a:rPr>
              <a:t>: </a:t>
            </a:r>
            <a:r>
              <a:rPr lang="ko-KR" altLang="en-US" dirty="0">
                <a:latin typeface="+mn-ea"/>
              </a:rPr>
              <a:t>다항식 형태의 비선형</a:t>
            </a:r>
            <a:endParaRPr lang="en-US" altLang="ko-KR" dirty="0">
              <a:latin typeface="+mn-ea"/>
            </a:endParaRPr>
          </a:p>
          <a:p>
            <a:pPr marL="363538" indent="176213">
              <a:lnSpc>
                <a:spcPts val="2700"/>
              </a:lnSpc>
              <a:buFont typeface="Arial" panose="020B0604020202020204" pitchFamily="34" charset="0"/>
              <a:buChar char="•"/>
            </a:pPr>
            <a:endParaRPr lang="ko-KR" altLang="en-US" dirty="0">
              <a:latin typeface="+mn-ea"/>
            </a:endParaRPr>
          </a:p>
          <a:p>
            <a:pPr>
              <a:lnSpc>
                <a:spcPts val="2700"/>
              </a:lnSpc>
            </a:pPr>
            <a:r>
              <a:rPr lang="en-US" altLang="ko-KR" dirty="0">
                <a:latin typeface="+mn-ea"/>
              </a:rPr>
              <a:t>RBF</a:t>
            </a:r>
            <a:r>
              <a:rPr lang="ko-KR" altLang="en-US" dirty="0">
                <a:latin typeface="+mn-ea"/>
              </a:rPr>
              <a:t>에서 자주 나오는 파라미터가 </a:t>
            </a:r>
            <a:r>
              <a:rPr lang="en-US" altLang="ko-KR" b="1" dirty="0">
                <a:latin typeface="+mn-ea"/>
              </a:rPr>
              <a:t>gamma(γ)</a:t>
            </a:r>
            <a:r>
              <a:rPr lang="en-US" altLang="ko-KR" dirty="0">
                <a:latin typeface="+mn-ea"/>
              </a:rPr>
              <a:t>.</a:t>
            </a:r>
          </a:p>
          <a:p>
            <a:pPr marL="176213" indent="187325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latin typeface="+mn-ea"/>
              </a:rPr>
              <a:t>gamma</a:t>
            </a:r>
            <a:r>
              <a:rPr lang="ko-KR" altLang="en-US" b="1" dirty="0">
                <a:latin typeface="+mn-ea"/>
              </a:rPr>
              <a:t>가 크면</a:t>
            </a:r>
            <a:r>
              <a:rPr lang="en-US" altLang="ko-KR" dirty="0">
                <a:latin typeface="+mn-ea"/>
              </a:rPr>
              <a:t>: </a:t>
            </a:r>
            <a:r>
              <a:rPr lang="ko-KR" altLang="en-US" dirty="0">
                <a:latin typeface="+mn-ea"/>
              </a:rPr>
              <a:t>영향 범위가 </a:t>
            </a:r>
            <a:r>
              <a:rPr lang="ko-KR" altLang="en-US" dirty="0" err="1">
                <a:latin typeface="+mn-ea"/>
              </a:rPr>
              <a:t>좁아짐</a:t>
            </a:r>
            <a:r>
              <a:rPr lang="ko-KR" altLang="en-US" dirty="0">
                <a:latin typeface="+mn-ea"/>
              </a:rPr>
              <a:t> → 아주 구불구불하게 맞춤 → 과적합 위험↑</a:t>
            </a:r>
          </a:p>
          <a:p>
            <a:pPr marL="176213" indent="187325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latin typeface="+mn-ea"/>
              </a:rPr>
              <a:t>gamma</a:t>
            </a:r>
            <a:r>
              <a:rPr lang="ko-KR" altLang="en-US" b="1" dirty="0">
                <a:latin typeface="+mn-ea"/>
              </a:rPr>
              <a:t>가 작으면</a:t>
            </a:r>
            <a:r>
              <a:rPr lang="en-US" altLang="ko-KR" dirty="0">
                <a:latin typeface="+mn-ea"/>
              </a:rPr>
              <a:t>: </a:t>
            </a:r>
            <a:r>
              <a:rPr lang="ko-KR" altLang="en-US" dirty="0">
                <a:latin typeface="+mn-ea"/>
              </a:rPr>
              <a:t>영향 범위가 넓어짐 → 더 매끈하게 → 과소적합 가능</a:t>
            </a:r>
          </a:p>
        </p:txBody>
      </p:sp>
    </p:spTree>
    <p:extLst>
      <p:ext uri="{BB962C8B-B14F-4D97-AF65-F5344CB8AC3E}">
        <p14:creationId xmlns:p14="http://schemas.microsoft.com/office/powerpoint/2010/main" val="2155687503"/>
      </p:ext>
    </p:extLst>
  </p:cSld>
  <p:clrMapOvr>
    <a:masterClrMapping/>
  </p:clrMapOvr>
  <p:transition spd="slow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3-5. SVM(Support Vector Machine) : </a:t>
            </a:r>
            <a:r>
              <a:rPr lang="ko-KR" altLang="en-US" sz="2000" b="1" dirty="0">
                <a:solidFill>
                  <a:schemeClr val="tx1"/>
                </a:solidFill>
              </a:rPr>
              <a:t>비선형 </a:t>
            </a:r>
            <a:r>
              <a:rPr lang="en-US" altLang="ko-KR" sz="2000" b="1" dirty="0">
                <a:solidFill>
                  <a:schemeClr val="tx1"/>
                </a:solidFill>
              </a:rPr>
              <a:t>SVM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0F1368C7-C5B3-42B8-AF5C-94ABC4C72F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3352" y="875885"/>
            <a:ext cx="9502922" cy="37928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arenR"/>
              <a:tabLst/>
            </a:pP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rgbClr val="0033CC"/>
                </a:solidFill>
                <a:effectLst/>
                <a:latin typeface="Arial" panose="020B0604020202020204" pitchFamily="34" charset="0"/>
              </a:rPr>
              <a:t>커널(</a:t>
            </a: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rgbClr val="0033CC"/>
                </a:solidFill>
                <a:effectLst/>
                <a:latin typeface="Arial" panose="020B0604020202020204" pitchFamily="34" charset="0"/>
              </a:rPr>
              <a:t>kernel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rgbClr val="0033CC"/>
                </a:solidFill>
                <a:effectLst/>
                <a:latin typeface="Arial" panose="020B0604020202020204" pitchFamily="34" charset="0"/>
              </a:rPr>
              <a:t>) 트릭: “직선으로 못 나누면, 비교 방법을 바꾼다”</a:t>
            </a:r>
            <a:endParaRPr kumimoji="0" lang="en-US" altLang="ko-KR" b="1" i="0" u="none" strike="noStrike" cap="none" normalizeH="0" baseline="0" dirty="0">
              <a:ln>
                <a:noFill/>
              </a:ln>
              <a:solidFill>
                <a:srgbClr val="0033CC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arenR"/>
              <a:tabLst/>
            </a:pPr>
            <a:endParaRPr kumimoji="0" lang="ko-KR" altLang="ko-KR" b="1" i="0" u="none" strike="noStrike" cap="none" normalizeH="0" baseline="0" dirty="0">
              <a:ln>
                <a:noFill/>
              </a:ln>
              <a:solidFill>
                <a:srgbClr val="0033CC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선형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SVM은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원래 이렇게 생각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한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</a:t>
            </a: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좌표(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temp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humi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)에서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직선(2D)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또는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평면(3D)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같은 “선형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경계”로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나누자.</a:t>
            </a: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 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그런데 데이터가 원형(도넛),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XOR처럼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생기면 직선으로는 못 나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눈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</a:t>
            </a: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latin typeface="Arial" panose="020B0604020202020204" pitchFamily="34" charset="0"/>
              </a:rPr>
              <a:t> 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그래서 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이런 경우에는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SVM은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발상을 바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꾼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</a:t>
            </a: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 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좌표를 직접 바꾸는 대신, 두 점이 얼마나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비슷한지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(유사도)를 계산하는 방식을 바꾸자.</a:t>
            </a: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latin typeface="Arial" panose="020B0604020202020204" pitchFamily="34" charset="0"/>
              </a:rPr>
              <a:t> 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이때 “유사도 계산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공식”이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커널 함수</a:t>
            </a:r>
            <a:r>
              <a:rPr kumimoji="0" lang="ko-KR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</a:t>
            </a:r>
          </a:p>
        </p:txBody>
      </p:sp>
    </p:spTree>
    <p:extLst>
      <p:ext uri="{BB962C8B-B14F-4D97-AF65-F5344CB8AC3E}">
        <p14:creationId xmlns:p14="http://schemas.microsoft.com/office/powerpoint/2010/main" val="2992919837"/>
      </p:ext>
    </p:extLst>
  </p:cSld>
  <p:clrMapOvr>
    <a:masterClrMapping/>
  </p:clrMapOvr>
  <p:transition spd="slow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3-5. SVM(Support Vector Machine) : </a:t>
            </a:r>
            <a:r>
              <a:rPr lang="ko-KR" altLang="en-US" sz="2000" b="1" dirty="0">
                <a:solidFill>
                  <a:schemeClr val="tx1"/>
                </a:solidFill>
              </a:rPr>
              <a:t>비선형 </a:t>
            </a:r>
            <a:r>
              <a:rPr lang="en-US" altLang="ko-KR" sz="2000" b="1" dirty="0">
                <a:solidFill>
                  <a:schemeClr val="tx1"/>
                </a:solidFill>
              </a:rPr>
              <a:t>SVM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D12501FE-7C54-4305-8A19-86BAF2E317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360" y="836712"/>
            <a:ext cx="11521280" cy="362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rgbClr val="0033CC"/>
                </a:solidFill>
                <a:effectLst/>
                <a:latin typeface="Arial" panose="020B0604020202020204" pitchFamily="34" charset="0"/>
              </a:rPr>
              <a:t>2) RBF</a:t>
            </a:r>
            <a:r>
              <a:rPr kumimoji="0" lang="en-US" altLang="ko-KR" b="1" i="0" u="none" strike="noStrike" cap="none" normalizeH="0" baseline="0" dirty="0">
                <a:ln>
                  <a:noFill/>
                </a:ln>
                <a:solidFill>
                  <a:srgbClr val="0033CC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en-US" altLang="ko-KR" b="1" dirty="0">
                <a:solidFill>
                  <a:srgbClr val="0033CC"/>
                </a:solidFill>
                <a:latin typeface="Arial" panose="020B0604020202020204" pitchFamily="34" charset="0"/>
              </a:rPr>
              <a:t>Radial</a:t>
            </a:r>
            <a:r>
              <a:rPr lang="ko-KR" altLang="en-US" b="1" dirty="0">
                <a:solidFill>
                  <a:srgbClr val="0033CC"/>
                </a:solidFill>
                <a:latin typeface="Arial" panose="020B0604020202020204" pitchFamily="34" charset="0"/>
              </a:rPr>
              <a:t> </a:t>
            </a:r>
            <a:r>
              <a:rPr lang="en-US" altLang="ko-KR" b="1" dirty="0">
                <a:solidFill>
                  <a:srgbClr val="0033CC"/>
                </a:solidFill>
                <a:latin typeface="Arial" panose="020B0604020202020204" pitchFamily="34" charset="0"/>
              </a:rPr>
              <a:t>Basis</a:t>
            </a:r>
            <a:r>
              <a:rPr lang="ko-KR" altLang="en-US" b="1" dirty="0">
                <a:solidFill>
                  <a:srgbClr val="0033CC"/>
                </a:solidFill>
                <a:latin typeface="Arial" panose="020B0604020202020204" pitchFamily="34" charset="0"/>
              </a:rPr>
              <a:t> </a:t>
            </a:r>
            <a:r>
              <a:rPr lang="en-US" altLang="ko-KR" b="1" dirty="0">
                <a:solidFill>
                  <a:srgbClr val="0033CC"/>
                </a:solidFill>
                <a:latin typeface="Arial" panose="020B0604020202020204" pitchFamily="34" charset="0"/>
              </a:rPr>
              <a:t>Function, </a:t>
            </a:r>
            <a:r>
              <a:rPr lang="ko-KR" altLang="en-US" b="1" dirty="0">
                <a:solidFill>
                  <a:srgbClr val="0033CC"/>
                </a:solidFill>
                <a:latin typeface="Arial" panose="020B0604020202020204" pitchFamily="34" charset="0"/>
              </a:rPr>
              <a:t>방사 기저 함수</a:t>
            </a:r>
            <a:r>
              <a:rPr lang="en-US" altLang="ko-KR" b="1" dirty="0">
                <a:solidFill>
                  <a:srgbClr val="0033CC"/>
                </a:solidFill>
                <a:latin typeface="Arial" panose="020B0604020202020204" pitchFamily="34" charset="0"/>
              </a:rPr>
              <a:t>)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rgbClr val="0033CC"/>
                </a:solidFill>
                <a:effectLst/>
                <a:latin typeface="Arial" panose="020B0604020202020204" pitchFamily="34" charset="0"/>
              </a:rPr>
              <a:t> 커널은 거리를 유사도로 바꾸는 함수</a:t>
            </a:r>
          </a:p>
          <a:p>
            <a:pPr marL="0" marR="0" lvl="0" indent="0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RBF(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가우시안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커널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식은</a:t>
            </a:r>
            <a:endParaRPr kumimoji="0" lang="ko-KR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 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K(x,x</a:t>
            </a:r>
            <a:r>
              <a:rPr kumimoji="0" lang="ko-KR" altLang="ko-KR" sz="2000" b="0" i="0" u="none" strike="noStrike" cap="none" normalizeH="0" baseline="-2500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)=</a:t>
            </a: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exp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(−γ∥x−xi∥</a:t>
            </a:r>
            <a:r>
              <a:rPr kumimoji="0" lang="ko-KR" altLang="ko-KR" sz="2000" b="0" i="0" u="none" strike="noStrike" cap="none" normalizeH="0" baseline="3000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kumimoji="0" lang="en-US" altLang="ko-K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2438" marR="0" lvl="0" indent="176213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∥x−xi∥</a:t>
            </a:r>
            <a:r>
              <a:rPr kumimoji="0" lang="ko-KR" altLang="ko-KR" b="0" i="0" u="none" strike="noStrike" cap="none" normalizeH="0" baseline="3000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</a:t>
            </a:r>
            <a:r>
              <a:rPr kumimoji="0" lang="en-US" altLang="ko-KR" b="0" i="0" u="none" strike="noStrike" cap="none" normalizeH="0" baseline="3000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: 두 점 사이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거리(제곱거리)</a:t>
            </a:r>
            <a:endParaRPr kumimoji="0" lang="ko-KR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2438" marR="0" lvl="0" indent="176213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⁡(−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something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거리가 멀어질수록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0에 </a:t>
            </a: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가까워짐</a:t>
            </a:r>
            <a:endParaRPr kumimoji="0" lang="ko-KR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2438" marR="0" lvl="0" indent="176213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즉,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가까우면 1에 가깝고</a:t>
            </a:r>
            <a:r>
              <a:rPr kumimoji="0" lang="en-US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멀면 0에 가까운 유사도 점수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가 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된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</a:t>
            </a:r>
          </a:p>
          <a:p>
            <a:pPr marL="0" marR="0" lvl="0" indent="0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1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RBF 커널 = “두 점이 가까우면 </a:t>
            </a: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비슷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(1), 멀면 다름(0)”을 만들어주는 유사도 함수</a:t>
            </a:r>
          </a:p>
        </p:txBody>
      </p:sp>
    </p:spTree>
    <p:extLst>
      <p:ext uri="{BB962C8B-B14F-4D97-AF65-F5344CB8AC3E}">
        <p14:creationId xmlns:p14="http://schemas.microsoft.com/office/powerpoint/2010/main" val="1474194452"/>
      </p:ext>
    </p:extLst>
  </p:cSld>
  <p:clrMapOvr>
    <a:masterClrMapping/>
  </p:clrMapOvr>
  <p:transition spd="slow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3-5. SVM(Support Vector Machine)  : </a:t>
            </a:r>
            <a:r>
              <a:rPr lang="ko-KR" altLang="en-US" sz="2000" b="1" dirty="0">
                <a:solidFill>
                  <a:schemeClr val="tx1"/>
                </a:solidFill>
              </a:rPr>
              <a:t>사용 분야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0DD82F62-BF20-483A-B55F-26BB0812DD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360" y="908720"/>
            <a:ext cx="10297144" cy="42353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1) 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텍스트 분류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(스팸메일, 감성분석, 문서 분류)</a:t>
            </a:r>
            <a:b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선형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SVM이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여전히 강력한 베이스라인인 경우가 많다.</a:t>
            </a:r>
          </a:p>
          <a:p>
            <a:pPr marL="0" marR="0" lvl="0" indent="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2)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생명과학/의료 데이터(표형, 고차원)</a:t>
            </a:r>
            <a:b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예: 유전자 발현 데이터로 질병/정상 분류</a:t>
            </a:r>
            <a:b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    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→ 샘플 수는 적고 차원은 큰 데이터에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SVM이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잘 맞는 경우가 있다.</a:t>
            </a:r>
          </a:p>
          <a:p>
            <a:pPr marL="0" marR="0" lvl="0" indent="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3)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제조/센서 기반 품질 판정(피처 기반)</a:t>
            </a:r>
            <a:b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진동/온도/전류/압력 등에서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특징값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(평균, RMS, FFT 피크 등)을 뽑아 분류할 때</a:t>
            </a:r>
            <a:b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데이터가 중간 규모이고 경계가 복잡하면 RBF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SVM이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강할 때가 있다.</a:t>
            </a:r>
          </a:p>
          <a:p>
            <a:pPr marL="0" marR="0" lvl="0" indent="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4) 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이상탐지(One-</a:t>
            </a:r>
            <a:r>
              <a:rPr kumimoji="0" lang="ko-KR" altLang="ko-KR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</a:t>
            </a:r>
            <a:r>
              <a:rPr kumimoji="0" lang="ko-KR" altLang="ko-K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SVM)</a:t>
            </a:r>
            <a:b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불량 데이터가 거의 없고 “정상만 잔뜩” 있을 때</a:t>
            </a:r>
            <a:b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정상 영역을 학습해 벗어나면 이상으로 보는 방식이 실무에서 </a:t>
            </a:r>
            <a:r>
              <a:rPr kumimoji="0" lang="ko-K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사용된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다.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7B6597EB-A79C-4E3C-93F6-B0CD71A396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5400" y="5217467"/>
            <a:ext cx="6433492" cy="12447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indent="176213" algn="l" defTabSz="914400" rtl="0" eaLnBrk="0" fontAlgn="base" latinLnBrk="0" hangingPunct="0">
              <a:lnSpc>
                <a:spcPts val="23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데이터가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수천~수만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수준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indent="176213" algn="l" defTabSz="914400" rtl="0" eaLnBrk="0" fontAlgn="base" latinLnBrk="0" hangingPunct="0">
              <a:lnSpc>
                <a:spcPts val="23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입력이 이미지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raw가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아니라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특징값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feature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ko-KR" altLang="en-US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으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로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정리된 표 데이터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indent="176213" algn="l" defTabSz="914400" rtl="0" eaLnBrk="0" fontAlgn="base" latinLnBrk="0" hangingPunct="0">
              <a:lnSpc>
                <a:spcPts val="23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선형이 애매하고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비선형 경계가 필요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indent="176213" algn="l" defTabSz="914400" rtl="0" eaLnBrk="0" fontAlgn="base" latinLnBrk="0" hangingPunct="0">
              <a:lnSpc>
                <a:spcPts val="23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성능과 안정성을 빠르게 확보하고 싶음</a:t>
            </a:r>
          </a:p>
        </p:txBody>
      </p:sp>
    </p:spTree>
    <p:extLst>
      <p:ext uri="{BB962C8B-B14F-4D97-AF65-F5344CB8AC3E}">
        <p14:creationId xmlns:p14="http://schemas.microsoft.com/office/powerpoint/2010/main" val="2480952259"/>
      </p:ext>
    </p:extLst>
  </p:cSld>
  <p:clrMapOvr>
    <a:masterClrMapping/>
  </p:clrMapOvr>
  <p:transition spd="slow"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3-5. SVM(Support Vector Machine)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3. </a:t>
            </a:r>
            <a:r>
              <a:rPr lang="ko-KR" altLang="en-US" sz="2000" b="1" dirty="0"/>
              <a:t>지도학습 모델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0858C8-0593-2F20-F6B7-FD2CFABF1F2A}"/>
              </a:ext>
            </a:extLst>
          </p:cNvPr>
          <p:cNvSpPr txBox="1"/>
          <p:nvPr/>
        </p:nvSpPr>
        <p:spPr>
          <a:xfrm>
            <a:off x="165984" y="675530"/>
            <a:ext cx="7416824" cy="28546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buNone/>
            </a:pPr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sklearn.svm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SVC</a:t>
            </a:r>
          </a:p>
          <a:p>
            <a:pPr>
              <a:lnSpc>
                <a:spcPts val="2400"/>
              </a:lnSpc>
              <a:buNone/>
            </a:pPr>
            <a:endParaRPr lang="en-US" altLang="ko-KR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2400"/>
              </a:lnSpc>
              <a:buNone/>
            </a:pP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svm_clf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Pipeline([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"scaler"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StandardScaler()),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clf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SVC(kernel=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rbf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C=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1.0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gamma=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"scale"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results = []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evaluate_model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"SVM (RBF kernel)"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svm_clf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       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x_train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y_train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x_test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y_test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results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AAAFE74-F596-4E77-AEBD-4B72D19C8F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5639" y="2348880"/>
            <a:ext cx="4586361" cy="4503537"/>
          </a:xfrm>
          <a:prstGeom prst="rect">
            <a:avLst/>
          </a:prstGeom>
          <a:ln w="34925">
            <a:solidFill>
              <a:srgbClr val="FFC000"/>
            </a:solidFill>
          </a:ln>
        </p:spPr>
      </p:pic>
    </p:spTree>
    <p:extLst>
      <p:ext uri="{BB962C8B-B14F-4D97-AF65-F5344CB8AC3E}">
        <p14:creationId xmlns:p14="http://schemas.microsoft.com/office/powerpoint/2010/main" val="930444981"/>
      </p:ext>
    </p:extLst>
  </p:cSld>
  <p:clrMapOvr>
    <a:masterClrMapping/>
  </p:clrMapOvr>
  <p:transition spd="slow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-171400"/>
            <a:ext cx="12192000" cy="7029400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 algn="ctr"/>
            <a:r>
              <a:rPr lang="ko-KR" altLang="en-US" sz="3200" b="1" dirty="0">
                <a:latin typeface="+mn-ea"/>
              </a:rPr>
              <a:t>현장에서 자주 사용하는 다른 모델들</a:t>
            </a:r>
            <a:r>
              <a:rPr lang="en-US" altLang="ko-KR" sz="3200" b="1" dirty="0">
                <a:latin typeface="+mn-ea"/>
              </a:rPr>
              <a:t>.</a:t>
            </a:r>
            <a:endParaRPr lang="ko-KR" altLang="en-US" sz="3200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79658123"/>
      </p:ext>
    </p:extLst>
  </p:cSld>
  <p:clrMapOvr>
    <a:masterClrMapping/>
  </p:clrMapOvr>
  <p:transition spd="slow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7" indent="-342900">
              <a:buFont typeface="Arial" panose="020B0604020202020204" pitchFamily="34" charset="0"/>
              <a:buChar char="•"/>
            </a:pPr>
            <a:r>
              <a:rPr lang="ko-KR" altLang="en-US" sz="2000" b="1" dirty="0">
                <a:solidFill>
                  <a:schemeClr val="tx1"/>
                </a:solidFill>
              </a:rPr>
              <a:t>종류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ko-KR" altLang="en-US" sz="2000" b="1" dirty="0"/>
              <a:t>트리 기반 부스팅 계열</a:t>
            </a:r>
          </a:p>
        </p:txBody>
      </p:sp>
      <p:graphicFrame>
        <p:nvGraphicFramePr>
          <p:cNvPr id="8" name="표 10">
            <a:extLst>
              <a:ext uri="{FF2B5EF4-FFF2-40B4-BE49-F238E27FC236}">
                <a16:creationId xmlns:a16="http://schemas.microsoft.com/office/drawing/2014/main" id="{2A15523D-DFA5-4430-8DE4-1E7D461C43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2874549"/>
              </p:ext>
            </p:extLst>
          </p:nvPr>
        </p:nvGraphicFramePr>
        <p:xfrm>
          <a:off x="1019436" y="1142614"/>
          <a:ext cx="10153128" cy="2088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100">
                  <a:extLst>
                    <a:ext uri="{9D8B030D-6E8A-4147-A177-3AD203B41FA5}">
                      <a16:colId xmlns:a16="http://schemas.microsoft.com/office/drawing/2014/main" val="3851742667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4227333475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1446840795"/>
                    </a:ext>
                  </a:extLst>
                </a:gridCol>
                <a:gridCol w="5148572">
                  <a:extLst>
                    <a:ext uri="{9D8B030D-6E8A-4147-A177-3AD203B41FA5}">
                      <a16:colId xmlns:a16="http://schemas.microsoft.com/office/drawing/2014/main" val="1731257107"/>
                    </a:ext>
                  </a:extLst>
                </a:gridCol>
              </a:tblGrid>
              <a:tr h="5220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n-ea"/>
                          <a:ea typeface="+mn-ea"/>
                        </a:rPr>
                        <a:t>순위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n-ea"/>
                          <a:ea typeface="+mn-ea"/>
                        </a:rPr>
                        <a:t>모델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n-ea"/>
                          <a:ea typeface="+mn-ea"/>
                        </a:rPr>
                        <a:t>라이브러리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n-ea"/>
                          <a:ea typeface="+mn-ea"/>
                        </a:rPr>
                        <a:t>특징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5240432"/>
                  </a:ext>
                </a:extLst>
              </a:tr>
              <a:tr h="522058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 err="1">
                          <a:latin typeface="+mn-ea"/>
                          <a:ea typeface="+mn-ea"/>
                        </a:rPr>
                        <a:t>캐글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 대회 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위 단골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속도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성능 균형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1355971"/>
                  </a:ext>
                </a:extLst>
              </a:tr>
              <a:tr h="522058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+mn-ea"/>
                          <a:ea typeface="+mn-ea"/>
                        </a:rPr>
                        <a:t>LightGBM</a:t>
                      </a:r>
                      <a:endParaRPr lang="en-US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+mn-ea"/>
                          <a:ea typeface="+mn-ea"/>
                        </a:rPr>
                        <a:t>lightgbm</a:t>
                      </a:r>
                      <a:endParaRPr lang="en-US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+mn-ea"/>
                          <a:ea typeface="+mn-ea"/>
                        </a:rPr>
                        <a:t>대용량 데이터에 매우 빠름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메모리 효율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7145282"/>
                  </a:ext>
                </a:extLst>
              </a:tr>
              <a:tr h="522058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+mn-ea"/>
                          <a:ea typeface="+mn-ea"/>
                        </a:rPr>
                        <a:t>CatBoost</a:t>
                      </a:r>
                      <a:endParaRPr lang="en-US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+mn-ea"/>
                          <a:ea typeface="+mn-ea"/>
                        </a:rPr>
                        <a:t>catboost</a:t>
                      </a:r>
                      <a:endParaRPr lang="en-US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+mn-ea"/>
                          <a:ea typeface="+mn-ea"/>
                        </a:rPr>
                        <a:t>범주형 변수 자동 처리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튜닝 적게 필요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497842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4125806"/>
      </p:ext>
    </p:extLst>
  </p:cSld>
  <p:clrMapOvr>
    <a:masterClrMapping/>
  </p:clrMapOvr>
  <p:transition spd="slow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7" indent="-342900">
              <a:buFont typeface="Arial" panose="020B0604020202020204" pitchFamily="34" charset="0"/>
              <a:buChar char="•"/>
            </a:pPr>
            <a:r>
              <a:rPr lang="ko-KR" altLang="en-US" sz="2000" b="1" dirty="0">
                <a:solidFill>
                  <a:schemeClr val="tx1"/>
                </a:solidFill>
              </a:rPr>
              <a:t>종류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ko-KR" altLang="en-US" sz="2000" b="1" dirty="0"/>
              <a:t>딥러닝 계열</a:t>
            </a:r>
          </a:p>
        </p:txBody>
      </p:sp>
      <p:graphicFrame>
        <p:nvGraphicFramePr>
          <p:cNvPr id="8" name="표 10">
            <a:extLst>
              <a:ext uri="{FF2B5EF4-FFF2-40B4-BE49-F238E27FC236}">
                <a16:creationId xmlns:a16="http://schemas.microsoft.com/office/drawing/2014/main" id="{2A15523D-DFA5-4430-8DE4-1E7D461C43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227793"/>
              </p:ext>
            </p:extLst>
          </p:nvPr>
        </p:nvGraphicFramePr>
        <p:xfrm>
          <a:off x="1019436" y="1142614"/>
          <a:ext cx="10153128" cy="32224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4276">
                  <a:extLst>
                    <a:ext uri="{9D8B030D-6E8A-4147-A177-3AD203B41FA5}">
                      <a16:colId xmlns:a16="http://schemas.microsoft.com/office/drawing/2014/main" val="3851742667"/>
                    </a:ext>
                  </a:extLst>
                </a:gridCol>
                <a:gridCol w="3096344">
                  <a:extLst>
                    <a:ext uri="{9D8B030D-6E8A-4147-A177-3AD203B41FA5}">
                      <a16:colId xmlns:a16="http://schemas.microsoft.com/office/drawing/2014/main" val="1446840795"/>
                    </a:ext>
                  </a:extLst>
                </a:gridCol>
                <a:gridCol w="4572508">
                  <a:extLst>
                    <a:ext uri="{9D8B030D-6E8A-4147-A177-3AD203B41FA5}">
                      <a16:colId xmlns:a16="http://schemas.microsoft.com/office/drawing/2014/main" val="1731257107"/>
                    </a:ext>
                  </a:extLst>
                </a:gridCol>
              </a:tblGrid>
              <a:tr h="67101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n-ea"/>
                          <a:ea typeface="+mn-ea"/>
                        </a:rPr>
                        <a:t>모델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n-ea"/>
                          <a:ea typeface="+mn-ea"/>
                        </a:rPr>
                        <a:t>라이브러리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n-ea"/>
                          <a:ea typeface="+mn-ea"/>
                        </a:rPr>
                        <a:t>적합한 상황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5240432"/>
                  </a:ext>
                </a:extLst>
              </a:tr>
              <a:tr h="671010"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>
                          <a:latin typeface="+mn-ea"/>
                          <a:ea typeface="+mn-ea"/>
                        </a:rPr>
                        <a:t>MLP (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다층 퍼셉트론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+mn-ea"/>
                          <a:ea typeface="+mn-ea"/>
                        </a:rPr>
                        <a:t>PyTorch, TensorFlow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+mn-ea"/>
                          <a:ea typeface="+mn-ea"/>
                        </a:rPr>
                        <a:t>복잡한 비선형 패턴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1355971"/>
                  </a:ext>
                </a:extLst>
              </a:tr>
              <a:tr h="470118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CNN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+mn-ea"/>
                          <a:ea typeface="+mn-ea"/>
                        </a:rPr>
                        <a:t>PyTorch, TensorFlow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+mn-ea"/>
                          <a:ea typeface="+mn-ea"/>
                        </a:rPr>
                        <a:t>이미지 불량 검사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7145282"/>
                  </a:ext>
                </a:extLst>
              </a:tr>
              <a:tr h="470118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LSTM / GRU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+mn-ea"/>
                          <a:ea typeface="+mn-ea"/>
                        </a:rPr>
                        <a:t>PyTorch, TensorFlow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+mn-ea"/>
                          <a:ea typeface="+mn-ea"/>
                        </a:rPr>
                        <a:t>시계열 센서 데이터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5571739"/>
                  </a:ext>
                </a:extLst>
              </a:tr>
              <a:tr h="470118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Transformer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+mn-ea"/>
                          <a:ea typeface="+mn-ea"/>
                        </a:rPr>
                        <a:t>PyTorch, HuggingFace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+mn-ea"/>
                          <a:ea typeface="+mn-ea"/>
                        </a:rPr>
                        <a:t>복잡한 시계열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자연어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49784249"/>
                  </a:ext>
                </a:extLst>
              </a:tr>
              <a:tr h="470118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Autoencoder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+mn-ea"/>
                          <a:ea typeface="+mn-ea"/>
                        </a:rPr>
                        <a:t>PyTorch, TensorFlow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+mn-ea"/>
                          <a:ea typeface="+mn-ea"/>
                        </a:rPr>
                        <a:t>이상 탐지 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정상만 학습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4576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547037"/>
      </p:ext>
    </p:extLst>
  </p:cSld>
  <p:clrMapOvr>
    <a:masterClrMapping/>
  </p:clrMapOvr>
  <p:transition spd="slow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7" indent="-342900">
              <a:buFont typeface="Arial" panose="020B0604020202020204" pitchFamily="34" charset="0"/>
              <a:buChar char="•"/>
            </a:pPr>
            <a:r>
              <a:rPr lang="ko-KR" altLang="en-US" sz="2000" b="1" dirty="0">
                <a:solidFill>
                  <a:schemeClr val="tx1"/>
                </a:solidFill>
              </a:rPr>
              <a:t>개념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EB4DA6-0B7B-4E55-B469-62D6022E1FDF}"/>
              </a:ext>
            </a:extLst>
          </p:cNvPr>
          <p:cNvSpPr txBox="1"/>
          <p:nvPr/>
        </p:nvSpPr>
        <p:spPr>
          <a:xfrm>
            <a:off x="119336" y="836712"/>
            <a:ext cx="11233248" cy="1848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XGBoost = </a:t>
            </a:r>
            <a:r>
              <a:rPr lang="ko-KR" altLang="en-US" dirty="0">
                <a:latin typeface="+mn-ea"/>
              </a:rPr>
              <a:t>여러 개의 “작은 </a:t>
            </a:r>
            <a:r>
              <a:rPr lang="ko-KR" altLang="en-US" dirty="0" err="1">
                <a:latin typeface="+mn-ea"/>
              </a:rPr>
              <a:t>결정나무”를</a:t>
            </a:r>
            <a:r>
              <a:rPr lang="ko-KR" altLang="en-US" dirty="0">
                <a:latin typeface="+mn-ea"/>
              </a:rPr>
              <a:t> 계속 보완하면서 정답에 가까워지는 알고리즘</a:t>
            </a:r>
            <a:endParaRPr lang="en-US" altLang="ko-KR" dirty="0">
              <a:latin typeface="+mn-ea"/>
            </a:endParaRP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아이디어 </a:t>
            </a:r>
            <a:r>
              <a:rPr lang="en-US" altLang="ko-KR" dirty="0">
                <a:latin typeface="+mn-ea"/>
              </a:rPr>
              <a:t>: </a:t>
            </a:r>
            <a:r>
              <a:rPr lang="ko-KR" altLang="en-US" dirty="0">
                <a:latin typeface="+mn-ea"/>
              </a:rPr>
              <a:t>“한 번에 잘 맞추지 말고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틀린 걸 계속 보완하자”</a:t>
            </a:r>
            <a:endParaRPr lang="en-US" altLang="ko-KR" dirty="0">
              <a:latin typeface="+mn-ea"/>
            </a:endParaRP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왜 이름이 </a:t>
            </a:r>
            <a:r>
              <a:rPr lang="en-US" altLang="ko-KR" dirty="0">
                <a:latin typeface="+mn-ea"/>
              </a:rPr>
              <a:t>XGBoost</a:t>
            </a:r>
            <a:r>
              <a:rPr lang="ko-KR" altLang="en-US" dirty="0">
                <a:latin typeface="+mn-ea"/>
              </a:rPr>
              <a:t>냐</a:t>
            </a:r>
            <a:r>
              <a:rPr lang="en-US" altLang="ko-KR" dirty="0">
                <a:latin typeface="+mn-ea"/>
              </a:rPr>
              <a:t>?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X = </a:t>
            </a:r>
            <a:r>
              <a:rPr lang="en-US" altLang="ko-KR" dirty="0" err="1">
                <a:latin typeface="+mn-ea"/>
              </a:rPr>
              <a:t>eXtreme</a:t>
            </a:r>
            <a:r>
              <a:rPr lang="en-US" altLang="ko-KR" dirty="0">
                <a:latin typeface="+mn-ea"/>
              </a:rPr>
              <a:t> (</a:t>
            </a:r>
            <a:r>
              <a:rPr lang="ko-KR" altLang="en-US" dirty="0">
                <a:latin typeface="+mn-ea"/>
              </a:rPr>
              <a:t>극단적으로 빠르고 강력</a:t>
            </a:r>
            <a:r>
              <a:rPr lang="en-US" altLang="ko-KR" dirty="0">
                <a:latin typeface="+mn-ea"/>
              </a:rPr>
              <a:t>)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G = Gradient (</a:t>
            </a:r>
            <a:r>
              <a:rPr lang="ko-KR" altLang="en-US" dirty="0">
                <a:latin typeface="+mn-ea"/>
              </a:rPr>
              <a:t>기울기 사용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5086442"/>
      </p:ext>
    </p:extLst>
  </p:cSld>
  <p:clrMapOvr>
    <a:masterClrMapping/>
  </p:clrMapOvr>
  <p:transition spd="slow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7" indent="-342900">
              <a:buFont typeface="Arial" panose="020B0604020202020204" pitchFamily="34" charset="0"/>
              <a:buChar char="•"/>
            </a:pPr>
            <a:r>
              <a:rPr lang="ko-KR" altLang="en-US" sz="2000" b="1" dirty="0">
                <a:solidFill>
                  <a:schemeClr val="tx1"/>
                </a:solidFill>
              </a:rPr>
              <a:t>개념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0DB6FFCB-C93D-4C62-8256-1AA53C183412}"/>
              </a:ext>
            </a:extLst>
          </p:cNvPr>
          <p:cNvSpPr/>
          <p:nvPr/>
        </p:nvSpPr>
        <p:spPr>
          <a:xfrm>
            <a:off x="335360" y="980728"/>
            <a:ext cx="1433338" cy="1104265"/>
          </a:xfrm>
          <a:prstGeom prst="round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971443DE-EC51-4CD2-8C6F-324AC34D2115}"/>
              </a:ext>
            </a:extLst>
          </p:cNvPr>
          <p:cNvSpPr/>
          <p:nvPr/>
        </p:nvSpPr>
        <p:spPr>
          <a:xfrm>
            <a:off x="335360" y="1045685"/>
            <a:ext cx="1433338" cy="4871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데이터</a:t>
            </a:r>
            <a:endParaRPr lang="en-US" sz="1600" dirty="0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99E5CB42-D6BE-492C-93FC-9CC92B6361BC}"/>
              </a:ext>
            </a:extLst>
          </p:cNvPr>
          <p:cNvSpPr/>
          <p:nvPr/>
        </p:nvSpPr>
        <p:spPr>
          <a:xfrm>
            <a:off x="335360" y="1565339"/>
            <a:ext cx="1433338" cy="38974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 / humi</a:t>
            </a:r>
            <a:endParaRPr lang="en-US" sz="1400" b="1" dirty="0"/>
          </a:p>
        </p:txBody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FC71111B-1FBC-4BF3-A379-9A5A98834ECE}"/>
              </a:ext>
            </a:extLst>
          </p:cNvPr>
          <p:cNvSpPr/>
          <p:nvPr/>
        </p:nvSpPr>
        <p:spPr>
          <a:xfrm>
            <a:off x="2027169" y="980728"/>
            <a:ext cx="1785798" cy="1104265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42410C73-EC57-4C0A-BE67-0C8F870CC992}"/>
              </a:ext>
            </a:extLst>
          </p:cNvPr>
          <p:cNvSpPr/>
          <p:nvPr/>
        </p:nvSpPr>
        <p:spPr>
          <a:xfrm>
            <a:off x="2027169" y="1045685"/>
            <a:ext cx="1785798" cy="4871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1</a:t>
            </a:r>
            <a:endParaRPr lang="en-US" sz="2000"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64570979-7212-4BF8-8566-665530AF2EAB}"/>
              </a:ext>
            </a:extLst>
          </p:cNvPr>
          <p:cNvSpPr/>
          <p:nvPr/>
        </p:nvSpPr>
        <p:spPr>
          <a:xfrm>
            <a:off x="2027169" y="1565339"/>
            <a:ext cx="1785798" cy="38974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오차 학습</a:t>
            </a:r>
            <a:endParaRPr lang="en-US" sz="1400" b="1" dirty="0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BFA5933E-2D2A-4464-9C48-A401CA920D71}"/>
              </a:ext>
            </a:extLst>
          </p:cNvPr>
          <p:cNvSpPr/>
          <p:nvPr/>
        </p:nvSpPr>
        <p:spPr>
          <a:xfrm>
            <a:off x="4047941" y="980728"/>
            <a:ext cx="1785798" cy="1104265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7E218937-8166-47E7-B8B9-31E743675FC1}"/>
              </a:ext>
            </a:extLst>
          </p:cNvPr>
          <p:cNvSpPr/>
          <p:nvPr/>
        </p:nvSpPr>
        <p:spPr>
          <a:xfrm>
            <a:off x="4047941" y="1045685"/>
            <a:ext cx="1785798" cy="4871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2</a:t>
            </a:r>
            <a:endParaRPr lang="en-US" sz="2000" dirty="0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8813C983-34D8-4934-8851-C3A18537CD7A}"/>
              </a:ext>
            </a:extLst>
          </p:cNvPr>
          <p:cNvSpPr/>
          <p:nvPr/>
        </p:nvSpPr>
        <p:spPr>
          <a:xfrm>
            <a:off x="4047941" y="1565339"/>
            <a:ext cx="1785798" cy="38974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잔여 오차 보완</a:t>
            </a:r>
            <a:endParaRPr lang="en-US" sz="1400" b="1" dirty="0"/>
          </a:p>
        </p:txBody>
      </p:sp>
      <p:sp>
        <p:nvSpPr>
          <p:cNvPr id="27" name="Shape 12">
            <a:extLst>
              <a:ext uri="{FF2B5EF4-FFF2-40B4-BE49-F238E27FC236}">
                <a16:creationId xmlns:a16="http://schemas.microsoft.com/office/drawing/2014/main" id="{8D59E9C6-7B10-4387-B945-30E8FAF8438D}"/>
              </a:ext>
            </a:extLst>
          </p:cNvPr>
          <p:cNvSpPr/>
          <p:nvPr/>
        </p:nvSpPr>
        <p:spPr>
          <a:xfrm>
            <a:off x="6068713" y="980728"/>
            <a:ext cx="1785798" cy="1104265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8" name="Text 13">
            <a:extLst>
              <a:ext uri="{FF2B5EF4-FFF2-40B4-BE49-F238E27FC236}">
                <a16:creationId xmlns:a16="http://schemas.microsoft.com/office/drawing/2014/main" id="{EE75FD48-0272-49D7-9C01-D259183D1933}"/>
              </a:ext>
            </a:extLst>
          </p:cNvPr>
          <p:cNvSpPr/>
          <p:nvPr/>
        </p:nvSpPr>
        <p:spPr>
          <a:xfrm>
            <a:off x="6068713" y="1045685"/>
            <a:ext cx="1785798" cy="4871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N</a:t>
            </a:r>
            <a:endParaRPr lang="en-US" sz="2000" dirty="0"/>
          </a:p>
        </p:txBody>
      </p:sp>
      <p:sp>
        <p:nvSpPr>
          <p:cNvPr id="29" name="Text 14">
            <a:extLst>
              <a:ext uri="{FF2B5EF4-FFF2-40B4-BE49-F238E27FC236}">
                <a16:creationId xmlns:a16="http://schemas.microsoft.com/office/drawing/2014/main" id="{B7F6D03E-E1AF-470F-AA26-D9E47A2619C8}"/>
              </a:ext>
            </a:extLst>
          </p:cNvPr>
          <p:cNvSpPr/>
          <p:nvPr/>
        </p:nvSpPr>
        <p:spPr>
          <a:xfrm>
            <a:off x="6068713" y="1565339"/>
            <a:ext cx="1785798" cy="38974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 보완</a:t>
            </a:r>
            <a:endParaRPr lang="en-US" sz="1400" b="1" dirty="0"/>
          </a:p>
        </p:txBody>
      </p:sp>
      <p:sp>
        <p:nvSpPr>
          <p:cNvPr id="30" name="Shape 15">
            <a:extLst>
              <a:ext uri="{FF2B5EF4-FFF2-40B4-BE49-F238E27FC236}">
                <a16:creationId xmlns:a16="http://schemas.microsoft.com/office/drawing/2014/main" id="{48DB2DCF-FA93-442B-9D78-2F2FEA961F16}"/>
              </a:ext>
            </a:extLst>
          </p:cNvPr>
          <p:cNvSpPr/>
          <p:nvPr/>
        </p:nvSpPr>
        <p:spPr>
          <a:xfrm>
            <a:off x="8089485" y="980728"/>
            <a:ext cx="1292354" cy="1104265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31" name="Text 16">
            <a:extLst>
              <a:ext uri="{FF2B5EF4-FFF2-40B4-BE49-F238E27FC236}">
                <a16:creationId xmlns:a16="http://schemas.microsoft.com/office/drawing/2014/main" id="{A6886E91-4450-4BEA-8754-25474E2C44C9}"/>
              </a:ext>
            </a:extLst>
          </p:cNvPr>
          <p:cNvSpPr/>
          <p:nvPr/>
        </p:nvSpPr>
        <p:spPr>
          <a:xfrm>
            <a:off x="8089485" y="1045685"/>
            <a:ext cx="1292354" cy="4871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합산</a:t>
            </a:r>
            <a:endParaRPr lang="en-US" dirty="0"/>
          </a:p>
        </p:txBody>
      </p:sp>
      <p:sp>
        <p:nvSpPr>
          <p:cNvPr id="32" name="Text 17">
            <a:extLst>
              <a:ext uri="{FF2B5EF4-FFF2-40B4-BE49-F238E27FC236}">
                <a16:creationId xmlns:a16="http://schemas.microsoft.com/office/drawing/2014/main" id="{F2475803-A883-4E7B-948B-0252AC355D6E}"/>
              </a:ext>
            </a:extLst>
          </p:cNvPr>
          <p:cNvSpPr/>
          <p:nvPr/>
        </p:nvSpPr>
        <p:spPr>
          <a:xfrm>
            <a:off x="8089485" y="1565339"/>
            <a:ext cx="1292354" cy="38974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 합계</a:t>
            </a:r>
            <a:endParaRPr lang="en-US" sz="1400" b="1" dirty="0"/>
          </a:p>
        </p:txBody>
      </p:sp>
      <p:sp>
        <p:nvSpPr>
          <p:cNvPr id="33" name="Shape 18">
            <a:extLst>
              <a:ext uri="{FF2B5EF4-FFF2-40B4-BE49-F238E27FC236}">
                <a16:creationId xmlns:a16="http://schemas.microsoft.com/office/drawing/2014/main" id="{441625D6-980B-4248-95B5-CBDDC3FF83D7}"/>
              </a:ext>
            </a:extLst>
          </p:cNvPr>
          <p:cNvSpPr/>
          <p:nvPr/>
        </p:nvSpPr>
        <p:spPr>
          <a:xfrm>
            <a:off x="9616812" y="980728"/>
            <a:ext cx="1879788" cy="1104265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34" name="Text 19">
            <a:extLst>
              <a:ext uri="{FF2B5EF4-FFF2-40B4-BE49-F238E27FC236}">
                <a16:creationId xmlns:a16="http://schemas.microsoft.com/office/drawing/2014/main" id="{B190DA55-B872-4FA2-960E-65A87CE03E74}"/>
              </a:ext>
            </a:extLst>
          </p:cNvPr>
          <p:cNvSpPr/>
          <p:nvPr/>
        </p:nvSpPr>
        <p:spPr>
          <a:xfrm>
            <a:off x="9616812" y="1045685"/>
            <a:ext cx="1879788" cy="4871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판정</a:t>
            </a:r>
            <a:endParaRPr lang="en-US" dirty="0"/>
          </a:p>
        </p:txBody>
      </p:sp>
      <p:sp>
        <p:nvSpPr>
          <p:cNvPr id="35" name="Text 20">
            <a:extLst>
              <a:ext uri="{FF2B5EF4-FFF2-40B4-BE49-F238E27FC236}">
                <a16:creationId xmlns:a16="http://schemas.microsoft.com/office/drawing/2014/main" id="{B8AC073E-8A60-4C6A-A566-389DB50681D0}"/>
              </a:ext>
            </a:extLst>
          </p:cNvPr>
          <p:cNvSpPr/>
          <p:nvPr/>
        </p:nvSpPr>
        <p:spPr>
          <a:xfrm>
            <a:off x="9616812" y="1565339"/>
            <a:ext cx="1879788" cy="38974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BBF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정상 / 불량</a:t>
            </a:r>
            <a:endParaRPr lang="en-US" sz="1400" b="1" dirty="0"/>
          </a:p>
        </p:txBody>
      </p:sp>
      <p:sp>
        <p:nvSpPr>
          <p:cNvPr id="41" name="Shape 26">
            <a:extLst>
              <a:ext uri="{FF2B5EF4-FFF2-40B4-BE49-F238E27FC236}">
                <a16:creationId xmlns:a16="http://schemas.microsoft.com/office/drawing/2014/main" id="{C6AF5A91-B518-4685-A5E7-85FD8CF54F2A}"/>
              </a:ext>
            </a:extLst>
          </p:cNvPr>
          <p:cNvSpPr/>
          <p:nvPr/>
        </p:nvSpPr>
        <p:spPr>
          <a:xfrm>
            <a:off x="2262142" y="2182428"/>
            <a:ext cx="1315851" cy="357262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 sz="3200" b="1"/>
          </a:p>
        </p:txBody>
      </p:sp>
      <p:sp>
        <p:nvSpPr>
          <p:cNvPr id="42" name="Text 27">
            <a:extLst>
              <a:ext uri="{FF2B5EF4-FFF2-40B4-BE49-F238E27FC236}">
                <a16:creationId xmlns:a16="http://schemas.microsoft.com/office/drawing/2014/main" id="{AFEE0CF1-2F18-4FB2-82BF-CF0F0120A3E5}"/>
              </a:ext>
            </a:extLst>
          </p:cNvPr>
          <p:cNvSpPr/>
          <p:nvPr/>
        </p:nvSpPr>
        <p:spPr>
          <a:xfrm>
            <a:off x="2262142" y="2182428"/>
            <a:ext cx="1315851" cy="35726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잔여 오차</a:t>
            </a:r>
            <a:endParaRPr lang="en-US" sz="1200" b="1" dirty="0"/>
          </a:p>
        </p:txBody>
      </p:sp>
      <p:sp>
        <p:nvSpPr>
          <p:cNvPr id="43" name="Shape 28">
            <a:extLst>
              <a:ext uri="{FF2B5EF4-FFF2-40B4-BE49-F238E27FC236}">
                <a16:creationId xmlns:a16="http://schemas.microsoft.com/office/drawing/2014/main" id="{26A30A5F-96EA-4066-93FA-60FFDE3D7C85}"/>
              </a:ext>
            </a:extLst>
          </p:cNvPr>
          <p:cNvSpPr/>
          <p:nvPr/>
        </p:nvSpPr>
        <p:spPr>
          <a:xfrm>
            <a:off x="4282914" y="2182428"/>
            <a:ext cx="1315851" cy="357262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 sz="3200" b="1"/>
          </a:p>
        </p:txBody>
      </p:sp>
      <p:sp>
        <p:nvSpPr>
          <p:cNvPr id="44" name="Text 29">
            <a:extLst>
              <a:ext uri="{FF2B5EF4-FFF2-40B4-BE49-F238E27FC236}">
                <a16:creationId xmlns:a16="http://schemas.microsoft.com/office/drawing/2014/main" id="{9F24E3DF-D83C-46C8-9319-8631427A2113}"/>
              </a:ext>
            </a:extLst>
          </p:cNvPr>
          <p:cNvSpPr/>
          <p:nvPr/>
        </p:nvSpPr>
        <p:spPr>
          <a:xfrm>
            <a:off x="4282914" y="2182428"/>
            <a:ext cx="1315851" cy="35726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 작은 오차</a:t>
            </a:r>
            <a:endParaRPr lang="en-US" sz="1200" b="1" dirty="0"/>
          </a:p>
        </p:txBody>
      </p:sp>
      <p:sp>
        <p:nvSpPr>
          <p:cNvPr id="45" name="Shape 30">
            <a:extLst>
              <a:ext uri="{FF2B5EF4-FFF2-40B4-BE49-F238E27FC236}">
                <a16:creationId xmlns:a16="http://schemas.microsoft.com/office/drawing/2014/main" id="{DD9226C2-35A7-4450-934D-014E09BA16B7}"/>
              </a:ext>
            </a:extLst>
          </p:cNvPr>
          <p:cNvSpPr/>
          <p:nvPr/>
        </p:nvSpPr>
        <p:spPr>
          <a:xfrm>
            <a:off x="6303686" y="2182428"/>
            <a:ext cx="1315851" cy="357262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 sz="3200" b="1"/>
          </a:p>
        </p:txBody>
      </p:sp>
      <p:sp>
        <p:nvSpPr>
          <p:cNvPr id="46" name="Text 31">
            <a:extLst>
              <a:ext uri="{FF2B5EF4-FFF2-40B4-BE49-F238E27FC236}">
                <a16:creationId xmlns:a16="http://schemas.microsoft.com/office/drawing/2014/main" id="{A5657AB7-C329-4BE9-8C65-69196ED4665D}"/>
              </a:ext>
            </a:extLst>
          </p:cNvPr>
          <p:cNvSpPr/>
          <p:nvPr/>
        </p:nvSpPr>
        <p:spPr>
          <a:xfrm>
            <a:off x="6303686" y="2182428"/>
            <a:ext cx="1315851" cy="35726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오차 최소화</a:t>
            </a:r>
            <a:endParaRPr lang="en-US" sz="1200" b="1" dirty="0"/>
          </a:p>
        </p:txBody>
      </p:sp>
      <p:sp>
        <p:nvSpPr>
          <p:cNvPr id="47" name="Shape 32">
            <a:extLst>
              <a:ext uri="{FF2B5EF4-FFF2-40B4-BE49-F238E27FC236}">
                <a16:creationId xmlns:a16="http://schemas.microsoft.com/office/drawing/2014/main" id="{E3537405-EB19-4DC5-8E14-2CEE1D372448}"/>
              </a:ext>
            </a:extLst>
          </p:cNvPr>
          <p:cNvSpPr/>
          <p:nvPr/>
        </p:nvSpPr>
        <p:spPr>
          <a:xfrm>
            <a:off x="335360" y="2848235"/>
            <a:ext cx="3524602" cy="2143573"/>
          </a:xfrm>
          <a:prstGeom prst="roundRect">
            <a:avLst/>
          </a:prstGeom>
          <a:solidFill>
            <a:srgbClr val="0F1E35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48" name="Shape 33">
            <a:extLst>
              <a:ext uri="{FF2B5EF4-FFF2-40B4-BE49-F238E27FC236}">
                <a16:creationId xmlns:a16="http://schemas.microsoft.com/office/drawing/2014/main" id="{5DB4C9E2-6062-4250-984C-DA7EFB205E74}"/>
              </a:ext>
            </a:extLst>
          </p:cNvPr>
          <p:cNvSpPr/>
          <p:nvPr/>
        </p:nvSpPr>
        <p:spPr>
          <a:xfrm>
            <a:off x="335360" y="2848235"/>
            <a:ext cx="3524602" cy="4871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49" name="Text 34">
            <a:extLst>
              <a:ext uri="{FF2B5EF4-FFF2-40B4-BE49-F238E27FC236}">
                <a16:creationId xmlns:a16="http://schemas.microsoft.com/office/drawing/2014/main" id="{8DAA08CD-37CC-400F-B62E-D53C5DB4A3E6}"/>
              </a:ext>
            </a:extLst>
          </p:cNvPr>
          <p:cNvSpPr/>
          <p:nvPr/>
        </p:nvSpPr>
        <p:spPr>
          <a:xfrm>
            <a:off x="452847" y="2864474"/>
            <a:ext cx="3289629" cy="45469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원리 — 순차 보완</a:t>
            </a:r>
            <a:endParaRPr lang="en-US" dirty="0"/>
          </a:p>
        </p:txBody>
      </p:sp>
      <p:sp>
        <p:nvSpPr>
          <p:cNvPr id="50" name="Text 35">
            <a:extLst>
              <a:ext uri="{FF2B5EF4-FFF2-40B4-BE49-F238E27FC236}">
                <a16:creationId xmlns:a16="http://schemas.microsoft.com/office/drawing/2014/main" id="{E7C169D1-8799-4715-A083-A8FD7E8953D6}"/>
              </a:ext>
            </a:extLst>
          </p:cNvPr>
          <p:cNvSpPr/>
          <p:nvPr/>
        </p:nvSpPr>
        <p:spPr>
          <a:xfrm>
            <a:off x="476344" y="3400368"/>
            <a:ext cx="3266131" cy="38974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Tree 1: 전체 오차(잔차) 학습</a:t>
            </a:r>
            <a:endParaRPr lang="en-US" sz="1600" dirty="0"/>
          </a:p>
        </p:txBody>
      </p:sp>
      <p:sp>
        <p:nvSpPr>
          <p:cNvPr id="51" name="Text 36">
            <a:extLst>
              <a:ext uri="{FF2B5EF4-FFF2-40B4-BE49-F238E27FC236}">
                <a16:creationId xmlns:a16="http://schemas.microsoft.com/office/drawing/2014/main" id="{59FDCD1F-DB91-4399-947F-95110A7D7A06}"/>
              </a:ext>
            </a:extLst>
          </p:cNvPr>
          <p:cNvSpPr/>
          <p:nvPr/>
        </p:nvSpPr>
        <p:spPr>
          <a:xfrm>
            <a:off x="476344" y="3790108"/>
            <a:ext cx="3266131" cy="38974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Tree 2: Tree 1 못 맞춘 오차 학습</a:t>
            </a:r>
            <a:endParaRPr lang="en-US" sz="1600" dirty="0"/>
          </a:p>
        </p:txBody>
      </p:sp>
      <p:sp>
        <p:nvSpPr>
          <p:cNvPr id="52" name="Text 37">
            <a:extLst>
              <a:ext uri="{FF2B5EF4-FFF2-40B4-BE49-F238E27FC236}">
                <a16:creationId xmlns:a16="http://schemas.microsoft.com/office/drawing/2014/main" id="{A8852C16-3D5D-494E-B6F2-5BE09146BA10}"/>
              </a:ext>
            </a:extLst>
          </p:cNvPr>
          <p:cNvSpPr/>
          <p:nvPr/>
        </p:nvSpPr>
        <p:spPr>
          <a:xfrm>
            <a:off x="476344" y="4179849"/>
            <a:ext cx="3266131" cy="38974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Tree N: 반복하며 오차 점점 줄임</a:t>
            </a:r>
            <a:endParaRPr lang="en-US" sz="1600" dirty="0"/>
          </a:p>
        </p:txBody>
      </p:sp>
      <p:sp>
        <p:nvSpPr>
          <p:cNvPr id="53" name="Text 38">
            <a:extLst>
              <a:ext uri="{FF2B5EF4-FFF2-40B4-BE49-F238E27FC236}">
                <a16:creationId xmlns:a16="http://schemas.microsoft.com/office/drawing/2014/main" id="{9715BBF4-4187-447C-B6E2-00AB52655C19}"/>
              </a:ext>
            </a:extLst>
          </p:cNvPr>
          <p:cNvSpPr/>
          <p:nvPr/>
        </p:nvSpPr>
        <p:spPr>
          <a:xfrm>
            <a:off x="476344" y="4569590"/>
            <a:ext cx="3266131" cy="38974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최종 = 모든 트리 출력의 합산</a:t>
            </a:r>
            <a:endParaRPr lang="en-US" sz="1600" dirty="0"/>
          </a:p>
        </p:txBody>
      </p:sp>
      <p:sp>
        <p:nvSpPr>
          <p:cNvPr id="54" name="Shape 39">
            <a:extLst>
              <a:ext uri="{FF2B5EF4-FFF2-40B4-BE49-F238E27FC236}">
                <a16:creationId xmlns:a16="http://schemas.microsoft.com/office/drawing/2014/main" id="{219CDB39-65D6-45A3-B2E0-1F755208BB8C}"/>
              </a:ext>
            </a:extLst>
          </p:cNvPr>
          <p:cNvSpPr/>
          <p:nvPr/>
        </p:nvSpPr>
        <p:spPr>
          <a:xfrm>
            <a:off x="4212422" y="2848235"/>
            <a:ext cx="3524602" cy="2143573"/>
          </a:xfrm>
          <a:prstGeom prst="roundRect">
            <a:avLst/>
          </a:prstGeom>
          <a:solidFill>
            <a:srgbClr val="0F1E35"/>
          </a:solidFill>
          <a:ln w="1905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55" name="Shape 40">
            <a:extLst>
              <a:ext uri="{FF2B5EF4-FFF2-40B4-BE49-F238E27FC236}">
                <a16:creationId xmlns:a16="http://schemas.microsoft.com/office/drawing/2014/main" id="{2C393819-9FF4-44C1-B746-4B523E506100}"/>
              </a:ext>
            </a:extLst>
          </p:cNvPr>
          <p:cNvSpPr/>
          <p:nvPr/>
        </p:nvSpPr>
        <p:spPr>
          <a:xfrm>
            <a:off x="4212422" y="2848235"/>
            <a:ext cx="3524602" cy="4871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56" name="Text 41">
            <a:extLst>
              <a:ext uri="{FF2B5EF4-FFF2-40B4-BE49-F238E27FC236}">
                <a16:creationId xmlns:a16="http://schemas.microsoft.com/office/drawing/2014/main" id="{36C92934-2875-424A-996D-8FA0E44D2A46}"/>
              </a:ext>
            </a:extLst>
          </p:cNvPr>
          <p:cNvSpPr/>
          <p:nvPr/>
        </p:nvSpPr>
        <p:spPr>
          <a:xfrm>
            <a:off x="4329909" y="2864474"/>
            <a:ext cx="3289629" cy="45469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파라미터</a:t>
            </a:r>
            <a:endParaRPr lang="en-US" dirty="0"/>
          </a:p>
        </p:txBody>
      </p:sp>
      <p:sp>
        <p:nvSpPr>
          <p:cNvPr id="57" name="Text 42">
            <a:extLst>
              <a:ext uri="{FF2B5EF4-FFF2-40B4-BE49-F238E27FC236}">
                <a16:creationId xmlns:a16="http://schemas.microsoft.com/office/drawing/2014/main" id="{559D126A-1E3A-4DD1-AAB7-381D6BC84455}"/>
              </a:ext>
            </a:extLst>
          </p:cNvPr>
          <p:cNvSpPr/>
          <p:nvPr/>
        </p:nvSpPr>
        <p:spPr>
          <a:xfrm>
            <a:off x="4353406" y="3400368"/>
            <a:ext cx="3266131" cy="38974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n_estimators: 트리 개수 (100)</a:t>
            </a:r>
            <a:endParaRPr lang="en-US" sz="1600" dirty="0"/>
          </a:p>
        </p:txBody>
      </p:sp>
      <p:sp>
        <p:nvSpPr>
          <p:cNvPr id="58" name="Text 43">
            <a:extLst>
              <a:ext uri="{FF2B5EF4-FFF2-40B4-BE49-F238E27FC236}">
                <a16:creationId xmlns:a16="http://schemas.microsoft.com/office/drawing/2014/main" id="{A2CC8DAB-29E1-4020-BF59-AEC66C41418B}"/>
              </a:ext>
            </a:extLst>
          </p:cNvPr>
          <p:cNvSpPr/>
          <p:nvPr/>
        </p:nvSpPr>
        <p:spPr>
          <a:xfrm>
            <a:off x="4353406" y="3790108"/>
            <a:ext cx="3266131" cy="38974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learning_rate: 각 트리 기여도 (0.1)</a:t>
            </a:r>
            <a:endParaRPr lang="en-US" sz="1600" dirty="0"/>
          </a:p>
        </p:txBody>
      </p:sp>
      <p:sp>
        <p:nvSpPr>
          <p:cNvPr id="59" name="Text 44">
            <a:extLst>
              <a:ext uri="{FF2B5EF4-FFF2-40B4-BE49-F238E27FC236}">
                <a16:creationId xmlns:a16="http://schemas.microsoft.com/office/drawing/2014/main" id="{80C9F5F6-D26A-43E9-A881-29749F915969}"/>
              </a:ext>
            </a:extLst>
          </p:cNvPr>
          <p:cNvSpPr/>
          <p:nvPr/>
        </p:nvSpPr>
        <p:spPr>
          <a:xfrm>
            <a:off x="4353406" y="4179849"/>
            <a:ext cx="3266131" cy="38974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max_depth: 트리 깊이 제한 (6)</a:t>
            </a:r>
            <a:endParaRPr lang="en-US" sz="1600" dirty="0"/>
          </a:p>
        </p:txBody>
      </p:sp>
      <p:sp>
        <p:nvSpPr>
          <p:cNvPr id="60" name="Text 45">
            <a:extLst>
              <a:ext uri="{FF2B5EF4-FFF2-40B4-BE49-F238E27FC236}">
                <a16:creationId xmlns:a16="http://schemas.microsoft.com/office/drawing/2014/main" id="{30401762-87A7-45A7-BE0D-D179E7EAA624}"/>
              </a:ext>
            </a:extLst>
          </p:cNvPr>
          <p:cNvSpPr/>
          <p:nvPr/>
        </p:nvSpPr>
        <p:spPr>
          <a:xfrm>
            <a:off x="4353406" y="4569590"/>
            <a:ext cx="3266131" cy="38974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early_stopping: 과적합 자동 방지</a:t>
            </a:r>
            <a:endParaRPr lang="en-US" sz="1600" dirty="0"/>
          </a:p>
        </p:txBody>
      </p:sp>
      <p:sp>
        <p:nvSpPr>
          <p:cNvPr id="61" name="Shape 46">
            <a:extLst>
              <a:ext uri="{FF2B5EF4-FFF2-40B4-BE49-F238E27FC236}">
                <a16:creationId xmlns:a16="http://schemas.microsoft.com/office/drawing/2014/main" id="{0CF88660-3920-4CFA-9CB7-739D92C3F599}"/>
              </a:ext>
            </a:extLst>
          </p:cNvPr>
          <p:cNvSpPr/>
          <p:nvPr/>
        </p:nvSpPr>
        <p:spPr>
          <a:xfrm>
            <a:off x="7971998" y="2848235"/>
            <a:ext cx="3524602" cy="2143573"/>
          </a:xfrm>
          <a:prstGeom prst="roundRect">
            <a:avLst/>
          </a:prstGeom>
          <a:solidFill>
            <a:srgbClr val="0F1E35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62" name="Shape 47">
            <a:extLst>
              <a:ext uri="{FF2B5EF4-FFF2-40B4-BE49-F238E27FC236}">
                <a16:creationId xmlns:a16="http://schemas.microsoft.com/office/drawing/2014/main" id="{871F6B48-4F76-41D3-8B8D-6D0B184FA0ED}"/>
              </a:ext>
            </a:extLst>
          </p:cNvPr>
          <p:cNvSpPr/>
          <p:nvPr/>
        </p:nvSpPr>
        <p:spPr>
          <a:xfrm>
            <a:off x="7971998" y="2848235"/>
            <a:ext cx="3524602" cy="4871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63" name="Text 48">
            <a:extLst>
              <a:ext uri="{FF2B5EF4-FFF2-40B4-BE49-F238E27FC236}">
                <a16:creationId xmlns:a16="http://schemas.microsoft.com/office/drawing/2014/main" id="{061A6EE6-0BDA-4CD5-AF1C-F83D9A605BDB}"/>
              </a:ext>
            </a:extLst>
          </p:cNvPr>
          <p:cNvSpPr/>
          <p:nvPr/>
        </p:nvSpPr>
        <p:spPr>
          <a:xfrm>
            <a:off x="8089485" y="2864474"/>
            <a:ext cx="3289629" cy="45469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Random Forest</a:t>
            </a:r>
            <a:endParaRPr lang="en-US" dirty="0"/>
          </a:p>
        </p:txBody>
      </p:sp>
      <p:sp>
        <p:nvSpPr>
          <p:cNvPr id="64" name="Text 49">
            <a:extLst>
              <a:ext uri="{FF2B5EF4-FFF2-40B4-BE49-F238E27FC236}">
                <a16:creationId xmlns:a16="http://schemas.microsoft.com/office/drawing/2014/main" id="{DCE43538-80D1-438C-876F-65611CB93F17}"/>
              </a:ext>
            </a:extLst>
          </p:cNvPr>
          <p:cNvSpPr/>
          <p:nvPr/>
        </p:nvSpPr>
        <p:spPr>
          <a:xfrm>
            <a:off x="8112982" y="3400368"/>
            <a:ext cx="3266131" cy="38974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RF: 독립 트리 → 다수결</a:t>
            </a:r>
            <a:endParaRPr lang="en-US" sz="1600" dirty="0"/>
          </a:p>
        </p:txBody>
      </p:sp>
      <p:sp>
        <p:nvSpPr>
          <p:cNvPr id="65" name="Text 50">
            <a:extLst>
              <a:ext uri="{FF2B5EF4-FFF2-40B4-BE49-F238E27FC236}">
                <a16:creationId xmlns:a16="http://schemas.microsoft.com/office/drawing/2014/main" id="{9286EFD7-DB7D-433F-95F8-AF17886AC9DF}"/>
              </a:ext>
            </a:extLst>
          </p:cNvPr>
          <p:cNvSpPr/>
          <p:nvPr/>
        </p:nvSpPr>
        <p:spPr>
          <a:xfrm>
            <a:off x="8112982" y="3790108"/>
            <a:ext cx="3266131" cy="38974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XGB: 오차 순차 보완 → 합산</a:t>
            </a:r>
            <a:endParaRPr lang="en-US" sz="1600" dirty="0"/>
          </a:p>
        </p:txBody>
      </p:sp>
      <p:sp>
        <p:nvSpPr>
          <p:cNvPr id="66" name="Text 51">
            <a:extLst>
              <a:ext uri="{FF2B5EF4-FFF2-40B4-BE49-F238E27FC236}">
                <a16:creationId xmlns:a16="http://schemas.microsoft.com/office/drawing/2014/main" id="{FE4EF906-5D58-4B98-86C2-B09A30E01BF8}"/>
              </a:ext>
            </a:extLst>
          </p:cNvPr>
          <p:cNvSpPr/>
          <p:nvPr/>
        </p:nvSpPr>
        <p:spPr>
          <a:xfrm>
            <a:off x="8112982" y="4179849"/>
            <a:ext cx="3266131" cy="38974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XGB가 정형 데이터에서 더 강함</a:t>
            </a:r>
            <a:endParaRPr lang="en-US" sz="1600" dirty="0"/>
          </a:p>
        </p:txBody>
      </p:sp>
      <p:sp>
        <p:nvSpPr>
          <p:cNvPr id="67" name="Text 52">
            <a:extLst>
              <a:ext uri="{FF2B5EF4-FFF2-40B4-BE49-F238E27FC236}">
                <a16:creationId xmlns:a16="http://schemas.microsoft.com/office/drawing/2014/main" id="{49C32C9E-D92E-499D-9192-01DB73FA5F18}"/>
              </a:ext>
            </a:extLst>
          </p:cNvPr>
          <p:cNvSpPr/>
          <p:nvPr/>
        </p:nvSpPr>
        <p:spPr>
          <a:xfrm>
            <a:off x="8112982" y="4569590"/>
            <a:ext cx="3266131" cy="38974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캐글 1위 단골 알고리즘</a:t>
            </a:r>
            <a:endParaRPr lang="en-US" sz="1600" dirty="0"/>
          </a:p>
        </p:txBody>
      </p:sp>
      <p:sp>
        <p:nvSpPr>
          <p:cNvPr id="68" name="Shape 53">
            <a:extLst>
              <a:ext uri="{FF2B5EF4-FFF2-40B4-BE49-F238E27FC236}">
                <a16:creationId xmlns:a16="http://schemas.microsoft.com/office/drawing/2014/main" id="{ECEC4120-5C66-4C65-8FBA-6D07108CB9FE}"/>
              </a:ext>
            </a:extLst>
          </p:cNvPr>
          <p:cNvSpPr/>
          <p:nvPr/>
        </p:nvSpPr>
        <p:spPr>
          <a:xfrm>
            <a:off x="335360" y="5284114"/>
            <a:ext cx="6696744" cy="1169222"/>
          </a:xfrm>
          <a:prstGeom prst="roundRect">
            <a:avLst/>
          </a:prstGeom>
          <a:solidFill>
            <a:srgbClr val="09162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69" name="Text 54">
            <a:extLst>
              <a:ext uri="{FF2B5EF4-FFF2-40B4-BE49-F238E27FC236}">
                <a16:creationId xmlns:a16="http://schemas.microsoft.com/office/drawing/2014/main" id="{9740AC4F-2D2D-4510-84B0-7338C2D09F83}"/>
              </a:ext>
            </a:extLst>
          </p:cNvPr>
          <p:cNvSpPr/>
          <p:nvPr/>
        </p:nvSpPr>
        <p:spPr>
          <a:xfrm>
            <a:off x="476344" y="5316592"/>
            <a:ext cx="704920" cy="38974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수식</a:t>
            </a:r>
            <a:endParaRPr lang="en-US" sz="1400" dirty="0"/>
          </a:p>
        </p:txBody>
      </p:sp>
      <p:sp>
        <p:nvSpPr>
          <p:cNvPr id="70" name="Text 55">
            <a:extLst>
              <a:ext uri="{FF2B5EF4-FFF2-40B4-BE49-F238E27FC236}">
                <a16:creationId xmlns:a16="http://schemas.microsoft.com/office/drawing/2014/main" id="{08F2D042-B644-4AF9-ACFA-39D3FBB9B235}"/>
              </a:ext>
            </a:extLst>
          </p:cNvPr>
          <p:cNvSpPr/>
          <p:nvPr/>
        </p:nvSpPr>
        <p:spPr>
          <a:xfrm>
            <a:off x="476344" y="5706333"/>
            <a:ext cx="6414776" cy="422219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F(x) = F₀(x) + η·T₁(x) + η·T₂(x) + ... + η·Tₙ(x)</a:t>
            </a:r>
            <a:endParaRPr lang="en-US" sz="2000" dirty="0"/>
          </a:p>
        </p:txBody>
      </p:sp>
      <p:sp>
        <p:nvSpPr>
          <p:cNvPr id="71" name="Text 56">
            <a:extLst>
              <a:ext uri="{FF2B5EF4-FFF2-40B4-BE49-F238E27FC236}">
                <a16:creationId xmlns:a16="http://schemas.microsoft.com/office/drawing/2014/main" id="{4E3E52B8-030C-4A3E-8F83-3F3FF25400E5}"/>
              </a:ext>
            </a:extLst>
          </p:cNvPr>
          <p:cNvSpPr/>
          <p:nvPr/>
        </p:nvSpPr>
        <p:spPr>
          <a:xfrm>
            <a:off x="476344" y="6161031"/>
            <a:ext cx="6414776" cy="292305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= learning_rate  |  Tᵢ = i번째 트리 출력값  |  오차 기반 순차 학습</a:t>
            </a:r>
            <a:endParaRPr lang="en-US" sz="1400" b="1" dirty="0"/>
          </a:p>
        </p:txBody>
      </p:sp>
      <p:sp>
        <p:nvSpPr>
          <p:cNvPr id="72" name="Shape 57">
            <a:extLst>
              <a:ext uri="{FF2B5EF4-FFF2-40B4-BE49-F238E27FC236}">
                <a16:creationId xmlns:a16="http://schemas.microsoft.com/office/drawing/2014/main" id="{DED68E4B-4392-43AF-950A-18560B14E7BE}"/>
              </a:ext>
            </a:extLst>
          </p:cNvPr>
          <p:cNvSpPr/>
          <p:nvPr/>
        </p:nvSpPr>
        <p:spPr>
          <a:xfrm>
            <a:off x="7267077" y="5284114"/>
            <a:ext cx="4229523" cy="1169222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73" name="Text 58">
            <a:extLst>
              <a:ext uri="{FF2B5EF4-FFF2-40B4-BE49-F238E27FC236}">
                <a16:creationId xmlns:a16="http://schemas.microsoft.com/office/drawing/2014/main" id="{42677659-F863-43CB-A5D2-AA1D51353326}"/>
              </a:ext>
            </a:extLst>
          </p:cNvPr>
          <p:cNvSpPr/>
          <p:nvPr/>
        </p:nvSpPr>
        <p:spPr>
          <a:xfrm>
            <a:off x="7384564" y="5316592"/>
            <a:ext cx="3994549" cy="1104265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 </a:t>
            </a:r>
            <a:r>
              <a:rPr lang="en-US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이전 트리의 실수를</a:t>
            </a:r>
            <a:endParaRPr lang="en-US" sz="2000" b="1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</a:t>
            </a:r>
            <a:r>
              <a:rPr lang="en-US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</a:t>
            </a:r>
            <a:r>
              <a:rPr lang="en-US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트리가 집중 보완</a:t>
            </a:r>
            <a:endParaRPr lang="en-US" sz="2000" b="1" dirty="0">
              <a:solidFill>
                <a:schemeClr val="bg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27292C8-FA14-477A-803A-961F8055C1AC}"/>
              </a:ext>
            </a:extLst>
          </p:cNvPr>
          <p:cNvCxnSpPr>
            <a:cxnSpLocks/>
            <a:stCxn id="13" idx="3"/>
            <a:endCxn id="21" idx="1"/>
          </p:cNvCxnSpPr>
          <p:nvPr/>
        </p:nvCxnSpPr>
        <p:spPr>
          <a:xfrm>
            <a:off x="1768698" y="1532861"/>
            <a:ext cx="258471" cy="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5E4A8A5A-E759-4478-A742-22A25CA8FCB1}"/>
              </a:ext>
            </a:extLst>
          </p:cNvPr>
          <p:cNvCxnSpPr>
            <a:cxnSpLocks/>
          </p:cNvCxnSpPr>
          <p:nvPr/>
        </p:nvCxnSpPr>
        <p:spPr>
          <a:xfrm>
            <a:off x="3821305" y="1524751"/>
            <a:ext cx="258471" cy="8111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0860490-5ACE-4768-BF42-24C9DB0A6994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5833739" y="1532861"/>
            <a:ext cx="234974" cy="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E22F31BD-5ADC-4885-9D00-6B303615E190}"/>
              </a:ext>
            </a:extLst>
          </p:cNvPr>
          <p:cNvCxnSpPr>
            <a:cxnSpLocks/>
            <a:stCxn id="27" idx="3"/>
            <a:endCxn id="30" idx="1"/>
          </p:cNvCxnSpPr>
          <p:nvPr/>
        </p:nvCxnSpPr>
        <p:spPr>
          <a:xfrm>
            <a:off x="7854511" y="1532861"/>
            <a:ext cx="234974" cy="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4473AD76-76D8-48C1-92BF-916BC884DCA1}"/>
              </a:ext>
            </a:extLst>
          </p:cNvPr>
          <p:cNvCxnSpPr>
            <a:cxnSpLocks/>
            <a:stCxn id="30" idx="3"/>
            <a:endCxn id="33" idx="1"/>
          </p:cNvCxnSpPr>
          <p:nvPr/>
        </p:nvCxnSpPr>
        <p:spPr>
          <a:xfrm>
            <a:off x="9381839" y="1532861"/>
            <a:ext cx="234973" cy="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375511"/>
      </p:ext>
    </p:extLst>
  </p:cSld>
  <p:clrMapOvr>
    <a:masterClrMapping/>
  </p:clrMapOvr>
  <p:transition spd="slow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STEP 1. </a:t>
            </a:r>
            <a:r>
              <a:rPr lang="ko-KR" altLang="en-US" sz="2000" b="1" dirty="0">
                <a:solidFill>
                  <a:schemeClr val="tx1"/>
                </a:solidFill>
              </a:rPr>
              <a:t>라이브러리 설치 및 로드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09E66E-F240-4047-80DA-E8255B4F5332}"/>
              </a:ext>
            </a:extLst>
          </p:cNvPr>
          <p:cNvSpPr txBox="1"/>
          <p:nvPr/>
        </p:nvSpPr>
        <p:spPr>
          <a:xfrm>
            <a:off x="119336" y="801753"/>
            <a:ext cx="8888622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!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pip install xgboost --upgrade -q</a:t>
            </a:r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설치 완료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필요한 라이브러리 전체 로드</a:t>
            </a:r>
            <a:endParaRPr lang="ko-KR" altLang="en-US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pandas </a:t>
            </a:r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pd</a:t>
            </a:r>
          </a:p>
          <a:p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numpy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np</a:t>
            </a:r>
          </a:p>
          <a:p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matplotlib.pyplot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</a:t>
            </a:r>
            <a:endParaRPr lang="en-US" altLang="ko-KR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matplotlib</a:t>
            </a:r>
          </a:p>
          <a:p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matplotlib.rcParams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font.family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 =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NanumGothic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한글 폰트</a:t>
            </a:r>
            <a:endParaRPr lang="ko-KR" altLang="en-US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matplotlib.rcParams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axes.unicode_minus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 = 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False</a:t>
            </a:r>
            <a:endParaRPr lang="en-US" altLang="ko-KR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xgboost </a:t>
            </a:r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xgb</a:t>
            </a:r>
            <a:endParaRPr lang="en-US" altLang="ko-KR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xgboost </a:t>
            </a:r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XGBClassifier</a:t>
            </a:r>
            <a:endParaRPr lang="en-US" altLang="ko-KR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sklearn.model_selection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train_test_split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GridSearchCV</a:t>
            </a:r>
            <a:endParaRPr lang="en-US" altLang="ko-KR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sklearn.preprocessing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StandardScaler</a:t>
            </a:r>
          </a:p>
          <a:p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sklearn.metrics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(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accuracy_score, precision_score, recall_score, f1_score,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confusion_matrix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classification_report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roc_auc_score</a:t>
            </a:r>
            <a:endParaRPr lang="en-US" altLang="ko-KR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버전 확인</a:t>
            </a:r>
            <a:endParaRPr lang="ko-KR" altLang="en-US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"XGBoost 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버전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xgb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.</a:t>
            </a:r>
            <a:r>
              <a:rPr lang="en-US" altLang="ko-KR" sz="1600" b="0" dirty="0">
                <a:solidFill>
                  <a:srgbClr val="001080"/>
                </a:solidFill>
                <a:effectLst/>
                <a:latin typeface="Courier New" panose="02070309020205020404" pitchFamily="49" charset="0"/>
              </a:rPr>
              <a:t>__version__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라이브러리 로드 완료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A07B670-F6E8-4A3E-A5A4-794C22C871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360" y="6021288"/>
            <a:ext cx="2162477" cy="628738"/>
          </a:xfrm>
          <a:prstGeom prst="rect">
            <a:avLst/>
          </a:prstGeom>
          <a:ln w="41275">
            <a:solidFill>
              <a:srgbClr val="FFC000"/>
            </a:solidFill>
          </a:ln>
        </p:spPr>
      </p:pic>
    </p:spTree>
    <p:extLst>
      <p:ext uri="{BB962C8B-B14F-4D97-AF65-F5344CB8AC3E}">
        <p14:creationId xmlns:p14="http://schemas.microsoft.com/office/powerpoint/2010/main" val="2609204372"/>
      </p:ext>
    </p:extLst>
  </p:cSld>
  <p:clrMapOvr>
    <a:masterClrMapping/>
  </p:clrMapOvr>
  <p:transition spd="slow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STEP 2. </a:t>
            </a:r>
            <a:r>
              <a:rPr lang="ko-KR" altLang="en-US" sz="2000" b="1" dirty="0">
                <a:solidFill>
                  <a:schemeClr val="tx1"/>
                </a:solidFill>
              </a:rPr>
              <a:t>데이터 업로드 및 확인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85E849-AF06-4371-A746-B8C3EC76C33B}"/>
              </a:ext>
            </a:extLst>
          </p:cNvPr>
          <p:cNvSpPr txBox="1"/>
          <p:nvPr/>
        </p:nvSpPr>
        <p:spPr>
          <a:xfrm>
            <a:off x="335360" y="836712"/>
            <a:ext cx="6108404" cy="2031325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Colab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파일 업로드</a:t>
            </a:r>
            <a:endParaRPr lang="ko-KR" altLang="en-US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google.colab </a:t>
            </a: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files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uploaded = files.upload()</a:t>
            </a:r>
          </a:p>
          <a:p>
            <a:b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업로드된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 파일명 확인</a:t>
            </a:r>
            <a:endParaRPr lang="ko-KR" altLang="en-US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filename = </a:t>
            </a:r>
            <a:r>
              <a:rPr lang="en-US" altLang="ko-KR" b="0" dirty="0">
                <a:solidFill>
                  <a:srgbClr val="257693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uploaded.keys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())[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</a:t>
            </a:r>
          </a:p>
          <a:p>
            <a:r>
              <a:rPr lang="en-US" altLang="ko-KR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ko-KR" altLang="en-US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업로드된</a:t>
            </a:r>
            <a:r>
              <a:rPr lang="ko-KR" alt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파일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{filename}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0F984B3-7B70-4374-BB03-7F2981C4D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979" y="3073152"/>
            <a:ext cx="9969163" cy="1343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952726"/>
      </p:ext>
    </p:extLst>
  </p:cSld>
  <p:clrMapOvr>
    <a:masterClrMapping/>
  </p:clrMapOvr>
  <p:transition spd="slow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STEP 2. </a:t>
            </a:r>
            <a:r>
              <a:rPr lang="ko-KR" altLang="en-US" sz="2000" b="1" dirty="0">
                <a:solidFill>
                  <a:schemeClr val="tx1"/>
                </a:solidFill>
              </a:rPr>
              <a:t>데이터 업로드 및 확인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05202E-8D69-4BC5-BEC7-5D749C78813A}"/>
              </a:ext>
            </a:extLst>
          </p:cNvPr>
          <p:cNvSpPr txBox="1"/>
          <p:nvPr/>
        </p:nvSpPr>
        <p:spPr>
          <a:xfrm>
            <a:off x="126675" y="688031"/>
            <a:ext cx="7304446" cy="4031873"/>
          </a:xfrm>
          <a:prstGeom prst="rect">
            <a:avLst/>
          </a:prstGeom>
          <a:noFill/>
          <a:ln w="25400">
            <a:solidFill>
              <a:schemeClr val="accent1">
                <a:shade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CSV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로드</a:t>
            </a:r>
            <a:endParaRPr lang="ko-KR" altLang="en-US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※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파일명이 다르면 아래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filename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자리에 직접 입력하세요</a:t>
            </a:r>
            <a:endParaRPr lang="ko-KR" altLang="en-US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   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예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) df = </a:t>
            </a:r>
            <a:r>
              <a:rPr lang="en-US" altLang="ko-KR" sz="1600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pd.read_csv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("TH_quality_10000.csv")</a:t>
            </a:r>
            <a:endParaRPr lang="en-US" altLang="ko-KR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df =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pd.read_csv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(filename)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"="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* 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데이터 크기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df.shape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      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(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행 수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열 수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)</a:t>
            </a:r>
            <a:endParaRPr lang="ko-KR" altLang="en-US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"="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* 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"\n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처음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5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행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display(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df.head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())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"\n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컬럼 정보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display(df.info())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"\n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기본 통계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display(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df.describe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1542EEE-ABED-4C37-AF22-5ABA23641A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9275" y="0"/>
            <a:ext cx="379740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132506"/>
      </p:ext>
    </p:extLst>
  </p:cSld>
  <p:clrMapOvr>
    <a:masterClrMapping/>
  </p:clrMapOvr>
  <p:transition spd="slow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STEP 2. </a:t>
            </a:r>
            <a:r>
              <a:rPr lang="ko-KR" altLang="en-US" sz="2000" b="1" dirty="0">
                <a:solidFill>
                  <a:schemeClr val="tx1"/>
                </a:solidFill>
              </a:rPr>
              <a:t>데이터 업로드 및 확인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4DBEE8-D7A3-46B2-86F7-06B339E27F7E}"/>
              </a:ext>
            </a:extLst>
          </p:cNvPr>
          <p:cNvSpPr txBox="1"/>
          <p:nvPr/>
        </p:nvSpPr>
        <p:spPr>
          <a:xfrm>
            <a:off x="119336" y="836712"/>
            <a:ext cx="8064896" cy="2308324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결측값 확인</a:t>
            </a:r>
            <a:endParaRPr lang="ko-KR" altLang="en-US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결측값 확인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df.isnull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().</a:t>
            </a: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sum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())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레이블 분포 확인</a:t>
            </a:r>
            <a:endParaRPr lang="ko-KR" altLang="en-US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"\n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레이블 분포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(df[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'label'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value_counts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())</a:t>
            </a: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"\n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비율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(df[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'label'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value_counts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(normalize=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True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).</a:t>
            </a: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round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27B1458-907B-4CE7-AE55-D7A0C519A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9984" y="2564904"/>
            <a:ext cx="3600400" cy="3977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871223"/>
      </p:ext>
    </p:extLst>
  </p:cSld>
  <p:clrMapOvr>
    <a:masterClrMapping/>
  </p:clrMapOvr>
  <p:transition spd="slow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STEP 2. </a:t>
            </a:r>
            <a:r>
              <a:rPr lang="ko-KR" altLang="en-US" sz="2000" b="1" dirty="0">
                <a:solidFill>
                  <a:schemeClr val="tx1"/>
                </a:solidFill>
              </a:rPr>
              <a:t>데이터 업로드 및 확인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D1974F-DAB6-4626-8F4A-A159F9DD4E59}"/>
              </a:ext>
            </a:extLst>
          </p:cNvPr>
          <p:cNvSpPr txBox="1"/>
          <p:nvPr/>
        </p:nvSpPr>
        <p:spPr>
          <a:xfrm>
            <a:off x="191344" y="733246"/>
            <a:ext cx="648072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400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산점도로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 데이터 분포 시각화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fig, axes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plt.subplots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figsize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=(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14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5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왼쪽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정상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/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불량 분포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colors = {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'#2196F3'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'#F44336'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labels_name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{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정상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(0)'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불량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(1)'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</a:p>
          <a:p>
            <a:r>
              <a:rPr lang="en-US" altLang="ko-KR" sz="1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[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]: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mask = df[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'label'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 ==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cls</a:t>
            </a:r>
            <a:endParaRPr lang="en-US" altLang="ko-KR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axes[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].scatter(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df[mask][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'temp'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df[mask][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humi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c=colors[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label=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labels_name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alpha=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0.5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s=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10</a:t>
            </a:r>
            <a:endParaRPr lang="en-US" altLang="ko-KR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)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axes[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set_xlabel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온도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(temp)'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axes[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set_ylabel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습도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humi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axes[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set_title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온도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-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습도 분포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정상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vs 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불량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axes[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].legend()</a:t>
            </a:r>
          </a:p>
          <a:p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오른쪽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레이블 비율 막대 그래프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counts = df[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'label'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value_counts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axes[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].bar([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정상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(0)'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불량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(1)'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counts.values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    color=[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'#2196F3'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'#F44336'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alpha=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0.8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v 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enumerate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counts.values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):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axes[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].text(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v +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50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257693"/>
                </a:solidFill>
                <a:effectLst/>
                <a:latin typeface="Courier New" panose="02070309020205020404" pitchFamily="49" charset="0"/>
              </a:rPr>
              <a:t>str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(v), ha=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'center'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fontsize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12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axes[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set_title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클래스 분포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axes[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set_ylabel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샘플 수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plt.tight_layout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plt.show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706817897"/>
      </p:ext>
    </p:extLst>
  </p:cSld>
  <p:clrMapOvr>
    <a:masterClrMapping/>
  </p:clrMapOvr>
  <p:transition spd="slow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STEP 2. </a:t>
            </a:r>
            <a:r>
              <a:rPr lang="ko-KR" altLang="en-US" sz="2000" b="1" dirty="0">
                <a:solidFill>
                  <a:schemeClr val="tx1"/>
                </a:solidFill>
              </a:rPr>
              <a:t>데이터 업로드 및 확인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E2D2044-261C-45B7-8A05-1BEE66F2A5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81" y="1418944"/>
            <a:ext cx="11374437" cy="40201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675329F-F4DA-4C0D-91B8-F99C63911842}"/>
              </a:ext>
            </a:extLst>
          </p:cNvPr>
          <p:cNvSpPr txBox="1"/>
          <p:nvPr/>
        </p:nvSpPr>
        <p:spPr>
          <a:xfrm>
            <a:off x="911424" y="5589240"/>
            <a:ext cx="9583073" cy="8412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ts val="22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실제 현장에서는 당연히 불량 데이터가 매우 적을 것이므로</a:t>
            </a:r>
            <a:r>
              <a:rPr lang="en-US" altLang="ko-KR" sz="1200" dirty="0"/>
              <a:t>, </a:t>
            </a:r>
            <a:r>
              <a:rPr lang="ko-KR" altLang="en-US" sz="1200" dirty="0"/>
              <a:t>불량 데이터를 더 많이 수집하여 정상과 불량 비율을 맞추는 게 가장 좋음</a:t>
            </a:r>
            <a:endParaRPr lang="en-US" altLang="ko-KR" sz="1200" dirty="0"/>
          </a:p>
          <a:p>
            <a:pPr marL="171450" indent="-171450">
              <a:lnSpc>
                <a:spcPts val="22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그렇지 않다면</a:t>
            </a:r>
            <a:r>
              <a:rPr lang="en-US" altLang="ko-KR" sz="1200" dirty="0"/>
              <a:t>, </a:t>
            </a:r>
            <a:r>
              <a:rPr lang="ko-KR" altLang="en-US" sz="1200" dirty="0"/>
              <a:t>학습하는 동안 모델은 가급적이면 정상으로 판정하는 오류가 발생할 수 있음</a:t>
            </a:r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/>
              <a:t>이럴 경우</a:t>
            </a:r>
            <a:r>
              <a:rPr lang="en-US" altLang="ko-KR" sz="1200" dirty="0"/>
              <a:t>, </a:t>
            </a:r>
            <a:r>
              <a:rPr lang="ko-KR" altLang="en-US" sz="1200" dirty="0"/>
              <a:t>강제로 불량 데이터에 </a:t>
            </a:r>
            <a:r>
              <a:rPr lang="en-US" altLang="ko-KR" sz="1200" dirty="0"/>
              <a:t>weight</a:t>
            </a:r>
            <a:r>
              <a:rPr lang="ko-KR" altLang="en-US" sz="1200" dirty="0"/>
              <a:t>를 주어 균형을 </a:t>
            </a:r>
            <a:r>
              <a:rPr lang="ko-KR" altLang="en-US" sz="1200" dirty="0" err="1"/>
              <a:t>맞출수</a:t>
            </a:r>
            <a:r>
              <a:rPr lang="ko-KR" altLang="en-US" sz="1200" dirty="0"/>
              <a:t> 도 있음</a:t>
            </a:r>
          </a:p>
        </p:txBody>
      </p:sp>
    </p:spTree>
    <p:extLst>
      <p:ext uri="{BB962C8B-B14F-4D97-AF65-F5344CB8AC3E}">
        <p14:creationId xmlns:p14="http://schemas.microsoft.com/office/powerpoint/2010/main" val="1658904619"/>
      </p:ext>
    </p:extLst>
  </p:cSld>
  <p:clrMapOvr>
    <a:masterClrMapping/>
  </p:clrMapOvr>
  <p:transition spd="slow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STEP 3. </a:t>
            </a:r>
            <a:r>
              <a:rPr lang="ko-KR" altLang="en-US" sz="2000" b="1" dirty="0">
                <a:solidFill>
                  <a:schemeClr val="tx1"/>
                </a:solidFill>
              </a:rPr>
              <a:t>데이터 전처리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97DCF3-E04F-484E-A1E0-0E75BB9448B4}"/>
              </a:ext>
            </a:extLst>
          </p:cNvPr>
          <p:cNvSpPr txBox="1"/>
          <p:nvPr/>
        </p:nvSpPr>
        <p:spPr>
          <a:xfrm>
            <a:off x="203615" y="908720"/>
            <a:ext cx="5904656" cy="4616648"/>
          </a:xfrm>
          <a:prstGeom prst="rect">
            <a:avLst/>
          </a:prstGeom>
          <a:noFill/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특성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(X)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과 레이블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(y)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분리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 = df[[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'temp'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humi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]].values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 = df[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'label'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].values</a:t>
            </a:r>
          </a:p>
          <a:p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"X shape:"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X.shape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   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(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샘플 수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특성 수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)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"y shape:"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y.shape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"y </a:t>
            </a:r>
            <a:r>
              <a:rPr lang="ko-KR" altLang="en-US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고유값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np.unique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(y))</a:t>
            </a:r>
          </a:p>
          <a:p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학습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/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테스트 데이터 분리 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(8:2)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stratify=y →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불량 비율을 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train/test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에서 동일하게 유지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X_train, X_test, y_train, y_test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train_test_split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X, y,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test_size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0.2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random_state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42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stratify=y          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중요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!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클래스 비율 유지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"Train 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크기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X_train.shape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"Test  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크기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X_test.shape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"\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nTrain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불량 비율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y_train.mean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().</a:t>
            </a: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round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</a:p>
          <a:p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"Test  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불량 비율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y_test.mean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().</a:t>
            </a: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round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65D738C-99C7-4AC7-8AAB-3D4F373F3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256" y="4221088"/>
            <a:ext cx="3482092" cy="2283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947539"/>
      </p:ext>
    </p:extLst>
  </p:cSld>
  <p:clrMapOvr>
    <a:masterClrMapping/>
  </p:clrMapOvr>
  <p:transition spd="slow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STEP 4. XGBoost </a:t>
            </a:r>
            <a:r>
              <a:rPr lang="ko-KR" altLang="en-US" sz="2000" b="1" dirty="0">
                <a:solidFill>
                  <a:schemeClr val="tx1"/>
                </a:solidFill>
              </a:rPr>
              <a:t>모델 학습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89C3C2-FFE3-4B33-ADC8-FA2A3F7EBD92}"/>
              </a:ext>
            </a:extLst>
          </p:cNvPr>
          <p:cNvSpPr txBox="1"/>
          <p:nvPr/>
        </p:nvSpPr>
        <p:spPr>
          <a:xfrm>
            <a:off x="306932" y="764704"/>
            <a:ext cx="3453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XGBoost </a:t>
            </a:r>
            <a:r>
              <a:rPr lang="ko-KR" altLang="en-US" dirty="0"/>
              <a:t>주요 파라미터 설명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5AD4F497-ADFC-4B2C-8BD5-6455D195CB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2197191"/>
              </p:ext>
            </p:extLst>
          </p:nvPr>
        </p:nvGraphicFramePr>
        <p:xfrm>
          <a:off x="609600" y="1258381"/>
          <a:ext cx="10972800" cy="478807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822104">
                  <a:extLst>
                    <a:ext uri="{9D8B030D-6E8A-4147-A177-3AD203B41FA5}">
                      <a16:colId xmlns:a16="http://schemas.microsoft.com/office/drawing/2014/main" val="1536759352"/>
                    </a:ext>
                  </a:extLst>
                </a:gridCol>
                <a:gridCol w="6120680">
                  <a:extLst>
                    <a:ext uri="{9D8B030D-6E8A-4147-A177-3AD203B41FA5}">
                      <a16:colId xmlns:a16="http://schemas.microsoft.com/office/drawing/2014/main" val="2628835310"/>
                    </a:ext>
                  </a:extLst>
                </a:gridCol>
                <a:gridCol w="2030016">
                  <a:extLst>
                    <a:ext uri="{9D8B030D-6E8A-4147-A177-3AD203B41FA5}">
                      <a16:colId xmlns:a16="http://schemas.microsoft.com/office/drawing/2014/main" val="572713554"/>
                    </a:ext>
                  </a:extLst>
                </a:gridCol>
              </a:tblGrid>
              <a:tr h="538635"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파라미터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의미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기본값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932458"/>
                  </a:ext>
                </a:extLst>
              </a:tr>
              <a:tr h="53863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n_estimators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1400"/>
                        <a:t>생성할 트리 개수 </a:t>
                      </a:r>
                      <a:r>
                        <a:rPr lang="en-US" altLang="ko-KR" sz="1400"/>
                        <a:t>(</a:t>
                      </a:r>
                      <a:r>
                        <a:rPr lang="ko-KR" altLang="en-US" sz="1400"/>
                        <a:t>모델 반복 횟수</a:t>
                      </a:r>
                      <a:r>
                        <a:rPr lang="en-US" altLang="ko-KR" sz="140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dirty="0"/>
                        <a:t>100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5243701"/>
                  </a:ext>
                </a:extLst>
              </a:tr>
              <a:tr h="53863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max_depth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1400" dirty="0"/>
                        <a:t>각 트리의 최대 깊이 </a:t>
                      </a:r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/>
                        <a:t>복잡도 조절</a:t>
                      </a:r>
                      <a:r>
                        <a:rPr lang="en-US" altLang="ko-KR" sz="140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/>
                        <a:t>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6636464"/>
                  </a:ext>
                </a:extLst>
              </a:tr>
              <a:tr h="538635"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learning_rate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2400"/>
                        </a:lnSpc>
                      </a:pPr>
                      <a:r>
                        <a:rPr lang="ko-KR" altLang="en-US" sz="1400" dirty="0"/>
                        <a:t>학습률 </a:t>
                      </a:r>
                      <a:r>
                        <a:rPr lang="en-US" altLang="ko-KR" sz="1400" dirty="0"/>
                        <a:t>– </a:t>
                      </a:r>
                      <a:r>
                        <a:rPr lang="ko-KR" altLang="en-US" sz="1400" dirty="0"/>
                        <a:t>각 트리가 최종 예측에 기여하는 비중을 축소하는 파라미터</a:t>
                      </a:r>
                      <a:endParaRPr lang="en-US" altLang="ko-KR" sz="1400" dirty="0"/>
                    </a:p>
                    <a:p>
                      <a:pPr>
                        <a:lnSpc>
                          <a:spcPts val="2400"/>
                        </a:lnSpc>
                      </a:pPr>
                      <a:r>
                        <a:rPr lang="ko-KR" altLang="en-US" sz="1400" dirty="0"/>
                        <a:t>각 트리가 오차를 너무 공격적으로 수정하지 않도록 제어</a:t>
                      </a:r>
                      <a:endParaRPr lang="en-US" altLang="ko-K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dirty="0"/>
                        <a:t>0.3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5726314"/>
                  </a:ext>
                </a:extLst>
              </a:tr>
              <a:tr h="53863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subsample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2200"/>
                        </a:lnSpc>
                      </a:pPr>
                      <a:r>
                        <a:rPr lang="ko-KR" altLang="en-US" sz="1400" dirty="0"/>
                        <a:t>각 트리를 학습할 때 훈련 데이터를 몇 </a:t>
                      </a:r>
                      <a:r>
                        <a:rPr lang="en-US" altLang="ko-KR" sz="1400" dirty="0"/>
                        <a:t>% </a:t>
                      </a:r>
                      <a:r>
                        <a:rPr lang="ko-KR" altLang="en-US" sz="1400" dirty="0"/>
                        <a:t>랜덤 샘플링해서 사용할지 결정</a:t>
                      </a:r>
                      <a:endParaRPr lang="en-US" altLang="ko-KR" sz="1400" dirty="0"/>
                    </a:p>
                    <a:p>
                      <a:pPr>
                        <a:lnSpc>
                          <a:spcPts val="2200"/>
                        </a:lnSpc>
                      </a:pPr>
                      <a:r>
                        <a:rPr lang="ko-KR" altLang="en-US" sz="1400" dirty="0"/>
                        <a:t>트리마다 매번 새로 </a:t>
                      </a:r>
                      <a:r>
                        <a:rPr lang="ko-KR" altLang="en-US" sz="1400" dirty="0" err="1"/>
                        <a:t>샘플링하므로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각 트리는 서로 다른 데이터 부분 집합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/>
                        <a:t>1.0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0697653"/>
                  </a:ext>
                </a:extLst>
              </a:tr>
              <a:tr h="53863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colsample_bytree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2200"/>
                        </a:lnSpc>
                      </a:pPr>
                      <a:r>
                        <a:rPr lang="ko-KR" altLang="en-US" sz="1400" dirty="0"/>
                        <a:t>각 트리를 </a:t>
                      </a:r>
                      <a:r>
                        <a:rPr lang="ko-KR" altLang="en-US" sz="1400" dirty="0" err="1"/>
                        <a:t>만들때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feature(</a:t>
                      </a:r>
                      <a:r>
                        <a:rPr lang="ko-KR" altLang="en-US" sz="1400" dirty="0"/>
                        <a:t>열</a:t>
                      </a:r>
                      <a:r>
                        <a:rPr lang="en-US" altLang="ko-KR" sz="1400" dirty="0"/>
                        <a:t>)</a:t>
                      </a:r>
                      <a:r>
                        <a:rPr lang="ko-KR" altLang="en-US" sz="1400" dirty="0"/>
                        <a:t>를 몇 </a:t>
                      </a:r>
                      <a:r>
                        <a:rPr lang="en-US" altLang="ko-KR" sz="1400" dirty="0"/>
                        <a:t>% </a:t>
                      </a:r>
                      <a:r>
                        <a:rPr lang="ko-KR" altLang="en-US" sz="1400" dirty="0"/>
                        <a:t>랜덤 샘플링해서 사용할지 결정</a:t>
                      </a:r>
                      <a:endParaRPr lang="en-US" altLang="ko-KR" sz="1400" dirty="0"/>
                    </a:p>
                    <a:p>
                      <a:pPr>
                        <a:lnSpc>
                          <a:spcPts val="2200"/>
                        </a:lnSpc>
                      </a:pPr>
                      <a:r>
                        <a:rPr lang="en-US" altLang="ko-KR" sz="1400" dirty="0"/>
                        <a:t>feature </a:t>
                      </a:r>
                      <a:r>
                        <a:rPr lang="ko-KR" altLang="en-US" sz="1400" dirty="0"/>
                        <a:t>수가 많을수록 효과 커짐</a:t>
                      </a:r>
                      <a:r>
                        <a:rPr lang="en-US" altLang="ko-KR" sz="1400" dirty="0"/>
                        <a:t>, 10</a:t>
                      </a:r>
                      <a:r>
                        <a:rPr lang="ko-KR" altLang="en-US" sz="1400" dirty="0"/>
                        <a:t>개 미만이면 큰 차이 없을 수 있음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dirty="0"/>
                        <a:t>1.0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0768790"/>
                  </a:ext>
                </a:extLst>
              </a:tr>
              <a:tr h="53863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scale_pos_weight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1400" dirty="0"/>
                        <a:t>클래스 불균형 문제를 해결하기 위한 파라미터</a:t>
                      </a:r>
                      <a:endParaRPr lang="en-US" altLang="ko-KR" sz="1400" dirty="0"/>
                    </a:p>
                    <a:p>
                      <a:r>
                        <a:rPr lang="ko-KR" altLang="en-US" sz="1400" dirty="0"/>
                        <a:t>소수 클래스 샘플에 가중치를 곱해서 모델이 더 주목하게 </a:t>
                      </a:r>
                      <a:r>
                        <a:rPr lang="ko-KR" altLang="en-US" sz="1400" dirty="0" err="1"/>
                        <a:t>만듬</a:t>
                      </a:r>
                      <a:endParaRPr lang="en-US" altLang="ko-KR" sz="1400" dirty="0"/>
                    </a:p>
                    <a:p>
                      <a:r>
                        <a:rPr lang="ko-KR" altLang="en-US" sz="1400" dirty="0"/>
                        <a:t>사기탐지</a:t>
                      </a:r>
                      <a:r>
                        <a:rPr lang="en-US" altLang="ko-KR" sz="1400" dirty="0"/>
                        <a:t>, </a:t>
                      </a:r>
                      <a:r>
                        <a:rPr lang="ko-KR" altLang="en-US" sz="1400" dirty="0"/>
                        <a:t>질병 진단처럼 소수 클래스를 놓치면 안되는 문제에 자주 사용</a:t>
                      </a:r>
                      <a:endParaRPr lang="en-US" altLang="ko-K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dirty="0"/>
                        <a:t>1 (~</a:t>
                      </a:r>
                      <a:r>
                        <a:rPr lang="ko-KR" altLang="en-US" sz="1400" dirty="0"/>
                        <a:t> 정상</a:t>
                      </a:r>
                      <a:r>
                        <a:rPr lang="en-US" altLang="ko-KR" sz="1400" dirty="0"/>
                        <a:t>/</a:t>
                      </a:r>
                      <a:r>
                        <a:rPr lang="ko-KR" altLang="en-US" sz="1400" dirty="0"/>
                        <a:t>불량</a:t>
                      </a:r>
                      <a:r>
                        <a:rPr lang="en-US" altLang="ko-KR" sz="140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4770325"/>
                  </a:ext>
                </a:extLst>
              </a:tr>
              <a:tr h="538635"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 err="1"/>
                        <a:t>eval_metric</a:t>
                      </a:r>
                      <a:endParaRPr lang="en-US" sz="14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1400" dirty="0"/>
                        <a:t>학습 중 모델 성능을 어떤 지표로 평가할지 지정 </a:t>
                      </a:r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</a:t>
                      </a:r>
                      <a:r>
                        <a:rPr lang="en-US" altLang="ko-KR" sz="1400" dirty="0" err="1"/>
                        <a:t>logloss</a:t>
                      </a:r>
                      <a:r>
                        <a:rPr lang="en-US" altLang="ko-KR" sz="1400" dirty="0"/>
                        <a:t>, error </a:t>
                      </a:r>
                      <a:r>
                        <a:rPr lang="ko-KR" altLang="en-US" sz="1400" dirty="0"/>
                        <a:t>등</a:t>
                      </a:r>
                      <a:r>
                        <a:rPr lang="en-US" altLang="ko-KR" sz="140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logloss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07451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369004"/>
      </p:ext>
    </p:extLst>
  </p:cSld>
  <p:clrMapOvr>
    <a:masterClrMapping/>
  </p:clrMapOvr>
  <p:transition spd="slow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STEP 4. XGBoost </a:t>
            </a:r>
            <a:r>
              <a:rPr lang="ko-KR" altLang="en-US" sz="2000" b="1" dirty="0">
                <a:solidFill>
                  <a:schemeClr val="tx1"/>
                </a:solidFill>
              </a:rPr>
              <a:t>모델 학습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182EE6-D071-4866-B0C4-ACE62F8F7FBE}"/>
              </a:ext>
            </a:extLst>
          </p:cNvPr>
          <p:cNvSpPr txBox="1"/>
          <p:nvPr/>
        </p:nvSpPr>
        <p:spPr>
          <a:xfrm>
            <a:off x="119336" y="692696"/>
            <a:ext cx="8816614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불균형 비율 계산</a:t>
            </a:r>
            <a:endParaRPr lang="ko-KR" altLang="en-US" sz="12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en-US" altLang="ko-KR" sz="1200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scale_pos_weight</a:t>
            </a: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ko-KR" altLang="en-US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정상 수 </a:t>
            </a: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/ </a:t>
            </a:r>
            <a:r>
              <a:rPr lang="ko-KR" altLang="en-US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불량 수</a:t>
            </a:r>
            <a:endParaRPr lang="ko-KR" altLang="en-US" sz="12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→ </a:t>
            </a:r>
            <a:r>
              <a:rPr lang="ko-KR" altLang="en-US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불량에 자동으로 더 높은 가중치 부여 </a:t>
            </a: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200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class_weight</a:t>
            </a: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='balanced' </a:t>
            </a:r>
            <a:r>
              <a:rPr lang="ko-KR" altLang="en-US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와 유사</a:t>
            </a: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)</a:t>
            </a:r>
            <a:endParaRPr lang="ko-KR" altLang="en-US" sz="12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n_neg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(y_train == 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).</a:t>
            </a:r>
            <a:r>
              <a:rPr lang="en-US" altLang="ko-KR" sz="12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sum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   </a:t>
            </a: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정상 수</a:t>
            </a:r>
            <a:endParaRPr lang="ko-KR" altLang="en-US" sz="12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n_pos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(y_train == 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).</a:t>
            </a:r>
            <a:r>
              <a:rPr lang="en-US" altLang="ko-KR" sz="12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sum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   </a:t>
            </a: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불량 수</a:t>
            </a:r>
            <a:endParaRPr lang="ko-KR" altLang="en-US" sz="12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scale = 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n_neg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/ 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n_pos</a:t>
            </a:r>
            <a:endParaRPr lang="en-US" altLang="ko-KR" sz="12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b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2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2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ko-KR" altLang="en-US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정상</a:t>
            </a:r>
            <a:r>
              <a:rPr lang="en-US" altLang="ko-KR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n_neg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ko-KR" altLang="en-US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건</a:t>
            </a:r>
            <a:r>
              <a:rPr lang="en-US" altLang="ko-KR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ko-KR" altLang="en-US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불량</a:t>
            </a:r>
            <a:r>
              <a:rPr lang="en-US" altLang="ko-KR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n_pos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ko-KR" altLang="en-US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건</a:t>
            </a:r>
            <a:r>
              <a:rPr lang="en-US" altLang="ko-KR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200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2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"scale_pos_weight</a:t>
            </a:r>
            <a:r>
              <a:rPr lang="en-US" altLang="ko-KR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{scale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:.2f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2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"→ </a:t>
            </a:r>
            <a:r>
              <a:rPr lang="ko-KR" altLang="en-US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불량 샘플에 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{scale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:.1f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ko-KR" altLang="en-US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배 가중치 부여</a:t>
            </a:r>
            <a:r>
              <a:rPr lang="en-US" altLang="ko-KR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XGBoost </a:t>
            </a:r>
            <a:r>
              <a:rPr lang="ko-KR" altLang="en-US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모델 정의 및 학습</a:t>
            </a:r>
            <a:endParaRPr lang="ko-KR" altLang="en-US" sz="12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xgb_model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XGBClassifier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</a:p>
          <a:p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n_estimators         = 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200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max_depth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           = 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6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learning_rate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       = 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0.1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subsample            = 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0.8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colsample_bytree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    = 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0.8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scale_pos_weight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    = scale,</a:t>
            </a:r>
          </a:p>
          <a:p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eval_metric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         = </a:t>
            </a:r>
            <a:r>
              <a:rPr lang="en-US" altLang="ko-KR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2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logloss</a:t>
            </a:r>
            <a:r>
              <a:rPr lang="en-US" altLang="ko-KR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early_stopping_rounds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10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     </a:t>
            </a: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← </a:t>
            </a:r>
            <a:r>
              <a:rPr lang="ko-KR" altLang="en-US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여기로 이동</a:t>
            </a:r>
            <a:endParaRPr lang="ko-KR" altLang="en-US" sz="12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ko-KR" altLang="en-US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random_state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        = 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42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verbosity            = 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endParaRPr lang="en-US" altLang="ko-KR" sz="12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조기 종료</a:t>
            </a: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(Early Stopping) </a:t>
            </a:r>
            <a:r>
              <a:rPr lang="ko-KR" altLang="en-US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설정</a:t>
            </a:r>
            <a:endParaRPr lang="ko-KR" altLang="en-US" sz="12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→ 10</a:t>
            </a:r>
            <a:r>
              <a:rPr lang="ko-KR" altLang="en-US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번 연속 성능 향상 없으면 학습 중단 </a:t>
            </a: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ko-KR" altLang="en-US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과적합 방지</a:t>
            </a: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)</a:t>
            </a:r>
            <a:endParaRPr lang="ko-KR" altLang="en-US" sz="12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xgb_model.fit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</a:p>
          <a:p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X_train, y_train,</a:t>
            </a:r>
          </a:p>
          <a:p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eval_set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=[(X_test, y_test)],</a:t>
            </a:r>
          </a:p>
          <a:p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verbose=</a:t>
            </a:r>
            <a:r>
              <a:rPr lang="en-US" altLang="ko-KR" sz="12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False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                   </a:t>
            </a: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← </a:t>
            </a:r>
            <a:r>
              <a:rPr lang="en-US" altLang="ko-KR" sz="1200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early_stopping_rounds</a:t>
            </a: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ko-KR" altLang="en-US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제거</a:t>
            </a:r>
            <a:endParaRPr lang="ko-KR" altLang="en-US" sz="12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ko-KR" altLang="en-US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학습 완료</a:t>
            </a:r>
            <a:r>
              <a:rPr lang="en-US" altLang="ko-KR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!"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2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ko-KR" altLang="en-US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실제 사용된 트리 수</a:t>
            </a:r>
            <a:r>
              <a:rPr lang="en-US" altLang="ko-KR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xgb_model.best_iteration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+ 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ko-KR" altLang="en-US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개</a:t>
            </a:r>
            <a:r>
              <a:rPr lang="en-US" altLang="ko-KR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7B1E263-769F-465D-8FD0-63F921EFF4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6240" y="5545033"/>
            <a:ext cx="3714857" cy="1163832"/>
          </a:xfrm>
          <a:prstGeom prst="rect">
            <a:avLst/>
          </a:prstGeom>
          <a:ln w="34925">
            <a:solidFill>
              <a:schemeClr val="accent6">
                <a:lumMod val="20000"/>
                <a:lumOff val="8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846826674"/>
      </p:ext>
    </p:extLst>
  </p:cSld>
  <p:clrMapOvr>
    <a:masterClrMapping/>
  </p:clrMapOvr>
  <p:transition spd="slow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STEP 5. </a:t>
            </a:r>
            <a:r>
              <a:rPr lang="ko-KR" altLang="en-US" sz="2000" b="1" dirty="0">
                <a:solidFill>
                  <a:schemeClr val="tx1"/>
                </a:solidFill>
              </a:rPr>
              <a:t>성능 평가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ECA9B7-565F-4B54-A75C-807B30F9B8CE}"/>
              </a:ext>
            </a:extLst>
          </p:cNvPr>
          <p:cNvSpPr txBox="1"/>
          <p:nvPr/>
        </p:nvSpPr>
        <p:spPr>
          <a:xfrm>
            <a:off x="191344" y="797510"/>
            <a:ext cx="8744606" cy="5262979"/>
          </a:xfrm>
          <a:prstGeom prst="rect">
            <a:avLst/>
          </a:prstGeom>
          <a:noFill/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y_pred      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xgb_model.predict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(X_test)          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클래스 예측 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(0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또는 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1)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y_pred_prob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xgb_model.predict_proba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(X_test)[:,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  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불량 확률 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(0.0 ~ 1.0)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br>
              <a:rPr lang="ko-KR" altLang="en-US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지표 계산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acc  = accuracy_score(y_test, y_pred)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prec = precision_score(y_test, y_pred, zero_division=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rec  = recall_score(y_test, y_pred, zero_division=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f1   = f1_score(y_test, y_pred, zero_division=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auc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 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roc_auc_score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(y_test,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y_pred_prob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  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XGBoost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는 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AUC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도 함께 확인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br>
              <a:rPr lang="ko-KR" altLang="en-US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"="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*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"[XGBoost 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성능 결과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]"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"="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*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"Accuracy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 (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정확도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): 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{acc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:.4f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"Precision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(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정밀도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): 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{prec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:.4f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"Recall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   (</a:t>
            </a:r>
            <a:r>
              <a:rPr lang="ko-KR" altLang="en-US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재현율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): 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{rec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:.4f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"F1-score         : 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{f1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:.4f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"AUC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-ROC          : 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{auc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:.4f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"\n[Confusion Matrix]"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confusion_matrix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(y_test, y_pred))</a:t>
            </a:r>
          </a:p>
          <a:p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"\n[Classification Report]"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classification_report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(y_test, y_pred, digits=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zero_division=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21CA23D-B2B8-43F3-8858-F4BED3883A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449" y="2821844"/>
            <a:ext cx="4182059" cy="3991532"/>
          </a:xfrm>
          <a:prstGeom prst="rect">
            <a:avLst/>
          </a:prstGeom>
          <a:ln w="25400">
            <a:solidFill>
              <a:srgbClr val="FFC000"/>
            </a:solidFill>
          </a:ln>
        </p:spPr>
      </p:pic>
    </p:spTree>
    <p:extLst>
      <p:ext uri="{BB962C8B-B14F-4D97-AF65-F5344CB8AC3E}">
        <p14:creationId xmlns:p14="http://schemas.microsoft.com/office/powerpoint/2010/main" val="858404628"/>
      </p:ext>
    </p:extLst>
  </p:cSld>
  <p:clrMapOvr>
    <a:masterClrMapping/>
  </p:clrMapOvr>
  <p:transition spd="slow"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STEP 5. </a:t>
            </a:r>
            <a:r>
              <a:rPr lang="ko-KR" altLang="en-US" sz="2000" b="1" dirty="0">
                <a:solidFill>
                  <a:schemeClr val="tx1"/>
                </a:solidFill>
              </a:rPr>
              <a:t>성능 평가 </a:t>
            </a:r>
            <a:r>
              <a:rPr lang="en-US" altLang="ko-KR" sz="2000" b="1" dirty="0">
                <a:solidFill>
                  <a:schemeClr val="tx1"/>
                </a:solidFill>
              </a:rPr>
              <a:t>: </a:t>
            </a:r>
            <a:r>
              <a:rPr lang="ko-KR" altLang="en-US" sz="2000" b="1" dirty="0">
                <a:solidFill>
                  <a:schemeClr val="tx1"/>
                </a:solidFill>
              </a:rPr>
              <a:t>과적합 확인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B06DA1-2EA8-49A5-BD2D-CEC6F16FB911}"/>
              </a:ext>
            </a:extLst>
          </p:cNvPr>
          <p:cNvSpPr txBox="1"/>
          <p:nvPr/>
        </p:nvSpPr>
        <p:spPr>
          <a:xfrm>
            <a:off x="191344" y="908720"/>
            <a:ext cx="9073008" cy="4031873"/>
          </a:xfrm>
          <a:prstGeom prst="rect">
            <a:avLst/>
          </a:prstGeom>
          <a:noFill/>
          <a:ln w="2222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과적합 확인 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(Train vs Test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비교</a:t>
            </a:r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)</a:t>
            </a:r>
            <a:endParaRPr lang="ko-KR" altLang="en-US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y_train_pred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xgb_model.predict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(X_train)</a:t>
            </a:r>
          </a:p>
          <a:p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train_acc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accuracy_score(y_train,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y_train_pred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test_acc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 = accuracy_score(y_test,  y_pred)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과적합 확인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"Train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Accuracy: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{train_acc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:.4f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"Test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 Accuracy: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{test_acc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:.4f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차이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          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</a:t>
            </a: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abs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train_acc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-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test_acc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:.4f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abs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train_acc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-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test_acc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 &lt; 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0.01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: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"→ 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과적합 없음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. 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좋은 모델입니다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."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 err="1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elif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abs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train_acc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-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test_acc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 &lt; 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0.05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: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"→ 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약간의 과적합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. 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허용 범위입니다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."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else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:</a:t>
            </a:r>
          </a:p>
          <a:p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"→ 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과적합 의심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. 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max_depth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줄이기 또는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n_estimators 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줄이기 필요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."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3CEAD01-6912-4A8F-8F78-8B73F0F8D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2224" y="5283861"/>
            <a:ext cx="3952983" cy="1330837"/>
          </a:xfrm>
          <a:prstGeom prst="rect">
            <a:avLst/>
          </a:prstGeom>
          <a:ln w="28575">
            <a:solidFill>
              <a:srgbClr val="FFC000"/>
            </a:solidFill>
          </a:ln>
        </p:spPr>
      </p:pic>
    </p:spTree>
    <p:extLst>
      <p:ext uri="{BB962C8B-B14F-4D97-AF65-F5344CB8AC3E}">
        <p14:creationId xmlns:p14="http://schemas.microsoft.com/office/powerpoint/2010/main" val="3128267198"/>
      </p:ext>
    </p:extLst>
  </p:cSld>
  <p:clrMapOvr>
    <a:masterClrMapping/>
  </p:clrMapOvr>
  <p:transition spd="slow"/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STEP 5. </a:t>
            </a:r>
            <a:r>
              <a:rPr lang="ko-KR" altLang="en-US" sz="2000" b="1" dirty="0">
                <a:solidFill>
                  <a:schemeClr val="tx1"/>
                </a:solidFill>
              </a:rPr>
              <a:t>성능 평가 </a:t>
            </a:r>
            <a:r>
              <a:rPr lang="en-US" altLang="ko-KR" sz="2000" b="1" dirty="0">
                <a:solidFill>
                  <a:schemeClr val="tx1"/>
                </a:solidFill>
              </a:rPr>
              <a:t>: Confusion Matrix </a:t>
            </a:r>
            <a:r>
              <a:rPr lang="ko-KR" altLang="en-US" sz="2000" b="1" dirty="0">
                <a:solidFill>
                  <a:schemeClr val="tx1"/>
                </a:solidFill>
              </a:rPr>
              <a:t>시각화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2C7596-A353-46F2-88E2-CFC615CCB3A6}"/>
              </a:ext>
            </a:extLst>
          </p:cNvPr>
          <p:cNvSpPr txBox="1"/>
          <p:nvPr/>
        </p:nvSpPr>
        <p:spPr>
          <a:xfrm>
            <a:off x="191344" y="836712"/>
            <a:ext cx="5256584" cy="5478423"/>
          </a:xfrm>
          <a:prstGeom prst="rect">
            <a:avLst/>
          </a:prstGeom>
          <a:noFill/>
          <a:ln w="1587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seaborn </a:t>
            </a:r>
            <a:r>
              <a:rPr lang="en-US" altLang="ko-KR" sz="1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sns</a:t>
            </a:r>
            <a:endParaRPr lang="en-US" altLang="ko-KR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cm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confusion_matrix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(y_test, y_pred)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fig, ax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plt.subplots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figsize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=(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6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5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</a:p>
          <a:p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sns.heatmap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cm,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annot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True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fmt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'd'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cmap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'Blues'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xticklabels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정상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(0)'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불량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(1)'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yticklabels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정상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(0)'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불량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(1)'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ax=ax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ax.set_xlabel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예측값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ax.set_ylabel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실제값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ax.set_title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'XGBoost Confusion Matrix'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각 셀 의미 표시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labels_cm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[[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'TN'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'FP'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'FN'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'TP'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]]</a:t>
            </a:r>
          </a:p>
          <a:p>
            <a:r>
              <a:rPr lang="en-US" altLang="ko-KR" sz="1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range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):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j 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range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):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ax.text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(j+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0.5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i+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0.75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labels_cm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][j],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        ha=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'center'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va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'center'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    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fontsize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color=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'gray'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plt.tight_layout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plt.show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4F5E5D8-7CBC-4AFF-BBE3-C597947E3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427" y="1268760"/>
            <a:ext cx="5425479" cy="4484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491687"/>
      </p:ext>
    </p:extLst>
  </p:cSld>
  <p:clrMapOvr>
    <a:masterClrMapping/>
  </p:clrMapOvr>
  <p:transition spd="slow"/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2135560" y="1658"/>
            <a:ext cx="10056440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STEP 6. </a:t>
            </a:r>
            <a:r>
              <a:rPr lang="ko-KR" altLang="en-US" sz="2000" b="1" dirty="0">
                <a:solidFill>
                  <a:schemeClr val="tx1"/>
                </a:solidFill>
              </a:rPr>
              <a:t>특성 중요도 시각화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2135560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0ECF8A-16E8-4D77-896D-B04E9E2D3847}"/>
              </a:ext>
            </a:extLst>
          </p:cNvPr>
          <p:cNvSpPr txBox="1"/>
          <p:nvPr/>
        </p:nvSpPr>
        <p:spPr>
          <a:xfrm>
            <a:off x="5672020" y="131132"/>
            <a:ext cx="6492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XGBoost</a:t>
            </a:r>
            <a:r>
              <a:rPr lang="ko-KR" altLang="en-US" dirty="0"/>
              <a:t>는 어떤 변수가 예측에 더 중요했는지 수치로 알려줌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CBE3A0-29D5-455D-8C6E-07B515B3B882}"/>
              </a:ext>
            </a:extLst>
          </p:cNvPr>
          <p:cNvSpPr txBox="1"/>
          <p:nvPr/>
        </p:nvSpPr>
        <p:spPr>
          <a:xfrm>
            <a:off x="191344" y="767871"/>
            <a:ext cx="11809312" cy="609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</a:pP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특성 중요도 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가지 방식으로 비교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800"/>
              </a:lnSpc>
            </a:pP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weight :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해당 변수가 분기에 사용된 횟수 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,        # gain :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해당 변수가 가져온 평균 성능 </a:t>
            </a:r>
            <a:r>
              <a:rPr lang="ko-KR" altLang="en-US" sz="1400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향상량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가장 </a:t>
            </a:r>
            <a:r>
              <a:rPr lang="ko-KR" altLang="en-US" sz="1400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의미있음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)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800"/>
              </a:lnSpc>
            </a:pP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cover  :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해당 변수 분기가 커버하는 평균 샘플 수</a:t>
            </a:r>
            <a:br>
              <a:rPr lang="ko-KR" altLang="en-US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importance_types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'weight'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'gain'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'cover'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</a:t>
            </a:r>
          </a:p>
          <a:p>
            <a:pPr>
              <a:lnSpc>
                <a:spcPts val="1800"/>
              </a:lnSpc>
            </a:pP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fig, axes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plt.subplots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figsize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=(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14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feature_names = 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'temp'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humi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</a:t>
            </a:r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ax,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imp_type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zip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(axes,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importance_types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):</a:t>
            </a:r>
          </a:p>
          <a:p>
            <a:pPr>
              <a:lnSpc>
                <a:spcPts val="1800"/>
              </a:lnSpc>
            </a:pP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scores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xgb_model.get_booster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().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get_score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importance_type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imp_type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800"/>
              </a:lnSpc>
            </a:pP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vals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  = [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scores.get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'f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US" altLang="ko-KR" sz="1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range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len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(feature_names))]</a:t>
            </a:r>
          </a:p>
          <a:p>
            <a:pPr>
              <a:lnSpc>
                <a:spcPts val="1800"/>
              </a:lnSpc>
            </a:pP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colors_bar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'#2196F3'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'#FF9800'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</a:t>
            </a:r>
          </a:p>
          <a:p>
            <a:pPr>
              <a:lnSpc>
                <a:spcPts val="1800"/>
              </a:lnSpc>
            </a:pP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bars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ax.bar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(feature_names,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vals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color=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colors_bar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alpha=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0.8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800"/>
              </a:lnSpc>
            </a:pP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bar, v 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zip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(bars,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vals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):</a:t>
            </a:r>
          </a:p>
          <a:p>
            <a:pPr>
              <a:lnSpc>
                <a:spcPts val="1800"/>
              </a:lnSpc>
            </a:pP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ax.text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bar.get_x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()+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bar.get_width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()/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2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bar.get_height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()+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0.01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*</a:t>
            </a: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max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vals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),</a:t>
            </a:r>
          </a:p>
          <a:p>
            <a:pPr>
              <a:lnSpc>
                <a:spcPts val="1800"/>
              </a:lnSpc>
            </a:pP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        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{v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:.1f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ha=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'center'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fontsize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800"/>
              </a:lnSpc>
            </a:pP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ax.set_title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중요도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imp_type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800"/>
              </a:lnSpc>
            </a:pP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ax.set_ylabel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중요도 점수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plt.suptitle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'XGBoost 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특성 중요도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fontsize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14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y=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1.02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800"/>
              </a:lnSpc>
            </a:pP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plt.tight_layout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  <a:p>
            <a:pPr>
              <a:lnSpc>
                <a:spcPts val="1800"/>
              </a:lnSpc>
            </a:pP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plt.show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gain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기준 중요도 출력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800"/>
              </a:lnSpc>
            </a:pP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"\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ngain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기준 특성 중요도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클수록 중요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):"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800"/>
              </a:lnSpc>
            </a:pP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scores_gain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xgb_model.get_booster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().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get_score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importance_type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'gain'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800"/>
              </a:lnSpc>
            </a:pPr>
            <a:r>
              <a:rPr lang="en-US" altLang="ko-KR" sz="1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fname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enumerate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(feature_names):</a:t>
            </a:r>
          </a:p>
          <a:p>
            <a:pPr>
              <a:lnSpc>
                <a:spcPts val="1800"/>
              </a:lnSpc>
            </a:pP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val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scores_gain.get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'f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i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800"/>
              </a:lnSpc>
            </a:pP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  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fname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{val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:.2f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12010439"/>
      </p:ext>
    </p:extLst>
  </p:cSld>
  <p:clrMapOvr>
    <a:masterClrMapping/>
  </p:clrMapOvr>
  <p:transition spd="slow"/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2135560" y="1658"/>
            <a:ext cx="10056440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STEP 6. </a:t>
            </a:r>
            <a:r>
              <a:rPr lang="ko-KR" altLang="en-US" sz="2000" b="1" dirty="0">
                <a:solidFill>
                  <a:schemeClr val="tx1"/>
                </a:solidFill>
              </a:rPr>
              <a:t>특성 중요도 시각화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2135560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0ECF8A-16E8-4D77-896D-B04E9E2D3847}"/>
              </a:ext>
            </a:extLst>
          </p:cNvPr>
          <p:cNvSpPr txBox="1"/>
          <p:nvPr/>
        </p:nvSpPr>
        <p:spPr>
          <a:xfrm>
            <a:off x="5672020" y="131132"/>
            <a:ext cx="6492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XGBoost</a:t>
            </a:r>
            <a:r>
              <a:rPr lang="ko-KR" altLang="en-US" dirty="0"/>
              <a:t>는 어떤 변수가 예측에 더 중요했는지 수치로 알려줌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3D42791-FF0B-4055-AE6F-DBCDB2912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939" y="1052736"/>
            <a:ext cx="11622122" cy="41630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C19961-E146-49C2-ADCB-0A590399BB18}"/>
              </a:ext>
            </a:extLst>
          </p:cNvPr>
          <p:cNvSpPr txBox="1"/>
          <p:nvPr/>
        </p:nvSpPr>
        <p:spPr>
          <a:xfrm>
            <a:off x="479376" y="5589240"/>
            <a:ext cx="990893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weight : Tree</a:t>
            </a:r>
            <a:r>
              <a:rPr lang="ko-KR" altLang="en-US" sz="1400" dirty="0"/>
              <a:t>를 만들 때 </a:t>
            </a:r>
            <a:r>
              <a:rPr lang="en-US" altLang="ko-KR" sz="1400" dirty="0" err="1"/>
              <a:t>humi</a:t>
            </a:r>
            <a:r>
              <a:rPr lang="en-US" altLang="ko-KR" sz="1400" dirty="0"/>
              <a:t> </a:t>
            </a:r>
            <a:r>
              <a:rPr lang="ko-KR" altLang="en-US" sz="1400" dirty="0"/>
              <a:t>가 분기 기준으로 더 자주 선택되었다</a:t>
            </a:r>
            <a:r>
              <a:rPr lang="en-US" altLang="ko-KR" sz="1400" dirty="0"/>
              <a:t>. </a:t>
            </a:r>
            <a:r>
              <a:rPr lang="ko-KR" altLang="en-US" sz="1400" dirty="0"/>
              <a:t>자주 사용되었다는 것이지 중요하다는 것은 아님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gain :  </a:t>
            </a:r>
            <a:r>
              <a:rPr lang="ko-KR" altLang="en-US" sz="1400" dirty="0"/>
              <a:t>분기할 때 실제로 예측 성능을 얼마나 향상 시켰냐 </a:t>
            </a:r>
            <a:r>
              <a:rPr lang="en-US" altLang="ko-KR" sz="1400" dirty="0"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sym typeface="Wingdings" panose="05000000000000000000" pitchFamily="2" charset="2"/>
              </a:rPr>
              <a:t>가장 신뢰할 수 있는 지표</a:t>
            </a:r>
            <a:endParaRPr lang="en-US" altLang="ko-KR" sz="1400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ym typeface="Wingdings" panose="05000000000000000000" pitchFamily="2" charset="2"/>
              </a:rPr>
              <a:t>cover : </a:t>
            </a:r>
            <a:r>
              <a:rPr lang="ko-KR" altLang="en-US" sz="1400" dirty="0">
                <a:sym typeface="Wingdings" panose="05000000000000000000" pitchFamily="2" charset="2"/>
              </a:rPr>
              <a:t>분기할 때 해당 특성이 몇 개의 데이터를 담당했는지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908700121"/>
      </p:ext>
    </p:extLst>
  </p:cSld>
  <p:clrMapOvr>
    <a:masterClrMapping/>
  </p:clrMapOvr>
  <p:transition spd="slow"/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2135560" y="1658"/>
            <a:ext cx="10056440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STEP 6. </a:t>
            </a:r>
            <a:r>
              <a:rPr lang="ko-KR" altLang="en-US" sz="2000" b="1" dirty="0">
                <a:solidFill>
                  <a:schemeClr val="tx1"/>
                </a:solidFill>
              </a:rPr>
              <a:t>특성 중요도 시각화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2135560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0ECF8A-16E8-4D77-896D-B04E9E2D3847}"/>
              </a:ext>
            </a:extLst>
          </p:cNvPr>
          <p:cNvSpPr txBox="1"/>
          <p:nvPr/>
        </p:nvSpPr>
        <p:spPr>
          <a:xfrm>
            <a:off x="5672020" y="131132"/>
            <a:ext cx="1963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결정 경계 시각화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5D012A-A101-4690-842F-25F4D6C88460}"/>
              </a:ext>
            </a:extLst>
          </p:cNvPr>
          <p:cNvSpPr txBox="1"/>
          <p:nvPr/>
        </p:nvSpPr>
        <p:spPr>
          <a:xfrm>
            <a:off x="191344" y="761070"/>
            <a:ext cx="8280920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결정 경계 시각화 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(temp-</a:t>
            </a:r>
            <a:r>
              <a:rPr lang="en-US" altLang="ko-KR" sz="1400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humi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공간에서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)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xx,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yy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np.meshgrid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np.linspace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(df[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'temp'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</a:t>
            </a: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min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-1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df[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'temp'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</a:t>
            </a: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max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()+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300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np.linspace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(df[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humi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</a:t>
            </a: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min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-1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df[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humi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</a:t>
            </a: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max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()+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300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Z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xgb_model.predict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np.c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_[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xx.ravel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yy.ravel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()])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Z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Z.reshape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xx.shape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fig, ax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plt.subplots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figsize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=(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9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6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ax.contourf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(xx,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yy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Z, alpha=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0.3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cmap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RdYlGn_r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ax.contour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(xx,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yy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Z, colors=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'black'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linewidths=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0.8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color, label </a:t>
            </a:r>
            <a:r>
              <a:rPr lang="en-US" altLang="ko-KR" sz="14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[(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'#1a73e8'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정상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(0)'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), (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'#d93025'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불량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(1)'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)]: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mask = y_test ==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cls</a:t>
            </a:r>
            <a:endParaRPr lang="en-US" altLang="ko-KR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ax.scatter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(X_test[mask,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X_test[mask,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       c=color, label=label, alpha=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0.6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s=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15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edgecolors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'none'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ax.set_xlabel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온도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(temp)'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ax.set_ylabel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습도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humi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ax.set_title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'XGBoost 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결정 경계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테스트 데이터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ax.legend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plt.tight_layout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plt.show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A1FEE7B-41FB-4971-92D7-3FB336CC863D}"/>
              </a:ext>
            </a:extLst>
          </p:cNvPr>
          <p:cNvSpPr/>
          <p:nvPr/>
        </p:nvSpPr>
        <p:spPr>
          <a:xfrm>
            <a:off x="8674115" y="980728"/>
            <a:ext cx="3312368" cy="3748050"/>
          </a:xfrm>
          <a:prstGeom prst="rect">
            <a:avLst/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80975" indent="-180975">
              <a:lnSpc>
                <a:spcPts val="1900"/>
              </a:lnSpc>
              <a:buFont typeface="Arial" panose="020B0604020202020204" pitchFamily="34" charset="0"/>
              <a:buChar char="•"/>
            </a:pPr>
            <a:r>
              <a:rPr lang="en-US" altLang="ko-KR" sz="1200" b="1" dirty="0">
                <a:solidFill>
                  <a:schemeClr val="tx1"/>
                </a:solidFill>
              </a:rPr>
              <a:t>meshgrid()</a:t>
            </a:r>
            <a:r>
              <a:rPr lang="ko-KR" altLang="en-US" sz="1200" b="1" dirty="0">
                <a:solidFill>
                  <a:schemeClr val="tx1"/>
                </a:solidFill>
              </a:rPr>
              <a:t> </a:t>
            </a:r>
            <a:r>
              <a:rPr lang="en-US" altLang="ko-KR" sz="1200" b="1" dirty="0">
                <a:solidFill>
                  <a:schemeClr val="tx1"/>
                </a:solidFill>
              </a:rPr>
              <a:t>:</a:t>
            </a:r>
            <a:r>
              <a:rPr lang="ko-KR" altLang="en-US" sz="1200" b="1" dirty="0">
                <a:solidFill>
                  <a:schemeClr val="tx1"/>
                </a:solidFill>
              </a:rPr>
              <a:t> </a:t>
            </a:r>
            <a:r>
              <a:rPr lang="en-US" altLang="ko-KR" sz="1200" b="1" dirty="0">
                <a:solidFill>
                  <a:schemeClr val="tx1"/>
                </a:solidFill>
              </a:rPr>
              <a:t>x</a:t>
            </a:r>
            <a:r>
              <a:rPr lang="ko-KR" altLang="en-US" sz="1200" b="1" dirty="0">
                <a:solidFill>
                  <a:schemeClr val="tx1"/>
                </a:solidFill>
              </a:rPr>
              <a:t>의 모든 값과 </a:t>
            </a:r>
            <a:r>
              <a:rPr lang="en-US" altLang="ko-KR" sz="1200" b="1" dirty="0">
                <a:solidFill>
                  <a:schemeClr val="tx1"/>
                </a:solidFill>
              </a:rPr>
              <a:t>y</a:t>
            </a:r>
            <a:r>
              <a:rPr lang="ko-KR" altLang="en-US" sz="1200" b="1" dirty="0">
                <a:solidFill>
                  <a:schemeClr val="tx1"/>
                </a:solidFill>
              </a:rPr>
              <a:t>의 모든 값을 조합한 격자를 만든다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</a:p>
          <a:p>
            <a:pPr marL="180975" indent="-180975">
              <a:lnSpc>
                <a:spcPts val="1900"/>
              </a:lnSpc>
              <a:buFont typeface="Arial" panose="020B0604020202020204" pitchFamily="34" charset="0"/>
              <a:buChar char="•"/>
            </a:pPr>
            <a:endParaRPr lang="en-US" altLang="ko-KR" sz="1200" b="1" dirty="0">
              <a:solidFill>
                <a:schemeClr val="tx1"/>
              </a:solidFill>
            </a:endParaRPr>
          </a:p>
          <a:p>
            <a:pPr marL="180975" indent="-180975">
              <a:lnSpc>
                <a:spcPts val="1900"/>
              </a:lnSpc>
              <a:buFont typeface="Arial" panose="020B0604020202020204" pitchFamily="34" charset="0"/>
              <a:buChar char="•"/>
            </a:pPr>
            <a:r>
              <a:rPr lang="en-US" altLang="ko-KR" sz="1200" b="1" dirty="0" err="1">
                <a:solidFill>
                  <a:schemeClr val="tx1"/>
                </a:solidFill>
              </a:rPr>
              <a:t>linespace</a:t>
            </a:r>
            <a:r>
              <a:rPr lang="en-US" altLang="ko-KR" sz="1200" b="1" dirty="0">
                <a:solidFill>
                  <a:schemeClr val="tx1"/>
                </a:solidFill>
              </a:rPr>
              <a:t> = linear + space</a:t>
            </a:r>
            <a:br>
              <a:rPr lang="en-US" altLang="ko-KR" sz="1200" b="1" dirty="0">
                <a:solidFill>
                  <a:schemeClr val="tx1"/>
                </a:solidFill>
              </a:rPr>
            </a:br>
            <a:r>
              <a:rPr lang="ko-KR" altLang="en-US" sz="1200" b="1" dirty="0">
                <a:solidFill>
                  <a:schemeClr val="tx1"/>
                </a:solidFill>
              </a:rPr>
              <a:t>선형적으로 균일한 간격을 만든다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</a:p>
          <a:p>
            <a:pPr marL="180975" indent="-180975">
              <a:lnSpc>
                <a:spcPts val="1900"/>
              </a:lnSpc>
              <a:buFont typeface="Arial" panose="020B0604020202020204" pitchFamily="34" charset="0"/>
              <a:buChar char="•"/>
            </a:pPr>
            <a:endParaRPr lang="en-US" altLang="ko-KR" sz="1200" b="1" dirty="0">
              <a:solidFill>
                <a:schemeClr val="tx1"/>
              </a:solidFill>
            </a:endParaRPr>
          </a:p>
          <a:p>
            <a:pPr marL="180975" indent="-180975">
              <a:lnSpc>
                <a:spcPts val="1900"/>
              </a:lnSpc>
              <a:buFont typeface="Arial" panose="020B0604020202020204" pitchFamily="34" charset="0"/>
              <a:buChar char="•"/>
            </a:pPr>
            <a:r>
              <a:rPr lang="en-US" altLang="ko-KR" sz="1200" b="1" dirty="0">
                <a:solidFill>
                  <a:schemeClr val="tx1"/>
                </a:solidFill>
              </a:rPr>
              <a:t>ravel()</a:t>
            </a:r>
            <a:r>
              <a:rPr lang="ko-KR" altLang="en-US" sz="1200" b="1" dirty="0">
                <a:solidFill>
                  <a:schemeClr val="tx1"/>
                </a:solidFill>
              </a:rPr>
              <a:t> </a:t>
            </a:r>
            <a:r>
              <a:rPr lang="en-US" altLang="ko-KR" sz="1200" b="1" dirty="0">
                <a:solidFill>
                  <a:schemeClr val="tx1"/>
                </a:solidFill>
              </a:rPr>
              <a:t>:</a:t>
            </a:r>
            <a:r>
              <a:rPr lang="ko-KR" altLang="en-US" sz="1200" b="1" dirty="0">
                <a:solidFill>
                  <a:schemeClr val="tx1"/>
                </a:solidFill>
              </a:rPr>
              <a:t> 다차원 배열을 </a:t>
            </a:r>
            <a:r>
              <a:rPr lang="en-US" altLang="ko-KR" sz="1200" b="1" dirty="0">
                <a:solidFill>
                  <a:schemeClr val="tx1"/>
                </a:solidFill>
              </a:rPr>
              <a:t>1</a:t>
            </a:r>
            <a:r>
              <a:rPr lang="ko-KR" altLang="en-US" sz="1200" b="1" dirty="0">
                <a:solidFill>
                  <a:schemeClr val="tx1"/>
                </a:solidFill>
              </a:rPr>
              <a:t>줄 배열로 펼치는 함수 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180975" indent="-180975">
              <a:lnSpc>
                <a:spcPts val="1900"/>
              </a:lnSpc>
              <a:buFont typeface="Arial" panose="020B0604020202020204" pitchFamily="34" charset="0"/>
              <a:buChar char="•"/>
            </a:pPr>
            <a:endParaRPr lang="en-US" altLang="ko-KR" sz="1200" b="1" dirty="0">
              <a:solidFill>
                <a:schemeClr val="tx1"/>
              </a:solidFill>
            </a:endParaRPr>
          </a:p>
          <a:p>
            <a:pPr marL="180975" indent="-180975">
              <a:lnSpc>
                <a:spcPts val="1900"/>
              </a:lnSpc>
              <a:buFont typeface="Arial" panose="020B0604020202020204" pitchFamily="34" charset="0"/>
              <a:buChar char="•"/>
            </a:pPr>
            <a:r>
              <a:rPr lang="en-US" altLang="ko-KR" sz="1200" b="1" dirty="0">
                <a:solidFill>
                  <a:schemeClr val="tx1"/>
                </a:solidFill>
              </a:rPr>
              <a:t>predict</a:t>
            </a:r>
            <a:r>
              <a:rPr lang="ko-KR" altLang="en-US" sz="1200" b="1" dirty="0">
                <a:solidFill>
                  <a:schemeClr val="tx1"/>
                </a:solidFill>
              </a:rPr>
              <a:t> </a:t>
            </a:r>
            <a:r>
              <a:rPr lang="en-US" altLang="ko-KR" sz="1200" b="1" dirty="0">
                <a:solidFill>
                  <a:schemeClr val="tx1"/>
                </a:solidFill>
              </a:rPr>
              <a:t>:</a:t>
            </a:r>
            <a:r>
              <a:rPr lang="ko-KR" altLang="en-US" sz="1200" b="1" dirty="0">
                <a:solidFill>
                  <a:schemeClr val="tx1"/>
                </a:solidFill>
              </a:rPr>
              <a:t> 모든 </a:t>
            </a:r>
            <a:r>
              <a:rPr lang="en-US" altLang="ko-KR" sz="1200" b="1" dirty="0">
                <a:solidFill>
                  <a:schemeClr val="tx1"/>
                </a:solidFill>
              </a:rPr>
              <a:t>x, y </a:t>
            </a:r>
            <a:r>
              <a:rPr lang="ko-KR" altLang="en-US" sz="1200" b="1" dirty="0">
                <a:solidFill>
                  <a:schemeClr val="tx1"/>
                </a:solidFill>
              </a:rPr>
              <a:t>격자에 대해 정상과 불량을 예측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180975" indent="-180975">
              <a:lnSpc>
                <a:spcPts val="1900"/>
              </a:lnSpc>
              <a:buFont typeface="Arial" panose="020B0604020202020204" pitchFamily="34" charset="0"/>
              <a:buChar char="•"/>
            </a:pPr>
            <a:endParaRPr lang="en-US" altLang="ko-KR" sz="1200" b="1" dirty="0">
              <a:solidFill>
                <a:schemeClr val="tx1"/>
              </a:solidFill>
            </a:endParaRPr>
          </a:p>
          <a:p>
            <a:pPr marL="180975" indent="-180975">
              <a:lnSpc>
                <a:spcPts val="1900"/>
              </a:lnSpc>
              <a:buFont typeface="Arial" panose="020B0604020202020204" pitchFamily="34" charset="0"/>
              <a:buChar char="•"/>
            </a:pPr>
            <a:r>
              <a:rPr lang="en-US" altLang="ko-KR" sz="1200" b="1" dirty="0">
                <a:solidFill>
                  <a:schemeClr val="tx1"/>
                </a:solidFill>
              </a:rPr>
              <a:t>contour</a:t>
            </a:r>
            <a:r>
              <a:rPr lang="ko-KR" altLang="en-US" sz="1200" b="1" dirty="0">
                <a:solidFill>
                  <a:schemeClr val="tx1"/>
                </a:solidFill>
              </a:rPr>
              <a:t> </a:t>
            </a:r>
            <a:r>
              <a:rPr lang="en-US" altLang="ko-KR" sz="1200" b="1" dirty="0">
                <a:solidFill>
                  <a:schemeClr val="tx1"/>
                </a:solidFill>
              </a:rPr>
              <a:t>:</a:t>
            </a:r>
            <a:r>
              <a:rPr lang="ko-KR" altLang="en-US" sz="1200" b="1" dirty="0">
                <a:solidFill>
                  <a:schemeClr val="tx1"/>
                </a:solidFill>
              </a:rPr>
              <a:t> 외곽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pPr marL="180975" indent="-180975">
              <a:lnSpc>
                <a:spcPts val="1900"/>
              </a:lnSpc>
              <a:buFont typeface="Arial" panose="020B0604020202020204" pitchFamily="34" charset="0"/>
              <a:buChar char="•"/>
            </a:pPr>
            <a:r>
              <a:rPr lang="en-US" altLang="ko-KR" sz="1200" b="1" dirty="0" err="1">
                <a:solidFill>
                  <a:schemeClr val="tx1"/>
                </a:solidFill>
              </a:rPr>
              <a:t>confourf</a:t>
            </a:r>
            <a:r>
              <a:rPr lang="en-US" altLang="ko-KR" sz="1200" b="1" dirty="0">
                <a:solidFill>
                  <a:schemeClr val="tx1"/>
                </a:solidFill>
              </a:rPr>
              <a:t> : </a:t>
            </a:r>
            <a:r>
              <a:rPr lang="ko-KR" altLang="en-US" sz="1200" b="1" dirty="0" err="1">
                <a:solidFill>
                  <a:schemeClr val="tx1"/>
                </a:solidFill>
              </a:rPr>
              <a:t>외관선</a:t>
            </a:r>
            <a:r>
              <a:rPr lang="ko-KR" altLang="en-US" sz="1200" b="1" dirty="0">
                <a:solidFill>
                  <a:schemeClr val="tx1"/>
                </a:solidFill>
              </a:rPr>
              <a:t> 내부를 채운 함수</a:t>
            </a:r>
          </a:p>
        </p:txBody>
      </p:sp>
    </p:spTree>
    <p:extLst>
      <p:ext uri="{BB962C8B-B14F-4D97-AF65-F5344CB8AC3E}">
        <p14:creationId xmlns:p14="http://schemas.microsoft.com/office/powerpoint/2010/main" val="4107905926"/>
      </p:ext>
    </p:extLst>
  </p:cSld>
  <p:clrMapOvr>
    <a:masterClrMapping/>
  </p:clrMapOvr>
  <p:transition spd="slow"/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2135560" y="1658"/>
            <a:ext cx="10056440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STEP 6. </a:t>
            </a:r>
            <a:r>
              <a:rPr lang="ko-KR" altLang="en-US" sz="2000" b="1" dirty="0">
                <a:solidFill>
                  <a:schemeClr val="tx1"/>
                </a:solidFill>
              </a:rPr>
              <a:t>특성 중요도 시각화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2135560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0ECF8A-16E8-4D77-896D-B04E9E2D3847}"/>
              </a:ext>
            </a:extLst>
          </p:cNvPr>
          <p:cNvSpPr txBox="1"/>
          <p:nvPr/>
        </p:nvSpPr>
        <p:spPr>
          <a:xfrm>
            <a:off x="5672020" y="131132"/>
            <a:ext cx="1963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결정 경계 시각화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5CBD993-6F23-4145-A57D-44761BCC0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464" y="770637"/>
            <a:ext cx="9308074" cy="5808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893012"/>
      </p:ext>
    </p:extLst>
  </p:cSld>
  <p:clrMapOvr>
    <a:masterClrMapping/>
  </p:clrMapOvr>
  <p:transition spd="slow"/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2135560" y="1658"/>
            <a:ext cx="10056440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STEP 7. </a:t>
            </a:r>
            <a:r>
              <a:rPr lang="ko-KR" altLang="en-US" sz="2000" b="1" dirty="0" err="1">
                <a:solidFill>
                  <a:schemeClr val="tx1"/>
                </a:solidFill>
              </a:rPr>
              <a:t>하이퍼</a:t>
            </a:r>
            <a:r>
              <a:rPr lang="ko-KR" altLang="en-US" sz="2000" b="1" dirty="0">
                <a:solidFill>
                  <a:schemeClr val="tx1"/>
                </a:solidFill>
              </a:rPr>
              <a:t> 파라미터 튜닝</a:t>
            </a:r>
            <a:r>
              <a:rPr lang="en-US" altLang="ko-KR" sz="2000" b="1" dirty="0">
                <a:solidFill>
                  <a:schemeClr val="tx1"/>
                </a:solidFill>
              </a:rPr>
              <a:t>(</a:t>
            </a:r>
            <a:r>
              <a:rPr lang="en-US" altLang="ko-KR" sz="2000" b="1" dirty="0" err="1">
                <a:solidFill>
                  <a:schemeClr val="tx1"/>
                </a:solidFill>
              </a:rPr>
              <a:t>GridSearchCV</a:t>
            </a:r>
            <a:r>
              <a:rPr lang="en-US" altLang="ko-KR" sz="2000" b="1" dirty="0">
                <a:solidFill>
                  <a:schemeClr val="tx1"/>
                </a:solidFill>
              </a:rPr>
              <a:t>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2135560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AAD919-12B5-48D1-A2B8-3022BD810DEC}"/>
              </a:ext>
            </a:extLst>
          </p:cNvPr>
          <p:cNvSpPr txBox="1"/>
          <p:nvPr/>
        </p:nvSpPr>
        <p:spPr>
          <a:xfrm>
            <a:off x="191344" y="675530"/>
            <a:ext cx="6552728" cy="5693866"/>
          </a:xfrm>
          <a:prstGeom prst="rect">
            <a:avLst/>
          </a:prstGeom>
          <a:noFill/>
          <a:ln w="15875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en-US" altLang="ko-KR" sz="1400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GridSearchCV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로 최적 파라미터 탐색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param_grid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{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'n_estimators'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 : [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100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200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300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max_depth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    : [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5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7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learning_rate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: [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0.05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0.2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'subsample'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    : [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0.8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1.0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xgb_base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XGBClassifier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scale_pos_weight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scale,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eval_metric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     =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logloss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random_state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    =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42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verbosity        =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endParaRPr lang="en-US" altLang="ko-KR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grid_search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GridSearchCV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estimator  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xgb_base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param_grid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param_grid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cv         =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5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          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5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겹 교차검증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ko-KR" altLang="en-US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scoring    =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'f1'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       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불균형 데이터이므로 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F1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기준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ko-KR" altLang="en-US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n_jobs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    =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-1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         </a:t>
            </a:r>
            <a:r>
              <a:rPr lang="en-US" altLang="ko-KR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4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병렬 처리</a:t>
            </a:r>
            <a:endParaRPr lang="ko-KR" altLang="en-US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ko-KR" altLang="en-US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verbose    =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endParaRPr lang="en-US" altLang="ko-KR" sz="14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grid_search.fit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(X_train, y_train)</a:t>
            </a:r>
          </a:p>
          <a:p>
            <a:b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"\n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최적 파라미터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grid_search.best_params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_)</a:t>
            </a:r>
          </a:p>
          <a:p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최적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F1 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점수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grid_search.best_score_.</a:t>
            </a:r>
            <a:r>
              <a:rPr lang="en-US" altLang="ko-KR" sz="1400" b="0" dirty="0" err="1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round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0DAEDEC-2973-44DA-B93A-CC054F9227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9968" y="4941168"/>
            <a:ext cx="6552728" cy="682936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78E2BC-6914-44BB-B82D-29B05C37E898}"/>
              </a:ext>
            </a:extLst>
          </p:cNvPr>
          <p:cNvSpPr txBox="1"/>
          <p:nvPr/>
        </p:nvSpPr>
        <p:spPr>
          <a:xfrm>
            <a:off x="6794047" y="710594"/>
            <a:ext cx="4686219" cy="1384995"/>
          </a:xfrm>
          <a:prstGeom prst="rect">
            <a:avLst/>
          </a:prstGeom>
          <a:noFill/>
          <a:ln w="15875">
            <a:solidFill>
              <a:schemeClr val="accent3">
                <a:lumMod val="20000"/>
                <a:lumOff val="80000"/>
              </a:schemeClr>
            </a:solidFill>
          </a:ln>
        </p:spPr>
        <p:txBody>
          <a:bodyPr wrap="none" rtlCol="0">
            <a:spAutoFit/>
          </a:bodyPr>
          <a:lstStyle/>
          <a:p>
            <a:pPr marL="182563" indent="-182563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+mn-ea"/>
              </a:rPr>
              <a:t>모든 조합을 전부 시도해보고 가장 성능이 좋은 조합을 선택</a:t>
            </a:r>
            <a:endParaRPr lang="en-US" altLang="ko-KR" sz="1200" dirty="0">
              <a:latin typeface="+mn-ea"/>
            </a:endParaRPr>
          </a:p>
          <a:p>
            <a:pPr marL="182563" indent="-182563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+mn-ea"/>
              </a:rPr>
              <a:t>총 조합 수는 </a:t>
            </a:r>
            <a:r>
              <a:rPr lang="en-US" altLang="ko-KR" sz="1200" dirty="0">
                <a:latin typeface="+mn-ea"/>
              </a:rPr>
              <a:t>3x3x3x2=54</a:t>
            </a:r>
            <a:r>
              <a:rPr lang="ko-KR" altLang="en-US" sz="1200" dirty="0">
                <a:latin typeface="+mn-ea"/>
              </a:rPr>
              <a:t>가지</a:t>
            </a:r>
            <a:endParaRPr lang="en-US" altLang="ko-KR" sz="1200" dirty="0">
              <a:latin typeface="+mn-ea"/>
            </a:endParaRPr>
          </a:p>
          <a:p>
            <a:pPr marL="182563" indent="-182563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+mn-ea"/>
              </a:rPr>
              <a:t>estimators : </a:t>
            </a:r>
            <a:r>
              <a:rPr lang="ko-KR" altLang="en-US" sz="1200" dirty="0">
                <a:latin typeface="+mn-ea"/>
              </a:rPr>
              <a:t>트리를 몇 개 </a:t>
            </a:r>
            <a:r>
              <a:rPr lang="ko-KR" altLang="en-US" sz="1200" dirty="0" err="1">
                <a:latin typeface="+mn-ea"/>
              </a:rPr>
              <a:t>쌓을것인지</a:t>
            </a:r>
            <a:r>
              <a:rPr lang="ko-KR" altLang="en-US" sz="1200" dirty="0">
                <a:latin typeface="+mn-ea"/>
              </a:rPr>
              <a:t> 지정</a:t>
            </a:r>
            <a:br>
              <a:rPr lang="en-US" altLang="ko-KR" sz="1200" dirty="0">
                <a:latin typeface="+mn-ea"/>
              </a:rPr>
            </a:br>
            <a:r>
              <a:rPr lang="ko-KR" altLang="en-US" sz="1200" dirty="0">
                <a:latin typeface="+mn-ea"/>
              </a:rPr>
              <a:t>많이 쌓을 수록 정확해지지만</a:t>
            </a:r>
            <a:r>
              <a:rPr lang="en-US" altLang="ko-KR" sz="1200" dirty="0">
                <a:latin typeface="+mn-ea"/>
              </a:rPr>
              <a:t>, </a:t>
            </a:r>
            <a:r>
              <a:rPr lang="ko-KR" altLang="en-US" sz="1200" dirty="0">
                <a:latin typeface="+mn-ea"/>
              </a:rPr>
              <a:t>학습 속도 느려지고 과적합 우려</a:t>
            </a:r>
            <a:endParaRPr lang="en-US" altLang="ko-KR" sz="1200" dirty="0">
              <a:latin typeface="+mn-ea"/>
            </a:endParaRPr>
          </a:p>
          <a:p>
            <a:pPr marL="182563" indent="-182563">
              <a:buFont typeface="Arial" panose="020B0604020202020204" pitchFamily="34" charset="0"/>
              <a:buChar char="•"/>
            </a:pPr>
            <a:r>
              <a:rPr lang="en-US" altLang="ko-KR" sz="1200" dirty="0" err="1">
                <a:latin typeface="+mn-ea"/>
              </a:rPr>
              <a:t>max_depth</a:t>
            </a:r>
            <a:r>
              <a:rPr lang="en-US" altLang="ko-KR" sz="1200" dirty="0">
                <a:latin typeface="+mn-ea"/>
              </a:rPr>
              <a:t> : </a:t>
            </a:r>
            <a:r>
              <a:rPr lang="ko-KR" altLang="en-US" sz="1200" dirty="0">
                <a:latin typeface="+mn-ea"/>
              </a:rPr>
              <a:t>각 결정 트리의 깊이 한도</a:t>
            </a:r>
            <a:endParaRPr lang="en-US" altLang="ko-KR" sz="1200" dirty="0">
              <a:latin typeface="+mn-ea"/>
            </a:endParaRPr>
          </a:p>
          <a:p>
            <a:pPr marL="182563" indent="-182563">
              <a:buFont typeface="Arial" panose="020B0604020202020204" pitchFamily="34" charset="0"/>
              <a:buChar char="•"/>
            </a:pPr>
            <a:r>
              <a:rPr lang="en-US" altLang="ko-KR" sz="1200" dirty="0" err="1">
                <a:latin typeface="+mn-ea"/>
              </a:rPr>
              <a:t>learning_rate</a:t>
            </a:r>
            <a:r>
              <a:rPr lang="en-US" altLang="ko-KR" sz="1200" dirty="0">
                <a:latin typeface="+mn-ea"/>
              </a:rPr>
              <a:t> : </a:t>
            </a:r>
            <a:r>
              <a:rPr lang="ko-KR" altLang="en-US" sz="1200" dirty="0">
                <a:latin typeface="+mn-ea"/>
              </a:rPr>
              <a:t>각 트리의 기여도를 얼마나 줄여서 더할지</a:t>
            </a:r>
            <a:endParaRPr lang="en-US" altLang="ko-KR" sz="1200" dirty="0">
              <a:latin typeface="+mn-ea"/>
            </a:endParaRPr>
          </a:p>
          <a:p>
            <a:pPr marL="182563" indent="-182563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+mn-ea"/>
              </a:rPr>
              <a:t>subsample : </a:t>
            </a:r>
            <a:r>
              <a:rPr lang="ko-KR" altLang="en-US" sz="1200" dirty="0">
                <a:latin typeface="+mn-ea"/>
              </a:rPr>
              <a:t>각 트리 학습할 때 전체 데이터에서 몇 </a:t>
            </a:r>
            <a:r>
              <a:rPr lang="en-US" altLang="ko-KR" sz="1200" dirty="0">
                <a:latin typeface="+mn-ea"/>
              </a:rPr>
              <a:t>% </a:t>
            </a:r>
            <a:r>
              <a:rPr lang="ko-KR" altLang="en-US" sz="1200" dirty="0">
                <a:latin typeface="+mn-ea"/>
              </a:rPr>
              <a:t>사용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85742C-E785-4120-B5CC-71A38438FB06}"/>
              </a:ext>
            </a:extLst>
          </p:cNvPr>
          <p:cNvSpPr txBox="1"/>
          <p:nvPr/>
        </p:nvSpPr>
        <p:spPr>
          <a:xfrm>
            <a:off x="6804807" y="2174587"/>
            <a:ext cx="5143075" cy="1015663"/>
          </a:xfrm>
          <a:prstGeom prst="rect">
            <a:avLst/>
          </a:prstGeom>
          <a:noFill/>
          <a:ln w="15875">
            <a:solidFill>
              <a:schemeClr val="accent3">
                <a:lumMod val="20000"/>
                <a:lumOff val="80000"/>
              </a:schemeClr>
            </a:solidFill>
          </a:ln>
        </p:spPr>
        <p:txBody>
          <a:bodyPr wrap="none" rtlCol="0">
            <a:spAutoFit/>
          </a:bodyPr>
          <a:lstStyle/>
          <a:p>
            <a:pPr marL="182563" indent="-182563">
              <a:buFont typeface="Arial" panose="020B0604020202020204" pitchFamily="34" charset="0"/>
              <a:buChar char="•"/>
            </a:pPr>
            <a:r>
              <a:rPr lang="en-US" altLang="ko-KR" sz="1200" dirty="0" err="1">
                <a:latin typeface="+mn-ea"/>
              </a:rPr>
              <a:t>XGBClassifier</a:t>
            </a:r>
            <a:r>
              <a:rPr lang="en-US" altLang="ko-KR" sz="1200" dirty="0">
                <a:latin typeface="+mn-ea"/>
              </a:rPr>
              <a:t> : </a:t>
            </a:r>
            <a:r>
              <a:rPr lang="ko-KR" altLang="en-US" sz="1200" dirty="0">
                <a:latin typeface="+mn-ea"/>
              </a:rPr>
              <a:t>분류 문제 사용하겠다는 선언 </a:t>
            </a:r>
            <a:r>
              <a:rPr lang="en-US" altLang="ko-KR" sz="1200" dirty="0">
                <a:latin typeface="+mn-ea"/>
              </a:rPr>
              <a:t>(: </a:t>
            </a:r>
            <a:r>
              <a:rPr lang="en-US" altLang="ko-KR" sz="1200" dirty="0" err="1">
                <a:latin typeface="+mn-ea"/>
              </a:rPr>
              <a:t>XGBRegressor</a:t>
            </a:r>
            <a:r>
              <a:rPr lang="en-US" altLang="ko-KR" sz="1200" dirty="0">
                <a:latin typeface="+mn-ea"/>
              </a:rPr>
              <a:t>)</a:t>
            </a:r>
          </a:p>
          <a:p>
            <a:pPr marL="182563" indent="-182563">
              <a:buFont typeface="Arial" panose="020B0604020202020204" pitchFamily="34" charset="0"/>
              <a:buChar char="•"/>
            </a:pPr>
            <a:r>
              <a:rPr lang="en-US" altLang="ko-KR" sz="1200" dirty="0" err="1">
                <a:latin typeface="+mn-ea"/>
              </a:rPr>
              <a:t>scale_pos_weight</a:t>
            </a:r>
            <a:r>
              <a:rPr lang="en-US" altLang="ko-KR" sz="1200" dirty="0">
                <a:latin typeface="+mn-ea"/>
              </a:rPr>
              <a:t> : </a:t>
            </a:r>
            <a:r>
              <a:rPr lang="ko-KR" altLang="en-US" sz="1200" dirty="0">
                <a:latin typeface="+mn-ea"/>
              </a:rPr>
              <a:t>클래스 불균형 보정</a:t>
            </a:r>
            <a:endParaRPr lang="en-US" altLang="ko-KR" sz="1200" dirty="0">
              <a:latin typeface="+mn-ea"/>
            </a:endParaRPr>
          </a:p>
          <a:p>
            <a:pPr marL="182563" indent="-182563">
              <a:buFont typeface="Arial" panose="020B0604020202020204" pitchFamily="34" charset="0"/>
              <a:buChar char="•"/>
            </a:pPr>
            <a:r>
              <a:rPr lang="en-US" altLang="ko-KR" sz="1200" dirty="0" err="1">
                <a:latin typeface="+mn-ea"/>
              </a:rPr>
              <a:t>eval_metric</a:t>
            </a:r>
            <a:r>
              <a:rPr lang="ko-KR" altLang="en-US" sz="1200" dirty="0">
                <a:latin typeface="+mn-ea"/>
              </a:rPr>
              <a:t> </a:t>
            </a:r>
            <a:r>
              <a:rPr lang="en-US" altLang="ko-KR" sz="1200" dirty="0">
                <a:latin typeface="+mn-ea"/>
              </a:rPr>
              <a:t>:</a:t>
            </a:r>
            <a:r>
              <a:rPr lang="ko-KR" altLang="en-US" sz="1200" dirty="0">
                <a:latin typeface="+mn-ea"/>
              </a:rPr>
              <a:t> 모델 성능을 어떤 기준으로 측정할지 선언</a:t>
            </a:r>
            <a:br>
              <a:rPr lang="en-US" altLang="ko-KR" sz="1200" dirty="0">
                <a:latin typeface="+mn-ea"/>
              </a:rPr>
            </a:br>
            <a:r>
              <a:rPr lang="en-US" altLang="ko-KR" sz="1200" dirty="0" err="1">
                <a:latin typeface="+mn-ea"/>
              </a:rPr>
              <a:t>logloss</a:t>
            </a:r>
            <a:r>
              <a:rPr lang="ko-KR" altLang="en-US" sz="1200" dirty="0">
                <a:latin typeface="+mn-ea"/>
              </a:rPr>
              <a:t>는 분류문제에서 예측 확률이 실제 정답과 얼마나 </a:t>
            </a:r>
            <a:r>
              <a:rPr lang="ko-KR" altLang="en-US" sz="1200" dirty="0" err="1">
                <a:latin typeface="+mn-ea"/>
              </a:rPr>
              <a:t>다른지</a:t>
            </a:r>
            <a:r>
              <a:rPr lang="ko-KR" altLang="en-US" sz="1200" dirty="0">
                <a:latin typeface="+mn-ea"/>
              </a:rPr>
              <a:t> 측정</a:t>
            </a:r>
            <a:endParaRPr lang="en-US" altLang="ko-KR" sz="1200" dirty="0">
              <a:latin typeface="+mn-ea"/>
            </a:endParaRPr>
          </a:p>
          <a:p>
            <a:pPr marL="182563" indent="-182563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+mn-ea"/>
              </a:rPr>
              <a:t>verbosity : </a:t>
            </a:r>
            <a:r>
              <a:rPr lang="ko-KR" altLang="en-US" sz="1200" dirty="0">
                <a:latin typeface="+mn-ea"/>
              </a:rPr>
              <a:t>학습 중에 출력할 로그 양 조절  </a:t>
            </a:r>
            <a:r>
              <a:rPr lang="en-US" altLang="ko-KR" sz="1200" dirty="0">
                <a:latin typeface="+mn-ea"/>
              </a:rPr>
              <a:t>0 = </a:t>
            </a:r>
            <a:r>
              <a:rPr lang="ko-KR" altLang="en-US" sz="1200" dirty="0">
                <a:latin typeface="+mn-ea"/>
              </a:rPr>
              <a:t>출력하지 않음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E66B3F-A08E-4D0E-92F4-15EB2FA586C1}"/>
              </a:ext>
            </a:extLst>
          </p:cNvPr>
          <p:cNvSpPr txBox="1"/>
          <p:nvPr/>
        </p:nvSpPr>
        <p:spPr>
          <a:xfrm>
            <a:off x="6804807" y="3429000"/>
            <a:ext cx="4732706" cy="1200329"/>
          </a:xfrm>
          <a:prstGeom prst="rect">
            <a:avLst/>
          </a:prstGeom>
          <a:noFill/>
          <a:ln w="15875">
            <a:solidFill>
              <a:schemeClr val="accent3">
                <a:lumMod val="20000"/>
                <a:lumOff val="80000"/>
              </a:schemeClr>
            </a:solidFill>
          </a:ln>
        </p:spPr>
        <p:txBody>
          <a:bodyPr wrap="none" rtlCol="0">
            <a:spAutoFit/>
          </a:bodyPr>
          <a:lstStyle/>
          <a:p>
            <a:pPr marL="182563" indent="-182563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+mn-ea"/>
              </a:rPr>
              <a:t>cv</a:t>
            </a:r>
            <a:r>
              <a:rPr lang="ko-KR" altLang="en-US" sz="1200" dirty="0">
                <a:latin typeface="+mn-ea"/>
              </a:rPr>
              <a:t> </a:t>
            </a:r>
            <a:r>
              <a:rPr lang="en-US" altLang="ko-KR" sz="1200" dirty="0">
                <a:latin typeface="+mn-ea"/>
              </a:rPr>
              <a:t>:</a:t>
            </a:r>
            <a:r>
              <a:rPr lang="ko-KR" altLang="en-US" sz="1200" dirty="0">
                <a:latin typeface="+mn-ea"/>
              </a:rPr>
              <a:t> </a:t>
            </a:r>
            <a:r>
              <a:rPr lang="en-US" altLang="ko-KR" sz="1200" dirty="0">
                <a:latin typeface="+mn-ea"/>
              </a:rPr>
              <a:t>Cross</a:t>
            </a:r>
            <a:r>
              <a:rPr lang="ko-KR" altLang="en-US" sz="1200" dirty="0">
                <a:latin typeface="+mn-ea"/>
              </a:rPr>
              <a:t> </a:t>
            </a:r>
            <a:r>
              <a:rPr lang="en-US" altLang="ko-KR" sz="1200" dirty="0">
                <a:latin typeface="+mn-ea"/>
              </a:rPr>
              <a:t>Validation , </a:t>
            </a:r>
            <a:r>
              <a:rPr lang="ko-KR" altLang="en-US" sz="1200" dirty="0">
                <a:latin typeface="+mn-ea"/>
              </a:rPr>
              <a:t>전체 학습 데이터를 </a:t>
            </a:r>
            <a:r>
              <a:rPr lang="en-US" altLang="ko-KR" sz="1200" dirty="0">
                <a:latin typeface="+mn-ea"/>
              </a:rPr>
              <a:t>5</a:t>
            </a:r>
            <a:r>
              <a:rPr lang="ko-KR" altLang="en-US" sz="1200" dirty="0">
                <a:latin typeface="+mn-ea"/>
              </a:rPr>
              <a:t>등분해서</a:t>
            </a:r>
            <a:r>
              <a:rPr lang="en-US" altLang="ko-KR" sz="1200" dirty="0">
                <a:latin typeface="+mn-ea"/>
              </a:rPr>
              <a:t>, </a:t>
            </a:r>
            <a:br>
              <a:rPr lang="en-US" altLang="ko-KR" sz="1200" dirty="0">
                <a:latin typeface="+mn-ea"/>
              </a:rPr>
            </a:br>
            <a:r>
              <a:rPr lang="en-US" altLang="ko-KR" sz="1200" dirty="0">
                <a:latin typeface="+mn-ea"/>
              </a:rPr>
              <a:t>4</a:t>
            </a:r>
            <a:r>
              <a:rPr lang="ko-KR" altLang="en-US" sz="1200" dirty="0">
                <a:latin typeface="+mn-ea"/>
              </a:rPr>
              <a:t>개로 학습하고 나머지 </a:t>
            </a:r>
            <a:r>
              <a:rPr lang="en-US" altLang="ko-KR" sz="1200" dirty="0">
                <a:latin typeface="+mn-ea"/>
              </a:rPr>
              <a:t>1</a:t>
            </a:r>
            <a:r>
              <a:rPr lang="ko-KR" altLang="en-US" sz="1200" dirty="0">
                <a:latin typeface="+mn-ea"/>
              </a:rPr>
              <a:t>개로 검증하는 과정을 </a:t>
            </a:r>
            <a:r>
              <a:rPr lang="en-US" altLang="ko-KR" sz="1200" dirty="0">
                <a:latin typeface="+mn-ea"/>
              </a:rPr>
              <a:t>5</a:t>
            </a:r>
            <a:r>
              <a:rPr lang="ko-KR" altLang="en-US" sz="1200" dirty="0">
                <a:latin typeface="+mn-ea"/>
              </a:rPr>
              <a:t>번 반복</a:t>
            </a:r>
            <a:endParaRPr lang="en-US" altLang="ko-KR" sz="1200" dirty="0">
              <a:latin typeface="+mn-ea"/>
            </a:endParaRPr>
          </a:p>
          <a:p>
            <a:pPr marL="182563" indent="-182563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+mn-ea"/>
              </a:rPr>
              <a:t>scoring</a:t>
            </a:r>
            <a:r>
              <a:rPr lang="ko-KR" altLang="en-US" sz="1200" dirty="0">
                <a:latin typeface="+mn-ea"/>
              </a:rPr>
              <a:t> </a:t>
            </a:r>
            <a:r>
              <a:rPr lang="en-US" altLang="ko-KR" sz="1200" dirty="0">
                <a:latin typeface="+mn-ea"/>
              </a:rPr>
              <a:t>:</a:t>
            </a:r>
            <a:r>
              <a:rPr lang="ko-KR" altLang="en-US" sz="1200" dirty="0">
                <a:latin typeface="+mn-ea"/>
              </a:rPr>
              <a:t> 어떤 지표를 기준으로 가장 좋은 파라미터를 선택할지</a:t>
            </a:r>
            <a:endParaRPr lang="en-US" altLang="ko-KR" sz="1200" dirty="0">
              <a:latin typeface="+mn-ea"/>
            </a:endParaRPr>
          </a:p>
          <a:p>
            <a:pPr marL="182563" indent="-182563">
              <a:buFont typeface="Arial" panose="020B0604020202020204" pitchFamily="34" charset="0"/>
              <a:buChar char="•"/>
            </a:pPr>
            <a:r>
              <a:rPr lang="en-US" altLang="ko-KR" sz="1200" dirty="0" err="1">
                <a:latin typeface="+mn-ea"/>
              </a:rPr>
              <a:t>n_jobs</a:t>
            </a:r>
            <a:r>
              <a:rPr lang="en-US" altLang="ko-KR" sz="1200" dirty="0">
                <a:latin typeface="+mn-ea"/>
              </a:rPr>
              <a:t> :  </a:t>
            </a:r>
            <a:r>
              <a:rPr lang="ko-KR" altLang="en-US" sz="1200" dirty="0">
                <a:latin typeface="+mn-ea"/>
              </a:rPr>
              <a:t>병렬 처리에 사용할 </a:t>
            </a:r>
            <a:r>
              <a:rPr lang="en-US" altLang="ko-KR" sz="1200" dirty="0">
                <a:latin typeface="+mn-ea"/>
              </a:rPr>
              <a:t>CPU </a:t>
            </a:r>
            <a:r>
              <a:rPr lang="ko-KR" altLang="en-US" sz="1200" dirty="0">
                <a:latin typeface="+mn-ea"/>
              </a:rPr>
              <a:t>코어 수</a:t>
            </a:r>
            <a:r>
              <a:rPr lang="en-US" altLang="ko-KR" sz="1200" dirty="0">
                <a:latin typeface="+mn-ea"/>
              </a:rPr>
              <a:t>, -1</a:t>
            </a:r>
            <a:r>
              <a:rPr lang="ko-KR" altLang="en-US" sz="1200" dirty="0">
                <a:latin typeface="+mn-ea"/>
              </a:rPr>
              <a:t>은 모두 사용</a:t>
            </a:r>
            <a:endParaRPr lang="en-US" altLang="ko-KR" sz="1200" dirty="0">
              <a:latin typeface="+mn-ea"/>
            </a:endParaRPr>
          </a:p>
          <a:p>
            <a:pPr marL="182563" indent="-182563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+mn-ea"/>
              </a:rPr>
              <a:t>verbose : </a:t>
            </a:r>
            <a:r>
              <a:rPr lang="ko-KR" altLang="en-US" sz="1200" dirty="0">
                <a:latin typeface="+mn-ea"/>
              </a:rPr>
              <a:t>탐색 진행 상황을 얼마나 출력할 지</a:t>
            </a:r>
            <a:br>
              <a:rPr lang="en-US" altLang="ko-KR" sz="1200" dirty="0">
                <a:latin typeface="+mn-ea"/>
              </a:rPr>
            </a:br>
            <a:r>
              <a:rPr lang="en-US" altLang="ko-KR" sz="1200" dirty="0">
                <a:latin typeface="+mn-ea"/>
              </a:rPr>
              <a:t>1 </a:t>
            </a:r>
            <a:r>
              <a:rPr lang="ko-KR" altLang="en-US" sz="1200" dirty="0">
                <a:latin typeface="+mn-ea"/>
              </a:rPr>
              <a:t>이면</a:t>
            </a:r>
            <a:r>
              <a:rPr lang="en-US" altLang="ko-KR" sz="1200" dirty="0">
                <a:latin typeface="+mn-ea"/>
              </a:rPr>
              <a:t>, </a:t>
            </a:r>
            <a:r>
              <a:rPr lang="ko-KR" altLang="en-US" sz="1200" dirty="0">
                <a:latin typeface="+mn-ea"/>
              </a:rPr>
              <a:t>각 조합이 완료될 때마다 간단한 진행 메시지 출력</a:t>
            </a:r>
          </a:p>
        </p:txBody>
      </p:sp>
    </p:spTree>
    <p:extLst>
      <p:ext uri="{BB962C8B-B14F-4D97-AF65-F5344CB8AC3E}">
        <p14:creationId xmlns:p14="http://schemas.microsoft.com/office/powerpoint/2010/main" val="2890075807"/>
      </p:ext>
    </p:extLst>
  </p:cSld>
  <p:clrMapOvr>
    <a:masterClrMapping/>
  </p:clrMapOvr>
  <p:transition spd="slow"/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2135560" y="1658"/>
            <a:ext cx="10056440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STEP 7. </a:t>
            </a:r>
            <a:r>
              <a:rPr lang="ko-KR" altLang="en-US" sz="2000" b="1" dirty="0" err="1">
                <a:solidFill>
                  <a:schemeClr val="tx1"/>
                </a:solidFill>
              </a:rPr>
              <a:t>하이퍼</a:t>
            </a:r>
            <a:r>
              <a:rPr lang="ko-KR" altLang="en-US" sz="2000" b="1" dirty="0">
                <a:solidFill>
                  <a:schemeClr val="tx1"/>
                </a:solidFill>
              </a:rPr>
              <a:t> 파라미터 튜닝</a:t>
            </a:r>
            <a:r>
              <a:rPr lang="en-US" altLang="ko-KR" sz="2000" b="1" dirty="0">
                <a:solidFill>
                  <a:schemeClr val="tx1"/>
                </a:solidFill>
              </a:rPr>
              <a:t>(</a:t>
            </a:r>
            <a:r>
              <a:rPr lang="en-US" altLang="ko-KR" sz="2000" b="1" dirty="0" err="1">
                <a:solidFill>
                  <a:schemeClr val="tx1"/>
                </a:solidFill>
              </a:rPr>
              <a:t>GridSearchCV</a:t>
            </a:r>
            <a:r>
              <a:rPr lang="en-US" altLang="ko-KR" sz="2000" b="1" dirty="0">
                <a:solidFill>
                  <a:schemeClr val="tx1"/>
                </a:solidFill>
              </a:rPr>
              <a:t>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2135560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FEB4FD-8418-4152-B485-9C7E0C74C66E}"/>
              </a:ext>
            </a:extLst>
          </p:cNvPr>
          <p:cNvSpPr txBox="1"/>
          <p:nvPr/>
        </p:nvSpPr>
        <p:spPr>
          <a:xfrm>
            <a:off x="119336" y="764704"/>
            <a:ext cx="8744606" cy="4154984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6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최적 파라미터로 최종 평가</a:t>
            </a:r>
            <a:endParaRPr lang="ko-KR" altLang="en-US" sz="16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best_model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grid_search.best_estimator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_</a:t>
            </a:r>
          </a:p>
          <a:p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y_pred_best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best_model.predict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(X_test)</a:t>
            </a:r>
          </a:p>
          <a:p>
            <a:b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"="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* 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"[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최적 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XGBoost </a:t>
            </a:r>
            <a:r>
              <a:rPr lang="ko-KR" altLang="en-US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최종 결과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]"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"="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* 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"Accuracy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: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{accuracy_score(y_test,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y_pred_best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:.4f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"Precision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{precision_score(y_test,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y_pred_best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zero_division=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:.4f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60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"Recall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  :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{recall_score(y_test,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y_pred_best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zero_division=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:.4f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"F1-score : 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{f1_score(y_test,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y_pred_best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zero_division=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  <a:r>
              <a:rPr lang="en-US" altLang="ko-KR" sz="16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:.4f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}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"\n[Confusion Matrix]"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6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confusion_matrix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(y_test, </a:t>
            </a:r>
            <a:r>
              <a:rPr lang="en-US" altLang="ko-KR" sz="16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y_pred_best</a:t>
            </a:r>
            <a:r>
              <a:rPr lang="en-US" altLang="ko-KR" sz="16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839EF0D-7911-4630-BAB7-0390F512F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6280" y="3711348"/>
            <a:ext cx="3252123" cy="3052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475167"/>
      </p:ext>
    </p:extLst>
  </p:cSld>
  <p:clrMapOvr>
    <a:masterClrMapping/>
  </p:clrMapOvr>
  <p:transition spd="slow"/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2135560" y="1658"/>
            <a:ext cx="10056440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7" indent="-34290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Colab</a:t>
            </a:r>
            <a:r>
              <a:rPr lang="ko-KR" altLang="en-US" sz="2000" b="1" dirty="0">
                <a:solidFill>
                  <a:schemeClr val="tx1"/>
                </a:solidFill>
              </a:rPr>
              <a:t>에서 모델 파일 저장하기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2135560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8B29E1-2F2B-44B1-BF78-719E9EB862A4}"/>
              </a:ext>
            </a:extLst>
          </p:cNvPr>
          <p:cNvSpPr txBox="1"/>
          <p:nvPr/>
        </p:nvSpPr>
        <p:spPr>
          <a:xfrm>
            <a:off x="1" y="629545"/>
            <a:ext cx="645604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joblib</a:t>
            </a:r>
            <a:endParaRPr lang="en-US" altLang="ko-KR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json</a:t>
            </a:r>
            <a:endParaRPr lang="en-US" altLang="ko-KR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endParaRPr lang="en-US" altLang="ko-KR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en-US" sz="14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모델 저장</a:t>
            </a:r>
            <a:endParaRPr lang="ko-KR" altLang="en-US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joblib</a:t>
            </a:r>
            <a:r>
              <a:rPr lang="en-US" altLang="ko-KR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.dump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xgb_model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xgb_model.pkl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2. </a:t>
            </a:r>
            <a:r>
              <a:rPr lang="ko-KR" altLang="en-US" sz="14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학습에 사용한 온도</a:t>
            </a:r>
            <a:r>
              <a:rPr lang="en-US" altLang="ko-KR" sz="14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4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습도 범위 저장 </a:t>
            </a:r>
            <a:r>
              <a:rPr lang="en-US" altLang="ko-KR" sz="14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4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랜덤 입력 범위용</a:t>
            </a:r>
            <a:r>
              <a:rPr lang="en-US" altLang="ko-KR" sz="14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4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meta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temp_min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(df[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'temp'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].min()),</a:t>
            </a:r>
          </a:p>
          <a:p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temp_max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(df[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'temp'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].max()),</a:t>
            </a:r>
          </a:p>
          <a:p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humi_min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(df[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humi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].min()),</a:t>
            </a:r>
          </a:p>
          <a:p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humi_max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(df[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humi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].max()),</a:t>
            </a:r>
          </a:p>
          <a:p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altLang="ko-KR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model_meta.json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'w'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en-US" altLang="ko-KR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4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dump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meta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저장 완료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온도 범위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4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meta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temp_min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4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~ </a:t>
            </a:r>
            <a:r>
              <a:rPr lang="en-US" altLang="ko-KR" sz="14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4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meta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temp_max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4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4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습도 범위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4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meta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humi_min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4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~ </a:t>
            </a:r>
            <a:r>
              <a:rPr lang="en-US" altLang="ko-KR" sz="14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4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meta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humi_max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4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3. </a:t>
            </a:r>
            <a:r>
              <a:rPr lang="ko-KR" altLang="en-US" sz="14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구글 드라이브로 다운로드</a:t>
            </a:r>
            <a:endParaRPr lang="ko-KR" altLang="en-US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google.colab </a:t>
            </a:r>
            <a:r>
              <a:rPr lang="en-US" altLang="ko-KR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files</a:t>
            </a:r>
          </a:p>
          <a:p>
            <a:r>
              <a:rPr lang="en-US" altLang="ko-KR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files.download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xgb_model.pkl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files.download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model_meta.json</a:t>
            </a:r>
            <a:r>
              <a:rPr lang="en-US" altLang="ko-KR" sz="14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11065586"/>
      </p:ext>
    </p:extLst>
  </p:cSld>
  <p:clrMapOvr>
    <a:masterClrMapping/>
  </p:clrMapOvr>
  <p:transition spd="slow"/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2">
            <a:extLst>
              <a:ext uri="{FF2B5EF4-FFF2-40B4-BE49-F238E27FC236}">
                <a16:creationId xmlns:a16="http://schemas.microsoft.com/office/drawing/2014/main" id="{82385099-7B67-C786-7F50-4786A62F357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00A16A0D-EE8A-E8E7-5F9A-BADC50EE11B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E73DECC3-B395-3431-E95F-428C0D59EB4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689BE2-6997-659D-6522-CF1E05CE9F1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0EC9E57D-A87C-2C47-96C0-03ECB0434F3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320164-3D66-170F-1492-1D9DF64E0AE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F51A81-96E8-E31C-F64A-B6D6DE4422E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22F763-3F4D-6461-7D59-65CDC09E3E7A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320170F-E06E-D950-DB18-4052C7C0BDAF}"/>
              </a:ext>
            </a:extLst>
          </p:cNvPr>
          <p:cNvSpPr/>
          <p:nvPr/>
        </p:nvSpPr>
        <p:spPr>
          <a:xfrm>
            <a:off x="2135560" y="1658"/>
            <a:ext cx="10056440" cy="6299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7" indent="-34290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VS Code </a:t>
            </a:r>
            <a:r>
              <a:rPr lang="ko-KR" altLang="en-US" sz="2000" b="1" dirty="0">
                <a:solidFill>
                  <a:schemeClr val="tx1"/>
                </a:solidFill>
              </a:rPr>
              <a:t>프로젝트 구조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FF87E46-CDFB-BBA8-0B3F-92F4BA3818D6}"/>
              </a:ext>
            </a:extLst>
          </p:cNvPr>
          <p:cNvSpPr/>
          <p:nvPr/>
        </p:nvSpPr>
        <p:spPr>
          <a:xfrm>
            <a:off x="0" y="0"/>
            <a:ext cx="2135560" cy="63159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XGBoost</a:t>
            </a:r>
            <a:endParaRPr lang="ko-KR" altLang="en-US" sz="2000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2FFFF11-6FA2-4380-8620-3A35A2F855B7}"/>
              </a:ext>
            </a:extLst>
          </p:cNvPr>
          <p:cNvSpPr/>
          <p:nvPr/>
        </p:nvSpPr>
        <p:spPr>
          <a:xfrm>
            <a:off x="988652" y="1196752"/>
            <a:ext cx="1440160" cy="5040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b="1" dirty="0" err="1">
                <a:solidFill>
                  <a:schemeClr val="tx1"/>
                </a:solidFill>
              </a:rPr>
              <a:t>xgbProject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2301DD0-B3A4-4BBA-9EC7-EB5497D6F7AB}"/>
              </a:ext>
            </a:extLst>
          </p:cNvPr>
          <p:cNvCxnSpPr>
            <a:cxnSpLocks/>
          </p:cNvCxnSpPr>
          <p:nvPr/>
        </p:nvCxnSpPr>
        <p:spPr>
          <a:xfrm flipH="1">
            <a:off x="1659939" y="1700808"/>
            <a:ext cx="43574" cy="198022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9F2BB8FC-EFF6-4E68-9093-7EA724779643}"/>
              </a:ext>
            </a:extLst>
          </p:cNvPr>
          <p:cNvCxnSpPr/>
          <p:nvPr/>
        </p:nvCxnSpPr>
        <p:spPr>
          <a:xfrm>
            <a:off x="1703512" y="2204864"/>
            <a:ext cx="90766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5AA6DBB-2EAD-4484-8955-52507F850992}"/>
              </a:ext>
            </a:extLst>
          </p:cNvPr>
          <p:cNvSpPr txBox="1"/>
          <p:nvPr/>
        </p:nvSpPr>
        <p:spPr>
          <a:xfrm>
            <a:off x="2639616" y="1988840"/>
            <a:ext cx="18722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xgb_model.pkl</a:t>
            </a:r>
            <a:endParaRPr lang="ko-KR" altLang="en-US" dirty="0"/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B9D3BCF2-440B-4869-BDFC-76D03C061093}"/>
              </a:ext>
            </a:extLst>
          </p:cNvPr>
          <p:cNvCxnSpPr/>
          <p:nvPr/>
        </p:nvCxnSpPr>
        <p:spPr>
          <a:xfrm>
            <a:off x="1681725" y="2598242"/>
            <a:ext cx="90766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E9DC53F-6E9D-4C91-9B8B-7560CC597D61}"/>
              </a:ext>
            </a:extLst>
          </p:cNvPr>
          <p:cNvSpPr txBox="1"/>
          <p:nvPr/>
        </p:nvSpPr>
        <p:spPr>
          <a:xfrm>
            <a:off x="2617829" y="2382218"/>
            <a:ext cx="1964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model_meta.json</a:t>
            </a:r>
            <a:endParaRPr lang="ko-KR" altLang="en-US" dirty="0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18790A8A-96F5-47DD-8DCD-27BE06932BD8}"/>
              </a:ext>
            </a:extLst>
          </p:cNvPr>
          <p:cNvCxnSpPr/>
          <p:nvPr/>
        </p:nvCxnSpPr>
        <p:spPr>
          <a:xfrm>
            <a:off x="1675078" y="3035622"/>
            <a:ext cx="90766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370D527-8E68-4609-8D66-93F9E5A066A9}"/>
              </a:ext>
            </a:extLst>
          </p:cNvPr>
          <p:cNvSpPr txBox="1"/>
          <p:nvPr/>
        </p:nvSpPr>
        <p:spPr>
          <a:xfrm>
            <a:off x="2639616" y="2819598"/>
            <a:ext cx="144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main.py</a:t>
            </a:r>
            <a:endParaRPr lang="ko-KR" altLang="en-US" dirty="0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34435F1D-86D4-43FF-9FA9-0823D96CEDEF}"/>
              </a:ext>
            </a:extLst>
          </p:cNvPr>
          <p:cNvCxnSpPr/>
          <p:nvPr/>
        </p:nvCxnSpPr>
        <p:spPr>
          <a:xfrm>
            <a:off x="1653291" y="3429000"/>
            <a:ext cx="90766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665B5B4-8379-499D-9C6A-00AE40197B7D}"/>
              </a:ext>
            </a:extLst>
          </p:cNvPr>
          <p:cNvSpPr txBox="1"/>
          <p:nvPr/>
        </p:nvSpPr>
        <p:spPr>
          <a:xfrm>
            <a:off x="2589395" y="3212976"/>
            <a:ext cx="206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requirements.txt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C1B787-0699-44EA-A12C-84F42CBB339C}"/>
              </a:ext>
            </a:extLst>
          </p:cNvPr>
          <p:cNvSpPr txBox="1"/>
          <p:nvPr/>
        </p:nvSpPr>
        <p:spPr>
          <a:xfrm>
            <a:off x="6600056" y="1322241"/>
            <a:ext cx="2592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requirements.txt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4DD4E71-0A2B-41DB-9570-84B006704005}"/>
              </a:ext>
            </a:extLst>
          </p:cNvPr>
          <p:cNvSpPr txBox="1"/>
          <p:nvPr/>
        </p:nvSpPr>
        <p:spPr>
          <a:xfrm>
            <a:off x="6879180" y="1844010"/>
            <a:ext cx="1297406" cy="13449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pPr>
              <a:lnSpc>
                <a:spcPts val="2500"/>
              </a:lnSpc>
            </a:pPr>
            <a:r>
              <a:rPr lang="en-US" altLang="ko-KR" dirty="0"/>
              <a:t>xgboost</a:t>
            </a:r>
          </a:p>
          <a:p>
            <a:pPr>
              <a:lnSpc>
                <a:spcPts val="2500"/>
              </a:lnSpc>
            </a:pPr>
            <a:r>
              <a:rPr lang="en-US" altLang="ko-KR" dirty="0"/>
              <a:t>scikit-learn</a:t>
            </a:r>
          </a:p>
          <a:p>
            <a:pPr>
              <a:lnSpc>
                <a:spcPts val="2500"/>
              </a:lnSpc>
            </a:pPr>
            <a:r>
              <a:rPr lang="en-US" altLang="ko-KR" dirty="0" err="1"/>
              <a:t>joblib</a:t>
            </a:r>
            <a:endParaRPr lang="en-US" altLang="ko-KR" dirty="0"/>
          </a:p>
          <a:p>
            <a:pPr>
              <a:lnSpc>
                <a:spcPts val="2500"/>
              </a:lnSpc>
            </a:pPr>
            <a:r>
              <a:rPr lang="en-US" altLang="ko-KR" dirty="0"/>
              <a:t>PyQt5</a:t>
            </a:r>
            <a:endParaRPr lang="ko-KR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933DE-08EC-473F-AAC5-53EDE75A3307}"/>
              </a:ext>
            </a:extLst>
          </p:cNvPr>
          <p:cNvSpPr txBox="1"/>
          <p:nvPr/>
        </p:nvSpPr>
        <p:spPr>
          <a:xfrm>
            <a:off x="6601180" y="3397642"/>
            <a:ext cx="4463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requirements.txt </a:t>
            </a:r>
            <a:r>
              <a:rPr lang="ko-KR" altLang="en-US" dirty="0"/>
              <a:t>설치</a:t>
            </a:r>
            <a:br>
              <a:rPr lang="en-US" altLang="ko-KR" dirty="0"/>
            </a:br>
            <a:r>
              <a:rPr lang="en-US" altLang="ko-KR" dirty="0"/>
              <a:t>pip</a:t>
            </a:r>
            <a:r>
              <a:rPr lang="ko-KR" altLang="en-US" dirty="0"/>
              <a:t> </a:t>
            </a:r>
            <a:r>
              <a:rPr lang="en-US" altLang="ko-KR" dirty="0"/>
              <a:t>install</a:t>
            </a:r>
            <a:r>
              <a:rPr lang="ko-KR" altLang="en-US" dirty="0"/>
              <a:t> </a:t>
            </a:r>
            <a:r>
              <a:rPr lang="en-US" altLang="ko-KR" dirty="0"/>
              <a:t>–r</a:t>
            </a:r>
            <a:r>
              <a:rPr lang="ko-KR" altLang="en-US" dirty="0"/>
              <a:t> </a:t>
            </a:r>
            <a:r>
              <a:rPr lang="en-US" altLang="ko-KR" dirty="0"/>
              <a:t>requirements.txt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4557982"/>
      </p:ext>
    </p:extLst>
  </p:cSld>
  <p:clrMapOvr>
    <a:masterClrMapping/>
  </p:clrMapOvr>
  <p:transition spd="slow"/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0">
            <a:extLst>
              <a:ext uri="{FF2B5EF4-FFF2-40B4-BE49-F238E27FC236}">
                <a16:creationId xmlns:a16="http://schemas.microsoft.com/office/drawing/2014/main" id="{0F489DB6-ABC2-40DB-A0D1-AB6E4216FF1E}"/>
              </a:ext>
            </a:extLst>
          </p:cNvPr>
          <p:cNvSpPr/>
          <p:nvPr/>
        </p:nvSpPr>
        <p:spPr>
          <a:xfrm>
            <a:off x="240704" y="116632"/>
            <a:ext cx="5066628" cy="5137933"/>
          </a:xfrm>
          <a:prstGeom prst="ellipse">
            <a:avLst/>
          </a:prstGeom>
          <a:solidFill>
            <a:srgbClr val="003366">
              <a:alpha val="40000"/>
            </a:srgbClr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51" name="Shape 2">
            <a:extLst>
              <a:ext uri="{FF2B5EF4-FFF2-40B4-BE49-F238E27FC236}">
                <a16:creationId xmlns:a16="http://schemas.microsoft.com/office/drawing/2014/main" id="{7313F61C-C34B-45F0-88B6-138A537ED329}"/>
              </a:ext>
            </a:extLst>
          </p:cNvPr>
          <p:cNvSpPr/>
          <p:nvPr/>
        </p:nvSpPr>
        <p:spPr>
          <a:xfrm>
            <a:off x="4256783" y="919434"/>
            <a:ext cx="3039977" cy="488104"/>
          </a:xfrm>
          <a:prstGeom prst="roundRect">
            <a:avLst/>
          </a:prstGeom>
          <a:solidFill>
            <a:srgbClr val="00C2FF">
              <a:alpha val="80000"/>
            </a:srgbClr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52" name="Text 3">
            <a:extLst>
              <a:ext uri="{FF2B5EF4-FFF2-40B4-BE49-F238E27FC236}">
                <a16:creationId xmlns:a16="http://schemas.microsoft.com/office/drawing/2014/main" id="{B11032A2-5112-4DDE-B6EC-961D80CAC2CD}"/>
              </a:ext>
            </a:extLst>
          </p:cNvPr>
          <p:cNvSpPr/>
          <p:nvPr/>
        </p:nvSpPr>
        <p:spPr>
          <a:xfrm>
            <a:off x="4256783" y="893744"/>
            <a:ext cx="3039977" cy="5137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Python × PyQt5 × XGBoost</a:t>
            </a:r>
            <a:endParaRPr lang="en-US" sz="1600" dirty="0"/>
          </a:p>
        </p:txBody>
      </p:sp>
      <p:sp>
        <p:nvSpPr>
          <p:cNvPr id="53" name="Text 4">
            <a:extLst>
              <a:ext uri="{FF2B5EF4-FFF2-40B4-BE49-F238E27FC236}">
                <a16:creationId xmlns:a16="http://schemas.microsoft.com/office/drawing/2014/main" id="{94830D56-6F7A-414B-B1AD-E07C7CD87448}"/>
              </a:ext>
            </a:extLst>
          </p:cNvPr>
          <p:cNvSpPr/>
          <p:nvPr/>
        </p:nvSpPr>
        <p:spPr>
          <a:xfrm>
            <a:off x="983432" y="1690124"/>
            <a:ext cx="10133255" cy="14129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불량 판정 시스템</a:t>
            </a:r>
            <a:endParaRPr lang="en-US" sz="6600" dirty="0"/>
          </a:p>
        </p:txBody>
      </p:sp>
      <p:sp>
        <p:nvSpPr>
          <p:cNvPr id="54" name="Text 5">
            <a:extLst>
              <a:ext uri="{FF2B5EF4-FFF2-40B4-BE49-F238E27FC236}">
                <a16:creationId xmlns:a16="http://schemas.microsoft.com/office/drawing/2014/main" id="{F7A5ED7E-8B7C-401F-A925-9BABA96E444E}"/>
              </a:ext>
            </a:extLst>
          </p:cNvPr>
          <p:cNvSpPr/>
          <p:nvPr/>
        </p:nvSpPr>
        <p:spPr>
          <a:xfrm>
            <a:off x="1199456" y="3295728"/>
            <a:ext cx="10133255" cy="6422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머신러닝 모델을 활용한 실시간 GUI 프로그램 개발 과제</a:t>
            </a:r>
            <a:endParaRPr lang="en-US" sz="2400" dirty="0"/>
          </a:p>
        </p:txBody>
      </p:sp>
      <p:sp>
        <p:nvSpPr>
          <p:cNvPr id="55" name="Shape 6">
            <a:extLst>
              <a:ext uri="{FF2B5EF4-FFF2-40B4-BE49-F238E27FC236}">
                <a16:creationId xmlns:a16="http://schemas.microsoft.com/office/drawing/2014/main" id="{B1A5F0F8-DDE5-4387-A5FB-E8CF194EF883}"/>
              </a:ext>
            </a:extLst>
          </p:cNvPr>
          <p:cNvSpPr/>
          <p:nvPr/>
        </p:nvSpPr>
        <p:spPr>
          <a:xfrm>
            <a:off x="3876786" y="4104953"/>
            <a:ext cx="3799971" cy="51379"/>
          </a:xfrm>
          <a:prstGeom prst="rect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56" name="Shape 7">
            <a:extLst>
              <a:ext uri="{FF2B5EF4-FFF2-40B4-BE49-F238E27FC236}">
                <a16:creationId xmlns:a16="http://schemas.microsoft.com/office/drawing/2014/main" id="{62A20F3F-4E10-41A8-A388-F9F2C9253978}"/>
              </a:ext>
            </a:extLst>
          </p:cNvPr>
          <p:cNvSpPr/>
          <p:nvPr/>
        </p:nvSpPr>
        <p:spPr>
          <a:xfrm>
            <a:off x="1343472" y="4580212"/>
            <a:ext cx="2533314" cy="1284483"/>
          </a:xfrm>
          <a:prstGeom prst="round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D16B8EFA-3EBC-4820-BDC9-C5F7AC26A0A0}"/>
              </a:ext>
            </a:extLst>
          </p:cNvPr>
          <p:cNvSpPr/>
          <p:nvPr/>
        </p:nvSpPr>
        <p:spPr>
          <a:xfrm>
            <a:off x="1343472" y="4644436"/>
            <a:ext cx="2533314" cy="5780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🤖</a:t>
            </a:r>
            <a:endParaRPr lang="en-US" sz="3200" dirty="0"/>
          </a:p>
        </p:txBody>
      </p:sp>
      <p:sp>
        <p:nvSpPr>
          <p:cNvPr id="58" name="Text 9">
            <a:extLst>
              <a:ext uri="{FF2B5EF4-FFF2-40B4-BE49-F238E27FC236}">
                <a16:creationId xmlns:a16="http://schemas.microsoft.com/office/drawing/2014/main" id="{51FCD112-14A2-4C12-90E2-AFC7A8076EEC}"/>
              </a:ext>
            </a:extLst>
          </p:cNvPr>
          <p:cNvSpPr/>
          <p:nvPr/>
        </p:nvSpPr>
        <p:spPr>
          <a:xfrm>
            <a:off x="1343472" y="5222453"/>
            <a:ext cx="2533314" cy="5137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모델</a:t>
            </a:r>
            <a:endParaRPr lang="en-US" sz="2000" b="1" dirty="0"/>
          </a:p>
        </p:txBody>
      </p:sp>
      <p:sp>
        <p:nvSpPr>
          <p:cNvPr id="59" name="Shape 10">
            <a:extLst>
              <a:ext uri="{FF2B5EF4-FFF2-40B4-BE49-F238E27FC236}">
                <a16:creationId xmlns:a16="http://schemas.microsoft.com/office/drawing/2014/main" id="{A87B98FA-054C-4E91-BF71-2678D9927C34}"/>
              </a:ext>
            </a:extLst>
          </p:cNvPr>
          <p:cNvSpPr/>
          <p:nvPr/>
        </p:nvSpPr>
        <p:spPr>
          <a:xfrm>
            <a:off x="4763446" y="4580212"/>
            <a:ext cx="2533314" cy="1284483"/>
          </a:xfrm>
          <a:prstGeom prst="round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0" name="Text 11">
            <a:extLst>
              <a:ext uri="{FF2B5EF4-FFF2-40B4-BE49-F238E27FC236}">
                <a16:creationId xmlns:a16="http://schemas.microsoft.com/office/drawing/2014/main" id="{30A77A18-A70C-4973-A37F-6B3898EBF4AA}"/>
              </a:ext>
            </a:extLst>
          </p:cNvPr>
          <p:cNvSpPr/>
          <p:nvPr/>
        </p:nvSpPr>
        <p:spPr>
          <a:xfrm>
            <a:off x="4763446" y="4644436"/>
            <a:ext cx="2533314" cy="5780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🖥️</a:t>
            </a:r>
            <a:endParaRPr lang="en-US" sz="3200" dirty="0"/>
          </a:p>
        </p:txBody>
      </p:sp>
      <p:sp>
        <p:nvSpPr>
          <p:cNvPr id="61" name="Text 12">
            <a:extLst>
              <a:ext uri="{FF2B5EF4-FFF2-40B4-BE49-F238E27FC236}">
                <a16:creationId xmlns:a16="http://schemas.microsoft.com/office/drawing/2014/main" id="{91B5615D-D031-4D1D-BC72-86BEC18AAD74}"/>
              </a:ext>
            </a:extLst>
          </p:cNvPr>
          <p:cNvSpPr/>
          <p:nvPr/>
        </p:nvSpPr>
        <p:spPr>
          <a:xfrm>
            <a:off x="4763446" y="5222453"/>
            <a:ext cx="2533314" cy="5137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PyQt5 GUI</a:t>
            </a:r>
            <a:endParaRPr lang="en-US" sz="2000" b="1" dirty="0"/>
          </a:p>
        </p:txBody>
      </p:sp>
      <p:sp>
        <p:nvSpPr>
          <p:cNvPr id="62" name="Shape 13">
            <a:extLst>
              <a:ext uri="{FF2B5EF4-FFF2-40B4-BE49-F238E27FC236}">
                <a16:creationId xmlns:a16="http://schemas.microsoft.com/office/drawing/2014/main" id="{FCD9CB8F-828B-4075-BA5D-798D28419560}"/>
              </a:ext>
            </a:extLst>
          </p:cNvPr>
          <p:cNvSpPr/>
          <p:nvPr/>
        </p:nvSpPr>
        <p:spPr>
          <a:xfrm>
            <a:off x="8183420" y="4580212"/>
            <a:ext cx="2533314" cy="1284483"/>
          </a:xfrm>
          <a:prstGeom prst="round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3" name="Text 14">
            <a:extLst>
              <a:ext uri="{FF2B5EF4-FFF2-40B4-BE49-F238E27FC236}">
                <a16:creationId xmlns:a16="http://schemas.microsoft.com/office/drawing/2014/main" id="{26AD1F86-EEEB-48B6-8F29-6CC0226A47B1}"/>
              </a:ext>
            </a:extLst>
          </p:cNvPr>
          <p:cNvSpPr/>
          <p:nvPr/>
        </p:nvSpPr>
        <p:spPr>
          <a:xfrm>
            <a:off x="8183420" y="4644436"/>
            <a:ext cx="2533314" cy="5780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⚡</a:t>
            </a:r>
            <a:endParaRPr lang="en-US" sz="3200" dirty="0"/>
          </a:p>
        </p:txBody>
      </p:sp>
      <p:sp>
        <p:nvSpPr>
          <p:cNvPr id="64" name="Text 15">
            <a:extLst>
              <a:ext uri="{FF2B5EF4-FFF2-40B4-BE49-F238E27FC236}">
                <a16:creationId xmlns:a16="http://schemas.microsoft.com/office/drawing/2014/main" id="{AAE23444-9F22-42AF-826C-A7DF09959707}"/>
              </a:ext>
            </a:extLst>
          </p:cNvPr>
          <p:cNvSpPr/>
          <p:nvPr/>
        </p:nvSpPr>
        <p:spPr>
          <a:xfrm>
            <a:off x="8183420" y="5222453"/>
            <a:ext cx="2533314" cy="5137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추론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4052156232"/>
      </p:ext>
    </p:extLst>
  </p:cSld>
  <p:clrMapOvr>
    <a:masterClrMapping/>
  </p:clrMapOvr>
  <p:transition spd="slow"/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>
            <a:extLst>
              <a:ext uri="{FF2B5EF4-FFF2-40B4-BE49-F238E27FC236}">
                <a16:creationId xmlns:a16="http://schemas.microsoft.com/office/drawing/2014/main" id="{D2A11A19-020A-4042-9723-2B213F1B5A4A}"/>
              </a:ext>
            </a:extLst>
          </p:cNvPr>
          <p:cNvSpPr/>
          <p:nvPr/>
        </p:nvSpPr>
        <p:spPr>
          <a:xfrm>
            <a:off x="489535" y="274320"/>
            <a:ext cx="11139794" cy="7227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과제 개요</a:t>
            </a:r>
            <a:endParaRPr lang="en-US" sz="4000" b="1" dirty="0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C45B0E30-8604-48CD-B5B1-B9224E623829}"/>
              </a:ext>
            </a:extLst>
          </p:cNvPr>
          <p:cNvSpPr/>
          <p:nvPr/>
        </p:nvSpPr>
        <p:spPr>
          <a:xfrm>
            <a:off x="489535" y="1021200"/>
            <a:ext cx="11139794" cy="36139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7DB0F5E4-0296-4510-9D5E-034DBC115DC4}"/>
              </a:ext>
            </a:extLst>
          </p:cNvPr>
          <p:cNvSpPr/>
          <p:nvPr/>
        </p:nvSpPr>
        <p:spPr>
          <a:xfrm>
            <a:off x="489535" y="1177804"/>
            <a:ext cx="7178978" cy="14455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20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학습된 XGBoost 모델(.pkl)을 불러와서,</a:t>
            </a:r>
            <a:endParaRPr lang="en-US" sz="2000" b="1" dirty="0">
              <a:solidFill>
                <a:schemeClr val="bg1">
                  <a:lumMod val="95000"/>
                </a:schemeClr>
              </a:solidFill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sz="20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온도·습도 데이터를 입력받아 정상/불량을 판정하는</a:t>
            </a:r>
            <a:endParaRPr lang="en-US" sz="2000" b="1" dirty="0">
              <a:solidFill>
                <a:schemeClr val="bg1">
                  <a:lumMod val="95000"/>
                </a:schemeClr>
              </a:solidFill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sz="20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PyQt5 GUI 프로그램을 완성하세요.</a:t>
            </a:r>
            <a:endParaRPr lang="en-US" sz="20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8B1C1A79-385B-4CB3-AB72-7D5942BA47C6}"/>
              </a:ext>
            </a:extLst>
          </p:cNvPr>
          <p:cNvSpPr/>
          <p:nvPr/>
        </p:nvSpPr>
        <p:spPr>
          <a:xfrm>
            <a:off x="365760" y="2804074"/>
            <a:ext cx="1980408" cy="1806967"/>
          </a:xfrm>
          <a:prstGeom prst="rect">
            <a:avLst/>
          </a:prstGeom>
          <a:solidFill>
            <a:srgbClr val="1A2D40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21" name="Text 4">
            <a:extLst>
              <a:ext uri="{FF2B5EF4-FFF2-40B4-BE49-F238E27FC236}">
                <a16:creationId xmlns:a16="http://schemas.microsoft.com/office/drawing/2014/main" id="{5CFB3382-3EAD-4629-8D71-53F029A4272C}"/>
              </a:ext>
            </a:extLst>
          </p:cNvPr>
          <p:cNvSpPr/>
          <p:nvPr/>
        </p:nvSpPr>
        <p:spPr>
          <a:xfrm>
            <a:off x="365760" y="2864306"/>
            <a:ext cx="1980408" cy="481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2FF"/>
                </a:solidFill>
              </a:rPr>
              <a:t>01</a:t>
            </a:r>
            <a:endParaRPr lang="en-US" sz="2800" b="1" dirty="0"/>
          </a:p>
        </p:txBody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7C2F3C9E-F1D7-4F1A-8CBF-DFC8F218BB64}"/>
              </a:ext>
            </a:extLst>
          </p:cNvPr>
          <p:cNvSpPr/>
          <p:nvPr/>
        </p:nvSpPr>
        <p:spPr>
          <a:xfrm>
            <a:off x="365760" y="3346164"/>
            <a:ext cx="1980408" cy="481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</a:t>
            </a:r>
            <a:endParaRPr lang="en-US" b="1" dirty="0"/>
          </a:p>
        </p:txBody>
      </p:sp>
      <p:sp>
        <p:nvSpPr>
          <p:cNvPr id="23" name="Text 6">
            <a:extLst>
              <a:ext uri="{FF2B5EF4-FFF2-40B4-BE49-F238E27FC236}">
                <a16:creationId xmlns:a16="http://schemas.microsoft.com/office/drawing/2014/main" id="{4BD023C1-0D6B-4834-B305-1242DBC6491D}"/>
              </a:ext>
            </a:extLst>
          </p:cNvPr>
          <p:cNvSpPr/>
          <p:nvPr/>
        </p:nvSpPr>
        <p:spPr>
          <a:xfrm>
            <a:off x="365760" y="3828022"/>
            <a:ext cx="1980408" cy="6625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저장</a:t>
            </a:r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.pkl 다운로드</a:t>
            </a:r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2DD57793-5A2F-49F2-B936-F1385FA0BBAB}"/>
              </a:ext>
            </a:extLst>
          </p:cNvPr>
          <p:cNvSpPr/>
          <p:nvPr/>
        </p:nvSpPr>
        <p:spPr>
          <a:xfrm>
            <a:off x="2346168" y="3707558"/>
            <a:ext cx="346571" cy="0"/>
          </a:xfrm>
          <a:prstGeom prst="line">
            <a:avLst/>
          </a:prstGeom>
          <a:noFill/>
          <a:ln w="19050">
            <a:solidFill>
              <a:srgbClr val="00C2FF"/>
            </a:solidFill>
            <a:prstDash val="solid"/>
          </a:ln>
        </p:spPr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300A7B4A-0039-4174-BAA7-EF4480FBC4A8}"/>
              </a:ext>
            </a:extLst>
          </p:cNvPr>
          <p:cNvSpPr/>
          <p:nvPr/>
        </p:nvSpPr>
        <p:spPr>
          <a:xfrm>
            <a:off x="2692739" y="2804074"/>
            <a:ext cx="1980408" cy="1806967"/>
          </a:xfrm>
          <a:prstGeom prst="rect">
            <a:avLst/>
          </a:prstGeom>
          <a:solidFill>
            <a:srgbClr val="1A2D40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4D0FD2F0-2CFA-4A16-97DA-98D7464C3390}"/>
              </a:ext>
            </a:extLst>
          </p:cNvPr>
          <p:cNvSpPr/>
          <p:nvPr/>
        </p:nvSpPr>
        <p:spPr>
          <a:xfrm>
            <a:off x="2692739" y="2864306"/>
            <a:ext cx="1980408" cy="481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2FF"/>
                </a:solidFill>
              </a:rPr>
              <a:t>02</a:t>
            </a:r>
            <a:endParaRPr lang="en-US" sz="2800" b="1" dirty="0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21043DF2-BB06-4098-B5E1-F3060BE62FD6}"/>
              </a:ext>
            </a:extLst>
          </p:cNvPr>
          <p:cNvSpPr/>
          <p:nvPr/>
        </p:nvSpPr>
        <p:spPr>
          <a:xfrm>
            <a:off x="2692739" y="3346164"/>
            <a:ext cx="1980408" cy="481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로드</a:t>
            </a:r>
            <a:endParaRPr lang="en-US" b="1" dirty="0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1F99B915-7E91-4B46-9EDF-F7F08324997C}"/>
              </a:ext>
            </a:extLst>
          </p:cNvPr>
          <p:cNvSpPr/>
          <p:nvPr/>
        </p:nvSpPr>
        <p:spPr>
          <a:xfrm>
            <a:off x="2692739" y="3828022"/>
            <a:ext cx="1980408" cy="6625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joblib으로</a:t>
            </a:r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.pkl 불러오기</a:t>
            </a:r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C7098542-8D62-4583-BC1C-2279E5B42BC0}"/>
              </a:ext>
            </a:extLst>
          </p:cNvPr>
          <p:cNvSpPr/>
          <p:nvPr/>
        </p:nvSpPr>
        <p:spPr>
          <a:xfrm>
            <a:off x="4673147" y="3707558"/>
            <a:ext cx="346571" cy="0"/>
          </a:xfrm>
          <a:prstGeom prst="line">
            <a:avLst/>
          </a:prstGeom>
          <a:noFill/>
          <a:ln w="19050">
            <a:solidFill>
              <a:srgbClr val="00C2FF"/>
            </a:solidFill>
            <a:prstDash val="solid"/>
          </a:ln>
        </p:spPr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27A75B62-FB34-4578-B8E3-5067E30C7E78}"/>
              </a:ext>
            </a:extLst>
          </p:cNvPr>
          <p:cNvSpPr/>
          <p:nvPr/>
        </p:nvSpPr>
        <p:spPr>
          <a:xfrm>
            <a:off x="5019718" y="2804074"/>
            <a:ext cx="1980408" cy="1806967"/>
          </a:xfrm>
          <a:prstGeom prst="rect">
            <a:avLst/>
          </a:prstGeom>
          <a:solidFill>
            <a:srgbClr val="1A2D40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61905181-72E0-40E1-A8D7-CC2314A313E5}"/>
              </a:ext>
            </a:extLst>
          </p:cNvPr>
          <p:cNvSpPr/>
          <p:nvPr/>
        </p:nvSpPr>
        <p:spPr>
          <a:xfrm>
            <a:off x="5019718" y="2864306"/>
            <a:ext cx="1980408" cy="481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2FF"/>
                </a:solidFill>
              </a:rPr>
              <a:t>03</a:t>
            </a:r>
            <a:endParaRPr lang="en-US" sz="2800" b="1" dirty="0"/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42F88E65-029C-4301-BE61-871A629FE87B}"/>
              </a:ext>
            </a:extLst>
          </p:cNvPr>
          <p:cNvSpPr/>
          <p:nvPr/>
        </p:nvSpPr>
        <p:spPr>
          <a:xfrm>
            <a:off x="5019718" y="3346164"/>
            <a:ext cx="1980408" cy="481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생성</a:t>
            </a:r>
            <a:endParaRPr lang="en-US" b="1" dirty="0"/>
          </a:p>
        </p:txBody>
      </p:sp>
      <p:sp>
        <p:nvSpPr>
          <p:cNvPr id="33" name="Text 16">
            <a:extLst>
              <a:ext uri="{FF2B5EF4-FFF2-40B4-BE49-F238E27FC236}">
                <a16:creationId xmlns:a16="http://schemas.microsoft.com/office/drawing/2014/main" id="{39F96E52-DEDC-48DE-8C9B-CD4234298DAB}"/>
              </a:ext>
            </a:extLst>
          </p:cNvPr>
          <p:cNvSpPr/>
          <p:nvPr/>
        </p:nvSpPr>
        <p:spPr>
          <a:xfrm>
            <a:off x="5019718" y="3828022"/>
            <a:ext cx="1980408" cy="6625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3초마다</a:t>
            </a:r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랜덤 온도·습도</a:t>
            </a:r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4" name="Shape 17">
            <a:extLst>
              <a:ext uri="{FF2B5EF4-FFF2-40B4-BE49-F238E27FC236}">
                <a16:creationId xmlns:a16="http://schemas.microsoft.com/office/drawing/2014/main" id="{908BE3C9-CBE2-4624-941C-7CFEAED017E1}"/>
              </a:ext>
            </a:extLst>
          </p:cNvPr>
          <p:cNvSpPr/>
          <p:nvPr/>
        </p:nvSpPr>
        <p:spPr>
          <a:xfrm>
            <a:off x="7000126" y="3707558"/>
            <a:ext cx="346571" cy="0"/>
          </a:xfrm>
          <a:prstGeom prst="line">
            <a:avLst/>
          </a:prstGeom>
          <a:noFill/>
          <a:ln w="19050">
            <a:solidFill>
              <a:srgbClr val="00C2FF"/>
            </a:solidFill>
            <a:prstDash val="solid"/>
          </a:ln>
        </p:spPr>
      </p:sp>
      <p:sp>
        <p:nvSpPr>
          <p:cNvPr id="35" name="Shape 18">
            <a:extLst>
              <a:ext uri="{FF2B5EF4-FFF2-40B4-BE49-F238E27FC236}">
                <a16:creationId xmlns:a16="http://schemas.microsoft.com/office/drawing/2014/main" id="{2D30BB08-8879-4A1A-8F2D-A01A93916398}"/>
              </a:ext>
            </a:extLst>
          </p:cNvPr>
          <p:cNvSpPr/>
          <p:nvPr/>
        </p:nvSpPr>
        <p:spPr>
          <a:xfrm>
            <a:off x="7346698" y="2804074"/>
            <a:ext cx="1980408" cy="1806967"/>
          </a:xfrm>
          <a:prstGeom prst="rect">
            <a:avLst/>
          </a:prstGeom>
          <a:solidFill>
            <a:srgbClr val="1A2D40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36" name="Text 19">
            <a:extLst>
              <a:ext uri="{FF2B5EF4-FFF2-40B4-BE49-F238E27FC236}">
                <a16:creationId xmlns:a16="http://schemas.microsoft.com/office/drawing/2014/main" id="{4C72B7ED-BA1A-47F5-AEFD-258EB4EE256A}"/>
              </a:ext>
            </a:extLst>
          </p:cNvPr>
          <p:cNvSpPr/>
          <p:nvPr/>
        </p:nvSpPr>
        <p:spPr>
          <a:xfrm>
            <a:off x="7346698" y="2864306"/>
            <a:ext cx="1980408" cy="481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2FF"/>
                </a:solidFill>
              </a:rPr>
              <a:t>04</a:t>
            </a:r>
            <a:endParaRPr lang="en-US" sz="2800" b="1" dirty="0"/>
          </a:p>
        </p:txBody>
      </p:sp>
      <p:sp>
        <p:nvSpPr>
          <p:cNvPr id="37" name="Text 20">
            <a:extLst>
              <a:ext uri="{FF2B5EF4-FFF2-40B4-BE49-F238E27FC236}">
                <a16:creationId xmlns:a16="http://schemas.microsoft.com/office/drawing/2014/main" id="{06C85B20-2D5B-4D19-B2DF-8BF37BFDAC7C}"/>
              </a:ext>
            </a:extLst>
          </p:cNvPr>
          <p:cNvSpPr/>
          <p:nvPr/>
        </p:nvSpPr>
        <p:spPr>
          <a:xfrm>
            <a:off x="7346698" y="3346164"/>
            <a:ext cx="1980408" cy="481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</a:t>
            </a:r>
            <a:endParaRPr lang="en-US" b="1" dirty="0"/>
          </a:p>
        </p:txBody>
      </p:sp>
      <p:sp>
        <p:nvSpPr>
          <p:cNvPr id="38" name="Text 21">
            <a:extLst>
              <a:ext uri="{FF2B5EF4-FFF2-40B4-BE49-F238E27FC236}">
                <a16:creationId xmlns:a16="http://schemas.microsoft.com/office/drawing/2014/main" id="{F7012298-5AC0-4808-A3D8-4AC482AAE17A}"/>
              </a:ext>
            </a:extLst>
          </p:cNvPr>
          <p:cNvSpPr/>
          <p:nvPr/>
        </p:nvSpPr>
        <p:spPr>
          <a:xfrm>
            <a:off x="7346698" y="3828022"/>
            <a:ext cx="1980408" cy="6625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predict()</a:t>
            </a:r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반환</a:t>
            </a:r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9" name="Shape 22">
            <a:extLst>
              <a:ext uri="{FF2B5EF4-FFF2-40B4-BE49-F238E27FC236}">
                <a16:creationId xmlns:a16="http://schemas.microsoft.com/office/drawing/2014/main" id="{1B0D4073-B741-442A-9608-091D7B6C7D3A}"/>
              </a:ext>
            </a:extLst>
          </p:cNvPr>
          <p:cNvSpPr/>
          <p:nvPr/>
        </p:nvSpPr>
        <p:spPr>
          <a:xfrm>
            <a:off x="9327105" y="3707558"/>
            <a:ext cx="346571" cy="0"/>
          </a:xfrm>
          <a:prstGeom prst="line">
            <a:avLst/>
          </a:prstGeom>
          <a:noFill/>
          <a:ln w="19050">
            <a:solidFill>
              <a:srgbClr val="00C2FF"/>
            </a:solidFill>
            <a:prstDash val="solid"/>
          </a:ln>
        </p:spPr>
      </p:sp>
      <p:sp>
        <p:nvSpPr>
          <p:cNvPr id="40" name="Shape 23">
            <a:extLst>
              <a:ext uri="{FF2B5EF4-FFF2-40B4-BE49-F238E27FC236}">
                <a16:creationId xmlns:a16="http://schemas.microsoft.com/office/drawing/2014/main" id="{E64B05A8-561F-4C2F-AEBA-92FD19A52248}"/>
              </a:ext>
            </a:extLst>
          </p:cNvPr>
          <p:cNvSpPr/>
          <p:nvPr/>
        </p:nvSpPr>
        <p:spPr>
          <a:xfrm>
            <a:off x="9673677" y="2804074"/>
            <a:ext cx="1980408" cy="1806967"/>
          </a:xfrm>
          <a:prstGeom prst="rect">
            <a:avLst/>
          </a:prstGeom>
          <a:solidFill>
            <a:srgbClr val="1A2D40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41" name="Text 24">
            <a:extLst>
              <a:ext uri="{FF2B5EF4-FFF2-40B4-BE49-F238E27FC236}">
                <a16:creationId xmlns:a16="http://schemas.microsoft.com/office/drawing/2014/main" id="{E9DABB88-1737-4623-A1AD-4D4BAA54B75F}"/>
              </a:ext>
            </a:extLst>
          </p:cNvPr>
          <p:cNvSpPr/>
          <p:nvPr/>
        </p:nvSpPr>
        <p:spPr>
          <a:xfrm>
            <a:off x="9673677" y="2864306"/>
            <a:ext cx="1980408" cy="481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2FF"/>
                </a:solidFill>
              </a:rPr>
              <a:t>05</a:t>
            </a:r>
            <a:endParaRPr lang="en-US" sz="2800" b="1" dirty="0"/>
          </a:p>
        </p:txBody>
      </p:sp>
      <p:sp>
        <p:nvSpPr>
          <p:cNvPr id="42" name="Text 25">
            <a:extLst>
              <a:ext uri="{FF2B5EF4-FFF2-40B4-BE49-F238E27FC236}">
                <a16:creationId xmlns:a16="http://schemas.microsoft.com/office/drawing/2014/main" id="{C90C2D5B-631C-4430-93C9-158C9ADFA759}"/>
              </a:ext>
            </a:extLst>
          </p:cNvPr>
          <p:cNvSpPr/>
          <p:nvPr/>
        </p:nvSpPr>
        <p:spPr>
          <a:xfrm>
            <a:off x="9673677" y="3346164"/>
            <a:ext cx="1980408" cy="481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표시</a:t>
            </a:r>
            <a:endParaRPr lang="en-US" b="1" dirty="0"/>
          </a:p>
        </p:txBody>
      </p:sp>
      <p:sp>
        <p:nvSpPr>
          <p:cNvPr id="43" name="Text 26">
            <a:extLst>
              <a:ext uri="{FF2B5EF4-FFF2-40B4-BE49-F238E27FC236}">
                <a16:creationId xmlns:a16="http://schemas.microsoft.com/office/drawing/2014/main" id="{D533D722-169E-48F5-974F-8657CA403CD2}"/>
              </a:ext>
            </a:extLst>
          </p:cNvPr>
          <p:cNvSpPr/>
          <p:nvPr/>
        </p:nvSpPr>
        <p:spPr>
          <a:xfrm>
            <a:off x="9673677" y="3828022"/>
            <a:ext cx="1980408" cy="6625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정상/불량</a:t>
            </a:r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색상 표시</a:t>
            </a:r>
            <a:endParaRPr lang="en-US" sz="14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4" name="Shape 27">
            <a:extLst>
              <a:ext uri="{FF2B5EF4-FFF2-40B4-BE49-F238E27FC236}">
                <a16:creationId xmlns:a16="http://schemas.microsoft.com/office/drawing/2014/main" id="{78889E76-8E73-4ED5-9E92-9A1F9E6998BD}"/>
              </a:ext>
            </a:extLst>
          </p:cNvPr>
          <p:cNvSpPr/>
          <p:nvPr/>
        </p:nvSpPr>
        <p:spPr>
          <a:xfrm>
            <a:off x="365760" y="4851970"/>
            <a:ext cx="11387345" cy="1385342"/>
          </a:xfrm>
          <a:prstGeom prst="rect">
            <a:avLst/>
          </a:prstGeom>
          <a:solidFill>
            <a:srgbClr val="0A22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5" name="Text 28">
            <a:extLst>
              <a:ext uri="{FF2B5EF4-FFF2-40B4-BE49-F238E27FC236}">
                <a16:creationId xmlns:a16="http://schemas.microsoft.com/office/drawing/2014/main" id="{25B6B0C6-B365-4AE5-B594-37C4805E4912}"/>
              </a:ext>
            </a:extLst>
          </p:cNvPr>
          <p:cNvSpPr/>
          <p:nvPr/>
        </p:nvSpPr>
        <p:spPr>
          <a:xfrm>
            <a:off x="737086" y="4948342"/>
            <a:ext cx="2475510" cy="4216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0C2FF"/>
                </a:solidFill>
              </a:rPr>
              <a:t>📦  제출물</a:t>
            </a:r>
            <a:endParaRPr lang="en-US" b="1" dirty="0"/>
          </a:p>
        </p:txBody>
      </p:sp>
      <p:sp>
        <p:nvSpPr>
          <p:cNvPr id="46" name="Text 29">
            <a:extLst>
              <a:ext uri="{FF2B5EF4-FFF2-40B4-BE49-F238E27FC236}">
                <a16:creationId xmlns:a16="http://schemas.microsoft.com/office/drawing/2014/main" id="{23ECF5C1-7BC7-465C-A66A-5AE527C3FCA3}"/>
              </a:ext>
            </a:extLst>
          </p:cNvPr>
          <p:cNvSpPr/>
          <p:nvPr/>
        </p:nvSpPr>
        <p:spPr>
          <a:xfrm>
            <a:off x="737086" y="5394061"/>
            <a:ext cx="2723061" cy="6625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main.py (완성 코드)</a:t>
            </a:r>
            <a:endParaRPr lang="en-US" sz="16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7" name="Text 30">
            <a:extLst>
              <a:ext uri="{FF2B5EF4-FFF2-40B4-BE49-F238E27FC236}">
                <a16:creationId xmlns:a16="http://schemas.microsoft.com/office/drawing/2014/main" id="{6D9B5EFB-9170-4D98-8630-338F571C923A}"/>
              </a:ext>
            </a:extLst>
          </p:cNvPr>
          <p:cNvSpPr/>
          <p:nvPr/>
        </p:nvSpPr>
        <p:spPr>
          <a:xfrm>
            <a:off x="3583923" y="5394061"/>
            <a:ext cx="2723061" cy="6625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xgb_model.pkl</a:t>
            </a:r>
            <a:endParaRPr lang="en-US" sz="16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8" name="Text 31">
            <a:extLst>
              <a:ext uri="{FF2B5EF4-FFF2-40B4-BE49-F238E27FC236}">
                <a16:creationId xmlns:a16="http://schemas.microsoft.com/office/drawing/2014/main" id="{908AFAB1-885A-4AEF-AA0F-BEDBB30956FB}"/>
              </a:ext>
            </a:extLst>
          </p:cNvPr>
          <p:cNvSpPr/>
          <p:nvPr/>
        </p:nvSpPr>
        <p:spPr>
          <a:xfrm>
            <a:off x="6430759" y="5394061"/>
            <a:ext cx="2723061" cy="6625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model_meta.json</a:t>
            </a:r>
            <a:endParaRPr lang="en-US" sz="16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9" name="Text 32">
            <a:extLst>
              <a:ext uri="{FF2B5EF4-FFF2-40B4-BE49-F238E27FC236}">
                <a16:creationId xmlns:a16="http://schemas.microsoft.com/office/drawing/2014/main" id="{DD39EE6E-4F6D-4D7B-BE9C-A320E0573884}"/>
              </a:ext>
            </a:extLst>
          </p:cNvPr>
          <p:cNvSpPr/>
          <p:nvPr/>
        </p:nvSpPr>
        <p:spPr>
          <a:xfrm>
            <a:off x="9277595" y="5394061"/>
            <a:ext cx="2723061" cy="6625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실행 화면 캡처 1장</a:t>
            </a:r>
            <a:endParaRPr lang="en-US" sz="1600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0453592"/>
      </p:ext>
    </p:extLst>
  </p:cSld>
  <p:clrMapOvr>
    <a:masterClrMapping/>
  </p:clrMapOvr>
  <p:transition spd="slow"/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>
            <a:extLst>
              <a:ext uri="{FF2B5EF4-FFF2-40B4-BE49-F238E27FC236}">
                <a16:creationId xmlns:a16="http://schemas.microsoft.com/office/drawing/2014/main" id="{B946452F-27EF-42F4-B884-AC61D5D987F4}"/>
              </a:ext>
            </a:extLst>
          </p:cNvPr>
          <p:cNvSpPr/>
          <p:nvPr/>
        </p:nvSpPr>
        <p:spPr>
          <a:xfrm>
            <a:off x="369797" y="260648"/>
            <a:ext cx="11452406" cy="807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요구사항 정의서</a:t>
            </a:r>
            <a:endParaRPr lang="en-US" sz="2800" dirty="0"/>
          </a:p>
        </p:txBody>
      </p:sp>
      <p:sp>
        <p:nvSpPr>
          <p:cNvPr id="51" name="Shape 1">
            <a:extLst>
              <a:ext uri="{FF2B5EF4-FFF2-40B4-BE49-F238E27FC236}">
                <a16:creationId xmlns:a16="http://schemas.microsoft.com/office/drawing/2014/main" id="{3618D7E9-5140-46F6-9ED3-7AB148424EA6}"/>
              </a:ext>
            </a:extLst>
          </p:cNvPr>
          <p:cNvSpPr/>
          <p:nvPr/>
        </p:nvSpPr>
        <p:spPr>
          <a:xfrm>
            <a:off x="369797" y="1094645"/>
            <a:ext cx="11452406" cy="40355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2" name="Shape 2">
            <a:extLst>
              <a:ext uri="{FF2B5EF4-FFF2-40B4-BE49-F238E27FC236}">
                <a16:creationId xmlns:a16="http://schemas.microsoft.com/office/drawing/2014/main" id="{BD501890-9D47-468C-82B5-21558677EA81}"/>
              </a:ext>
            </a:extLst>
          </p:cNvPr>
          <p:cNvSpPr/>
          <p:nvPr/>
        </p:nvSpPr>
        <p:spPr>
          <a:xfrm>
            <a:off x="242548" y="1269515"/>
            <a:ext cx="890743" cy="511159"/>
          </a:xfrm>
          <a:prstGeom prst="rect">
            <a:avLst/>
          </a:prstGeom>
          <a:solidFill>
            <a:srgbClr val="0A2A4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3" name="Text 3">
            <a:extLst>
              <a:ext uri="{FF2B5EF4-FFF2-40B4-BE49-F238E27FC236}">
                <a16:creationId xmlns:a16="http://schemas.microsoft.com/office/drawing/2014/main" id="{871C74D2-3939-430C-AB47-E7D3A93242A4}"/>
              </a:ext>
            </a:extLst>
          </p:cNvPr>
          <p:cNvSpPr/>
          <p:nvPr/>
        </p:nvSpPr>
        <p:spPr>
          <a:xfrm>
            <a:off x="242548" y="1269515"/>
            <a:ext cx="890743" cy="511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2FF"/>
                </a:solidFill>
              </a:rPr>
              <a:t>ID</a:t>
            </a:r>
            <a:endParaRPr lang="en-US" sz="1400" dirty="0"/>
          </a:p>
        </p:txBody>
      </p:sp>
      <p:sp>
        <p:nvSpPr>
          <p:cNvPr id="54" name="Shape 4">
            <a:extLst>
              <a:ext uri="{FF2B5EF4-FFF2-40B4-BE49-F238E27FC236}">
                <a16:creationId xmlns:a16="http://schemas.microsoft.com/office/drawing/2014/main" id="{861C04CF-3798-4600-B81A-D6F85E94E8EC}"/>
              </a:ext>
            </a:extLst>
          </p:cNvPr>
          <p:cNvSpPr/>
          <p:nvPr/>
        </p:nvSpPr>
        <p:spPr>
          <a:xfrm>
            <a:off x="1133291" y="1269515"/>
            <a:ext cx="2544979" cy="511159"/>
          </a:xfrm>
          <a:prstGeom prst="rect">
            <a:avLst/>
          </a:prstGeom>
          <a:solidFill>
            <a:srgbClr val="0A2A4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5" name="Text 5">
            <a:extLst>
              <a:ext uri="{FF2B5EF4-FFF2-40B4-BE49-F238E27FC236}">
                <a16:creationId xmlns:a16="http://schemas.microsoft.com/office/drawing/2014/main" id="{A06D3230-42B5-49DD-849E-95FB8E0ECCC1}"/>
              </a:ext>
            </a:extLst>
          </p:cNvPr>
          <p:cNvSpPr/>
          <p:nvPr/>
        </p:nvSpPr>
        <p:spPr>
          <a:xfrm>
            <a:off x="1133291" y="1269515"/>
            <a:ext cx="2544979" cy="511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2FF"/>
                </a:solidFill>
              </a:rPr>
              <a:t>요구사항명</a:t>
            </a:r>
            <a:endParaRPr lang="en-US" sz="1400" dirty="0"/>
          </a:p>
        </p:txBody>
      </p:sp>
      <p:sp>
        <p:nvSpPr>
          <p:cNvPr id="56" name="Shape 6">
            <a:extLst>
              <a:ext uri="{FF2B5EF4-FFF2-40B4-BE49-F238E27FC236}">
                <a16:creationId xmlns:a16="http://schemas.microsoft.com/office/drawing/2014/main" id="{049C41D9-F51A-400C-87ED-4FBC0712A9BA}"/>
              </a:ext>
            </a:extLst>
          </p:cNvPr>
          <p:cNvSpPr/>
          <p:nvPr/>
        </p:nvSpPr>
        <p:spPr>
          <a:xfrm>
            <a:off x="3678270" y="1269515"/>
            <a:ext cx="4962709" cy="511159"/>
          </a:xfrm>
          <a:prstGeom prst="rect">
            <a:avLst/>
          </a:prstGeom>
          <a:solidFill>
            <a:srgbClr val="0A2A4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7" name="Text 7">
            <a:extLst>
              <a:ext uri="{FF2B5EF4-FFF2-40B4-BE49-F238E27FC236}">
                <a16:creationId xmlns:a16="http://schemas.microsoft.com/office/drawing/2014/main" id="{851C6BB9-525B-4FB2-8CE4-39530CDE8139}"/>
              </a:ext>
            </a:extLst>
          </p:cNvPr>
          <p:cNvSpPr/>
          <p:nvPr/>
        </p:nvSpPr>
        <p:spPr>
          <a:xfrm>
            <a:off x="3678270" y="1269515"/>
            <a:ext cx="4962709" cy="511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2FF"/>
                </a:solidFill>
              </a:rPr>
              <a:t>상세 내용</a:t>
            </a:r>
            <a:endParaRPr lang="en-US" sz="1400" dirty="0"/>
          </a:p>
        </p:txBody>
      </p:sp>
      <p:sp>
        <p:nvSpPr>
          <p:cNvPr id="58" name="Shape 8">
            <a:extLst>
              <a:ext uri="{FF2B5EF4-FFF2-40B4-BE49-F238E27FC236}">
                <a16:creationId xmlns:a16="http://schemas.microsoft.com/office/drawing/2014/main" id="{ECB599CD-B74B-4A2C-9249-685B396C90F9}"/>
              </a:ext>
            </a:extLst>
          </p:cNvPr>
          <p:cNvSpPr/>
          <p:nvPr/>
        </p:nvSpPr>
        <p:spPr>
          <a:xfrm>
            <a:off x="8640979" y="1269515"/>
            <a:ext cx="1908734" cy="511159"/>
          </a:xfrm>
          <a:prstGeom prst="rect">
            <a:avLst/>
          </a:prstGeom>
          <a:solidFill>
            <a:srgbClr val="0A2A4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265118A0-070C-4C3B-85D7-8A2951A74158}"/>
              </a:ext>
            </a:extLst>
          </p:cNvPr>
          <p:cNvSpPr/>
          <p:nvPr/>
        </p:nvSpPr>
        <p:spPr>
          <a:xfrm>
            <a:off x="8640979" y="1269515"/>
            <a:ext cx="1908734" cy="511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2FF"/>
                </a:solidFill>
              </a:rPr>
              <a:t>우선순위</a:t>
            </a:r>
            <a:endParaRPr lang="en-US" sz="1400" dirty="0"/>
          </a:p>
        </p:txBody>
      </p:sp>
      <p:sp>
        <p:nvSpPr>
          <p:cNvPr id="60" name="Shape 10">
            <a:extLst>
              <a:ext uri="{FF2B5EF4-FFF2-40B4-BE49-F238E27FC236}">
                <a16:creationId xmlns:a16="http://schemas.microsoft.com/office/drawing/2014/main" id="{68EC5385-EFFF-4D8A-90B2-786EF9997B65}"/>
              </a:ext>
            </a:extLst>
          </p:cNvPr>
          <p:cNvSpPr/>
          <p:nvPr/>
        </p:nvSpPr>
        <p:spPr>
          <a:xfrm>
            <a:off x="10549713" y="1269515"/>
            <a:ext cx="1399739" cy="511159"/>
          </a:xfrm>
          <a:prstGeom prst="rect">
            <a:avLst/>
          </a:prstGeom>
          <a:solidFill>
            <a:srgbClr val="0A2A4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1" name="Text 11">
            <a:extLst>
              <a:ext uri="{FF2B5EF4-FFF2-40B4-BE49-F238E27FC236}">
                <a16:creationId xmlns:a16="http://schemas.microsoft.com/office/drawing/2014/main" id="{1975990E-8B1D-4EA7-B8C2-41CC0E59382A}"/>
              </a:ext>
            </a:extLst>
          </p:cNvPr>
          <p:cNvSpPr/>
          <p:nvPr/>
        </p:nvSpPr>
        <p:spPr>
          <a:xfrm>
            <a:off x="10549713" y="1269515"/>
            <a:ext cx="1399739" cy="511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2FF"/>
                </a:solidFill>
              </a:rPr>
              <a:t>구분</a:t>
            </a:r>
            <a:endParaRPr lang="en-US" sz="1400" dirty="0"/>
          </a:p>
        </p:txBody>
      </p:sp>
      <p:sp>
        <p:nvSpPr>
          <p:cNvPr id="62" name="Shape 12">
            <a:extLst>
              <a:ext uri="{FF2B5EF4-FFF2-40B4-BE49-F238E27FC236}">
                <a16:creationId xmlns:a16="http://schemas.microsoft.com/office/drawing/2014/main" id="{84FAC56B-5944-4B6E-B780-5F4B4EEA7D3E}"/>
              </a:ext>
            </a:extLst>
          </p:cNvPr>
          <p:cNvSpPr/>
          <p:nvPr/>
        </p:nvSpPr>
        <p:spPr>
          <a:xfrm>
            <a:off x="242548" y="1780674"/>
            <a:ext cx="890743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3" name="Text 13">
            <a:extLst>
              <a:ext uri="{FF2B5EF4-FFF2-40B4-BE49-F238E27FC236}">
                <a16:creationId xmlns:a16="http://schemas.microsoft.com/office/drawing/2014/main" id="{1A29AEE2-3068-4B40-96DB-68E0F413BE7A}"/>
              </a:ext>
            </a:extLst>
          </p:cNvPr>
          <p:cNvSpPr/>
          <p:nvPr/>
        </p:nvSpPr>
        <p:spPr>
          <a:xfrm>
            <a:off x="242548" y="1780674"/>
            <a:ext cx="890743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F-01</a:t>
            </a:r>
            <a:endParaRPr lang="en-US" sz="1200" dirty="0"/>
          </a:p>
        </p:txBody>
      </p:sp>
      <p:sp>
        <p:nvSpPr>
          <p:cNvPr id="64" name="Shape 14">
            <a:extLst>
              <a:ext uri="{FF2B5EF4-FFF2-40B4-BE49-F238E27FC236}">
                <a16:creationId xmlns:a16="http://schemas.microsoft.com/office/drawing/2014/main" id="{70371ED8-22E4-4275-B278-38DBCCBE6FB9}"/>
              </a:ext>
            </a:extLst>
          </p:cNvPr>
          <p:cNvSpPr/>
          <p:nvPr/>
        </p:nvSpPr>
        <p:spPr>
          <a:xfrm>
            <a:off x="1133291" y="1780674"/>
            <a:ext cx="2544979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5" name="Text 15">
            <a:extLst>
              <a:ext uri="{FF2B5EF4-FFF2-40B4-BE49-F238E27FC236}">
                <a16:creationId xmlns:a16="http://schemas.microsoft.com/office/drawing/2014/main" id="{C02829F5-4A82-40EE-88B9-1AF360976049}"/>
              </a:ext>
            </a:extLst>
          </p:cNvPr>
          <p:cNvSpPr/>
          <p:nvPr/>
        </p:nvSpPr>
        <p:spPr>
          <a:xfrm>
            <a:off x="1133291" y="1780674"/>
            <a:ext cx="2544979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로드</a:t>
            </a:r>
            <a:endParaRPr lang="en-US" sz="1400" dirty="0"/>
          </a:p>
        </p:txBody>
      </p:sp>
      <p:sp>
        <p:nvSpPr>
          <p:cNvPr id="66" name="Shape 16">
            <a:extLst>
              <a:ext uri="{FF2B5EF4-FFF2-40B4-BE49-F238E27FC236}">
                <a16:creationId xmlns:a16="http://schemas.microsoft.com/office/drawing/2014/main" id="{F22F9470-D4A1-434E-9C02-46A0DF71170A}"/>
              </a:ext>
            </a:extLst>
          </p:cNvPr>
          <p:cNvSpPr/>
          <p:nvPr/>
        </p:nvSpPr>
        <p:spPr>
          <a:xfrm>
            <a:off x="3678270" y="1780674"/>
            <a:ext cx="4962709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7" name="Text 17">
            <a:extLst>
              <a:ext uri="{FF2B5EF4-FFF2-40B4-BE49-F238E27FC236}">
                <a16:creationId xmlns:a16="http://schemas.microsoft.com/office/drawing/2014/main" id="{B7B24EE1-706B-4DD6-9425-14EC9FFF5F97}"/>
              </a:ext>
            </a:extLst>
          </p:cNvPr>
          <p:cNvSpPr/>
          <p:nvPr/>
        </p:nvSpPr>
        <p:spPr>
          <a:xfrm>
            <a:off x="3678270" y="1780674"/>
            <a:ext cx="4962709" cy="4977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xgb_model.pkl을 joblib으로 불러오기. 파일 없을 시 에러 메시지 표시</a:t>
            </a:r>
            <a:endParaRPr lang="en-US" sz="1200" dirty="0"/>
          </a:p>
        </p:txBody>
      </p:sp>
      <p:sp>
        <p:nvSpPr>
          <p:cNvPr id="68" name="Shape 18">
            <a:extLst>
              <a:ext uri="{FF2B5EF4-FFF2-40B4-BE49-F238E27FC236}">
                <a16:creationId xmlns:a16="http://schemas.microsoft.com/office/drawing/2014/main" id="{2C3EE404-1C7A-4134-BEED-4C31B78CEE38}"/>
              </a:ext>
            </a:extLst>
          </p:cNvPr>
          <p:cNvSpPr/>
          <p:nvPr/>
        </p:nvSpPr>
        <p:spPr>
          <a:xfrm>
            <a:off x="8640979" y="1780674"/>
            <a:ext cx="1908734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9" name="Text 19">
            <a:extLst>
              <a:ext uri="{FF2B5EF4-FFF2-40B4-BE49-F238E27FC236}">
                <a16:creationId xmlns:a16="http://schemas.microsoft.com/office/drawing/2014/main" id="{105C43B8-6090-44E7-A31F-D0EE0A1649C7}"/>
              </a:ext>
            </a:extLst>
          </p:cNvPr>
          <p:cNvSpPr/>
          <p:nvPr/>
        </p:nvSpPr>
        <p:spPr>
          <a:xfrm>
            <a:off x="8640979" y="1780674"/>
            <a:ext cx="1908734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200" dirty="0"/>
          </a:p>
        </p:txBody>
      </p:sp>
      <p:sp>
        <p:nvSpPr>
          <p:cNvPr id="70" name="Shape 20">
            <a:extLst>
              <a:ext uri="{FF2B5EF4-FFF2-40B4-BE49-F238E27FC236}">
                <a16:creationId xmlns:a16="http://schemas.microsoft.com/office/drawing/2014/main" id="{1D361153-C27A-45F3-B57F-A347715FBF70}"/>
              </a:ext>
            </a:extLst>
          </p:cNvPr>
          <p:cNvSpPr/>
          <p:nvPr/>
        </p:nvSpPr>
        <p:spPr>
          <a:xfrm>
            <a:off x="10549713" y="1780674"/>
            <a:ext cx="1399739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1" name="Text 21">
            <a:extLst>
              <a:ext uri="{FF2B5EF4-FFF2-40B4-BE49-F238E27FC236}">
                <a16:creationId xmlns:a16="http://schemas.microsoft.com/office/drawing/2014/main" id="{C1CDE3BC-05E8-499D-935F-BE3251B6790F}"/>
              </a:ext>
            </a:extLst>
          </p:cNvPr>
          <p:cNvSpPr/>
          <p:nvPr/>
        </p:nvSpPr>
        <p:spPr>
          <a:xfrm>
            <a:off x="10549713" y="1780674"/>
            <a:ext cx="1399739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</a:t>
            </a:r>
            <a:endParaRPr lang="en-US" sz="1200" dirty="0"/>
          </a:p>
        </p:txBody>
      </p:sp>
      <p:sp>
        <p:nvSpPr>
          <p:cNvPr id="72" name="Shape 22">
            <a:extLst>
              <a:ext uri="{FF2B5EF4-FFF2-40B4-BE49-F238E27FC236}">
                <a16:creationId xmlns:a16="http://schemas.microsoft.com/office/drawing/2014/main" id="{ADF79716-0CF4-425A-9470-EC06343E92FA}"/>
              </a:ext>
            </a:extLst>
          </p:cNvPr>
          <p:cNvSpPr/>
          <p:nvPr/>
        </p:nvSpPr>
        <p:spPr>
          <a:xfrm>
            <a:off x="242548" y="2291833"/>
            <a:ext cx="890743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3" name="Text 23">
            <a:extLst>
              <a:ext uri="{FF2B5EF4-FFF2-40B4-BE49-F238E27FC236}">
                <a16:creationId xmlns:a16="http://schemas.microsoft.com/office/drawing/2014/main" id="{80F7E976-72FD-459B-AD74-0EE9A2935977}"/>
              </a:ext>
            </a:extLst>
          </p:cNvPr>
          <p:cNvSpPr/>
          <p:nvPr/>
        </p:nvSpPr>
        <p:spPr>
          <a:xfrm>
            <a:off x="242548" y="2291833"/>
            <a:ext cx="890743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F-02</a:t>
            </a:r>
            <a:endParaRPr lang="en-US" sz="1200" dirty="0"/>
          </a:p>
        </p:txBody>
      </p:sp>
      <p:sp>
        <p:nvSpPr>
          <p:cNvPr id="74" name="Shape 24">
            <a:extLst>
              <a:ext uri="{FF2B5EF4-FFF2-40B4-BE49-F238E27FC236}">
                <a16:creationId xmlns:a16="http://schemas.microsoft.com/office/drawing/2014/main" id="{AD224826-131F-4A50-875B-4BC309024877}"/>
              </a:ext>
            </a:extLst>
          </p:cNvPr>
          <p:cNvSpPr/>
          <p:nvPr/>
        </p:nvSpPr>
        <p:spPr>
          <a:xfrm>
            <a:off x="1133291" y="2291833"/>
            <a:ext cx="2544979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5" name="Text 25">
            <a:extLst>
              <a:ext uri="{FF2B5EF4-FFF2-40B4-BE49-F238E27FC236}">
                <a16:creationId xmlns:a16="http://schemas.microsoft.com/office/drawing/2014/main" id="{7C65263D-4C3D-4863-83AA-44460992314D}"/>
              </a:ext>
            </a:extLst>
          </p:cNvPr>
          <p:cNvSpPr/>
          <p:nvPr/>
        </p:nvSpPr>
        <p:spPr>
          <a:xfrm>
            <a:off x="1133291" y="2291833"/>
            <a:ext cx="2544979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랜덤 입력 생성</a:t>
            </a:r>
            <a:endParaRPr lang="en-US" sz="1400" dirty="0"/>
          </a:p>
        </p:txBody>
      </p:sp>
      <p:sp>
        <p:nvSpPr>
          <p:cNvPr id="76" name="Shape 26">
            <a:extLst>
              <a:ext uri="{FF2B5EF4-FFF2-40B4-BE49-F238E27FC236}">
                <a16:creationId xmlns:a16="http://schemas.microsoft.com/office/drawing/2014/main" id="{59FE1D5E-D2AC-4F0D-9BAD-B9D62D10BB1D}"/>
              </a:ext>
            </a:extLst>
          </p:cNvPr>
          <p:cNvSpPr/>
          <p:nvPr/>
        </p:nvSpPr>
        <p:spPr>
          <a:xfrm>
            <a:off x="3678270" y="2291833"/>
            <a:ext cx="4962709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7" name="Text 27">
            <a:extLst>
              <a:ext uri="{FF2B5EF4-FFF2-40B4-BE49-F238E27FC236}">
                <a16:creationId xmlns:a16="http://schemas.microsoft.com/office/drawing/2014/main" id="{09561AAB-FE83-4C49-9BA2-C946D2FF590F}"/>
              </a:ext>
            </a:extLst>
          </p:cNvPr>
          <p:cNvSpPr/>
          <p:nvPr/>
        </p:nvSpPr>
        <p:spPr>
          <a:xfrm>
            <a:off x="3678270" y="2291833"/>
            <a:ext cx="4962709" cy="4977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3초 간격으로 학습 데이터 범위 내 온도·습도 랜덤 생성</a:t>
            </a:r>
            <a:endParaRPr lang="en-US" sz="1200" dirty="0"/>
          </a:p>
        </p:txBody>
      </p:sp>
      <p:sp>
        <p:nvSpPr>
          <p:cNvPr id="78" name="Shape 28">
            <a:extLst>
              <a:ext uri="{FF2B5EF4-FFF2-40B4-BE49-F238E27FC236}">
                <a16:creationId xmlns:a16="http://schemas.microsoft.com/office/drawing/2014/main" id="{4B772928-498F-4A9A-BA1C-B47640C48E36}"/>
              </a:ext>
            </a:extLst>
          </p:cNvPr>
          <p:cNvSpPr/>
          <p:nvPr/>
        </p:nvSpPr>
        <p:spPr>
          <a:xfrm>
            <a:off x="8640979" y="2291833"/>
            <a:ext cx="1908734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9" name="Text 29">
            <a:extLst>
              <a:ext uri="{FF2B5EF4-FFF2-40B4-BE49-F238E27FC236}">
                <a16:creationId xmlns:a16="http://schemas.microsoft.com/office/drawing/2014/main" id="{FDD91682-8AF8-4618-A73F-FD76A8661B31}"/>
              </a:ext>
            </a:extLst>
          </p:cNvPr>
          <p:cNvSpPr/>
          <p:nvPr/>
        </p:nvSpPr>
        <p:spPr>
          <a:xfrm>
            <a:off x="8640979" y="2291833"/>
            <a:ext cx="1908734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200" dirty="0"/>
          </a:p>
        </p:txBody>
      </p:sp>
      <p:sp>
        <p:nvSpPr>
          <p:cNvPr id="80" name="Shape 30">
            <a:extLst>
              <a:ext uri="{FF2B5EF4-FFF2-40B4-BE49-F238E27FC236}">
                <a16:creationId xmlns:a16="http://schemas.microsoft.com/office/drawing/2014/main" id="{EB6A4970-F236-4B3F-8125-3C7B68EEEFA1}"/>
              </a:ext>
            </a:extLst>
          </p:cNvPr>
          <p:cNvSpPr/>
          <p:nvPr/>
        </p:nvSpPr>
        <p:spPr>
          <a:xfrm>
            <a:off x="10549713" y="2291833"/>
            <a:ext cx="1399739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1" name="Text 31">
            <a:extLst>
              <a:ext uri="{FF2B5EF4-FFF2-40B4-BE49-F238E27FC236}">
                <a16:creationId xmlns:a16="http://schemas.microsoft.com/office/drawing/2014/main" id="{E6A03C3A-D5B0-4498-8E47-689F3AA9B420}"/>
              </a:ext>
            </a:extLst>
          </p:cNvPr>
          <p:cNvSpPr/>
          <p:nvPr/>
        </p:nvSpPr>
        <p:spPr>
          <a:xfrm>
            <a:off x="10549713" y="2291833"/>
            <a:ext cx="1399739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</a:t>
            </a:r>
            <a:endParaRPr lang="en-US" sz="1200" dirty="0"/>
          </a:p>
        </p:txBody>
      </p:sp>
      <p:sp>
        <p:nvSpPr>
          <p:cNvPr id="82" name="Shape 32">
            <a:extLst>
              <a:ext uri="{FF2B5EF4-FFF2-40B4-BE49-F238E27FC236}">
                <a16:creationId xmlns:a16="http://schemas.microsoft.com/office/drawing/2014/main" id="{1A3429A2-D4B6-48BF-9DAA-6BAD1E3D0889}"/>
              </a:ext>
            </a:extLst>
          </p:cNvPr>
          <p:cNvSpPr/>
          <p:nvPr/>
        </p:nvSpPr>
        <p:spPr>
          <a:xfrm>
            <a:off x="242548" y="2802993"/>
            <a:ext cx="890743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3" name="Text 33">
            <a:extLst>
              <a:ext uri="{FF2B5EF4-FFF2-40B4-BE49-F238E27FC236}">
                <a16:creationId xmlns:a16="http://schemas.microsoft.com/office/drawing/2014/main" id="{F379BEAC-325A-4F2A-98FB-7B5802AAD27D}"/>
              </a:ext>
            </a:extLst>
          </p:cNvPr>
          <p:cNvSpPr/>
          <p:nvPr/>
        </p:nvSpPr>
        <p:spPr>
          <a:xfrm>
            <a:off x="242548" y="2802993"/>
            <a:ext cx="890743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F-03</a:t>
            </a:r>
            <a:endParaRPr lang="en-US" sz="1200" dirty="0"/>
          </a:p>
        </p:txBody>
      </p:sp>
      <p:sp>
        <p:nvSpPr>
          <p:cNvPr id="84" name="Shape 34">
            <a:extLst>
              <a:ext uri="{FF2B5EF4-FFF2-40B4-BE49-F238E27FC236}">
                <a16:creationId xmlns:a16="http://schemas.microsoft.com/office/drawing/2014/main" id="{0A8CE23F-25D1-4915-957F-0197F6125B94}"/>
              </a:ext>
            </a:extLst>
          </p:cNvPr>
          <p:cNvSpPr/>
          <p:nvPr/>
        </p:nvSpPr>
        <p:spPr>
          <a:xfrm>
            <a:off x="1133291" y="2802993"/>
            <a:ext cx="2544979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5" name="Text 35">
            <a:extLst>
              <a:ext uri="{FF2B5EF4-FFF2-40B4-BE49-F238E27FC236}">
                <a16:creationId xmlns:a16="http://schemas.microsoft.com/office/drawing/2014/main" id="{434B6D58-226C-40BB-B4E2-53DBEFD1C45A}"/>
              </a:ext>
            </a:extLst>
          </p:cNvPr>
          <p:cNvSpPr/>
          <p:nvPr/>
        </p:nvSpPr>
        <p:spPr>
          <a:xfrm>
            <a:off x="1133291" y="2802993"/>
            <a:ext cx="2544979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추론</a:t>
            </a:r>
            <a:endParaRPr lang="en-US" sz="1400" dirty="0"/>
          </a:p>
        </p:txBody>
      </p:sp>
      <p:sp>
        <p:nvSpPr>
          <p:cNvPr id="86" name="Shape 36">
            <a:extLst>
              <a:ext uri="{FF2B5EF4-FFF2-40B4-BE49-F238E27FC236}">
                <a16:creationId xmlns:a16="http://schemas.microsoft.com/office/drawing/2014/main" id="{95BA61F7-C9F7-4FC2-BA24-A645908CA82E}"/>
              </a:ext>
            </a:extLst>
          </p:cNvPr>
          <p:cNvSpPr/>
          <p:nvPr/>
        </p:nvSpPr>
        <p:spPr>
          <a:xfrm>
            <a:off x="3678270" y="2802993"/>
            <a:ext cx="4962709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7" name="Text 37">
            <a:extLst>
              <a:ext uri="{FF2B5EF4-FFF2-40B4-BE49-F238E27FC236}">
                <a16:creationId xmlns:a16="http://schemas.microsoft.com/office/drawing/2014/main" id="{305FE2E8-4FDF-4999-9339-F9F105BC5B2C}"/>
              </a:ext>
            </a:extLst>
          </p:cNvPr>
          <p:cNvSpPr/>
          <p:nvPr/>
        </p:nvSpPr>
        <p:spPr>
          <a:xfrm>
            <a:off x="3678270" y="2802993"/>
            <a:ext cx="4962709" cy="4977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predict()로 0(정상)/1(불량) 판정 후 결과 반환</a:t>
            </a:r>
            <a:endParaRPr lang="en-US" sz="1200" dirty="0"/>
          </a:p>
        </p:txBody>
      </p:sp>
      <p:sp>
        <p:nvSpPr>
          <p:cNvPr id="88" name="Shape 38">
            <a:extLst>
              <a:ext uri="{FF2B5EF4-FFF2-40B4-BE49-F238E27FC236}">
                <a16:creationId xmlns:a16="http://schemas.microsoft.com/office/drawing/2014/main" id="{9B55515D-722D-4666-A049-21B188C6083B}"/>
              </a:ext>
            </a:extLst>
          </p:cNvPr>
          <p:cNvSpPr/>
          <p:nvPr/>
        </p:nvSpPr>
        <p:spPr>
          <a:xfrm>
            <a:off x="8640979" y="2802993"/>
            <a:ext cx="1908734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9" name="Text 39">
            <a:extLst>
              <a:ext uri="{FF2B5EF4-FFF2-40B4-BE49-F238E27FC236}">
                <a16:creationId xmlns:a16="http://schemas.microsoft.com/office/drawing/2014/main" id="{923EC745-FC56-4A86-A9C2-7F408C8892FF}"/>
              </a:ext>
            </a:extLst>
          </p:cNvPr>
          <p:cNvSpPr/>
          <p:nvPr/>
        </p:nvSpPr>
        <p:spPr>
          <a:xfrm>
            <a:off x="8640979" y="2802993"/>
            <a:ext cx="1908734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200" dirty="0"/>
          </a:p>
        </p:txBody>
      </p:sp>
      <p:sp>
        <p:nvSpPr>
          <p:cNvPr id="90" name="Shape 40">
            <a:extLst>
              <a:ext uri="{FF2B5EF4-FFF2-40B4-BE49-F238E27FC236}">
                <a16:creationId xmlns:a16="http://schemas.microsoft.com/office/drawing/2014/main" id="{F8F43885-7B72-4346-9993-3CA1ED0D68B9}"/>
              </a:ext>
            </a:extLst>
          </p:cNvPr>
          <p:cNvSpPr/>
          <p:nvPr/>
        </p:nvSpPr>
        <p:spPr>
          <a:xfrm>
            <a:off x="10549713" y="2802993"/>
            <a:ext cx="1399739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1" name="Text 41">
            <a:extLst>
              <a:ext uri="{FF2B5EF4-FFF2-40B4-BE49-F238E27FC236}">
                <a16:creationId xmlns:a16="http://schemas.microsoft.com/office/drawing/2014/main" id="{A2004628-BBB3-4C88-87A8-CE9D6896338F}"/>
              </a:ext>
            </a:extLst>
          </p:cNvPr>
          <p:cNvSpPr/>
          <p:nvPr/>
        </p:nvSpPr>
        <p:spPr>
          <a:xfrm>
            <a:off x="10549713" y="2802993"/>
            <a:ext cx="1399739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</a:t>
            </a:r>
            <a:endParaRPr lang="en-US" sz="1200" dirty="0"/>
          </a:p>
        </p:txBody>
      </p:sp>
      <p:sp>
        <p:nvSpPr>
          <p:cNvPr id="92" name="Shape 42">
            <a:extLst>
              <a:ext uri="{FF2B5EF4-FFF2-40B4-BE49-F238E27FC236}">
                <a16:creationId xmlns:a16="http://schemas.microsoft.com/office/drawing/2014/main" id="{1E9F6301-5791-4A7F-A92F-89079C7A7C12}"/>
              </a:ext>
            </a:extLst>
          </p:cNvPr>
          <p:cNvSpPr/>
          <p:nvPr/>
        </p:nvSpPr>
        <p:spPr>
          <a:xfrm>
            <a:off x="242548" y="3314152"/>
            <a:ext cx="890743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3" name="Text 43">
            <a:extLst>
              <a:ext uri="{FF2B5EF4-FFF2-40B4-BE49-F238E27FC236}">
                <a16:creationId xmlns:a16="http://schemas.microsoft.com/office/drawing/2014/main" id="{8EB40F20-F915-4A10-9930-B1954DAE8FC7}"/>
              </a:ext>
            </a:extLst>
          </p:cNvPr>
          <p:cNvSpPr/>
          <p:nvPr/>
        </p:nvSpPr>
        <p:spPr>
          <a:xfrm>
            <a:off x="242548" y="3314152"/>
            <a:ext cx="890743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F-04</a:t>
            </a:r>
            <a:endParaRPr lang="en-US" sz="1200" dirty="0"/>
          </a:p>
        </p:txBody>
      </p:sp>
      <p:sp>
        <p:nvSpPr>
          <p:cNvPr id="94" name="Shape 44">
            <a:extLst>
              <a:ext uri="{FF2B5EF4-FFF2-40B4-BE49-F238E27FC236}">
                <a16:creationId xmlns:a16="http://schemas.microsoft.com/office/drawing/2014/main" id="{7883C91D-5028-4014-8E2B-C097EBBCB0AF}"/>
              </a:ext>
            </a:extLst>
          </p:cNvPr>
          <p:cNvSpPr/>
          <p:nvPr/>
        </p:nvSpPr>
        <p:spPr>
          <a:xfrm>
            <a:off x="1133291" y="3314152"/>
            <a:ext cx="2544979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5" name="Text 45">
            <a:extLst>
              <a:ext uri="{FF2B5EF4-FFF2-40B4-BE49-F238E27FC236}">
                <a16:creationId xmlns:a16="http://schemas.microsoft.com/office/drawing/2014/main" id="{1D08820C-E3CA-4EF6-ACED-7573AA0635F2}"/>
              </a:ext>
            </a:extLst>
          </p:cNvPr>
          <p:cNvSpPr/>
          <p:nvPr/>
        </p:nvSpPr>
        <p:spPr>
          <a:xfrm>
            <a:off x="1133291" y="3314152"/>
            <a:ext cx="2544979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표시</a:t>
            </a:r>
            <a:endParaRPr lang="en-US" sz="1400" dirty="0"/>
          </a:p>
        </p:txBody>
      </p:sp>
      <p:sp>
        <p:nvSpPr>
          <p:cNvPr id="96" name="Shape 46">
            <a:extLst>
              <a:ext uri="{FF2B5EF4-FFF2-40B4-BE49-F238E27FC236}">
                <a16:creationId xmlns:a16="http://schemas.microsoft.com/office/drawing/2014/main" id="{B2500040-D695-4463-8FF5-483B29213132}"/>
              </a:ext>
            </a:extLst>
          </p:cNvPr>
          <p:cNvSpPr/>
          <p:nvPr/>
        </p:nvSpPr>
        <p:spPr>
          <a:xfrm>
            <a:off x="3678270" y="3314152"/>
            <a:ext cx="4962709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7" name="Text 47">
            <a:extLst>
              <a:ext uri="{FF2B5EF4-FFF2-40B4-BE49-F238E27FC236}">
                <a16:creationId xmlns:a16="http://schemas.microsoft.com/office/drawing/2014/main" id="{974BEEAB-F3E4-4548-AA1F-303676B71F3F}"/>
              </a:ext>
            </a:extLst>
          </p:cNvPr>
          <p:cNvSpPr/>
          <p:nvPr/>
        </p:nvSpPr>
        <p:spPr>
          <a:xfrm>
            <a:off x="3678270" y="3314152"/>
            <a:ext cx="4962709" cy="4977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정상=녹색, 불량=빨강으로 크게 표시. 아이콘(✅/❌) 함께 표시</a:t>
            </a:r>
            <a:endParaRPr lang="en-US" sz="1200" dirty="0"/>
          </a:p>
        </p:txBody>
      </p:sp>
      <p:sp>
        <p:nvSpPr>
          <p:cNvPr id="98" name="Shape 48">
            <a:extLst>
              <a:ext uri="{FF2B5EF4-FFF2-40B4-BE49-F238E27FC236}">
                <a16:creationId xmlns:a16="http://schemas.microsoft.com/office/drawing/2014/main" id="{AA7944A4-D1D5-4E41-A2C3-DDDC80BCAAC0}"/>
              </a:ext>
            </a:extLst>
          </p:cNvPr>
          <p:cNvSpPr/>
          <p:nvPr/>
        </p:nvSpPr>
        <p:spPr>
          <a:xfrm>
            <a:off x="8640979" y="3314152"/>
            <a:ext cx="1908734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9" name="Text 49">
            <a:extLst>
              <a:ext uri="{FF2B5EF4-FFF2-40B4-BE49-F238E27FC236}">
                <a16:creationId xmlns:a16="http://schemas.microsoft.com/office/drawing/2014/main" id="{448134AC-E3DA-4AA7-A790-AFCBD9EABE40}"/>
              </a:ext>
            </a:extLst>
          </p:cNvPr>
          <p:cNvSpPr/>
          <p:nvPr/>
        </p:nvSpPr>
        <p:spPr>
          <a:xfrm>
            <a:off x="8640979" y="3314152"/>
            <a:ext cx="1908734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200" dirty="0"/>
          </a:p>
        </p:txBody>
      </p:sp>
      <p:sp>
        <p:nvSpPr>
          <p:cNvPr id="100" name="Shape 50">
            <a:extLst>
              <a:ext uri="{FF2B5EF4-FFF2-40B4-BE49-F238E27FC236}">
                <a16:creationId xmlns:a16="http://schemas.microsoft.com/office/drawing/2014/main" id="{E9E9D68E-AE45-4C37-8139-2EE0B11A45A2}"/>
              </a:ext>
            </a:extLst>
          </p:cNvPr>
          <p:cNvSpPr/>
          <p:nvPr/>
        </p:nvSpPr>
        <p:spPr>
          <a:xfrm>
            <a:off x="10549713" y="3314152"/>
            <a:ext cx="1399739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1" name="Text 51">
            <a:extLst>
              <a:ext uri="{FF2B5EF4-FFF2-40B4-BE49-F238E27FC236}">
                <a16:creationId xmlns:a16="http://schemas.microsoft.com/office/drawing/2014/main" id="{EEEB28D8-CDB3-4EE7-AF26-D9F024286211}"/>
              </a:ext>
            </a:extLst>
          </p:cNvPr>
          <p:cNvSpPr/>
          <p:nvPr/>
        </p:nvSpPr>
        <p:spPr>
          <a:xfrm>
            <a:off x="10549713" y="3314152"/>
            <a:ext cx="1399739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</a:t>
            </a:r>
            <a:endParaRPr lang="en-US" sz="1200" dirty="0"/>
          </a:p>
        </p:txBody>
      </p:sp>
      <p:sp>
        <p:nvSpPr>
          <p:cNvPr id="102" name="Shape 52">
            <a:extLst>
              <a:ext uri="{FF2B5EF4-FFF2-40B4-BE49-F238E27FC236}">
                <a16:creationId xmlns:a16="http://schemas.microsoft.com/office/drawing/2014/main" id="{9857C805-5066-449A-8EB3-AE6BCBF57F38}"/>
              </a:ext>
            </a:extLst>
          </p:cNvPr>
          <p:cNvSpPr/>
          <p:nvPr/>
        </p:nvSpPr>
        <p:spPr>
          <a:xfrm>
            <a:off x="242548" y="3825311"/>
            <a:ext cx="890743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3" name="Text 53">
            <a:extLst>
              <a:ext uri="{FF2B5EF4-FFF2-40B4-BE49-F238E27FC236}">
                <a16:creationId xmlns:a16="http://schemas.microsoft.com/office/drawing/2014/main" id="{85B5B7EA-1E10-4D88-BC0E-748D612E6E40}"/>
              </a:ext>
            </a:extLst>
          </p:cNvPr>
          <p:cNvSpPr/>
          <p:nvPr/>
        </p:nvSpPr>
        <p:spPr>
          <a:xfrm>
            <a:off x="242548" y="3825311"/>
            <a:ext cx="890743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F-05</a:t>
            </a:r>
            <a:endParaRPr lang="en-US" sz="1200" dirty="0"/>
          </a:p>
        </p:txBody>
      </p:sp>
      <p:sp>
        <p:nvSpPr>
          <p:cNvPr id="104" name="Shape 54">
            <a:extLst>
              <a:ext uri="{FF2B5EF4-FFF2-40B4-BE49-F238E27FC236}">
                <a16:creationId xmlns:a16="http://schemas.microsoft.com/office/drawing/2014/main" id="{E9C46F6C-9A5A-4AC1-9831-4DD02EEAB5F6}"/>
              </a:ext>
            </a:extLst>
          </p:cNvPr>
          <p:cNvSpPr/>
          <p:nvPr/>
        </p:nvSpPr>
        <p:spPr>
          <a:xfrm>
            <a:off x="1133291" y="3825311"/>
            <a:ext cx="2544979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5" name="Text 55">
            <a:extLst>
              <a:ext uri="{FF2B5EF4-FFF2-40B4-BE49-F238E27FC236}">
                <a16:creationId xmlns:a16="http://schemas.microsoft.com/office/drawing/2014/main" id="{5C628FC1-5F15-4313-ACF9-6B68AF3FF5A1}"/>
              </a:ext>
            </a:extLst>
          </p:cNvPr>
          <p:cNvSpPr/>
          <p:nvPr/>
        </p:nvSpPr>
        <p:spPr>
          <a:xfrm>
            <a:off x="1133291" y="3825311"/>
            <a:ext cx="2544979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히스토리 기록</a:t>
            </a:r>
            <a:endParaRPr lang="en-US" sz="1400" dirty="0"/>
          </a:p>
        </p:txBody>
      </p:sp>
      <p:sp>
        <p:nvSpPr>
          <p:cNvPr id="106" name="Shape 56">
            <a:extLst>
              <a:ext uri="{FF2B5EF4-FFF2-40B4-BE49-F238E27FC236}">
                <a16:creationId xmlns:a16="http://schemas.microsoft.com/office/drawing/2014/main" id="{6C4E5F9C-9AF6-4FD7-B306-0765FED39E87}"/>
              </a:ext>
            </a:extLst>
          </p:cNvPr>
          <p:cNvSpPr/>
          <p:nvPr/>
        </p:nvSpPr>
        <p:spPr>
          <a:xfrm>
            <a:off x="3678270" y="3825311"/>
            <a:ext cx="4962709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7" name="Text 57">
            <a:extLst>
              <a:ext uri="{FF2B5EF4-FFF2-40B4-BE49-F238E27FC236}">
                <a16:creationId xmlns:a16="http://schemas.microsoft.com/office/drawing/2014/main" id="{4C48A905-0ED2-4AB3-8234-7CC064955B15}"/>
              </a:ext>
            </a:extLst>
          </p:cNvPr>
          <p:cNvSpPr/>
          <p:nvPr/>
        </p:nvSpPr>
        <p:spPr>
          <a:xfrm>
            <a:off x="3678270" y="3825311"/>
            <a:ext cx="4962709" cy="4977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5건 판정 내역(번호, 온도, 습도, 결과) 화면에 표시</a:t>
            </a:r>
            <a:endParaRPr lang="en-US" sz="1200" dirty="0"/>
          </a:p>
        </p:txBody>
      </p:sp>
      <p:sp>
        <p:nvSpPr>
          <p:cNvPr id="108" name="Shape 58">
            <a:extLst>
              <a:ext uri="{FF2B5EF4-FFF2-40B4-BE49-F238E27FC236}">
                <a16:creationId xmlns:a16="http://schemas.microsoft.com/office/drawing/2014/main" id="{1D7B9D53-F866-4845-9BDF-6865621B44AC}"/>
              </a:ext>
            </a:extLst>
          </p:cNvPr>
          <p:cNvSpPr/>
          <p:nvPr/>
        </p:nvSpPr>
        <p:spPr>
          <a:xfrm>
            <a:off x="8640979" y="3825311"/>
            <a:ext cx="1908734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9" name="Text 59">
            <a:extLst>
              <a:ext uri="{FF2B5EF4-FFF2-40B4-BE49-F238E27FC236}">
                <a16:creationId xmlns:a16="http://schemas.microsoft.com/office/drawing/2014/main" id="{2EE3CABB-249A-4BA0-9C04-0068BCC52A93}"/>
              </a:ext>
            </a:extLst>
          </p:cNvPr>
          <p:cNvSpPr/>
          <p:nvPr/>
        </p:nvSpPr>
        <p:spPr>
          <a:xfrm>
            <a:off x="8640979" y="3825311"/>
            <a:ext cx="1908734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200" dirty="0"/>
          </a:p>
        </p:txBody>
      </p:sp>
      <p:sp>
        <p:nvSpPr>
          <p:cNvPr id="110" name="Shape 60">
            <a:extLst>
              <a:ext uri="{FF2B5EF4-FFF2-40B4-BE49-F238E27FC236}">
                <a16:creationId xmlns:a16="http://schemas.microsoft.com/office/drawing/2014/main" id="{8A2CD140-44D1-42D2-B513-C16F20CD101B}"/>
              </a:ext>
            </a:extLst>
          </p:cNvPr>
          <p:cNvSpPr/>
          <p:nvPr/>
        </p:nvSpPr>
        <p:spPr>
          <a:xfrm>
            <a:off x="10549713" y="3825311"/>
            <a:ext cx="1399739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1" name="Text 61">
            <a:extLst>
              <a:ext uri="{FF2B5EF4-FFF2-40B4-BE49-F238E27FC236}">
                <a16:creationId xmlns:a16="http://schemas.microsoft.com/office/drawing/2014/main" id="{9AC4CE4D-17BA-468E-A855-7904825ADC1C}"/>
              </a:ext>
            </a:extLst>
          </p:cNvPr>
          <p:cNvSpPr/>
          <p:nvPr/>
        </p:nvSpPr>
        <p:spPr>
          <a:xfrm>
            <a:off x="10549713" y="3825311"/>
            <a:ext cx="1399739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</a:t>
            </a:r>
            <a:endParaRPr lang="en-US" sz="1200" dirty="0"/>
          </a:p>
        </p:txBody>
      </p:sp>
      <p:sp>
        <p:nvSpPr>
          <p:cNvPr id="112" name="Shape 62">
            <a:extLst>
              <a:ext uri="{FF2B5EF4-FFF2-40B4-BE49-F238E27FC236}">
                <a16:creationId xmlns:a16="http://schemas.microsoft.com/office/drawing/2014/main" id="{2FF69CA6-C5B4-4D2C-88C9-55931C417629}"/>
              </a:ext>
            </a:extLst>
          </p:cNvPr>
          <p:cNvSpPr/>
          <p:nvPr/>
        </p:nvSpPr>
        <p:spPr>
          <a:xfrm>
            <a:off x="242548" y="4336471"/>
            <a:ext cx="890743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3" name="Text 63">
            <a:extLst>
              <a:ext uri="{FF2B5EF4-FFF2-40B4-BE49-F238E27FC236}">
                <a16:creationId xmlns:a16="http://schemas.microsoft.com/office/drawing/2014/main" id="{C1FE9C8F-AD09-4AAE-AC2C-35EF971EE56B}"/>
              </a:ext>
            </a:extLst>
          </p:cNvPr>
          <p:cNvSpPr/>
          <p:nvPr/>
        </p:nvSpPr>
        <p:spPr>
          <a:xfrm>
            <a:off x="242548" y="4336471"/>
            <a:ext cx="890743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F-06</a:t>
            </a:r>
            <a:endParaRPr lang="en-US" sz="1200" dirty="0"/>
          </a:p>
        </p:txBody>
      </p:sp>
      <p:sp>
        <p:nvSpPr>
          <p:cNvPr id="114" name="Shape 64">
            <a:extLst>
              <a:ext uri="{FF2B5EF4-FFF2-40B4-BE49-F238E27FC236}">
                <a16:creationId xmlns:a16="http://schemas.microsoft.com/office/drawing/2014/main" id="{14CAC573-94CE-42D1-B878-C0CB8279CE97}"/>
              </a:ext>
            </a:extLst>
          </p:cNvPr>
          <p:cNvSpPr/>
          <p:nvPr/>
        </p:nvSpPr>
        <p:spPr>
          <a:xfrm>
            <a:off x="1133291" y="4336471"/>
            <a:ext cx="2544979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5" name="Text 65">
            <a:extLst>
              <a:ext uri="{FF2B5EF4-FFF2-40B4-BE49-F238E27FC236}">
                <a16:creationId xmlns:a16="http://schemas.microsoft.com/office/drawing/2014/main" id="{7F30E7B1-2814-4FA3-8482-99FDCB441868}"/>
              </a:ext>
            </a:extLst>
          </p:cNvPr>
          <p:cNvSpPr/>
          <p:nvPr/>
        </p:nvSpPr>
        <p:spPr>
          <a:xfrm>
            <a:off x="1133291" y="4336471"/>
            <a:ext cx="2544979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일시정지/재개</a:t>
            </a:r>
            <a:endParaRPr lang="en-US" sz="1400" dirty="0"/>
          </a:p>
        </p:txBody>
      </p:sp>
      <p:sp>
        <p:nvSpPr>
          <p:cNvPr id="116" name="Shape 66">
            <a:extLst>
              <a:ext uri="{FF2B5EF4-FFF2-40B4-BE49-F238E27FC236}">
                <a16:creationId xmlns:a16="http://schemas.microsoft.com/office/drawing/2014/main" id="{4FBE1676-6333-491A-BAD2-2C4BFC2DAEC3}"/>
              </a:ext>
            </a:extLst>
          </p:cNvPr>
          <p:cNvSpPr/>
          <p:nvPr/>
        </p:nvSpPr>
        <p:spPr>
          <a:xfrm>
            <a:off x="3678270" y="4336471"/>
            <a:ext cx="4962709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7" name="Text 67">
            <a:extLst>
              <a:ext uri="{FF2B5EF4-FFF2-40B4-BE49-F238E27FC236}">
                <a16:creationId xmlns:a16="http://schemas.microsoft.com/office/drawing/2014/main" id="{12021B67-003F-4A62-9151-679453CD79D3}"/>
              </a:ext>
            </a:extLst>
          </p:cNvPr>
          <p:cNvSpPr/>
          <p:nvPr/>
        </p:nvSpPr>
        <p:spPr>
          <a:xfrm>
            <a:off x="3678270" y="4336471"/>
            <a:ext cx="4962709" cy="4977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버튼 클릭으로 3초 타이머 정지 및 재개 가능</a:t>
            </a:r>
            <a:endParaRPr lang="en-US" sz="1200" dirty="0"/>
          </a:p>
        </p:txBody>
      </p:sp>
      <p:sp>
        <p:nvSpPr>
          <p:cNvPr id="118" name="Shape 68">
            <a:extLst>
              <a:ext uri="{FF2B5EF4-FFF2-40B4-BE49-F238E27FC236}">
                <a16:creationId xmlns:a16="http://schemas.microsoft.com/office/drawing/2014/main" id="{0ABC87E3-D95C-4AE2-87AC-0792EA47D66A}"/>
              </a:ext>
            </a:extLst>
          </p:cNvPr>
          <p:cNvSpPr/>
          <p:nvPr/>
        </p:nvSpPr>
        <p:spPr>
          <a:xfrm>
            <a:off x="8640979" y="4336471"/>
            <a:ext cx="1908734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9" name="Text 69">
            <a:extLst>
              <a:ext uri="{FF2B5EF4-FFF2-40B4-BE49-F238E27FC236}">
                <a16:creationId xmlns:a16="http://schemas.microsoft.com/office/drawing/2014/main" id="{A2FB3A12-A11C-4453-B0A3-E929745B2736}"/>
              </a:ext>
            </a:extLst>
          </p:cNvPr>
          <p:cNvSpPr/>
          <p:nvPr/>
        </p:nvSpPr>
        <p:spPr>
          <a:xfrm>
            <a:off x="8640979" y="4336471"/>
            <a:ext cx="1908734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200" dirty="0"/>
          </a:p>
        </p:txBody>
      </p:sp>
      <p:sp>
        <p:nvSpPr>
          <p:cNvPr id="120" name="Shape 70">
            <a:extLst>
              <a:ext uri="{FF2B5EF4-FFF2-40B4-BE49-F238E27FC236}">
                <a16:creationId xmlns:a16="http://schemas.microsoft.com/office/drawing/2014/main" id="{882D7AC4-9C51-497E-A040-37805AD71F33}"/>
              </a:ext>
            </a:extLst>
          </p:cNvPr>
          <p:cNvSpPr/>
          <p:nvPr/>
        </p:nvSpPr>
        <p:spPr>
          <a:xfrm>
            <a:off x="10549713" y="4336471"/>
            <a:ext cx="1399739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1" name="Text 71">
            <a:extLst>
              <a:ext uri="{FF2B5EF4-FFF2-40B4-BE49-F238E27FC236}">
                <a16:creationId xmlns:a16="http://schemas.microsoft.com/office/drawing/2014/main" id="{C6F8884F-056B-4CB2-BA1C-AFA39FD6B12E}"/>
              </a:ext>
            </a:extLst>
          </p:cNvPr>
          <p:cNvSpPr/>
          <p:nvPr/>
        </p:nvSpPr>
        <p:spPr>
          <a:xfrm>
            <a:off x="10549713" y="4336471"/>
            <a:ext cx="1399739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</a:t>
            </a:r>
            <a:endParaRPr lang="en-US" sz="1200" dirty="0"/>
          </a:p>
        </p:txBody>
      </p:sp>
      <p:sp>
        <p:nvSpPr>
          <p:cNvPr id="122" name="Shape 72">
            <a:extLst>
              <a:ext uri="{FF2B5EF4-FFF2-40B4-BE49-F238E27FC236}">
                <a16:creationId xmlns:a16="http://schemas.microsoft.com/office/drawing/2014/main" id="{5F8DBD71-7C0B-4010-9C7F-720473D806D7}"/>
              </a:ext>
            </a:extLst>
          </p:cNvPr>
          <p:cNvSpPr/>
          <p:nvPr/>
        </p:nvSpPr>
        <p:spPr>
          <a:xfrm>
            <a:off x="242548" y="4847630"/>
            <a:ext cx="890743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3" name="Text 73">
            <a:extLst>
              <a:ext uri="{FF2B5EF4-FFF2-40B4-BE49-F238E27FC236}">
                <a16:creationId xmlns:a16="http://schemas.microsoft.com/office/drawing/2014/main" id="{816C26C5-BB8E-4113-AE4E-627524252B06}"/>
              </a:ext>
            </a:extLst>
          </p:cNvPr>
          <p:cNvSpPr/>
          <p:nvPr/>
        </p:nvSpPr>
        <p:spPr>
          <a:xfrm>
            <a:off x="242548" y="4847630"/>
            <a:ext cx="890743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F-07</a:t>
            </a:r>
            <a:endParaRPr lang="en-US" sz="1200" dirty="0"/>
          </a:p>
        </p:txBody>
      </p:sp>
      <p:sp>
        <p:nvSpPr>
          <p:cNvPr id="124" name="Shape 74">
            <a:extLst>
              <a:ext uri="{FF2B5EF4-FFF2-40B4-BE49-F238E27FC236}">
                <a16:creationId xmlns:a16="http://schemas.microsoft.com/office/drawing/2014/main" id="{C7F19082-6742-425B-A3F5-5B67D3A91E68}"/>
              </a:ext>
            </a:extLst>
          </p:cNvPr>
          <p:cNvSpPr/>
          <p:nvPr/>
        </p:nvSpPr>
        <p:spPr>
          <a:xfrm>
            <a:off x="1133291" y="4847630"/>
            <a:ext cx="2544979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5" name="Text 75">
            <a:extLst>
              <a:ext uri="{FF2B5EF4-FFF2-40B4-BE49-F238E27FC236}">
                <a16:creationId xmlns:a16="http://schemas.microsoft.com/office/drawing/2014/main" id="{18A7F323-5E6E-4FE7-A44A-7D5A6C4F1804}"/>
              </a:ext>
            </a:extLst>
          </p:cNvPr>
          <p:cNvSpPr/>
          <p:nvPr/>
        </p:nvSpPr>
        <p:spPr>
          <a:xfrm>
            <a:off x="1133291" y="4847630"/>
            <a:ext cx="2544979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기록 초기화</a:t>
            </a:r>
            <a:endParaRPr lang="en-US" sz="1400" dirty="0"/>
          </a:p>
        </p:txBody>
      </p:sp>
      <p:sp>
        <p:nvSpPr>
          <p:cNvPr id="126" name="Shape 76">
            <a:extLst>
              <a:ext uri="{FF2B5EF4-FFF2-40B4-BE49-F238E27FC236}">
                <a16:creationId xmlns:a16="http://schemas.microsoft.com/office/drawing/2014/main" id="{B109E9B6-CFFF-46D5-93CA-FC836FB55989}"/>
              </a:ext>
            </a:extLst>
          </p:cNvPr>
          <p:cNvSpPr/>
          <p:nvPr/>
        </p:nvSpPr>
        <p:spPr>
          <a:xfrm>
            <a:off x="3678270" y="4847630"/>
            <a:ext cx="4962709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7" name="Text 77">
            <a:extLst>
              <a:ext uri="{FF2B5EF4-FFF2-40B4-BE49-F238E27FC236}">
                <a16:creationId xmlns:a16="http://schemas.microsoft.com/office/drawing/2014/main" id="{B10B5A79-D70C-4E5A-A293-83440FCD29FC}"/>
              </a:ext>
            </a:extLst>
          </p:cNvPr>
          <p:cNvSpPr/>
          <p:nvPr/>
        </p:nvSpPr>
        <p:spPr>
          <a:xfrm>
            <a:off x="3678270" y="4847630"/>
            <a:ext cx="4962709" cy="4977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버튼 클릭으로 히스토리 전체 삭제 및 카운터 초기화</a:t>
            </a:r>
            <a:endParaRPr lang="en-US" sz="1200" dirty="0"/>
          </a:p>
        </p:txBody>
      </p:sp>
      <p:sp>
        <p:nvSpPr>
          <p:cNvPr id="128" name="Shape 78">
            <a:extLst>
              <a:ext uri="{FF2B5EF4-FFF2-40B4-BE49-F238E27FC236}">
                <a16:creationId xmlns:a16="http://schemas.microsoft.com/office/drawing/2014/main" id="{5FF0417F-33F4-4326-9648-C4EF82BA00F3}"/>
              </a:ext>
            </a:extLst>
          </p:cNvPr>
          <p:cNvSpPr/>
          <p:nvPr/>
        </p:nvSpPr>
        <p:spPr>
          <a:xfrm>
            <a:off x="8640979" y="4847630"/>
            <a:ext cx="1908734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9" name="Text 79">
            <a:extLst>
              <a:ext uri="{FF2B5EF4-FFF2-40B4-BE49-F238E27FC236}">
                <a16:creationId xmlns:a16="http://schemas.microsoft.com/office/drawing/2014/main" id="{232FB238-38AA-492B-AE02-A1758EC34983}"/>
              </a:ext>
            </a:extLst>
          </p:cNvPr>
          <p:cNvSpPr/>
          <p:nvPr/>
        </p:nvSpPr>
        <p:spPr>
          <a:xfrm>
            <a:off x="8640979" y="4847630"/>
            <a:ext cx="1908734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D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</a:t>
            </a:r>
            <a:endParaRPr lang="en-US" sz="1200" dirty="0"/>
          </a:p>
        </p:txBody>
      </p:sp>
      <p:sp>
        <p:nvSpPr>
          <p:cNvPr id="130" name="Shape 80">
            <a:extLst>
              <a:ext uri="{FF2B5EF4-FFF2-40B4-BE49-F238E27FC236}">
                <a16:creationId xmlns:a16="http://schemas.microsoft.com/office/drawing/2014/main" id="{8BC154A7-81A4-446C-B299-4324971EDD02}"/>
              </a:ext>
            </a:extLst>
          </p:cNvPr>
          <p:cNvSpPr/>
          <p:nvPr/>
        </p:nvSpPr>
        <p:spPr>
          <a:xfrm>
            <a:off x="10549713" y="4847630"/>
            <a:ext cx="1399739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1" name="Text 81">
            <a:extLst>
              <a:ext uri="{FF2B5EF4-FFF2-40B4-BE49-F238E27FC236}">
                <a16:creationId xmlns:a16="http://schemas.microsoft.com/office/drawing/2014/main" id="{644A3833-78AE-47CF-A991-847C58E5E29F}"/>
              </a:ext>
            </a:extLst>
          </p:cNvPr>
          <p:cNvSpPr/>
          <p:nvPr/>
        </p:nvSpPr>
        <p:spPr>
          <a:xfrm>
            <a:off x="10549713" y="4847630"/>
            <a:ext cx="1399739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</a:t>
            </a:r>
            <a:endParaRPr lang="en-US" sz="1200" dirty="0"/>
          </a:p>
        </p:txBody>
      </p:sp>
      <p:sp>
        <p:nvSpPr>
          <p:cNvPr id="132" name="Shape 82">
            <a:extLst>
              <a:ext uri="{FF2B5EF4-FFF2-40B4-BE49-F238E27FC236}">
                <a16:creationId xmlns:a16="http://schemas.microsoft.com/office/drawing/2014/main" id="{232419F4-0C86-4035-9921-4EE29900A7DA}"/>
              </a:ext>
            </a:extLst>
          </p:cNvPr>
          <p:cNvSpPr/>
          <p:nvPr/>
        </p:nvSpPr>
        <p:spPr>
          <a:xfrm>
            <a:off x="242548" y="5358789"/>
            <a:ext cx="890743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3" name="Text 83">
            <a:extLst>
              <a:ext uri="{FF2B5EF4-FFF2-40B4-BE49-F238E27FC236}">
                <a16:creationId xmlns:a16="http://schemas.microsoft.com/office/drawing/2014/main" id="{ABDEAC33-F837-4703-8488-0377468FCA74}"/>
              </a:ext>
            </a:extLst>
          </p:cNvPr>
          <p:cNvSpPr/>
          <p:nvPr/>
        </p:nvSpPr>
        <p:spPr>
          <a:xfrm>
            <a:off x="242548" y="5358789"/>
            <a:ext cx="890743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N-01</a:t>
            </a:r>
            <a:endParaRPr lang="en-US" sz="1200" dirty="0"/>
          </a:p>
        </p:txBody>
      </p:sp>
      <p:sp>
        <p:nvSpPr>
          <p:cNvPr id="134" name="Shape 84">
            <a:extLst>
              <a:ext uri="{FF2B5EF4-FFF2-40B4-BE49-F238E27FC236}">
                <a16:creationId xmlns:a16="http://schemas.microsoft.com/office/drawing/2014/main" id="{4F651C2F-80AC-4DAF-A996-7D034F54754B}"/>
              </a:ext>
            </a:extLst>
          </p:cNvPr>
          <p:cNvSpPr/>
          <p:nvPr/>
        </p:nvSpPr>
        <p:spPr>
          <a:xfrm>
            <a:off x="1133291" y="5358789"/>
            <a:ext cx="2544979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5" name="Text 85">
            <a:extLst>
              <a:ext uri="{FF2B5EF4-FFF2-40B4-BE49-F238E27FC236}">
                <a16:creationId xmlns:a16="http://schemas.microsoft.com/office/drawing/2014/main" id="{51DD1B8B-53C0-456E-B736-04B16C5BDAE6}"/>
              </a:ext>
            </a:extLst>
          </p:cNvPr>
          <p:cNvSpPr/>
          <p:nvPr/>
        </p:nvSpPr>
        <p:spPr>
          <a:xfrm>
            <a:off x="1133291" y="5358789"/>
            <a:ext cx="2544979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응답 속도</a:t>
            </a:r>
            <a:endParaRPr lang="en-US" sz="1400" dirty="0"/>
          </a:p>
        </p:txBody>
      </p:sp>
      <p:sp>
        <p:nvSpPr>
          <p:cNvPr id="136" name="Shape 86">
            <a:extLst>
              <a:ext uri="{FF2B5EF4-FFF2-40B4-BE49-F238E27FC236}">
                <a16:creationId xmlns:a16="http://schemas.microsoft.com/office/drawing/2014/main" id="{E6108988-05DA-420C-A373-F4B80E3F9D1A}"/>
              </a:ext>
            </a:extLst>
          </p:cNvPr>
          <p:cNvSpPr/>
          <p:nvPr/>
        </p:nvSpPr>
        <p:spPr>
          <a:xfrm>
            <a:off x="3678270" y="5358789"/>
            <a:ext cx="4962709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7" name="Text 87">
            <a:extLst>
              <a:ext uri="{FF2B5EF4-FFF2-40B4-BE49-F238E27FC236}">
                <a16:creationId xmlns:a16="http://schemas.microsoft.com/office/drawing/2014/main" id="{58E88F53-DF2B-4D95-B432-7527DF916A08}"/>
              </a:ext>
            </a:extLst>
          </p:cNvPr>
          <p:cNvSpPr/>
          <p:nvPr/>
        </p:nvSpPr>
        <p:spPr>
          <a:xfrm>
            <a:off x="3678270" y="5358789"/>
            <a:ext cx="4962709" cy="4977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 결과가 입력 후 0.5초 이내 화면에 표시</a:t>
            </a:r>
            <a:endParaRPr lang="en-US" sz="1200" dirty="0"/>
          </a:p>
        </p:txBody>
      </p:sp>
      <p:sp>
        <p:nvSpPr>
          <p:cNvPr id="138" name="Shape 88">
            <a:extLst>
              <a:ext uri="{FF2B5EF4-FFF2-40B4-BE49-F238E27FC236}">
                <a16:creationId xmlns:a16="http://schemas.microsoft.com/office/drawing/2014/main" id="{45A1566B-4168-437B-8C16-CC9C06BA1968}"/>
              </a:ext>
            </a:extLst>
          </p:cNvPr>
          <p:cNvSpPr/>
          <p:nvPr/>
        </p:nvSpPr>
        <p:spPr>
          <a:xfrm>
            <a:off x="8640979" y="5358789"/>
            <a:ext cx="1908734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9" name="Text 89">
            <a:extLst>
              <a:ext uri="{FF2B5EF4-FFF2-40B4-BE49-F238E27FC236}">
                <a16:creationId xmlns:a16="http://schemas.microsoft.com/office/drawing/2014/main" id="{EBAAA2EF-9B4C-484D-955D-BA87DDBBF408}"/>
              </a:ext>
            </a:extLst>
          </p:cNvPr>
          <p:cNvSpPr/>
          <p:nvPr/>
        </p:nvSpPr>
        <p:spPr>
          <a:xfrm>
            <a:off x="8640979" y="5358789"/>
            <a:ext cx="1908734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200" dirty="0"/>
          </a:p>
        </p:txBody>
      </p:sp>
      <p:sp>
        <p:nvSpPr>
          <p:cNvPr id="140" name="Shape 90">
            <a:extLst>
              <a:ext uri="{FF2B5EF4-FFF2-40B4-BE49-F238E27FC236}">
                <a16:creationId xmlns:a16="http://schemas.microsoft.com/office/drawing/2014/main" id="{21377C71-66E8-490F-B099-AEACECC166D5}"/>
              </a:ext>
            </a:extLst>
          </p:cNvPr>
          <p:cNvSpPr/>
          <p:nvPr/>
        </p:nvSpPr>
        <p:spPr>
          <a:xfrm>
            <a:off x="10549713" y="5358789"/>
            <a:ext cx="1399739" cy="497708"/>
          </a:xfrm>
          <a:prstGeom prst="rect">
            <a:avLst/>
          </a:prstGeom>
          <a:solidFill>
            <a:srgbClr val="152236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1" name="Text 91">
            <a:extLst>
              <a:ext uri="{FF2B5EF4-FFF2-40B4-BE49-F238E27FC236}">
                <a16:creationId xmlns:a16="http://schemas.microsoft.com/office/drawing/2014/main" id="{D9787318-D889-4BBC-85CF-669494CCF9E7}"/>
              </a:ext>
            </a:extLst>
          </p:cNvPr>
          <p:cNvSpPr/>
          <p:nvPr/>
        </p:nvSpPr>
        <p:spPr>
          <a:xfrm>
            <a:off x="10549713" y="5358789"/>
            <a:ext cx="1399739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D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비기능</a:t>
            </a:r>
            <a:endParaRPr lang="en-US" sz="1200" dirty="0"/>
          </a:p>
        </p:txBody>
      </p:sp>
      <p:sp>
        <p:nvSpPr>
          <p:cNvPr id="142" name="Shape 92">
            <a:extLst>
              <a:ext uri="{FF2B5EF4-FFF2-40B4-BE49-F238E27FC236}">
                <a16:creationId xmlns:a16="http://schemas.microsoft.com/office/drawing/2014/main" id="{7E66B7D4-A070-4C71-9637-2004D858DC33}"/>
              </a:ext>
            </a:extLst>
          </p:cNvPr>
          <p:cNvSpPr/>
          <p:nvPr/>
        </p:nvSpPr>
        <p:spPr>
          <a:xfrm>
            <a:off x="242548" y="5869948"/>
            <a:ext cx="890743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3" name="Text 93">
            <a:extLst>
              <a:ext uri="{FF2B5EF4-FFF2-40B4-BE49-F238E27FC236}">
                <a16:creationId xmlns:a16="http://schemas.microsoft.com/office/drawing/2014/main" id="{2C8047B2-E15F-4EA7-969C-EABAD063E755}"/>
              </a:ext>
            </a:extLst>
          </p:cNvPr>
          <p:cNvSpPr/>
          <p:nvPr/>
        </p:nvSpPr>
        <p:spPr>
          <a:xfrm>
            <a:off x="242548" y="5869948"/>
            <a:ext cx="890743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N-02</a:t>
            </a:r>
            <a:endParaRPr lang="en-US" sz="1200" dirty="0"/>
          </a:p>
        </p:txBody>
      </p:sp>
      <p:sp>
        <p:nvSpPr>
          <p:cNvPr id="144" name="Shape 94">
            <a:extLst>
              <a:ext uri="{FF2B5EF4-FFF2-40B4-BE49-F238E27FC236}">
                <a16:creationId xmlns:a16="http://schemas.microsoft.com/office/drawing/2014/main" id="{BC17F2BF-C7D4-40F2-AA16-70745801F967}"/>
              </a:ext>
            </a:extLst>
          </p:cNvPr>
          <p:cNvSpPr/>
          <p:nvPr/>
        </p:nvSpPr>
        <p:spPr>
          <a:xfrm>
            <a:off x="1133291" y="5869948"/>
            <a:ext cx="2544979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5" name="Text 95">
            <a:extLst>
              <a:ext uri="{FF2B5EF4-FFF2-40B4-BE49-F238E27FC236}">
                <a16:creationId xmlns:a16="http://schemas.microsoft.com/office/drawing/2014/main" id="{CC6CF679-ABD5-4437-99DB-5C1C6A957D08}"/>
              </a:ext>
            </a:extLst>
          </p:cNvPr>
          <p:cNvSpPr/>
          <p:nvPr/>
        </p:nvSpPr>
        <p:spPr>
          <a:xfrm>
            <a:off x="1133291" y="5869948"/>
            <a:ext cx="2544979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안정성</a:t>
            </a:r>
            <a:endParaRPr lang="en-US" sz="1400" dirty="0"/>
          </a:p>
        </p:txBody>
      </p:sp>
      <p:sp>
        <p:nvSpPr>
          <p:cNvPr id="146" name="Shape 96">
            <a:extLst>
              <a:ext uri="{FF2B5EF4-FFF2-40B4-BE49-F238E27FC236}">
                <a16:creationId xmlns:a16="http://schemas.microsoft.com/office/drawing/2014/main" id="{CB21BD2A-9A52-435B-822B-7A149EE0E12E}"/>
              </a:ext>
            </a:extLst>
          </p:cNvPr>
          <p:cNvSpPr/>
          <p:nvPr/>
        </p:nvSpPr>
        <p:spPr>
          <a:xfrm>
            <a:off x="3678270" y="5869948"/>
            <a:ext cx="4962709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7" name="Text 97">
            <a:extLst>
              <a:ext uri="{FF2B5EF4-FFF2-40B4-BE49-F238E27FC236}">
                <a16:creationId xmlns:a16="http://schemas.microsoft.com/office/drawing/2014/main" id="{110EBF54-67D5-43EE-B06F-7AFC9F7F461E}"/>
              </a:ext>
            </a:extLst>
          </p:cNvPr>
          <p:cNvSpPr/>
          <p:nvPr/>
        </p:nvSpPr>
        <p:spPr>
          <a:xfrm>
            <a:off x="3678270" y="5869948"/>
            <a:ext cx="4962709" cy="4977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1시간 이상 연속 실행 시 크래시 없이 동작</a:t>
            </a:r>
            <a:endParaRPr lang="en-US" sz="1200" dirty="0"/>
          </a:p>
        </p:txBody>
      </p:sp>
      <p:sp>
        <p:nvSpPr>
          <p:cNvPr id="148" name="Shape 98">
            <a:extLst>
              <a:ext uri="{FF2B5EF4-FFF2-40B4-BE49-F238E27FC236}">
                <a16:creationId xmlns:a16="http://schemas.microsoft.com/office/drawing/2014/main" id="{C9C4D576-C030-4BE3-9ABE-7DB77F66C8C4}"/>
              </a:ext>
            </a:extLst>
          </p:cNvPr>
          <p:cNvSpPr/>
          <p:nvPr/>
        </p:nvSpPr>
        <p:spPr>
          <a:xfrm>
            <a:off x="8640979" y="5869948"/>
            <a:ext cx="1908734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9" name="Text 99">
            <a:extLst>
              <a:ext uri="{FF2B5EF4-FFF2-40B4-BE49-F238E27FC236}">
                <a16:creationId xmlns:a16="http://schemas.microsoft.com/office/drawing/2014/main" id="{FDBFE82F-F2C5-46FF-85F8-541B194A5901}"/>
              </a:ext>
            </a:extLst>
          </p:cNvPr>
          <p:cNvSpPr/>
          <p:nvPr/>
        </p:nvSpPr>
        <p:spPr>
          <a:xfrm>
            <a:off x="8640979" y="5869948"/>
            <a:ext cx="1908734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D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</a:t>
            </a:r>
            <a:endParaRPr lang="en-US" sz="1200" dirty="0"/>
          </a:p>
        </p:txBody>
      </p:sp>
      <p:sp>
        <p:nvSpPr>
          <p:cNvPr id="150" name="Shape 100">
            <a:extLst>
              <a:ext uri="{FF2B5EF4-FFF2-40B4-BE49-F238E27FC236}">
                <a16:creationId xmlns:a16="http://schemas.microsoft.com/office/drawing/2014/main" id="{BFB92F06-DBE3-4BF0-A8DF-03B1686DB857}"/>
              </a:ext>
            </a:extLst>
          </p:cNvPr>
          <p:cNvSpPr/>
          <p:nvPr/>
        </p:nvSpPr>
        <p:spPr>
          <a:xfrm>
            <a:off x="10549713" y="5869948"/>
            <a:ext cx="1399739" cy="497708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1" name="Text 101">
            <a:extLst>
              <a:ext uri="{FF2B5EF4-FFF2-40B4-BE49-F238E27FC236}">
                <a16:creationId xmlns:a16="http://schemas.microsoft.com/office/drawing/2014/main" id="{D394347F-BDE4-492F-8634-BB243DFFEE1D}"/>
              </a:ext>
            </a:extLst>
          </p:cNvPr>
          <p:cNvSpPr/>
          <p:nvPr/>
        </p:nvSpPr>
        <p:spPr>
          <a:xfrm>
            <a:off x="10549713" y="5869948"/>
            <a:ext cx="1399739" cy="497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D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비기능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834405348"/>
      </p:ext>
    </p:extLst>
  </p:cSld>
  <p:clrMapOvr>
    <a:masterClrMapping/>
  </p:clrMapOvr>
  <p:transition spd="slow"/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44287C8-E816-4D84-AF0B-F80D558B1E14}"/>
              </a:ext>
            </a:extLst>
          </p:cNvPr>
          <p:cNvSpPr/>
          <p:nvPr/>
        </p:nvSpPr>
        <p:spPr>
          <a:xfrm>
            <a:off x="492033" y="274320"/>
            <a:ext cx="11364607" cy="7587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GUI 화면 정의서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83CAF15-EE99-4B09-8A88-3ACF6CF0A25F}"/>
              </a:ext>
            </a:extLst>
          </p:cNvPr>
          <p:cNvSpPr/>
          <p:nvPr/>
        </p:nvSpPr>
        <p:spPr>
          <a:xfrm>
            <a:off x="492033" y="1058376"/>
            <a:ext cx="11364607" cy="3793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93DD7CF-7BB4-46E5-AA52-D20A224BB4E4}"/>
              </a:ext>
            </a:extLst>
          </p:cNvPr>
          <p:cNvSpPr/>
          <p:nvPr/>
        </p:nvSpPr>
        <p:spPr>
          <a:xfrm>
            <a:off x="365760" y="1286005"/>
            <a:ext cx="5556030" cy="5311347"/>
          </a:xfrm>
          <a:prstGeom prst="rect">
            <a:avLst/>
          </a:prstGeom>
          <a:solidFill>
            <a:srgbClr val="0D1B2A"/>
          </a:solidFill>
          <a:ln w="19050">
            <a:solidFill>
              <a:srgbClr val="00C2FF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87BD41B-4BE1-45F6-AE35-EE787BDC94D4}"/>
              </a:ext>
            </a:extLst>
          </p:cNvPr>
          <p:cNvSpPr/>
          <p:nvPr/>
        </p:nvSpPr>
        <p:spPr>
          <a:xfrm>
            <a:off x="365760" y="1556792"/>
            <a:ext cx="5556030" cy="5690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🏭 불량 판정 시스템</a:t>
            </a:r>
            <a:endParaRPr lang="en-US" sz="20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A70EE75C-7068-4DE7-9A7C-79C3826A994F}"/>
              </a:ext>
            </a:extLst>
          </p:cNvPr>
          <p:cNvSpPr/>
          <p:nvPr/>
        </p:nvSpPr>
        <p:spPr>
          <a:xfrm>
            <a:off x="555170" y="2487381"/>
            <a:ext cx="2399195" cy="948455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31F6DA6-7F71-4D6E-9085-DF9E49CFA177}"/>
              </a:ext>
            </a:extLst>
          </p:cNvPr>
          <p:cNvSpPr/>
          <p:nvPr/>
        </p:nvSpPr>
        <p:spPr>
          <a:xfrm>
            <a:off x="555170" y="2525319"/>
            <a:ext cx="2399195" cy="3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>
                    <a:lumMod val="95000"/>
                  </a:schemeClr>
                </a:solidFill>
              </a:rPr>
              <a:t>온도 (°C)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F515B5A-93BC-4880-B474-C8826D84600F}"/>
              </a:ext>
            </a:extLst>
          </p:cNvPr>
          <p:cNvSpPr/>
          <p:nvPr/>
        </p:nvSpPr>
        <p:spPr>
          <a:xfrm>
            <a:off x="555170" y="2803533"/>
            <a:ext cx="2399195" cy="5690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C2FF"/>
                </a:solidFill>
              </a:rPr>
              <a:t>32.3</a:t>
            </a:r>
            <a:endParaRPr lang="en-US" sz="20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0C7ABA1-51AB-4693-93A8-ABEA786E7899}"/>
              </a:ext>
            </a:extLst>
          </p:cNvPr>
          <p:cNvSpPr/>
          <p:nvPr/>
        </p:nvSpPr>
        <p:spPr>
          <a:xfrm>
            <a:off x="3270048" y="2487381"/>
            <a:ext cx="2399195" cy="948455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44958BD7-347F-4DC9-95F0-257D76D9FCCE}"/>
              </a:ext>
            </a:extLst>
          </p:cNvPr>
          <p:cNvSpPr/>
          <p:nvPr/>
        </p:nvSpPr>
        <p:spPr>
          <a:xfrm>
            <a:off x="3270048" y="2525319"/>
            <a:ext cx="2399195" cy="3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>
                    <a:lumMod val="95000"/>
                  </a:schemeClr>
                </a:solidFill>
              </a:rPr>
              <a:t>습도 (%)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B542579-45C3-4563-9E38-565B532D1AD1}"/>
              </a:ext>
            </a:extLst>
          </p:cNvPr>
          <p:cNvSpPr/>
          <p:nvPr/>
        </p:nvSpPr>
        <p:spPr>
          <a:xfrm>
            <a:off x="3270048" y="2803533"/>
            <a:ext cx="2399195" cy="5690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C2FF"/>
                </a:solidFill>
              </a:rPr>
              <a:t>67.7</a:t>
            </a:r>
            <a:endParaRPr lang="en-US" sz="20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457C18F-32EB-4DC5-81A0-92C7D056A9F4}"/>
              </a:ext>
            </a:extLst>
          </p:cNvPr>
          <p:cNvSpPr/>
          <p:nvPr/>
        </p:nvSpPr>
        <p:spPr>
          <a:xfrm>
            <a:off x="555170" y="3562297"/>
            <a:ext cx="5114073" cy="1264606"/>
          </a:xfrm>
          <a:prstGeom prst="rect">
            <a:avLst/>
          </a:prstGeom>
          <a:solidFill>
            <a:srgbClr val="0A2A1A"/>
          </a:solidFill>
          <a:ln w="25400">
            <a:solidFill>
              <a:srgbClr val="00E676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292D93E-04E2-4B12-802A-A8CD15F2B37F}"/>
              </a:ext>
            </a:extLst>
          </p:cNvPr>
          <p:cNvSpPr/>
          <p:nvPr/>
        </p:nvSpPr>
        <p:spPr>
          <a:xfrm>
            <a:off x="555170" y="3600235"/>
            <a:ext cx="5114073" cy="3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0AEC0"/>
                </a:solidFill>
              </a:rPr>
              <a:t>판정 결과</a:t>
            </a:r>
            <a:endParaRPr lang="en-US" sz="1400" b="1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1373A5F-B5D5-41BA-9078-4CF626902BD1}"/>
              </a:ext>
            </a:extLst>
          </p:cNvPr>
          <p:cNvSpPr/>
          <p:nvPr/>
        </p:nvSpPr>
        <p:spPr>
          <a:xfrm>
            <a:off x="555170" y="3878448"/>
            <a:ext cx="5114073" cy="8219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E676"/>
                </a:solidFill>
              </a:rPr>
              <a:t>정  상  ✅</a:t>
            </a:r>
            <a:endParaRPr lang="en-US" sz="2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2FF67618-9B5C-47E4-84A5-04A17C0F8A24}"/>
              </a:ext>
            </a:extLst>
          </p:cNvPr>
          <p:cNvSpPr/>
          <p:nvPr/>
        </p:nvSpPr>
        <p:spPr>
          <a:xfrm>
            <a:off x="555170" y="4953364"/>
            <a:ext cx="5114073" cy="278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>
                    <a:lumMod val="95000"/>
                  </a:schemeClr>
                </a:solidFill>
              </a:rPr>
              <a:t>최근 판정 기록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6D4AA560-6B58-460F-8F57-1CFE723A3AC4}"/>
              </a:ext>
            </a:extLst>
          </p:cNvPr>
          <p:cNvSpPr/>
          <p:nvPr/>
        </p:nvSpPr>
        <p:spPr>
          <a:xfrm>
            <a:off x="555170" y="5231577"/>
            <a:ext cx="5114073" cy="695534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5A39E65-6549-470D-B011-638C42918D68}"/>
              </a:ext>
            </a:extLst>
          </p:cNvPr>
          <p:cNvSpPr/>
          <p:nvPr/>
        </p:nvSpPr>
        <p:spPr>
          <a:xfrm>
            <a:off x="681444" y="5282161"/>
            <a:ext cx="4924663" cy="278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52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#013  온도 24.6°C  습도 45.4%  →  불량</a:t>
            </a:r>
            <a:endParaRPr lang="en-US" sz="1000" b="1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AE5121B-98B6-40A2-AB1D-2BAE4C6C1207}"/>
              </a:ext>
            </a:extLst>
          </p:cNvPr>
          <p:cNvSpPr/>
          <p:nvPr/>
        </p:nvSpPr>
        <p:spPr>
          <a:xfrm>
            <a:off x="681444" y="5573021"/>
            <a:ext cx="4924663" cy="278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#014  온도 32.3°C  습도 67.7%  →  정상</a:t>
            </a:r>
            <a:endParaRPr lang="en-US" sz="1000" b="1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8E6F2475-E4EF-4BF7-842D-A2C8C2413F03}"/>
              </a:ext>
            </a:extLst>
          </p:cNvPr>
          <p:cNvSpPr/>
          <p:nvPr/>
        </p:nvSpPr>
        <p:spPr>
          <a:xfrm>
            <a:off x="555170" y="6028279"/>
            <a:ext cx="2399195" cy="379382"/>
          </a:xfrm>
          <a:prstGeom prst="rect">
            <a:avLst/>
          </a:prstGeom>
          <a:solidFill>
            <a:srgbClr val="0F346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01C005A-12FA-43AB-9E2A-C25446916A59}"/>
              </a:ext>
            </a:extLst>
          </p:cNvPr>
          <p:cNvSpPr/>
          <p:nvPr/>
        </p:nvSpPr>
        <p:spPr>
          <a:xfrm>
            <a:off x="555170" y="6028279"/>
            <a:ext cx="2399195" cy="379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bg1">
                    <a:lumMod val="95000"/>
                  </a:schemeClr>
                </a:solidFill>
              </a:rPr>
              <a:t>⏸ 일시정지</a:t>
            </a: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8FC98015-1D7E-40E9-894B-DE8885E893CD}"/>
              </a:ext>
            </a:extLst>
          </p:cNvPr>
          <p:cNvSpPr/>
          <p:nvPr/>
        </p:nvSpPr>
        <p:spPr>
          <a:xfrm>
            <a:off x="3270048" y="6028279"/>
            <a:ext cx="2399195" cy="379382"/>
          </a:xfrm>
          <a:prstGeom prst="rect">
            <a:avLst/>
          </a:prstGeom>
          <a:solidFill>
            <a:srgbClr val="2D2D2D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A1117D92-4152-4516-AB8F-E476D3D33BAF}"/>
              </a:ext>
            </a:extLst>
          </p:cNvPr>
          <p:cNvSpPr/>
          <p:nvPr/>
        </p:nvSpPr>
        <p:spPr>
          <a:xfrm>
            <a:off x="3270048" y="6028279"/>
            <a:ext cx="2399195" cy="379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bg1">
                    <a:lumMod val="95000"/>
                  </a:schemeClr>
                </a:solidFill>
              </a:rPr>
              <a:t>🗑 기록 초기화</a:t>
            </a: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B6037A7F-440D-4A60-89BE-4D538D0D05F9}"/>
              </a:ext>
            </a:extLst>
          </p:cNvPr>
          <p:cNvSpPr/>
          <p:nvPr/>
        </p:nvSpPr>
        <p:spPr>
          <a:xfrm>
            <a:off x="6300610" y="1556792"/>
            <a:ext cx="404075" cy="404674"/>
          </a:xfrm>
          <a:prstGeom prst="rect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244DC90-E236-4112-B573-AF182092A477}"/>
              </a:ext>
            </a:extLst>
          </p:cNvPr>
          <p:cNvSpPr/>
          <p:nvPr/>
        </p:nvSpPr>
        <p:spPr>
          <a:xfrm>
            <a:off x="6300610" y="1556792"/>
            <a:ext cx="404075" cy="404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A</a:t>
            </a:r>
            <a:endParaRPr lang="en-US" sz="10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00A7039E-D1B5-4317-A1F3-1197FF98EDDB}"/>
              </a:ext>
            </a:extLst>
          </p:cNvPr>
          <p:cNvSpPr/>
          <p:nvPr/>
        </p:nvSpPr>
        <p:spPr>
          <a:xfrm>
            <a:off x="6868840" y="1556792"/>
            <a:ext cx="2778015" cy="25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타이틀 영역</a:t>
            </a:r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CDD3BB72-D47F-42CF-BEB8-EF4922475429}"/>
              </a:ext>
            </a:extLst>
          </p:cNvPr>
          <p:cNvSpPr/>
          <p:nvPr/>
        </p:nvSpPr>
        <p:spPr>
          <a:xfrm>
            <a:off x="6868840" y="1809713"/>
            <a:ext cx="4924663" cy="278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이름 표시 / QLabel</a:t>
            </a:r>
            <a:endParaRPr lang="en-US" sz="105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6415E9F6-F49C-4A10-9DFF-FB30E8661B5C}"/>
              </a:ext>
            </a:extLst>
          </p:cNvPr>
          <p:cNvSpPr/>
          <p:nvPr/>
        </p:nvSpPr>
        <p:spPr>
          <a:xfrm>
            <a:off x="6300610" y="2378786"/>
            <a:ext cx="404075" cy="404674"/>
          </a:xfrm>
          <a:prstGeom prst="rect">
            <a:avLst/>
          </a:prstGeom>
          <a:solidFill>
            <a:srgbClr val="FFD600"/>
          </a:solidFill>
          <a:ln w="12700">
            <a:solidFill>
              <a:srgbClr val="FFD600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1E6799D3-318A-4650-958E-BA46970C197C}"/>
              </a:ext>
            </a:extLst>
          </p:cNvPr>
          <p:cNvSpPr/>
          <p:nvPr/>
        </p:nvSpPr>
        <p:spPr>
          <a:xfrm>
            <a:off x="6300610" y="2378786"/>
            <a:ext cx="404075" cy="404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B</a:t>
            </a:r>
            <a:endParaRPr lang="en-US" sz="10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6FEE525E-5DA1-43A5-82B7-F007C1CE51A3}"/>
              </a:ext>
            </a:extLst>
          </p:cNvPr>
          <p:cNvSpPr/>
          <p:nvPr/>
        </p:nvSpPr>
        <p:spPr>
          <a:xfrm>
            <a:off x="6868840" y="2378786"/>
            <a:ext cx="2778015" cy="25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온도·습도 카드</a:t>
            </a:r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336D57C2-52CA-49F7-B978-9AB3008BE231}"/>
              </a:ext>
            </a:extLst>
          </p:cNvPr>
          <p:cNvSpPr/>
          <p:nvPr/>
        </p:nvSpPr>
        <p:spPr>
          <a:xfrm>
            <a:off x="6868840" y="2631708"/>
            <a:ext cx="4924663" cy="278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3초마다 랜덤값 갱신 / QFrame + QLabel</a:t>
            </a:r>
            <a:endParaRPr lang="en-US" sz="105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0CA1CE5-8A8C-461F-A35F-53D1A0D14C8F}"/>
              </a:ext>
            </a:extLst>
          </p:cNvPr>
          <p:cNvSpPr/>
          <p:nvPr/>
        </p:nvSpPr>
        <p:spPr>
          <a:xfrm>
            <a:off x="6300610" y="3200780"/>
            <a:ext cx="404075" cy="404674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64779F9D-CB95-4ED1-9538-0A43B59C06D7}"/>
              </a:ext>
            </a:extLst>
          </p:cNvPr>
          <p:cNvSpPr/>
          <p:nvPr/>
        </p:nvSpPr>
        <p:spPr>
          <a:xfrm>
            <a:off x="6300610" y="3200780"/>
            <a:ext cx="404075" cy="404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C</a:t>
            </a:r>
            <a:endParaRPr lang="en-US" sz="10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867596FD-53AB-4C50-907D-B6093F37CB2F}"/>
              </a:ext>
            </a:extLst>
          </p:cNvPr>
          <p:cNvSpPr/>
          <p:nvPr/>
        </p:nvSpPr>
        <p:spPr>
          <a:xfrm>
            <a:off x="6868840" y="3200780"/>
            <a:ext cx="2778015" cy="25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 결과 박스</a:t>
            </a:r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D519406D-C624-41AE-88F8-F1AFE06E027A}"/>
              </a:ext>
            </a:extLst>
          </p:cNvPr>
          <p:cNvSpPr/>
          <p:nvPr/>
        </p:nvSpPr>
        <p:spPr>
          <a:xfrm>
            <a:off x="6868840" y="3453702"/>
            <a:ext cx="4924663" cy="278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정상=녹색 / 불량=빨강 / QFrame</a:t>
            </a:r>
            <a:endParaRPr lang="en-US" sz="105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0190EAF5-72D2-47B1-A409-581D0267F9C3}"/>
              </a:ext>
            </a:extLst>
          </p:cNvPr>
          <p:cNvSpPr/>
          <p:nvPr/>
        </p:nvSpPr>
        <p:spPr>
          <a:xfrm>
            <a:off x="6300610" y="4022775"/>
            <a:ext cx="404075" cy="404674"/>
          </a:xfrm>
          <a:prstGeom prst="rect">
            <a:avLst/>
          </a:prstGeom>
          <a:solidFill>
            <a:srgbClr val="AA88FF"/>
          </a:solidFill>
          <a:ln w="12700">
            <a:solidFill>
              <a:srgbClr val="AA88FF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4AC1766B-7647-4104-A556-6410B0BED37B}"/>
              </a:ext>
            </a:extLst>
          </p:cNvPr>
          <p:cNvSpPr/>
          <p:nvPr/>
        </p:nvSpPr>
        <p:spPr>
          <a:xfrm>
            <a:off x="6300610" y="4022775"/>
            <a:ext cx="404075" cy="404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D</a:t>
            </a:r>
            <a:endParaRPr lang="en-US" sz="10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AA073ABE-F813-4003-B7DE-6D4396E7732E}"/>
              </a:ext>
            </a:extLst>
          </p:cNvPr>
          <p:cNvSpPr/>
          <p:nvPr/>
        </p:nvSpPr>
        <p:spPr>
          <a:xfrm>
            <a:off x="6868840" y="4022775"/>
            <a:ext cx="2778015" cy="25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히스토리 목록</a:t>
            </a:r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9B51EF45-9104-43A1-B4AA-F287A50A1487}"/>
              </a:ext>
            </a:extLst>
          </p:cNvPr>
          <p:cNvSpPr/>
          <p:nvPr/>
        </p:nvSpPr>
        <p:spPr>
          <a:xfrm>
            <a:off x="6868840" y="4275696"/>
            <a:ext cx="4924663" cy="278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5건 표시 / QLabel 동적 추가</a:t>
            </a:r>
            <a:endParaRPr lang="en-US" sz="105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3BD36C63-4355-4B2F-9A08-9B5ACEDD5598}"/>
              </a:ext>
            </a:extLst>
          </p:cNvPr>
          <p:cNvSpPr/>
          <p:nvPr/>
        </p:nvSpPr>
        <p:spPr>
          <a:xfrm>
            <a:off x="6300610" y="4844769"/>
            <a:ext cx="404075" cy="404674"/>
          </a:xfrm>
          <a:prstGeom prst="rect">
            <a:avLst/>
          </a:prstGeom>
          <a:solidFill>
            <a:srgbClr val="FF5252"/>
          </a:solidFill>
          <a:ln w="12700">
            <a:solidFill>
              <a:srgbClr val="FF5252"/>
            </a:solidFill>
            <a:prstDash val="solid"/>
          </a:ln>
        </p:spPr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0C4B624E-483E-41FF-983C-47978DF3BDD4}"/>
              </a:ext>
            </a:extLst>
          </p:cNvPr>
          <p:cNvSpPr/>
          <p:nvPr/>
        </p:nvSpPr>
        <p:spPr>
          <a:xfrm>
            <a:off x="6300610" y="4844769"/>
            <a:ext cx="404075" cy="404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E</a:t>
            </a:r>
            <a:endParaRPr lang="en-US" sz="100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556ACA6C-0EFE-431C-984A-98AC77DFDA41}"/>
              </a:ext>
            </a:extLst>
          </p:cNvPr>
          <p:cNvSpPr/>
          <p:nvPr/>
        </p:nvSpPr>
        <p:spPr>
          <a:xfrm>
            <a:off x="6868840" y="4844769"/>
            <a:ext cx="2778015" cy="25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제어 버튼</a:t>
            </a:r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EC2F75B8-A89C-44B6-B2FE-FF580207CAB0}"/>
              </a:ext>
            </a:extLst>
          </p:cNvPr>
          <p:cNvSpPr/>
          <p:nvPr/>
        </p:nvSpPr>
        <p:spPr>
          <a:xfrm>
            <a:off x="6868840" y="5097690"/>
            <a:ext cx="4924663" cy="278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일시정지·초기화 / QPushButton</a:t>
            </a:r>
            <a:endParaRPr lang="en-US" sz="105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DB5D89DF-4EBA-4CE4-8BB2-2ED92B6FBD16}"/>
              </a:ext>
            </a:extLst>
          </p:cNvPr>
          <p:cNvSpPr/>
          <p:nvPr/>
        </p:nvSpPr>
        <p:spPr>
          <a:xfrm>
            <a:off x="6300610" y="5666763"/>
            <a:ext cx="404075" cy="404674"/>
          </a:xfrm>
          <a:prstGeom prst="rect">
            <a:avLst/>
          </a:prstGeom>
          <a:solidFill>
            <a:srgbClr val="A0AEC0"/>
          </a:solidFill>
          <a:ln w="12700">
            <a:solidFill>
              <a:srgbClr val="A0AEC0"/>
            </a:solidFill>
            <a:prstDash val="solid"/>
          </a:ln>
        </p:spPr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2C9B06D6-B2EC-41AD-9512-6C827B5A4585}"/>
              </a:ext>
            </a:extLst>
          </p:cNvPr>
          <p:cNvSpPr/>
          <p:nvPr/>
        </p:nvSpPr>
        <p:spPr>
          <a:xfrm>
            <a:off x="6300610" y="5666763"/>
            <a:ext cx="404075" cy="404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</a:rPr>
              <a:t>F</a:t>
            </a:r>
            <a:endParaRPr lang="en-US" sz="1000" dirty="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5E25FEF3-AE92-4BBA-85BF-6434FF669109}"/>
              </a:ext>
            </a:extLst>
          </p:cNvPr>
          <p:cNvSpPr/>
          <p:nvPr/>
        </p:nvSpPr>
        <p:spPr>
          <a:xfrm>
            <a:off x="6868840" y="5666763"/>
            <a:ext cx="2778015" cy="2529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 메시지</a:t>
            </a:r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D2ABDC36-1E07-4B00-95F1-855FA10647AE}"/>
              </a:ext>
            </a:extLst>
          </p:cNvPr>
          <p:cNvSpPr/>
          <p:nvPr/>
        </p:nvSpPr>
        <p:spPr>
          <a:xfrm>
            <a:off x="6868840" y="5919684"/>
            <a:ext cx="4924663" cy="278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N번째 측정 완료 / QLabel</a:t>
            </a:r>
            <a:endParaRPr lang="en-US" sz="105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3988819"/>
      </p:ext>
    </p:extLst>
  </p:cSld>
  <p:clrMapOvr>
    <a:masterClrMapping/>
  </p:clrMapOvr>
  <p:transition spd="slow"/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B105514-957F-4F8C-BE89-5E48E257D186}"/>
              </a:ext>
            </a:extLst>
          </p:cNvPr>
          <p:cNvSpPr/>
          <p:nvPr/>
        </p:nvSpPr>
        <p:spPr>
          <a:xfrm>
            <a:off x="457200" y="274320"/>
            <a:ext cx="11399440" cy="736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평가 기준 &amp; 핵심 코드 힌트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88E90CA-8122-4CAC-9B93-72EB1D55012C}"/>
              </a:ext>
            </a:extLst>
          </p:cNvPr>
          <p:cNvSpPr/>
          <p:nvPr/>
        </p:nvSpPr>
        <p:spPr>
          <a:xfrm>
            <a:off x="457200" y="1035539"/>
            <a:ext cx="11399440" cy="36833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344B679-92D1-494B-92CA-6A24C2F5DD49}"/>
              </a:ext>
            </a:extLst>
          </p:cNvPr>
          <p:cNvSpPr/>
          <p:nvPr/>
        </p:nvSpPr>
        <p:spPr>
          <a:xfrm>
            <a:off x="457200" y="1195150"/>
            <a:ext cx="5446399" cy="4297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2FF"/>
                </a:solidFill>
              </a:rPr>
              <a:t>📋  </a:t>
            </a:r>
            <a:r>
              <a:rPr lang="en-US" b="1" dirty="0">
                <a:solidFill>
                  <a:srgbClr val="00C2FF"/>
                </a:solidFill>
              </a:rPr>
              <a:t>평가 기준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A3C17E9-8C2A-495D-9FB7-EE6C2631BF45}"/>
              </a:ext>
            </a:extLst>
          </p:cNvPr>
          <p:cNvSpPr/>
          <p:nvPr/>
        </p:nvSpPr>
        <p:spPr>
          <a:xfrm>
            <a:off x="457200" y="1723092"/>
            <a:ext cx="5446399" cy="515665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86B5841-160C-40BD-8F59-FE74425BEAFB}"/>
              </a:ext>
            </a:extLst>
          </p:cNvPr>
          <p:cNvSpPr/>
          <p:nvPr/>
        </p:nvSpPr>
        <p:spPr>
          <a:xfrm>
            <a:off x="457200" y="1723092"/>
            <a:ext cx="75996" cy="515665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9F59260-4632-4549-A40F-B4C975866365}"/>
              </a:ext>
            </a:extLst>
          </p:cNvPr>
          <p:cNvSpPr/>
          <p:nvPr/>
        </p:nvSpPr>
        <p:spPr>
          <a:xfrm>
            <a:off x="735853" y="1723092"/>
            <a:ext cx="3546492" cy="51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로드 및 추론</a:t>
            </a:r>
            <a:endParaRPr lang="en-US" sz="16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3B30FFC-55CD-40A6-88EA-E0557CA14A3E}"/>
              </a:ext>
            </a:extLst>
          </p:cNvPr>
          <p:cNvSpPr/>
          <p:nvPr/>
        </p:nvSpPr>
        <p:spPr>
          <a:xfrm>
            <a:off x="4257013" y="1723092"/>
            <a:ext cx="1393265" cy="51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0E676"/>
                </a:solidFill>
              </a:rPr>
              <a:t>30점</a:t>
            </a:r>
            <a:endParaRPr lang="en-US" sz="13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B2271C8A-4F7F-4601-A1CA-D6A92997757D}"/>
              </a:ext>
            </a:extLst>
          </p:cNvPr>
          <p:cNvSpPr/>
          <p:nvPr/>
        </p:nvSpPr>
        <p:spPr>
          <a:xfrm>
            <a:off x="457200" y="2312424"/>
            <a:ext cx="5446399" cy="515665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29175FF-74FF-40FF-8C9A-5675ECCCC345}"/>
              </a:ext>
            </a:extLst>
          </p:cNvPr>
          <p:cNvSpPr/>
          <p:nvPr/>
        </p:nvSpPr>
        <p:spPr>
          <a:xfrm>
            <a:off x="457200" y="2312424"/>
            <a:ext cx="75996" cy="515665"/>
          </a:xfrm>
          <a:prstGeom prst="rect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A8EF0F2-8C5C-4228-B391-C2F7F61CE8D7}"/>
              </a:ext>
            </a:extLst>
          </p:cNvPr>
          <p:cNvSpPr/>
          <p:nvPr/>
        </p:nvSpPr>
        <p:spPr>
          <a:xfrm>
            <a:off x="735853" y="2312424"/>
            <a:ext cx="3546492" cy="51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레이아웃 구현</a:t>
            </a:r>
            <a:endParaRPr lang="en-US" sz="16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4291001-C543-47EE-881D-E65AE7D3D4AD}"/>
              </a:ext>
            </a:extLst>
          </p:cNvPr>
          <p:cNvSpPr/>
          <p:nvPr/>
        </p:nvSpPr>
        <p:spPr>
          <a:xfrm>
            <a:off x="4257013" y="2312424"/>
            <a:ext cx="1393265" cy="51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0C2FF"/>
                </a:solidFill>
              </a:rPr>
              <a:t>25점</a:t>
            </a:r>
            <a:endParaRPr lang="en-US" sz="13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334C3328-9540-4EB0-8925-749623C29DFE}"/>
              </a:ext>
            </a:extLst>
          </p:cNvPr>
          <p:cNvSpPr/>
          <p:nvPr/>
        </p:nvSpPr>
        <p:spPr>
          <a:xfrm>
            <a:off x="457200" y="2901755"/>
            <a:ext cx="5446399" cy="515665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8BC8CDE2-9C86-4B4B-B2D0-A8C5272C7CD1}"/>
              </a:ext>
            </a:extLst>
          </p:cNvPr>
          <p:cNvSpPr/>
          <p:nvPr/>
        </p:nvSpPr>
        <p:spPr>
          <a:xfrm>
            <a:off x="457200" y="2901755"/>
            <a:ext cx="75996" cy="515665"/>
          </a:xfrm>
          <a:prstGeom prst="rect">
            <a:avLst/>
          </a:prstGeom>
          <a:solidFill>
            <a:srgbClr val="FFD600"/>
          </a:solidFill>
          <a:ln w="12700">
            <a:solidFill>
              <a:srgbClr val="FFD600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D2ACB36-D2B3-4B79-93A6-2B4C992DBFA8}"/>
              </a:ext>
            </a:extLst>
          </p:cNvPr>
          <p:cNvSpPr/>
          <p:nvPr/>
        </p:nvSpPr>
        <p:spPr>
          <a:xfrm>
            <a:off x="735853" y="2901755"/>
            <a:ext cx="3546492" cy="51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타이머 동작 (3초)</a:t>
            </a:r>
            <a:endParaRPr lang="en-US" sz="16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272A52C-8EF4-4B2F-A996-875A5A6B0157}"/>
              </a:ext>
            </a:extLst>
          </p:cNvPr>
          <p:cNvSpPr/>
          <p:nvPr/>
        </p:nvSpPr>
        <p:spPr>
          <a:xfrm>
            <a:off x="4257013" y="2901755"/>
            <a:ext cx="1393265" cy="51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D600"/>
                </a:solidFill>
              </a:rPr>
              <a:t>20점</a:t>
            </a:r>
            <a:endParaRPr lang="en-US" sz="13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CE4650DD-9869-46CD-9E0B-C97BEF2C0EF0}"/>
              </a:ext>
            </a:extLst>
          </p:cNvPr>
          <p:cNvSpPr/>
          <p:nvPr/>
        </p:nvSpPr>
        <p:spPr>
          <a:xfrm>
            <a:off x="457200" y="3491086"/>
            <a:ext cx="5446399" cy="515665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F7C915DB-3F76-4DBB-AD49-ACB59397A892}"/>
              </a:ext>
            </a:extLst>
          </p:cNvPr>
          <p:cNvSpPr/>
          <p:nvPr/>
        </p:nvSpPr>
        <p:spPr>
          <a:xfrm>
            <a:off x="457200" y="3491086"/>
            <a:ext cx="75996" cy="515665"/>
          </a:xfrm>
          <a:prstGeom prst="rect">
            <a:avLst/>
          </a:prstGeom>
          <a:solidFill>
            <a:srgbClr val="FF5252"/>
          </a:solidFill>
          <a:ln w="12700">
            <a:solidFill>
              <a:srgbClr val="FF5252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60D437F-01F2-4A9C-A79E-337E607F4AEF}"/>
              </a:ext>
            </a:extLst>
          </p:cNvPr>
          <p:cNvSpPr/>
          <p:nvPr/>
        </p:nvSpPr>
        <p:spPr>
          <a:xfrm>
            <a:off x="735853" y="3491086"/>
            <a:ext cx="3546492" cy="51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정상/불량 색상 표시</a:t>
            </a:r>
            <a:endParaRPr lang="en-US" sz="16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CE7A84C3-8E4F-4050-ACE5-D0531A01E14C}"/>
              </a:ext>
            </a:extLst>
          </p:cNvPr>
          <p:cNvSpPr/>
          <p:nvPr/>
        </p:nvSpPr>
        <p:spPr>
          <a:xfrm>
            <a:off x="4257013" y="3491086"/>
            <a:ext cx="1393265" cy="51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5252"/>
                </a:solidFill>
              </a:rPr>
              <a:t>15점</a:t>
            </a:r>
            <a:endParaRPr lang="en-US" sz="13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4215CA9A-16CA-4F8A-A0B5-A98348F96C82}"/>
              </a:ext>
            </a:extLst>
          </p:cNvPr>
          <p:cNvSpPr/>
          <p:nvPr/>
        </p:nvSpPr>
        <p:spPr>
          <a:xfrm>
            <a:off x="457200" y="4080417"/>
            <a:ext cx="5446399" cy="515665"/>
          </a:xfrm>
          <a:prstGeom prst="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C149C24A-F8B4-43B7-BE12-A3102D9B87B9}"/>
              </a:ext>
            </a:extLst>
          </p:cNvPr>
          <p:cNvSpPr/>
          <p:nvPr/>
        </p:nvSpPr>
        <p:spPr>
          <a:xfrm>
            <a:off x="457200" y="4080417"/>
            <a:ext cx="75996" cy="515665"/>
          </a:xfrm>
          <a:prstGeom prst="rect">
            <a:avLst/>
          </a:prstGeom>
          <a:solidFill>
            <a:srgbClr val="A0AEC0"/>
          </a:solidFill>
          <a:ln w="12700">
            <a:solidFill>
              <a:srgbClr val="A0AEC0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083D91FD-A177-4A55-8717-BD74DE3D558E}"/>
              </a:ext>
            </a:extLst>
          </p:cNvPr>
          <p:cNvSpPr/>
          <p:nvPr/>
        </p:nvSpPr>
        <p:spPr>
          <a:xfrm>
            <a:off x="735853" y="4080417"/>
            <a:ext cx="3546492" cy="51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주석 &amp; 가독성</a:t>
            </a:r>
            <a:endParaRPr lang="en-US" sz="16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F65A4F72-BEF9-45FF-AC3C-C9C37C78F6B6}"/>
              </a:ext>
            </a:extLst>
          </p:cNvPr>
          <p:cNvSpPr/>
          <p:nvPr/>
        </p:nvSpPr>
        <p:spPr>
          <a:xfrm>
            <a:off x="4257013" y="4080417"/>
            <a:ext cx="1393265" cy="51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A0AEC0"/>
                </a:solidFill>
              </a:rPr>
              <a:t>10점</a:t>
            </a:r>
            <a:endParaRPr lang="en-US" sz="13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F5A49125-79AE-44CF-9173-CEB8EB26382F}"/>
              </a:ext>
            </a:extLst>
          </p:cNvPr>
          <p:cNvSpPr/>
          <p:nvPr/>
        </p:nvSpPr>
        <p:spPr>
          <a:xfrm>
            <a:off x="6156920" y="1195150"/>
            <a:ext cx="5699720" cy="4297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2FF"/>
                </a:solidFill>
              </a:rPr>
              <a:t>💡  핵심 코드 힌트</a:t>
            </a:r>
            <a:endParaRPr lang="en-US" sz="13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5B1C3AB3-08F3-4920-B6FF-50C900DE3C88}"/>
              </a:ext>
            </a:extLst>
          </p:cNvPr>
          <p:cNvSpPr/>
          <p:nvPr/>
        </p:nvSpPr>
        <p:spPr>
          <a:xfrm>
            <a:off x="6156920" y="1723092"/>
            <a:ext cx="5699720" cy="4665538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4FD39DF-0F13-48FA-9F2A-A19C42229635}"/>
              </a:ext>
            </a:extLst>
          </p:cNvPr>
          <p:cNvSpPr/>
          <p:nvPr/>
        </p:nvSpPr>
        <p:spPr>
          <a:xfrm>
            <a:off x="6346911" y="1809037"/>
            <a:ext cx="5319739" cy="282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모델 로드</a:t>
            </a:r>
            <a:endParaRPr lang="en-US" sz="14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B191E1E-0078-46DC-AF77-6F12F3CC2C6C}"/>
              </a:ext>
            </a:extLst>
          </p:cNvPr>
          <p:cNvSpPr/>
          <p:nvPr/>
        </p:nvSpPr>
        <p:spPr>
          <a:xfrm>
            <a:off x="6346911" y="2097563"/>
            <a:ext cx="5319739" cy="282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joblib.load("xgb_model.pkl")</a:t>
            </a:r>
            <a:endParaRPr lang="en-US" sz="14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1385D0FA-4506-4C3E-94E9-BFA421B8968E}"/>
              </a:ext>
            </a:extLst>
          </p:cNvPr>
          <p:cNvSpPr/>
          <p:nvPr/>
        </p:nvSpPr>
        <p:spPr>
          <a:xfrm>
            <a:off x="6346911" y="2674617"/>
            <a:ext cx="5319739" cy="282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추론</a:t>
            </a:r>
            <a:endParaRPr lang="en-US" sz="14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D368EA5B-E93E-4C6A-8A47-A18E2D801D9F}"/>
              </a:ext>
            </a:extLst>
          </p:cNvPr>
          <p:cNvSpPr/>
          <p:nvPr/>
        </p:nvSpPr>
        <p:spPr>
          <a:xfrm>
            <a:off x="6346911" y="2963143"/>
            <a:ext cx="5319739" cy="282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np.array([[temp, humi]])</a:t>
            </a:r>
            <a:endParaRPr lang="en-US" sz="14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7E4ADC1A-C846-47CF-9817-C02F5C665A9E}"/>
              </a:ext>
            </a:extLst>
          </p:cNvPr>
          <p:cNvSpPr/>
          <p:nvPr/>
        </p:nvSpPr>
        <p:spPr>
          <a:xfrm>
            <a:off x="6346911" y="3251670"/>
            <a:ext cx="5319739" cy="282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int(model.predict(x)[0])</a:t>
            </a:r>
            <a:endParaRPr lang="en-US" sz="14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5A62C774-7491-4BCD-9703-0BD5A48ACF99}"/>
              </a:ext>
            </a:extLst>
          </p:cNvPr>
          <p:cNvSpPr/>
          <p:nvPr/>
        </p:nvSpPr>
        <p:spPr>
          <a:xfrm>
            <a:off x="6346911" y="3828723"/>
            <a:ext cx="5319739" cy="282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3초 타이머</a:t>
            </a:r>
            <a:endParaRPr lang="en-US" sz="14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B2CE92DC-39B1-42E5-84C1-C66F18E16650}"/>
              </a:ext>
            </a:extLst>
          </p:cNvPr>
          <p:cNvSpPr/>
          <p:nvPr/>
        </p:nvSpPr>
        <p:spPr>
          <a:xfrm>
            <a:off x="6346911" y="4117250"/>
            <a:ext cx="5319739" cy="282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self.timer = QTimer()</a:t>
            </a:r>
            <a:endParaRPr lang="en-US" sz="14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753F3AA5-2199-4BAD-A0F8-497EBBEA2BB1}"/>
              </a:ext>
            </a:extLst>
          </p:cNvPr>
          <p:cNvSpPr/>
          <p:nvPr/>
        </p:nvSpPr>
        <p:spPr>
          <a:xfrm>
            <a:off x="6346911" y="4405777"/>
            <a:ext cx="5319739" cy="282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self.timer.timeout.connect(self.update)</a:t>
            </a:r>
            <a:endParaRPr lang="en-US" sz="14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CF95F333-02F9-4265-BC68-33F9A3BA7725}"/>
              </a:ext>
            </a:extLst>
          </p:cNvPr>
          <p:cNvSpPr/>
          <p:nvPr/>
        </p:nvSpPr>
        <p:spPr>
          <a:xfrm>
            <a:off x="6346911" y="4694304"/>
            <a:ext cx="5319739" cy="282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self.timer.start(3000)</a:t>
            </a:r>
            <a:endParaRPr lang="en-US" sz="14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51DD5923-ECAF-4088-9421-38823B83EED2}"/>
              </a:ext>
            </a:extLst>
          </p:cNvPr>
          <p:cNvSpPr/>
          <p:nvPr/>
        </p:nvSpPr>
        <p:spPr>
          <a:xfrm>
            <a:off x="6346911" y="5271357"/>
            <a:ext cx="5319739" cy="282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색상 변경</a:t>
            </a:r>
            <a:endParaRPr lang="en-US" sz="14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303EADF8-68D6-44B6-9624-E2476BACEA4B}"/>
              </a:ext>
            </a:extLst>
          </p:cNvPr>
          <p:cNvSpPr/>
          <p:nvPr/>
        </p:nvSpPr>
        <p:spPr>
          <a:xfrm>
            <a:off x="6346911" y="5559884"/>
            <a:ext cx="5319739" cy="282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self.result_label.setStyleSheet(</a:t>
            </a:r>
            <a:endParaRPr lang="en-US" sz="1400" dirty="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D4521E6C-A8C0-4337-A047-9E821840694D}"/>
              </a:ext>
            </a:extLst>
          </p:cNvPr>
          <p:cNvSpPr/>
          <p:nvPr/>
        </p:nvSpPr>
        <p:spPr>
          <a:xfrm>
            <a:off x="6346911" y="5848410"/>
            <a:ext cx="5319739" cy="282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"color: #00e676;")</a:t>
            </a:r>
            <a:endParaRPr lang="en-US" sz="1400" dirty="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3B312387-EF6F-453C-9847-FD4B99951524}"/>
              </a:ext>
            </a:extLst>
          </p:cNvPr>
          <p:cNvSpPr/>
          <p:nvPr/>
        </p:nvSpPr>
        <p:spPr>
          <a:xfrm>
            <a:off x="457200" y="6167631"/>
            <a:ext cx="5446399" cy="429721"/>
          </a:xfrm>
          <a:prstGeom prst="rect">
            <a:avLst/>
          </a:prstGeom>
          <a:solidFill>
            <a:srgbClr val="0A2A4A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2BF44E85-D03D-46EB-ACED-CA88363D9E67}"/>
              </a:ext>
            </a:extLst>
          </p:cNvPr>
          <p:cNvSpPr/>
          <p:nvPr/>
        </p:nvSpPr>
        <p:spPr>
          <a:xfrm>
            <a:off x="457200" y="6167631"/>
            <a:ext cx="5446399" cy="429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2FF"/>
                </a:solidFill>
              </a:rPr>
              <a:t>총점  100점  |  만점자 추가 발표 기회 부여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891095725"/>
      </p:ext>
    </p:extLst>
  </p:cSld>
  <p:clrMapOvr>
    <a:masterClrMapping/>
  </p:clrMapOvr>
  <p:transition spd="slow"/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4">
            <a:extLst>
              <a:ext uri="{FF2B5EF4-FFF2-40B4-BE49-F238E27FC236}">
                <a16:creationId xmlns:a16="http://schemas.microsoft.com/office/drawing/2014/main" id="{602C74AB-745A-43C1-9827-3F3A11177F9D}"/>
              </a:ext>
            </a:extLst>
          </p:cNvPr>
          <p:cNvSpPr/>
          <p:nvPr/>
        </p:nvSpPr>
        <p:spPr>
          <a:xfrm>
            <a:off x="1219200" y="1052736"/>
            <a:ext cx="4876800" cy="13796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0" b="1" dirty="0"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Light</a:t>
            </a:r>
            <a:endParaRPr lang="en-US" sz="80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FBA5D02B-8888-4A52-A994-F05ADE0FC89E}"/>
              </a:ext>
            </a:extLst>
          </p:cNvPr>
          <p:cNvSpPr/>
          <p:nvPr/>
        </p:nvSpPr>
        <p:spPr>
          <a:xfrm>
            <a:off x="6096000" y="1052736"/>
            <a:ext cx="4876800" cy="13796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0" b="1" dirty="0"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GBM</a:t>
            </a:r>
            <a:endParaRPr lang="en-US" sz="8000" dirty="0"/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8FAA48BA-BFAA-4D86-9992-BA7DB0B6B659}"/>
              </a:ext>
            </a:extLst>
          </p:cNvPr>
          <p:cNvSpPr/>
          <p:nvPr/>
        </p:nvSpPr>
        <p:spPr>
          <a:xfrm>
            <a:off x="1219200" y="2564904"/>
            <a:ext cx="9753600" cy="5644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tx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Machine — 현장 실무 완전 정복</a:t>
            </a:r>
            <a:endParaRPr lang="en-US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CAF53212-7181-4A26-AA4A-BDA542355D49}"/>
              </a:ext>
            </a:extLst>
          </p:cNvPr>
          <p:cNvSpPr/>
          <p:nvPr/>
        </p:nvSpPr>
        <p:spPr>
          <a:xfrm flipV="1">
            <a:off x="2279576" y="3355077"/>
            <a:ext cx="7992888" cy="73923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7DA193-CF9E-4B33-9E36-5052581FD5BC}"/>
              </a:ext>
            </a:extLst>
          </p:cNvPr>
          <p:cNvSpPr/>
          <p:nvPr/>
        </p:nvSpPr>
        <p:spPr>
          <a:xfrm>
            <a:off x="1463040" y="3753752"/>
            <a:ext cx="2194560" cy="526781"/>
          </a:xfrm>
          <a:prstGeom prst="round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EBBBC51E-3E4C-4AE8-85AC-841A2BA7B2FE}"/>
              </a:ext>
            </a:extLst>
          </p:cNvPr>
          <p:cNvSpPr/>
          <p:nvPr/>
        </p:nvSpPr>
        <p:spPr>
          <a:xfrm>
            <a:off x="1463040" y="3753752"/>
            <a:ext cx="2194560" cy="526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10배 빠름</a:t>
            </a:r>
            <a:endParaRPr lang="en-US" b="1" dirty="0"/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D77DEBB5-08FF-4A31-9F2A-E8F0CE74DEAA}"/>
              </a:ext>
            </a:extLst>
          </p:cNvPr>
          <p:cNvSpPr/>
          <p:nvPr/>
        </p:nvSpPr>
        <p:spPr>
          <a:xfrm>
            <a:off x="4267200" y="3753752"/>
            <a:ext cx="2194560" cy="526781"/>
          </a:xfrm>
          <a:prstGeom prst="round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11">
            <a:extLst>
              <a:ext uri="{FF2B5EF4-FFF2-40B4-BE49-F238E27FC236}">
                <a16:creationId xmlns:a16="http://schemas.microsoft.com/office/drawing/2014/main" id="{168994EC-1B76-49AE-B1A8-999447209477}"/>
              </a:ext>
            </a:extLst>
          </p:cNvPr>
          <p:cNvSpPr/>
          <p:nvPr/>
        </p:nvSpPr>
        <p:spPr>
          <a:xfrm>
            <a:off x="4267200" y="3753752"/>
            <a:ext cx="2194560" cy="526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메모리 절약</a:t>
            </a:r>
            <a:endParaRPr lang="en-US" b="1" dirty="0"/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E05ECD67-B008-49C0-9E87-CD5A4894A7D3}"/>
              </a:ext>
            </a:extLst>
          </p:cNvPr>
          <p:cNvSpPr/>
          <p:nvPr/>
        </p:nvSpPr>
        <p:spPr>
          <a:xfrm>
            <a:off x="7193280" y="3753752"/>
            <a:ext cx="2194560" cy="526781"/>
          </a:xfrm>
          <a:prstGeom prst="round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2B741040-8506-427C-918B-B8304C40B268}"/>
              </a:ext>
            </a:extLst>
          </p:cNvPr>
          <p:cNvSpPr/>
          <p:nvPr/>
        </p:nvSpPr>
        <p:spPr>
          <a:xfrm>
            <a:off x="7193280" y="3753752"/>
            <a:ext cx="2194560" cy="526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현장 1위</a:t>
            </a:r>
            <a:endParaRPr lang="en-US" b="1" dirty="0"/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616AE761-EE2C-40F0-9F4D-0CBFA9602DCC}"/>
              </a:ext>
            </a:extLst>
          </p:cNvPr>
          <p:cNvSpPr/>
          <p:nvPr/>
        </p:nvSpPr>
        <p:spPr>
          <a:xfrm>
            <a:off x="9509760" y="3753752"/>
            <a:ext cx="2194560" cy="526781"/>
          </a:xfrm>
          <a:prstGeom prst="roundRect">
            <a:avLst/>
          </a:prstGeom>
          <a:solidFill>
            <a:srgbClr val="1A2D4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E9C4C644-B4C4-4C2B-8C0A-2D0C922E1AF6}"/>
              </a:ext>
            </a:extLst>
          </p:cNvPr>
          <p:cNvSpPr/>
          <p:nvPr/>
        </p:nvSpPr>
        <p:spPr>
          <a:xfrm>
            <a:off x="9509760" y="3753752"/>
            <a:ext cx="2194560" cy="526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대용량 최적</a:t>
            </a:r>
            <a:endParaRPr lang="en-US" b="1" dirty="0"/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A6A1883-08C2-42C4-9DC0-5BD7DD6FE18D}"/>
              </a:ext>
            </a:extLst>
          </p:cNvPr>
          <p:cNvSpPr/>
          <p:nvPr/>
        </p:nvSpPr>
        <p:spPr>
          <a:xfrm>
            <a:off x="0" y="6450372"/>
            <a:ext cx="12192000" cy="407628"/>
          </a:xfrm>
          <a:prstGeom prst="rect">
            <a:avLst/>
          </a:prstGeom>
          <a:solidFill>
            <a:srgbClr val="0A2240"/>
          </a:solidFill>
          <a:ln w="12700">
            <a:solidFill>
              <a:srgbClr val="0A2240"/>
            </a:solidFill>
            <a:prstDash val="solid"/>
          </a:ln>
        </p:spPr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6F42C6A9-B268-489E-968A-A0AA8CF39AD3}"/>
              </a:ext>
            </a:extLst>
          </p:cNvPr>
          <p:cNvSpPr/>
          <p:nvPr/>
        </p:nvSpPr>
        <p:spPr>
          <a:xfrm>
            <a:off x="0" y="6450372"/>
            <a:ext cx="12192000" cy="407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</a:rPr>
              <a:t>실습 환경: Google Colab  |  데이터: 온도·습도 10,000건  |  언어: Python 3</a:t>
            </a:r>
          </a:p>
        </p:txBody>
      </p:sp>
    </p:spTree>
    <p:extLst>
      <p:ext uri="{BB962C8B-B14F-4D97-AF65-F5344CB8AC3E}">
        <p14:creationId xmlns:p14="http://schemas.microsoft.com/office/powerpoint/2010/main" val="3306548555"/>
      </p:ext>
    </p:extLst>
  </p:cSld>
  <p:clrMapOvr>
    <a:masterClrMapping/>
  </p:clrMapOvr>
  <p:transition spd="slow"/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0">
            <a:extLst>
              <a:ext uri="{FF2B5EF4-FFF2-40B4-BE49-F238E27FC236}">
                <a16:creationId xmlns:a16="http://schemas.microsoft.com/office/drawing/2014/main" id="{351D56CB-27F2-4414-B3E4-23C799019223}"/>
              </a:ext>
            </a:extLst>
          </p:cNvPr>
          <p:cNvSpPr/>
          <p:nvPr/>
        </p:nvSpPr>
        <p:spPr>
          <a:xfrm>
            <a:off x="0" y="-27384"/>
            <a:ext cx="12192000" cy="2270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6" name="Text 1">
            <a:extLst>
              <a:ext uri="{FF2B5EF4-FFF2-40B4-BE49-F238E27FC236}">
                <a16:creationId xmlns:a16="http://schemas.microsoft.com/office/drawing/2014/main" id="{BF133010-566E-4E04-820F-88899220D76D}"/>
              </a:ext>
            </a:extLst>
          </p:cNvPr>
          <p:cNvSpPr/>
          <p:nvPr/>
        </p:nvSpPr>
        <p:spPr>
          <a:xfrm>
            <a:off x="609600" y="325852"/>
            <a:ext cx="10972800" cy="731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LightGBM 이란?</a:t>
            </a:r>
            <a:endParaRPr lang="en-US" sz="3000" dirty="0"/>
          </a:p>
        </p:txBody>
      </p:sp>
      <p:sp>
        <p:nvSpPr>
          <p:cNvPr id="27" name="Shape 2">
            <a:extLst>
              <a:ext uri="{FF2B5EF4-FFF2-40B4-BE49-F238E27FC236}">
                <a16:creationId xmlns:a16="http://schemas.microsoft.com/office/drawing/2014/main" id="{53654513-A361-4AB5-BBED-B63AE91950BA}"/>
              </a:ext>
            </a:extLst>
          </p:cNvPr>
          <p:cNvSpPr/>
          <p:nvPr/>
        </p:nvSpPr>
        <p:spPr>
          <a:xfrm>
            <a:off x="609600" y="1082787"/>
            <a:ext cx="10972800" cy="37847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3">
            <a:extLst>
              <a:ext uri="{FF2B5EF4-FFF2-40B4-BE49-F238E27FC236}">
                <a16:creationId xmlns:a16="http://schemas.microsoft.com/office/drawing/2014/main" id="{86AFCABE-A82D-414A-8F9B-4370FC44D21B}"/>
              </a:ext>
            </a:extLst>
          </p:cNvPr>
          <p:cNvSpPr/>
          <p:nvPr/>
        </p:nvSpPr>
        <p:spPr>
          <a:xfrm>
            <a:off x="609600" y="1234173"/>
            <a:ext cx="10972800" cy="5298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Microsoft가 2017년 공개한 Gradient Boosting 기반 머신러닝 모델.</a:t>
            </a:r>
            <a:endParaRPr lang="en-US" b="1" dirty="0"/>
          </a:p>
        </p:txBody>
      </p:sp>
      <p:sp>
        <p:nvSpPr>
          <p:cNvPr id="29" name="Shape 4">
            <a:extLst>
              <a:ext uri="{FF2B5EF4-FFF2-40B4-BE49-F238E27FC236}">
                <a16:creationId xmlns:a16="http://schemas.microsoft.com/office/drawing/2014/main" id="{1E906F38-22D3-4F3C-AD73-612B4563F67E}"/>
              </a:ext>
            </a:extLst>
          </p:cNvPr>
          <p:cNvSpPr/>
          <p:nvPr/>
        </p:nvSpPr>
        <p:spPr>
          <a:xfrm>
            <a:off x="487680" y="1928030"/>
            <a:ext cx="3535680" cy="29015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5">
            <a:extLst>
              <a:ext uri="{FF2B5EF4-FFF2-40B4-BE49-F238E27FC236}">
                <a16:creationId xmlns:a16="http://schemas.microsoft.com/office/drawing/2014/main" id="{F86DCB47-14A9-425F-8E75-8A5F4FC7B4E4}"/>
              </a:ext>
            </a:extLst>
          </p:cNvPr>
          <p:cNvSpPr/>
          <p:nvPr/>
        </p:nvSpPr>
        <p:spPr>
          <a:xfrm>
            <a:off x="487680" y="1928030"/>
            <a:ext cx="3535680" cy="75693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9FEF5420-EBE0-4D0F-99BD-00FB5D396682}"/>
              </a:ext>
            </a:extLst>
          </p:cNvPr>
          <p:cNvSpPr/>
          <p:nvPr/>
        </p:nvSpPr>
        <p:spPr>
          <a:xfrm>
            <a:off x="487680" y="2016339"/>
            <a:ext cx="3535680" cy="630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⚡</a:t>
            </a:r>
            <a:endParaRPr lang="en-US" sz="3600" dirty="0"/>
          </a:p>
        </p:txBody>
      </p:sp>
      <p:sp>
        <p:nvSpPr>
          <p:cNvPr id="32" name="Text 7">
            <a:extLst>
              <a:ext uri="{FF2B5EF4-FFF2-40B4-BE49-F238E27FC236}">
                <a16:creationId xmlns:a16="http://schemas.microsoft.com/office/drawing/2014/main" id="{1F4BEAA9-0390-4ACD-A87B-7A9F55D814DE}"/>
              </a:ext>
            </a:extLst>
          </p:cNvPr>
          <p:cNvSpPr/>
          <p:nvPr/>
        </p:nvSpPr>
        <p:spPr>
          <a:xfrm>
            <a:off x="487680" y="2647118"/>
            <a:ext cx="3535680" cy="479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Leaf-wise 성장</a:t>
            </a:r>
            <a:endParaRPr lang="en-US" dirty="0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DDD11986-5630-40F8-B5FA-40F19A820C32}"/>
              </a:ext>
            </a:extLst>
          </p:cNvPr>
          <p:cNvSpPr/>
          <p:nvPr/>
        </p:nvSpPr>
        <p:spPr>
          <a:xfrm>
            <a:off x="609600" y="3151741"/>
            <a:ext cx="3291840" cy="13877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XGBoost는 Level-wise</a:t>
            </a:r>
            <a:endParaRPr 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LightGBM은 Leaf-wise</a:t>
            </a:r>
            <a:endParaRPr 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더 적은 트리로 높은 정확도</a:t>
            </a:r>
            <a:endParaRPr 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4" name="Shape 9">
            <a:extLst>
              <a:ext uri="{FF2B5EF4-FFF2-40B4-BE49-F238E27FC236}">
                <a16:creationId xmlns:a16="http://schemas.microsoft.com/office/drawing/2014/main" id="{2F86DB51-4768-4BE0-89E1-B662983067B2}"/>
              </a:ext>
            </a:extLst>
          </p:cNvPr>
          <p:cNvSpPr/>
          <p:nvPr/>
        </p:nvSpPr>
        <p:spPr>
          <a:xfrm>
            <a:off x="4389120" y="1928030"/>
            <a:ext cx="3535680" cy="29015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10">
            <a:extLst>
              <a:ext uri="{FF2B5EF4-FFF2-40B4-BE49-F238E27FC236}">
                <a16:creationId xmlns:a16="http://schemas.microsoft.com/office/drawing/2014/main" id="{3C07BF4C-348D-4974-A576-6E31791FF1C4}"/>
              </a:ext>
            </a:extLst>
          </p:cNvPr>
          <p:cNvSpPr/>
          <p:nvPr/>
        </p:nvSpPr>
        <p:spPr>
          <a:xfrm>
            <a:off x="4389120" y="1928030"/>
            <a:ext cx="3535680" cy="75693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6" name="Text 11">
            <a:extLst>
              <a:ext uri="{FF2B5EF4-FFF2-40B4-BE49-F238E27FC236}">
                <a16:creationId xmlns:a16="http://schemas.microsoft.com/office/drawing/2014/main" id="{FBCE58CE-AD84-445A-B164-B589F465BD3A}"/>
              </a:ext>
            </a:extLst>
          </p:cNvPr>
          <p:cNvSpPr/>
          <p:nvPr/>
        </p:nvSpPr>
        <p:spPr>
          <a:xfrm>
            <a:off x="4389120" y="2016339"/>
            <a:ext cx="3535680" cy="630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📦</a:t>
            </a:r>
            <a:endParaRPr lang="en-US" sz="3600" dirty="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1D4660CF-CD76-4F7A-98DF-CEEF2227F67F}"/>
              </a:ext>
            </a:extLst>
          </p:cNvPr>
          <p:cNvSpPr/>
          <p:nvPr/>
        </p:nvSpPr>
        <p:spPr>
          <a:xfrm>
            <a:off x="4389120" y="2647118"/>
            <a:ext cx="3535680" cy="479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GOSS 샘플링</a:t>
            </a:r>
            <a:endParaRPr lang="en-US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DF2DBE79-FC68-4E9C-A65A-950F838F4D2E}"/>
              </a:ext>
            </a:extLst>
          </p:cNvPr>
          <p:cNvSpPr/>
          <p:nvPr/>
        </p:nvSpPr>
        <p:spPr>
          <a:xfrm>
            <a:off x="4511040" y="3151741"/>
            <a:ext cx="3291840" cy="13877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중요한 </a:t>
            </a:r>
            <a:r>
              <a:rPr lang="en-US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데이터만</a:t>
            </a: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골라서</a:t>
            </a: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</a:t>
            </a: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속도 대폭 향상</a:t>
            </a:r>
            <a:endParaRPr 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불필요한 계산 제거</a:t>
            </a:r>
            <a:endParaRPr 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9" name="Shape 14">
            <a:extLst>
              <a:ext uri="{FF2B5EF4-FFF2-40B4-BE49-F238E27FC236}">
                <a16:creationId xmlns:a16="http://schemas.microsoft.com/office/drawing/2014/main" id="{46F184A3-F81C-4859-BD83-820B74828EC0}"/>
              </a:ext>
            </a:extLst>
          </p:cNvPr>
          <p:cNvSpPr/>
          <p:nvPr/>
        </p:nvSpPr>
        <p:spPr>
          <a:xfrm>
            <a:off x="8290560" y="1928030"/>
            <a:ext cx="3535680" cy="29015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Shape 15">
            <a:extLst>
              <a:ext uri="{FF2B5EF4-FFF2-40B4-BE49-F238E27FC236}">
                <a16:creationId xmlns:a16="http://schemas.microsoft.com/office/drawing/2014/main" id="{F28CFB54-5DAE-482E-9E40-A1E2681854DA}"/>
              </a:ext>
            </a:extLst>
          </p:cNvPr>
          <p:cNvSpPr/>
          <p:nvPr/>
        </p:nvSpPr>
        <p:spPr>
          <a:xfrm>
            <a:off x="8290560" y="1928030"/>
            <a:ext cx="3535680" cy="75693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Text 16">
            <a:extLst>
              <a:ext uri="{FF2B5EF4-FFF2-40B4-BE49-F238E27FC236}">
                <a16:creationId xmlns:a16="http://schemas.microsoft.com/office/drawing/2014/main" id="{546082E8-A503-4710-994C-534CBC600D0A}"/>
              </a:ext>
            </a:extLst>
          </p:cNvPr>
          <p:cNvSpPr/>
          <p:nvPr/>
        </p:nvSpPr>
        <p:spPr>
          <a:xfrm>
            <a:off x="8290560" y="2016339"/>
            <a:ext cx="3535680" cy="630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🗜️</a:t>
            </a:r>
            <a:endParaRPr lang="en-US" sz="3600" dirty="0"/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A516C059-7AAC-43C2-979E-1A142234323C}"/>
              </a:ext>
            </a:extLst>
          </p:cNvPr>
          <p:cNvSpPr/>
          <p:nvPr/>
        </p:nvSpPr>
        <p:spPr>
          <a:xfrm>
            <a:off x="8290560" y="2647118"/>
            <a:ext cx="3535680" cy="479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EFB </a:t>
            </a:r>
            <a:r>
              <a:rPr lang="en-US" b="1" dirty="0" err="1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묶음처리</a:t>
            </a:r>
            <a:endParaRPr lang="en-US" b="1" dirty="0">
              <a:solidFill>
                <a:srgbClr val="D9770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cs typeface="Calibri" pitchFamily="34" charset="-120"/>
              </a:rPr>
              <a:t>(Exclusive</a:t>
            </a:r>
            <a:r>
              <a:rPr lang="ko-KR" altLang="en-US" sz="1050" b="1" dirty="0">
                <a:solidFill>
                  <a:srgbClr val="D97706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altLang="ko-KR" sz="1050" b="1" dirty="0">
                <a:solidFill>
                  <a:srgbClr val="D97706"/>
                </a:solidFill>
                <a:latin typeface="Calibri" pitchFamily="34" charset="0"/>
                <a:cs typeface="Calibri" pitchFamily="34" charset="-120"/>
              </a:rPr>
              <a:t>Feature</a:t>
            </a:r>
            <a:r>
              <a:rPr lang="ko-KR" altLang="en-US" sz="1050" b="1" dirty="0">
                <a:solidFill>
                  <a:srgbClr val="D97706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altLang="ko-KR" sz="1050" b="1" dirty="0">
                <a:solidFill>
                  <a:srgbClr val="D97706"/>
                </a:solidFill>
                <a:latin typeface="Calibri" pitchFamily="34" charset="0"/>
                <a:cs typeface="Calibri" pitchFamily="34" charset="-120"/>
              </a:rPr>
              <a:t>Bunding)</a:t>
            </a:r>
            <a:endParaRPr lang="en-US" sz="1050" dirty="0"/>
          </a:p>
        </p:txBody>
      </p:sp>
      <p:sp>
        <p:nvSpPr>
          <p:cNvPr id="43" name="Text 18">
            <a:extLst>
              <a:ext uri="{FF2B5EF4-FFF2-40B4-BE49-F238E27FC236}">
                <a16:creationId xmlns:a16="http://schemas.microsoft.com/office/drawing/2014/main" id="{118C775D-18EA-4057-9464-95EFC7668576}"/>
              </a:ext>
            </a:extLst>
          </p:cNvPr>
          <p:cNvSpPr/>
          <p:nvPr/>
        </p:nvSpPr>
        <p:spPr>
          <a:xfrm>
            <a:off x="8412480" y="3151741"/>
            <a:ext cx="3291840" cy="13877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희소한 </a:t>
            </a:r>
            <a:r>
              <a:rPr lang="en-US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특성들을</a:t>
            </a: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묶어서</a:t>
            </a: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처리</a:t>
            </a: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메모리 절약</a:t>
            </a:r>
            <a:endParaRPr 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대용량 데이터에 최적</a:t>
            </a:r>
            <a:endParaRPr 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4" name="Shape 19">
            <a:extLst>
              <a:ext uri="{FF2B5EF4-FFF2-40B4-BE49-F238E27FC236}">
                <a16:creationId xmlns:a16="http://schemas.microsoft.com/office/drawing/2014/main" id="{4F3A85C5-9A1B-4EDC-853A-0C154C04EA1E}"/>
              </a:ext>
            </a:extLst>
          </p:cNvPr>
          <p:cNvSpPr/>
          <p:nvPr/>
        </p:nvSpPr>
        <p:spPr>
          <a:xfrm>
            <a:off x="487680" y="4993615"/>
            <a:ext cx="11216640" cy="1387713"/>
          </a:xfrm>
          <a:prstGeom prst="rect">
            <a:avLst/>
          </a:prstGeom>
          <a:solidFill>
            <a:srgbClr val="F0F9FF"/>
          </a:solidFill>
          <a:ln w="12700">
            <a:solidFill>
              <a:srgbClr val="0284C7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B29D2BBC-18C1-4403-970E-3E51B6A29749}"/>
              </a:ext>
            </a:extLst>
          </p:cNvPr>
          <p:cNvSpPr/>
          <p:nvPr/>
        </p:nvSpPr>
        <p:spPr>
          <a:xfrm>
            <a:off x="853440" y="5069308"/>
            <a:ext cx="4876800" cy="3784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4C7"/>
                </a:solidFill>
              </a:rPr>
              <a:t>📊  실제 현장 성능 비교 (100만 건 기준)</a:t>
            </a:r>
            <a:endParaRPr lang="en-US" sz="1600" dirty="0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384DCECD-987C-4BD5-B069-F6CD3B91C9AC}"/>
              </a:ext>
            </a:extLst>
          </p:cNvPr>
          <p:cNvSpPr/>
          <p:nvPr/>
        </p:nvSpPr>
        <p:spPr>
          <a:xfrm>
            <a:off x="853440" y="5498238"/>
            <a:ext cx="3535680" cy="6938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시간:  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30분  →  LightGBM 3분 ⚡</a:t>
            </a:r>
            <a:endParaRPr lang="en-US" sz="1400" dirty="0"/>
          </a:p>
        </p:txBody>
      </p:sp>
      <p:sp>
        <p:nvSpPr>
          <p:cNvPr id="47" name="Text 22">
            <a:extLst>
              <a:ext uri="{FF2B5EF4-FFF2-40B4-BE49-F238E27FC236}">
                <a16:creationId xmlns:a16="http://schemas.microsoft.com/office/drawing/2014/main" id="{EEFD9ADE-0FFE-42E4-80F0-B3E61AC781F6}"/>
              </a:ext>
            </a:extLst>
          </p:cNvPr>
          <p:cNvSpPr/>
          <p:nvPr/>
        </p:nvSpPr>
        <p:spPr>
          <a:xfrm>
            <a:off x="4632960" y="5498238"/>
            <a:ext cx="3535680" cy="6938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메모리: 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XGBoost 8GB   →  LightGBM 2GB 💾</a:t>
            </a:r>
            <a:endParaRPr lang="en-US" sz="1400" dirty="0"/>
          </a:p>
        </p:txBody>
      </p:sp>
      <p:sp>
        <p:nvSpPr>
          <p:cNvPr id="48" name="Text 23">
            <a:extLst>
              <a:ext uri="{FF2B5EF4-FFF2-40B4-BE49-F238E27FC236}">
                <a16:creationId xmlns:a16="http://schemas.microsoft.com/office/drawing/2014/main" id="{653F6C24-185F-4D32-A205-F5F7D1FB7BE3}"/>
              </a:ext>
            </a:extLst>
          </p:cNvPr>
          <p:cNvSpPr/>
          <p:nvPr/>
        </p:nvSpPr>
        <p:spPr>
          <a:xfrm>
            <a:off x="8104936" y="5498238"/>
            <a:ext cx="3535680" cy="6938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정확도:  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92%   →  LightGBM 93% 🏆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614889939"/>
      </p:ext>
    </p:extLst>
  </p:cSld>
  <p:clrMapOvr>
    <a:masterClrMapping/>
  </p:clrMapOvr>
  <p:transition spd="slow"/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>
            <a:extLst>
              <a:ext uri="{FF2B5EF4-FFF2-40B4-BE49-F238E27FC236}">
                <a16:creationId xmlns:a16="http://schemas.microsoft.com/office/drawing/2014/main" id="{4F366493-2BB6-4077-B2FA-461A79A618C0}"/>
              </a:ext>
            </a:extLst>
          </p:cNvPr>
          <p:cNvSpPr/>
          <p:nvPr/>
        </p:nvSpPr>
        <p:spPr>
          <a:xfrm>
            <a:off x="0" y="-27384"/>
            <a:ext cx="12192000" cy="218347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61" name="Text 1">
            <a:extLst>
              <a:ext uri="{FF2B5EF4-FFF2-40B4-BE49-F238E27FC236}">
                <a16:creationId xmlns:a16="http://schemas.microsoft.com/office/drawing/2014/main" id="{CB7F73D8-5652-4EB6-B387-67FB46741C26}"/>
              </a:ext>
            </a:extLst>
          </p:cNvPr>
          <p:cNvSpPr/>
          <p:nvPr/>
        </p:nvSpPr>
        <p:spPr>
          <a:xfrm>
            <a:off x="609600" y="312267"/>
            <a:ext cx="10972800" cy="703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XGBoost vs LightGBM</a:t>
            </a:r>
            <a:endParaRPr lang="en-US" sz="3000" dirty="0"/>
          </a:p>
        </p:txBody>
      </p:sp>
      <p:sp>
        <p:nvSpPr>
          <p:cNvPr id="62" name="Shape 2">
            <a:extLst>
              <a:ext uri="{FF2B5EF4-FFF2-40B4-BE49-F238E27FC236}">
                <a16:creationId xmlns:a16="http://schemas.microsoft.com/office/drawing/2014/main" id="{C5351249-D92C-4329-B95E-B55A985D5DC0}"/>
              </a:ext>
            </a:extLst>
          </p:cNvPr>
          <p:cNvSpPr/>
          <p:nvPr/>
        </p:nvSpPr>
        <p:spPr>
          <a:xfrm>
            <a:off x="609600" y="1040089"/>
            <a:ext cx="10972800" cy="36391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AEC44149-30A6-4EE5-AB37-A16FBBED1F3B}"/>
              </a:ext>
            </a:extLst>
          </p:cNvPr>
          <p:cNvSpPr/>
          <p:nvPr/>
        </p:nvSpPr>
        <p:spPr>
          <a:xfrm>
            <a:off x="487680" y="1209915"/>
            <a:ext cx="2682240" cy="50947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4" name="Text 4">
            <a:extLst>
              <a:ext uri="{FF2B5EF4-FFF2-40B4-BE49-F238E27FC236}">
                <a16:creationId xmlns:a16="http://schemas.microsoft.com/office/drawing/2014/main" id="{46FB097A-6864-4562-8FDB-44D97E9CD684}"/>
              </a:ext>
            </a:extLst>
          </p:cNvPr>
          <p:cNvSpPr/>
          <p:nvPr/>
        </p:nvSpPr>
        <p:spPr>
          <a:xfrm>
            <a:off x="1219200" y="1209915"/>
            <a:ext cx="1564432" cy="50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항목</a:t>
            </a:r>
          </a:p>
        </p:txBody>
      </p:sp>
      <p:sp>
        <p:nvSpPr>
          <p:cNvPr id="65" name="Shape 5">
            <a:extLst>
              <a:ext uri="{FF2B5EF4-FFF2-40B4-BE49-F238E27FC236}">
                <a16:creationId xmlns:a16="http://schemas.microsoft.com/office/drawing/2014/main" id="{915748D3-C76C-46CF-BD70-9C2B6BF6D2E1}"/>
              </a:ext>
            </a:extLst>
          </p:cNvPr>
          <p:cNvSpPr/>
          <p:nvPr/>
        </p:nvSpPr>
        <p:spPr>
          <a:xfrm>
            <a:off x="3169920" y="1209915"/>
            <a:ext cx="3901440" cy="50947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">
            <a:extLst>
              <a:ext uri="{FF2B5EF4-FFF2-40B4-BE49-F238E27FC236}">
                <a16:creationId xmlns:a16="http://schemas.microsoft.com/office/drawing/2014/main" id="{AF7E5147-A66D-4B8A-8D83-A7455792D2C3}"/>
              </a:ext>
            </a:extLst>
          </p:cNvPr>
          <p:cNvSpPr/>
          <p:nvPr/>
        </p:nvSpPr>
        <p:spPr>
          <a:xfrm>
            <a:off x="3791744" y="1209915"/>
            <a:ext cx="2520280" cy="50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XGBoost</a:t>
            </a:r>
          </a:p>
        </p:txBody>
      </p:sp>
      <p:sp>
        <p:nvSpPr>
          <p:cNvPr id="67" name="Shape 7">
            <a:extLst>
              <a:ext uri="{FF2B5EF4-FFF2-40B4-BE49-F238E27FC236}">
                <a16:creationId xmlns:a16="http://schemas.microsoft.com/office/drawing/2014/main" id="{9BBD1290-4FAA-41A7-AFE6-22535FE645CA}"/>
              </a:ext>
            </a:extLst>
          </p:cNvPr>
          <p:cNvSpPr/>
          <p:nvPr/>
        </p:nvSpPr>
        <p:spPr>
          <a:xfrm>
            <a:off x="7071360" y="1209915"/>
            <a:ext cx="3901440" cy="50947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8" name="Text 8">
            <a:extLst>
              <a:ext uri="{FF2B5EF4-FFF2-40B4-BE49-F238E27FC236}">
                <a16:creationId xmlns:a16="http://schemas.microsoft.com/office/drawing/2014/main" id="{528620D2-FACC-48FA-815C-8C97BF590B19}"/>
              </a:ext>
            </a:extLst>
          </p:cNvPr>
          <p:cNvSpPr/>
          <p:nvPr/>
        </p:nvSpPr>
        <p:spPr>
          <a:xfrm>
            <a:off x="7457648" y="1209915"/>
            <a:ext cx="2886824" cy="50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LightGBM ✓</a:t>
            </a:r>
          </a:p>
        </p:txBody>
      </p:sp>
      <p:sp>
        <p:nvSpPr>
          <p:cNvPr id="69" name="Shape 9">
            <a:extLst>
              <a:ext uri="{FF2B5EF4-FFF2-40B4-BE49-F238E27FC236}">
                <a16:creationId xmlns:a16="http://schemas.microsoft.com/office/drawing/2014/main" id="{40EF3D22-48E5-4940-BD64-B7BAB5F03789}"/>
              </a:ext>
            </a:extLst>
          </p:cNvPr>
          <p:cNvSpPr/>
          <p:nvPr/>
        </p:nvSpPr>
        <p:spPr>
          <a:xfrm>
            <a:off x="487680" y="1719391"/>
            <a:ext cx="2682240" cy="57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0" name="Text 10">
            <a:extLst>
              <a:ext uri="{FF2B5EF4-FFF2-40B4-BE49-F238E27FC236}">
                <a16:creationId xmlns:a16="http://schemas.microsoft.com/office/drawing/2014/main" id="{E7C8C761-96E7-486D-A853-6CF55608F1D8}"/>
              </a:ext>
            </a:extLst>
          </p:cNvPr>
          <p:cNvSpPr/>
          <p:nvPr/>
        </p:nvSpPr>
        <p:spPr>
          <a:xfrm>
            <a:off x="487680" y="1719391"/>
            <a:ext cx="26822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출시 / 개발사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1" name="Shape 11">
            <a:extLst>
              <a:ext uri="{FF2B5EF4-FFF2-40B4-BE49-F238E27FC236}">
                <a16:creationId xmlns:a16="http://schemas.microsoft.com/office/drawing/2014/main" id="{B54B45A8-59BD-4D31-8A45-C08CCFBF1A93}"/>
              </a:ext>
            </a:extLst>
          </p:cNvPr>
          <p:cNvSpPr/>
          <p:nvPr/>
        </p:nvSpPr>
        <p:spPr>
          <a:xfrm>
            <a:off x="3169920" y="1719391"/>
            <a:ext cx="3901440" cy="57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2" name="Text 12">
            <a:extLst>
              <a:ext uri="{FF2B5EF4-FFF2-40B4-BE49-F238E27FC236}">
                <a16:creationId xmlns:a16="http://schemas.microsoft.com/office/drawing/2014/main" id="{17E719E8-1B4C-4740-84B0-90443CBC4DD9}"/>
              </a:ext>
            </a:extLst>
          </p:cNvPr>
          <p:cNvSpPr/>
          <p:nvPr/>
        </p:nvSpPr>
        <p:spPr>
          <a:xfrm>
            <a:off x="3169920" y="1719391"/>
            <a:ext cx="39014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 · 워싱턴대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3" name="Shape 13">
            <a:extLst>
              <a:ext uri="{FF2B5EF4-FFF2-40B4-BE49-F238E27FC236}">
                <a16:creationId xmlns:a16="http://schemas.microsoft.com/office/drawing/2014/main" id="{87FDCFCE-D67A-4170-AAD9-F1ADAE521379}"/>
              </a:ext>
            </a:extLst>
          </p:cNvPr>
          <p:cNvSpPr/>
          <p:nvPr/>
        </p:nvSpPr>
        <p:spPr>
          <a:xfrm>
            <a:off x="7071360" y="1719391"/>
            <a:ext cx="3901440" cy="570128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4" name="Text 14">
            <a:extLst>
              <a:ext uri="{FF2B5EF4-FFF2-40B4-BE49-F238E27FC236}">
                <a16:creationId xmlns:a16="http://schemas.microsoft.com/office/drawing/2014/main" id="{616A57E1-EC9D-449A-BF8C-D12ED8B6C6A4}"/>
              </a:ext>
            </a:extLst>
          </p:cNvPr>
          <p:cNvSpPr/>
          <p:nvPr/>
        </p:nvSpPr>
        <p:spPr>
          <a:xfrm>
            <a:off x="7071360" y="1719391"/>
            <a:ext cx="39014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· Microsoft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5" name="Shape 15">
            <a:extLst>
              <a:ext uri="{FF2B5EF4-FFF2-40B4-BE49-F238E27FC236}">
                <a16:creationId xmlns:a16="http://schemas.microsoft.com/office/drawing/2014/main" id="{35C2B36B-7363-4020-8C3B-1816341770A7}"/>
              </a:ext>
            </a:extLst>
          </p:cNvPr>
          <p:cNvSpPr/>
          <p:nvPr/>
        </p:nvSpPr>
        <p:spPr>
          <a:xfrm>
            <a:off x="487680" y="2301649"/>
            <a:ext cx="2682240" cy="570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16">
            <a:extLst>
              <a:ext uri="{FF2B5EF4-FFF2-40B4-BE49-F238E27FC236}">
                <a16:creationId xmlns:a16="http://schemas.microsoft.com/office/drawing/2014/main" id="{86A15715-394C-4FFB-B91D-CF85EB670736}"/>
              </a:ext>
            </a:extLst>
          </p:cNvPr>
          <p:cNvSpPr/>
          <p:nvPr/>
        </p:nvSpPr>
        <p:spPr>
          <a:xfrm>
            <a:off x="487680" y="2301649"/>
            <a:ext cx="26822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트리 성장 방식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7" name="Shape 17">
            <a:extLst>
              <a:ext uri="{FF2B5EF4-FFF2-40B4-BE49-F238E27FC236}">
                <a16:creationId xmlns:a16="http://schemas.microsoft.com/office/drawing/2014/main" id="{2F89AF8A-12D9-49F1-B295-E2FA32EA3500}"/>
              </a:ext>
            </a:extLst>
          </p:cNvPr>
          <p:cNvSpPr/>
          <p:nvPr/>
        </p:nvSpPr>
        <p:spPr>
          <a:xfrm>
            <a:off x="3169920" y="2301649"/>
            <a:ext cx="3901440" cy="570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8" name="Text 18">
            <a:extLst>
              <a:ext uri="{FF2B5EF4-FFF2-40B4-BE49-F238E27FC236}">
                <a16:creationId xmlns:a16="http://schemas.microsoft.com/office/drawing/2014/main" id="{E3BE015E-8405-4684-BEB8-FBE1D7295DD0}"/>
              </a:ext>
            </a:extLst>
          </p:cNvPr>
          <p:cNvSpPr/>
          <p:nvPr/>
        </p:nvSpPr>
        <p:spPr>
          <a:xfrm>
            <a:off x="3169920" y="2301649"/>
            <a:ext cx="39014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Level-wise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(균등하게 자람)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9" name="Shape 19">
            <a:extLst>
              <a:ext uri="{FF2B5EF4-FFF2-40B4-BE49-F238E27FC236}">
                <a16:creationId xmlns:a16="http://schemas.microsoft.com/office/drawing/2014/main" id="{ABC3DE5A-0211-4E62-BBA8-09B3AF7E1FA7}"/>
              </a:ext>
            </a:extLst>
          </p:cNvPr>
          <p:cNvSpPr/>
          <p:nvPr/>
        </p:nvSpPr>
        <p:spPr>
          <a:xfrm>
            <a:off x="7071360" y="2301649"/>
            <a:ext cx="3901440" cy="570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20">
            <a:extLst>
              <a:ext uri="{FF2B5EF4-FFF2-40B4-BE49-F238E27FC236}">
                <a16:creationId xmlns:a16="http://schemas.microsoft.com/office/drawing/2014/main" id="{9DFF481D-7E4A-430E-B14A-B99DB51B6DAE}"/>
              </a:ext>
            </a:extLst>
          </p:cNvPr>
          <p:cNvSpPr/>
          <p:nvPr/>
        </p:nvSpPr>
        <p:spPr>
          <a:xfrm>
            <a:off x="7071360" y="2301649"/>
            <a:ext cx="39014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Leaf-wise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(깊게 파고듦)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1" name="Shape 21">
            <a:extLst>
              <a:ext uri="{FF2B5EF4-FFF2-40B4-BE49-F238E27FC236}">
                <a16:creationId xmlns:a16="http://schemas.microsoft.com/office/drawing/2014/main" id="{ED7769D5-B7ED-4CE0-88ED-6BC3DE03AC56}"/>
              </a:ext>
            </a:extLst>
          </p:cNvPr>
          <p:cNvSpPr/>
          <p:nvPr/>
        </p:nvSpPr>
        <p:spPr>
          <a:xfrm>
            <a:off x="487680" y="2883907"/>
            <a:ext cx="2682240" cy="57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2" name="Text 22">
            <a:extLst>
              <a:ext uri="{FF2B5EF4-FFF2-40B4-BE49-F238E27FC236}">
                <a16:creationId xmlns:a16="http://schemas.microsoft.com/office/drawing/2014/main" id="{DFBE15AC-A9F6-4E9F-8A8D-E576FF472EEE}"/>
              </a:ext>
            </a:extLst>
          </p:cNvPr>
          <p:cNvSpPr/>
          <p:nvPr/>
        </p:nvSpPr>
        <p:spPr>
          <a:xfrm>
            <a:off x="487680" y="2883907"/>
            <a:ext cx="26822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속도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3" name="Shape 23">
            <a:extLst>
              <a:ext uri="{FF2B5EF4-FFF2-40B4-BE49-F238E27FC236}">
                <a16:creationId xmlns:a16="http://schemas.microsoft.com/office/drawing/2014/main" id="{0164F19E-1898-4540-9BEE-B7EE6046A150}"/>
              </a:ext>
            </a:extLst>
          </p:cNvPr>
          <p:cNvSpPr/>
          <p:nvPr/>
        </p:nvSpPr>
        <p:spPr>
          <a:xfrm>
            <a:off x="3169920" y="2883907"/>
            <a:ext cx="3901440" cy="57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4" name="Text 24">
            <a:extLst>
              <a:ext uri="{FF2B5EF4-FFF2-40B4-BE49-F238E27FC236}">
                <a16:creationId xmlns:a16="http://schemas.microsoft.com/office/drawing/2014/main" id="{065F53BB-BC08-4AAA-8978-09CB9AEB8BD2}"/>
              </a:ext>
            </a:extLst>
          </p:cNvPr>
          <p:cNvSpPr/>
          <p:nvPr/>
        </p:nvSpPr>
        <p:spPr>
          <a:xfrm>
            <a:off x="3169920" y="2883907"/>
            <a:ext cx="39014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빠름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5" name="Shape 25">
            <a:extLst>
              <a:ext uri="{FF2B5EF4-FFF2-40B4-BE49-F238E27FC236}">
                <a16:creationId xmlns:a16="http://schemas.microsoft.com/office/drawing/2014/main" id="{3BD94DF3-473D-4F07-B860-C4DDCAABFC39}"/>
              </a:ext>
            </a:extLst>
          </p:cNvPr>
          <p:cNvSpPr/>
          <p:nvPr/>
        </p:nvSpPr>
        <p:spPr>
          <a:xfrm>
            <a:off x="7071360" y="2883907"/>
            <a:ext cx="3901440" cy="570128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83179C48-2D2E-482E-9976-C236152DB85A}"/>
              </a:ext>
            </a:extLst>
          </p:cNvPr>
          <p:cNvSpPr/>
          <p:nvPr/>
        </p:nvSpPr>
        <p:spPr>
          <a:xfrm>
            <a:off x="7071360" y="2883907"/>
            <a:ext cx="39014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10배 더 </a:t>
            </a:r>
            <a:r>
              <a:rPr lang="en-US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빠름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7" name="Shape 27">
            <a:extLst>
              <a:ext uri="{FF2B5EF4-FFF2-40B4-BE49-F238E27FC236}">
                <a16:creationId xmlns:a16="http://schemas.microsoft.com/office/drawing/2014/main" id="{2969E666-8264-49D2-A98B-4F556FB0AFB0}"/>
              </a:ext>
            </a:extLst>
          </p:cNvPr>
          <p:cNvSpPr/>
          <p:nvPr/>
        </p:nvSpPr>
        <p:spPr>
          <a:xfrm>
            <a:off x="487680" y="3466165"/>
            <a:ext cx="2682240" cy="570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8" name="Text 28">
            <a:extLst>
              <a:ext uri="{FF2B5EF4-FFF2-40B4-BE49-F238E27FC236}">
                <a16:creationId xmlns:a16="http://schemas.microsoft.com/office/drawing/2014/main" id="{125E1D3E-E536-4626-8D91-499331817ABA}"/>
              </a:ext>
            </a:extLst>
          </p:cNvPr>
          <p:cNvSpPr/>
          <p:nvPr/>
        </p:nvSpPr>
        <p:spPr>
          <a:xfrm>
            <a:off x="487680" y="3466165"/>
            <a:ext cx="26822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메모리 사용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9" name="Shape 29">
            <a:extLst>
              <a:ext uri="{FF2B5EF4-FFF2-40B4-BE49-F238E27FC236}">
                <a16:creationId xmlns:a16="http://schemas.microsoft.com/office/drawing/2014/main" id="{B5376D8D-2B04-4337-AA32-B314D4BD37D4}"/>
              </a:ext>
            </a:extLst>
          </p:cNvPr>
          <p:cNvSpPr/>
          <p:nvPr/>
        </p:nvSpPr>
        <p:spPr>
          <a:xfrm>
            <a:off x="3169920" y="3466165"/>
            <a:ext cx="3901440" cy="570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0" name="Text 30">
            <a:extLst>
              <a:ext uri="{FF2B5EF4-FFF2-40B4-BE49-F238E27FC236}">
                <a16:creationId xmlns:a16="http://schemas.microsoft.com/office/drawing/2014/main" id="{985398C5-314D-400D-9632-1763CF09126C}"/>
              </a:ext>
            </a:extLst>
          </p:cNvPr>
          <p:cNvSpPr/>
          <p:nvPr/>
        </p:nvSpPr>
        <p:spPr>
          <a:xfrm>
            <a:off x="3169920" y="3466165"/>
            <a:ext cx="39014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보통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1" name="Shape 31">
            <a:extLst>
              <a:ext uri="{FF2B5EF4-FFF2-40B4-BE49-F238E27FC236}">
                <a16:creationId xmlns:a16="http://schemas.microsoft.com/office/drawing/2014/main" id="{631ADCF0-FF76-480B-96F7-9B6486C94F8F}"/>
              </a:ext>
            </a:extLst>
          </p:cNvPr>
          <p:cNvSpPr/>
          <p:nvPr/>
        </p:nvSpPr>
        <p:spPr>
          <a:xfrm>
            <a:off x="7071360" y="3466165"/>
            <a:ext cx="3901440" cy="570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2" name="Text 32">
            <a:extLst>
              <a:ext uri="{FF2B5EF4-FFF2-40B4-BE49-F238E27FC236}">
                <a16:creationId xmlns:a16="http://schemas.microsoft.com/office/drawing/2014/main" id="{662AB039-C4C3-4D6C-B2E7-C3F59514D153}"/>
              </a:ext>
            </a:extLst>
          </p:cNvPr>
          <p:cNvSpPr/>
          <p:nvPr/>
        </p:nvSpPr>
        <p:spPr>
          <a:xfrm>
            <a:off x="7071360" y="3466165"/>
            <a:ext cx="39014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훨씬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적음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3" name="Shape 33">
            <a:extLst>
              <a:ext uri="{FF2B5EF4-FFF2-40B4-BE49-F238E27FC236}">
                <a16:creationId xmlns:a16="http://schemas.microsoft.com/office/drawing/2014/main" id="{24B2D5D1-C3C1-4662-BF53-24FBFF285206}"/>
              </a:ext>
            </a:extLst>
          </p:cNvPr>
          <p:cNvSpPr/>
          <p:nvPr/>
        </p:nvSpPr>
        <p:spPr>
          <a:xfrm>
            <a:off x="487680" y="4048424"/>
            <a:ext cx="2682240" cy="57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4" name="Text 34">
            <a:extLst>
              <a:ext uri="{FF2B5EF4-FFF2-40B4-BE49-F238E27FC236}">
                <a16:creationId xmlns:a16="http://schemas.microsoft.com/office/drawing/2014/main" id="{FC84B7A5-C0B4-4449-9FA2-DE41D1F8F2D6}"/>
              </a:ext>
            </a:extLst>
          </p:cNvPr>
          <p:cNvSpPr/>
          <p:nvPr/>
        </p:nvSpPr>
        <p:spPr>
          <a:xfrm>
            <a:off x="487680" y="4048424"/>
            <a:ext cx="26822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소규모 데이터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5" name="Shape 35">
            <a:extLst>
              <a:ext uri="{FF2B5EF4-FFF2-40B4-BE49-F238E27FC236}">
                <a16:creationId xmlns:a16="http://schemas.microsoft.com/office/drawing/2014/main" id="{E37CDD8D-FCFF-4DEF-ABD5-890563AB5FA0}"/>
              </a:ext>
            </a:extLst>
          </p:cNvPr>
          <p:cNvSpPr/>
          <p:nvPr/>
        </p:nvSpPr>
        <p:spPr>
          <a:xfrm>
            <a:off x="3169920" y="4048424"/>
            <a:ext cx="3901440" cy="57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6" name="Text 36">
            <a:extLst>
              <a:ext uri="{FF2B5EF4-FFF2-40B4-BE49-F238E27FC236}">
                <a16:creationId xmlns:a16="http://schemas.microsoft.com/office/drawing/2014/main" id="{C6C9931C-4D67-4C2D-8152-E7B5B35583C0}"/>
              </a:ext>
            </a:extLst>
          </p:cNvPr>
          <p:cNvSpPr/>
          <p:nvPr/>
        </p:nvSpPr>
        <p:spPr>
          <a:xfrm>
            <a:off x="3169920" y="4048424"/>
            <a:ext cx="39014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안정적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7" name="Shape 37">
            <a:extLst>
              <a:ext uri="{FF2B5EF4-FFF2-40B4-BE49-F238E27FC236}">
                <a16:creationId xmlns:a16="http://schemas.microsoft.com/office/drawing/2014/main" id="{14BE9813-652A-4949-814C-C5F8323E60F0}"/>
              </a:ext>
            </a:extLst>
          </p:cNvPr>
          <p:cNvSpPr/>
          <p:nvPr/>
        </p:nvSpPr>
        <p:spPr>
          <a:xfrm>
            <a:off x="7071360" y="4048424"/>
            <a:ext cx="3901440" cy="570128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8" name="Text 38">
            <a:extLst>
              <a:ext uri="{FF2B5EF4-FFF2-40B4-BE49-F238E27FC236}">
                <a16:creationId xmlns:a16="http://schemas.microsoft.com/office/drawing/2014/main" id="{22A3CFE1-F395-47F5-B61A-BB00D3F9AF35}"/>
              </a:ext>
            </a:extLst>
          </p:cNvPr>
          <p:cNvSpPr/>
          <p:nvPr/>
        </p:nvSpPr>
        <p:spPr>
          <a:xfrm>
            <a:off x="7071360" y="4048424"/>
            <a:ext cx="39014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과적합 주의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9" name="Shape 39">
            <a:extLst>
              <a:ext uri="{FF2B5EF4-FFF2-40B4-BE49-F238E27FC236}">
                <a16:creationId xmlns:a16="http://schemas.microsoft.com/office/drawing/2014/main" id="{30CD8A64-9C41-43C2-B4E7-33AE472F416D}"/>
              </a:ext>
            </a:extLst>
          </p:cNvPr>
          <p:cNvSpPr/>
          <p:nvPr/>
        </p:nvSpPr>
        <p:spPr>
          <a:xfrm>
            <a:off x="487680" y="4630682"/>
            <a:ext cx="2682240" cy="570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0" name="Text 40">
            <a:extLst>
              <a:ext uri="{FF2B5EF4-FFF2-40B4-BE49-F238E27FC236}">
                <a16:creationId xmlns:a16="http://schemas.microsoft.com/office/drawing/2014/main" id="{C5F32A6D-109E-452C-BA05-9945273FAB27}"/>
              </a:ext>
            </a:extLst>
          </p:cNvPr>
          <p:cNvSpPr/>
          <p:nvPr/>
        </p:nvSpPr>
        <p:spPr>
          <a:xfrm>
            <a:off x="487680" y="4630682"/>
            <a:ext cx="26822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대규모 데이터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1" name="Shape 41">
            <a:extLst>
              <a:ext uri="{FF2B5EF4-FFF2-40B4-BE49-F238E27FC236}">
                <a16:creationId xmlns:a16="http://schemas.microsoft.com/office/drawing/2014/main" id="{5675A472-67B7-4B24-9447-1F04F818DA04}"/>
              </a:ext>
            </a:extLst>
          </p:cNvPr>
          <p:cNvSpPr/>
          <p:nvPr/>
        </p:nvSpPr>
        <p:spPr>
          <a:xfrm>
            <a:off x="3169920" y="4630682"/>
            <a:ext cx="3901440" cy="570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2" name="Text 42">
            <a:extLst>
              <a:ext uri="{FF2B5EF4-FFF2-40B4-BE49-F238E27FC236}">
                <a16:creationId xmlns:a16="http://schemas.microsoft.com/office/drawing/2014/main" id="{0AC099BA-8B6C-4AD8-84B7-73249EB8C0EA}"/>
              </a:ext>
            </a:extLst>
          </p:cNvPr>
          <p:cNvSpPr/>
          <p:nvPr/>
        </p:nvSpPr>
        <p:spPr>
          <a:xfrm>
            <a:off x="3169920" y="4630682"/>
            <a:ext cx="39014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좋음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3" name="Shape 43">
            <a:extLst>
              <a:ext uri="{FF2B5EF4-FFF2-40B4-BE49-F238E27FC236}">
                <a16:creationId xmlns:a16="http://schemas.microsoft.com/office/drawing/2014/main" id="{3EB5194B-FF99-4DAA-9AC5-FEB5BCC90D1A}"/>
              </a:ext>
            </a:extLst>
          </p:cNvPr>
          <p:cNvSpPr/>
          <p:nvPr/>
        </p:nvSpPr>
        <p:spPr>
          <a:xfrm>
            <a:off x="7071360" y="4630682"/>
            <a:ext cx="3901440" cy="570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4" name="Text 44">
            <a:extLst>
              <a:ext uri="{FF2B5EF4-FFF2-40B4-BE49-F238E27FC236}">
                <a16:creationId xmlns:a16="http://schemas.microsoft.com/office/drawing/2014/main" id="{4A9415E1-FA20-482F-8D6B-22E427F028BE}"/>
              </a:ext>
            </a:extLst>
          </p:cNvPr>
          <p:cNvSpPr/>
          <p:nvPr/>
        </p:nvSpPr>
        <p:spPr>
          <a:xfrm>
            <a:off x="7071360" y="4630682"/>
            <a:ext cx="39014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압도적으로 </a:t>
            </a:r>
            <a:r>
              <a:rPr lang="en-US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좋음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5" name="Shape 45">
            <a:extLst>
              <a:ext uri="{FF2B5EF4-FFF2-40B4-BE49-F238E27FC236}">
                <a16:creationId xmlns:a16="http://schemas.microsoft.com/office/drawing/2014/main" id="{1B4A0001-ABDF-454D-8C29-783CA3054A58}"/>
              </a:ext>
            </a:extLst>
          </p:cNvPr>
          <p:cNvSpPr/>
          <p:nvPr/>
        </p:nvSpPr>
        <p:spPr>
          <a:xfrm>
            <a:off x="487680" y="5212940"/>
            <a:ext cx="2682240" cy="57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6" name="Text 46">
            <a:extLst>
              <a:ext uri="{FF2B5EF4-FFF2-40B4-BE49-F238E27FC236}">
                <a16:creationId xmlns:a16="http://schemas.microsoft.com/office/drawing/2014/main" id="{74F422C3-3CF7-4C9F-B6EF-617266C12069}"/>
              </a:ext>
            </a:extLst>
          </p:cNvPr>
          <p:cNvSpPr/>
          <p:nvPr/>
        </p:nvSpPr>
        <p:spPr>
          <a:xfrm>
            <a:off x="487680" y="5212940"/>
            <a:ext cx="26822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파라미터 수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7" name="Shape 47">
            <a:extLst>
              <a:ext uri="{FF2B5EF4-FFF2-40B4-BE49-F238E27FC236}">
                <a16:creationId xmlns:a16="http://schemas.microsoft.com/office/drawing/2014/main" id="{5F22CC31-959C-4AD3-9E31-4CA0D5EDC8CD}"/>
              </a:ext>
            </a:extLst>
          </p:cNvPr>
          <p:cNvSpPr/>
          <p:nvPr/>
        </p:nvSpPr>
        <p:spPr>
          <a:xfrm>
            <a:off x="3169920" y="5212940"/>
            <a:ext cx="3901440" cy="57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8" name="Text 48">
            <a:extLst>
              <a:ext uri="{FF2B5EF4-FFF2-40B4-BE49-F238E27FC236}">
                <a16:creationId xmlns:a16="http://schemas.microsoft.com/office/drawing/2014/main" id="{AE288E56-1B01-405E-850B-5FCBB0B55620}"/>
              </a:ext>
            </a:extLst>
          </p:cNvPr>
          <p:cNvSpPr/>
          <p:nvPr/>
        </p:nvSpPr>
        <p:spPr>
          <a:xfrm>
            <a:off x="3169920" y="5212940"/>
            <a:ext cx="39014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보통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9" name="Shape 49">
            <a:extLst>
              <a:ext uri="{FF2B5EF4-FFF2-40B4-BE49-F238E27FC236}">
                <a16:creationId xmlns:a16="http://schemas.microsoft.com/office/drawing/2014/main" id="{8A797437-3E77-4ABC-8B89-E8FCFCF7E348}"/>
              </a:ext>
            </a:extLst>
          </p:cNvPr>
          <p:cNvSpPr/>
          <p:nvPr/>
        </p:nvSpPr>
        <p:spPr>
          <a:xfrm>
            <a:off x="7071360" y="5212940"/>
            <a:ext cx="3901440" cy="570128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0" name="Text 50">
            <a:extLst>
              <a:ext uri="{FF2B5EF4-FFF2-40B4-BE49-F238E27FC236}">
                <a16:creationId xmlns:a16="http://schemas.microsoft.com/office/drawing/2014/main" id="{A737CCD8-2739-4122-B965-7AA1E35D46C9}"/>
              </a:ext>
            </a:extLst>
          </p:cNvPr>
          <p:cNvSpPr/>
          <p:nvPr/>
        </p:nvSpPr>
        <p:spPr>
          <a:xfrm>
            <a:off x="7071360" y="5212940"/>
            <a:ext cx="39014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 많음 (세밀 조정 가능)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1" name="Shape 51">
            <a:extLst>
              <a:ext uri="{FF2B5EF4-FFF2-40B4-BE49-F238E27FC236}">
                <a16:creationId xmlns:a16="http://schemas.microsoft.com/office/drawing/2014/main" id="{088B1982-66DD-4C8A-9042-F60130906AC4}"/>
              </a:ext>
            </a:extLst>
          </p:cNvPr>
          <p:cNvSpPr/>
          <p:nvPr/>
        </p:nvSpPr>
        <p:spPr>
          <a:xfrm>
            <a:off x="487680" y="5795198"/>
            <a:ext cx="2682240" cy="570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2" name="Text 52">
            <a:extLst>
              <a:ext uri="{FF2B5EF4-FFF2-40B4-BE49-F238E27FC236}">
                <a16:creationId xmlns:a16="http://schemas.microsoft.com/office/drawing/2014/main" id="{FB49F48D-DF36-4FC1-BE79-40728501298B}"/>
              </a:ext>
            </a:extLst>
          </p:cNvPr>
          <p:cNvSpPr/>
          <p:nvPr/>
        </p:nvSpPr>
        <p:spPr>
          <a:xfrm>
            <a:off x="487680" y="5795198"/>
            <a:ext cx="26822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사용률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3" name="Shape 53">
            <a:extLst>
              <a:ext uri="{FF2B5EF4-FFF2-40B4-BE49-F238E27FC236}">
                <a16:creationId xmlns:a16="http://schemas.microsoft.com/office/drawing/2014/main" id="{5083B11D-93DF-44E8-853C-59E1B11233D3}"/>
              </a:ext>
            </a:extLst>
          </p:cNvPr>
          <p:cNvSpPr/>
          <p:nvPr/>
        </p:nvSpPr>
        <p:spPr>
          <a:xfrm>
            <a:off x="3169920" y="5795198"/>
            <a:ext cx="3901440" cy="570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4" name="Text 54">
            <a:extLst>
              <a:ext uri="{FF2B5EF4-FFF2-40B4-BE49-F238E27FC236}">
                <a16:creationId xmlns:a16="http://schemas.microsoft.com/office/drawing/2014/main" id="{7E4BEB55-A27E-41CE-A28F-F6706FB7E2B5}"/>
              </a:ext>
            </a:extLst>
          </p:cNvPr>
          <p:cNvSpPr/>
          <p:nvPr/>
        </p:nvSpPr>
        <p:spPr>
          <a:xfrm>
            <a:off x="3169920" y="5795198"/>
            <a:ext cx="39014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높음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5" name="Shape 55">
            <a:extLst>
              <a:ext uri="{FF2B5EF4-FFF2-40B4-BE49-F238E27FC236}">
                <a16:creationId xmlns:a16="http://schemas.microsoft.com/office/drawing/2014/main" id="{ADFBA4D7-8276-494D-82DD-A2EA91748661}"/>
              </a:ext>
            </a:extLst>
          </p:cNvPr>
          <p:cNvSpPr/>
          <p:nvPr/>
        </p:nvSpPr>
        <p:spPr>
          <a:xfrm>
            <a:off x="7071360" y="5795198"/>
            <a:ext cx="3901440" cy="570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6" name="Text 56">
            <a:extLst>
              <a:ext uri="{FF2B5EF4-FFF2-40B4-BE49-F238E27FC236}">
                <a16:creationId xmlns:a16="http://schemas.microsoft.com/office/drawing/2014/main" id="{2355CB93-CE58-4854-8E6B-BE0917E4DE95}"/>
              </a:ext>
            </a:extLst>
          </p:cNvPr>
          <p:cNvSpPr/>
          <p:nvPr/>
        </p:nvSpPr>
        <p:spPr>
          <a:xfrm>
            <a:off x="7071360" y="5795198"/>
            <a:ext cx="3901440" cy="5701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 높음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7" name="Shape 57">
            <a:extLst>
              <a:ext uri="{FF2B5EF4-FFF2-40B4-BE49-F238E27FC236}">
                <a16:creationId xmlns:a16="http://schemas.microsoft.com/office/drawing/2014/main" id="{FEB9B12D-C9BF-482B-9B5F-63BDA1DCA241}"/>
              </a:ext>
            </a:extLst>
          </p:cNvPr>
          <p:cNvSpPr/>
          <p:nvPr/>
        </p:nvSpPr>
        <p:spPr>
          <a:xfrm>
            <a:off x="487680" y="6401717"/>
            <a:ext cx="11216640" cy="339651"/>
          </a:xfrm>
          <a:prstGeom prst="rect">
            <a:avLst/>
          </a:prstGeom>
          <a:solidFill>
            <a:schemeClr val="bg2"/>
          </a:solidFill>
          <a:ln w="12700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</p:sp>
      <p:sp>
        <p:nvSpPr>
          <p:cNvPr id="118" name="Text 58">
            <a:extLst>
              <a:ext uri="{FF2B5EF4-FFF2-40B4-BE49-F238E27FC236}">
                <a16:creationId xmlns:a16="http://schemas.microsoft.com/office/drawing/2014/main" id="{C2A3ED8A-3E36-418E-8647-6497BBA98389}"/>
              </a:ext>
            </a:extLst>
          </p:cNvPr>
          <p:cNvSpPr/>
          <p:nvPr/>
        </p:nvSpPr>
        <p:spPr>
          <a:xfrm>
            <a:off x="487680" y="6401717"/>
            <a:ext cx="11216640" cy="33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✅  결론: 데이터 1만 건 이상이면 LightGBM,  소규모 안정성 중시엔 XGBoost</a:t>
            </a:r>
          </a:p>
        </p:txBody>
      </p:sp>
    </p:spTree>
    <p:extLst>
      <p:ext uri="{BB962C8B-B14F-4D97-AF65-F5344CB8AC3E}">
        <p14:creationId xmlns:p14="http://schemas.microsoft.com/office/powerpoint/2010/main" val="1767723328"/>
      </p:ext>
    </p:extLst>
  </p:cSld>
  <p:clrMapOvr>
    <a:masterClrMapping/>
  </p:clrMapOvr>
  <p:transition spd="slow"/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5CE505D-6056-443D-BE7A-191D9A7ACFF7}"/>
              </a:ext>
            </a:extLst>
          </p:cNvPr>
          <p:cNvSpPr/>
          <p:nvPr/>
        </p:nvSpPr>
        <p:spPr>
          <a:xfrm>
            <a:off x="0" y="0"/>
            <a:ext cx="12192000" cy="219505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53991E6-9DAE-40DD-BBA3-F52A0799EB76}"/>
              </a:ext>
            </a:extLst>
          </p:cNvPr>
          <p:cNvSpPr/>
          <p:nvPr/>
        </p:nvSpPr>
        <p:spPr>
          <a:xfrm>
            <a:off x="609600" y="341453"/>
            <a:ext cx="10972800" cy="7072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핵심 파라미터</a:t>
            </a:r>
            <a:endParaRPr lang="en-US" sz="3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26208AD-0C7B-43E1-A3E8-43D94E0FE5A2}"/>
              </a:ext>
            </a:extLst>
          </p:cNvPr>
          <p:cNvSpPr/>
          <p:nvPr/>
        </p:nvSpPr>
        <p:spPr>
          <a:xfrm>
            <a:off x="609600" y="1073137"/>
            <a:ext cx="10972800" cy="365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B9D3B2-61BE-4DB6-AA69-5A01C0D30255}"/>
              </a:ext>
            </a:extLst>
          </p:cNvPr>
          <p:cNvSpPr/>
          <p:nvPr/>
        </p:nvSpPr>
        <p:spPr>
          <a:xfrm>
            <a:off x="487680" y="1243863"/>
            <a:ext cx="2194560" cy="487789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B0F59BB-3346-4FC1-8B90-C54047985CAF}"/>
              </a:ext>
            </a:extLst>
          </p:cNvPr>
          <p:cNvSpPr/>
          <p:nvPr/>
        </p:nvSpPr>
        <p:spPr>
          <a:xfrm>
            <a:off x="487680" y="1243863"/>
            <a:ext cx="2194560" cy="4877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파라미터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4A86206-ED21-4EAD-B7A4-C2CF2159CE6D}"/>
              </a:ext>
            </a:extLst>
          </p:cNvPr>
          <p:cNvSpPr/>
          <p:nvPr/>
        </p:nvSpPr>
        <p:spPr>
          <a:xfrm>
            <a:off x="2682240" y="1243863"/>
            <a:ext cx="1463040" cy="487789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CB27DB5-0002-40E5-A2B4-A03FEF4F8043}"/>
              </a:ext>
            </a:extLst>
          </p:cNvPr>
          <p:cNvSpPr/>
          <p:nvPr/>
        </p:nvSpPr>
        <p:spPr>
          <a:xfrm>
            <a:off x="2682240" y="1243863"/>
            <a:ext cx="1463040" cy="4877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기본값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0FE9083-A986-4CA3-AF34-1F195A84FA55}"/>
              </a:ext>
            </a:extLst>
          </p:cNvPr>
          <p:cNvSpPr/>
          <p:nvPr/>
        </p:nvSpPr>
        <p:spPr>
          <a:xfrm>
            <a:off x="4145280" y="1243863"/>
            <a:ext cx="3048000" cy="487789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1A146F3-5CCB-4D57-ACE4-470AE90EF0B9}"/>
              </a:ext>
            </a:extLst>
          </p:cNvPr>
          <p:cNvSpPr/>
          <p:nvPr/>
        </p:nvSpPr>
        <p:spPr>
          <a:xfrm>
            <a:off x="4145280" y="1243863"/>
            <a:ext cx="3048000" cy="4877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의미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939E259C-0D41-4A76-A636-439971C530DD}"/>
              </a:ext>
            </a:extLst>
          </p:cNvPr>
          <p:cNvSpPr/>
          <p:nvPr/>
        </p:nvSpPr>
        <p:spPr>
          <a:xfrm>
            <a:off x="7193280" y="1243863"/>
            <a:ext cx="3657600" cy="487789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AB66CD7-9A67-4B9A-9DF4-0966E79D4675}"/>
              </a:ext>
            </a:extLst>
          </p:cNvPr>
          <p:cNvSpPr/>
          <p:nvPr/>
        </p:nvSpPr>
        <p:spPr>
          <a:xfrm>
            <a:off x="7193280" y="1243863"/>
            <a:ext cx="3657600" cy="4877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조정 가이드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2C4617FD-B43C-4AFD-AEC8-D75E2E1DF26A}"/>
              </a:ext>
            </a:extLst>
          </p:cNvPr>
          <p:cNvSpPr/>
          <p:nvPr/>
        </p:nvSpPr>
        <p:spPr>
          <a:xfrm>
            <a:off x="487680" y="1731652"/>
            <a:ext cx="2194560" cy="5975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C17F6BF-004E-4D21-917D-D59C6E61E0D2}"/>
              </a:ext>
            </a:extLst>
          </p:cNvPr>
          <p:cNvSpPr/>
          <p:nvPr/>
        </p:nvSpPr>
        <p:spPr>
          <a:xfrm>
            <a:off x="487680" y="1731652"/>
            <a:ext cx="219456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n_estimators</a:t>
            </a:r>
            <a:endParaRPr lang="en-US" sz="16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15027FD1-CD53-43D2-AB6A-146E9B370CF8}"/>
              </a:ext>
            </a:extLst>
          </p:cNvPr>
          <p:cNvSpPr/>
          <p:nvPr/>
        </p:nvSpPr>
        <p:spPr>
          <a:xfrm>
            <a:off x="2682240" y="1731652"/>
            <a:ext cx="1463040" cy="5975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58E3A5C-6F5D-4B8B-8D4D-C68F1843ECF2}"/>
              </a:ext>
            </a:extLst>
          </p:cNvPr>
          <p:cNvSpPr/>
          <p:nvPr/>
        </p:nvSpPr>
        <p:spPr>
          <a:xfrm>
            <a:off x="2682240" y="1731652"/>
            <a:ext cx="146304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600" b="1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5512952C-433C-419B-9F03-87CB36D78BF4}"/>
              </a:ext>
            </a:extLst>
          </p:cNvPr>
          <p:cNvSpPr/>
          <p:nvPr/>
        </p:nvSpPr>
        <p:spPr>
          <a:xfrm>
            <a:off x="4145280" y="1731652"/>
            <a:ext cx="3048000" cy="5975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0EB1268-62F9-4541-A10D-087F26E5CFFB}"/>
              </a:ext>
            </a:extLst>
          </p:cNvPr>
          <p:cNvSpPr/>
          <p:nvPr/>
        </p:nvSpPr>
        <p:spPr>
          <a:xfrm>
            <a:off x="4145280" y="1731652"/>
            <a:ext cx="304800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트리 개수</a:t>
            </a:r>
            <a:endParaRPr lang="en-US" sz="14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E999449D-D638-4002-9A33-57A486D09AC4}"/>
              </a:ext>
            </a:extLst>
          </p:cNvPr>
          <p:cNvSpPr/>
          <p:nvPr/>
        </p:nvSpPr>
        <p:spPr>
          <a:xfrm>
            <a:off x="7193280" y="1731652"/>
            <a:ext cx="3657600" cy="5975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A8D601E3-F90B-4F4C-9019-F769876FECCA}"/>
              </a:ext>
            </a:extLst>
          </p:cNvPr>
          <p:cNvSpPr/>
          <p:nvPr/>
        </p:nvSpPr>
        <p:spPr>
          <a:xfrm>
            <a:off x="7193280" y="1731652"/>
            <a:ext cx="3657600" cy="59754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많을수록 정확, 과적합 주의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100~1000 사이 조정</a:t>
            </a:r>
            <a:endParaRPr lang="en-US" sz="14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A4044C05-BF26-4029-8CAD-37875BEE0E7E}"/>
              </a:ext>
            </a:extLst>
          </p:cNvPr>
          <p:cNvSpPr/>
          <p:nvPr/>
        </p:nvSpPr>
        <p:spPr>
          <a:xfrm>
            <a:off x="487680" y="2341389"/>
            <a:ext cx="2194560" cy="597542"/>
          </a:xfrm>
          <a:prstGeom prst="rect">
            <a:avLst/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705BA85-3EE6-4C5C-8D35-28B5C227B2B9}"/>
              </a:ext>
            </a:extLst>
          </p:cNvPr>
          <p:cNvSpPr/>
          <p:nvPr/>
        </p:nvSpPr>
        <p:spPr>
          <a:xfrm>
            <a:off x="487680" y="2341389"/>
            <a:ext cx="219456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num_leaves</a:t>
            </a:r>
            <a:endParaRPr lang="en-US" sz="16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2CCABB16-CD70-4B8F-A38C-873883325373}"/>
              </a:ext>
            </a:extLst>
          </p:cNvPr>
          <p:cNvSpPr/>
          <p:nvPr/>
        </p:nvSpPr>
        <p:spPr>
          <a:xfrm>
            <a:off x="2682240" y="2341389"/>
            <a:ext cx="1463040" cy="59754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DE541492-122C-4348-ADD7-2651F7A4E297}"/>
              </a:ext>
            </a:extLst>
          </p:cNvPr>
          <p:cNvSpPr/>
          <p:nvPr/>
        </p:nvSpPr>
        <p:spPr>
          <a:xfrm>
            <a:off x="2682240" y="2341389"/>
            <a:ext cx="146304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600" b="1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B09DC358-14CC-4923-8B8A-F8A745753EC1}"/>
              </a:ext>
            </a:extLst>
          </p:cNvPr>
          <p:cNvSpPr/>
          <p:nvPr/>
        </p:nvSpPr>
        <p:spPr>
          <a:xfrm>
            <a:off x="4145280" y="2341389"/>
            <a:ext cx="3048000" cy="59754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F05EB47-85B2-4CDE-926D-A9A85BF470CB}"/>
              </a:ext>
            </a:extLst>
          </p:cNvPr>
          <p:cNvSpPr/>
          <p:nvPr/>
        </p:nvSpPr>
        <p:spPr>
          <a:xfrm>
            <a:off x="4145280" y="2341389"/>
            <a:ext cx="304800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최대 개수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(LightGBM 핵심!)</a:t>
            </a:r>
            <a:endParaRPr lang="en-US" sz="14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FB945DC3-9962-4297-A64C-41F146422A9E}"/>
              </a:ext>
            </a:extLst>
          </p:cNvPr>
          <p:cNvSpPr/>
          <p:nvPr/>
        </p:nvSpPr>
        <p:spPr>
          <a:xfrm>
            <a:off x="7193280" y="2341389"/>
            <a:ext cx="3657600" cy="59754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107C12B-FDA0-4DC9-BCF0-41B8FF503A55}"/>
              </a:ext>
            </a:extLst>
          </p:cNvPr>
          <p:cNvSpPr/>
          <p:nvPr/>
        </p:nvSpPr>
        <p:spPr>
          <a:xfrm>
            <a:off x="7193280" y="2341389"/>
            <a:ext cx="3657600" cy="59754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클수록 복잡한 패턴 학습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2^(max_depth) 이하 권장</a:t>
            </a:r>
            <a:endParaRPr lang="en-US" sz="140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20E4D6E8-97AB-4BA5-8492-F7FD25D1F30C}"/>
              </a:ext>
            </a:extLst>
          </p:cNvPr>
          <p:cNvSpPr/>
          <p:nvPr/>
        </p:nvSpPr>
        <p:spPr>
          <a:xfrm>
            <a:off x="487680" y="2951126"/>
            <a:ext cx="2194560" cy="5975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49A4E361-0B11-4479-81ED-F66B13C955FF}"/>
              </a:ext>
            </a:extLst>
          </p:cNvPr>
          <p:cNvSpPr/>
          <p:nvPr/>
        </p:nvSpPr>
        <p:spPr>
          <a:xfrm>
            <a:off x="487680" y="2951126"/>
            <a:ext cx="219456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learning_rate</a:t>
            </a:r>
            <a:endParaRPr lang="en-US" sz="160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F88F97C1-A6C3-4F3E-9023-23F8448C1848}"/>
              </a:ext>
            </a:extLst>
          </p:cNvPr>
          <p:cNvSpPr/>
          <p:nvPr/>
        </p:nvSpPr>
        <p:spPr>
          <a:xfrm>
            <a:off x="2682240" y="2951126"/>
            <a:ext cx="1463040" cy="5975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E1B14E69-7693-481A-95EF-FCC370F4ADF9}"/>
              </a:ext>
            </a:extLst>
          </p:cNvPr>
          <p:cNvSpPr/>
          <p:nvPr/>
        </p:nvSpPr>
        <p:spPr>
          <a:xfrm>
            <a:off x="2682240" y="2951126"/>
            <a:ext cx="146304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</a:t>
            </a:r>
            <a:endParaRPr lang="en-US" sz="1600" b="1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A353E90F-EA94-488C-9EC1-7DEB81B9D539}"/>
              </a:ext>
            </a:extLst>
          </p:cNvPr>
          <p:cNvSpPr/>
          <p:nvPr/>
        </p:nvSpPr>
        <p:spPr>
          <a:xfrm>
            <a:off x="4145280" y="2951126"/>
            <a:ext cx="3048000" cy="5975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A248E039-627A-490C-95B9-53BCF1C28005}"/>
              </a:ext>
            </a:extLst>
          </p:cNvPr>
          <p:cNvSpPr/>
          <p:nvPr/>
        </p:nvSpPr>
        <p:spPr>
          <a:xfrm>
            <a:off x="4145280" y="2951126"/>
            <a:ext cx="304800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학습률</a:t>
            </a:r>
            <a:endParaRPr lang="en-US" sz="1400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F0141A76-0D5E-4A51-AF31-4E5A1F326FF6}"/>
              </a:ext>
            </a:extLst>
          </p:cNvPr>
          <p:cNvSpPr/>
          <p:nvPr/>
        </p:nvSpPr>
        <p:spPr>
          <a:xfrm>
            <a:off x="7193280" y="2951126"/>
            <a:ext cx="3657600" cy="5975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5EC5B81-8771-4BD4-B3CB-F0FF6FB96BAE}"/>
              </a:ext>
            </a:extLst>
          </p:cNvPr>
          <p:cNvSpPr/>
          <p:nvPr/>
        </p:nvSpPr>
        <p:spPr>
          <a:xfrm>
            <a:off x="7193280" y="2951126"/>
            <a:ext cx="3657600" cy="59754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작을수록 안정, 느림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0.01~0.1 권장</a:t>
            </a:r>
            <a:endParaRPr lang="en-US" sz="140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0E6EF22A-C25B-4D8E-9894-5FC34CADF4B0}"/>
              </a:ext>
            </a:extLst>
          </p:cNvPr>
          <p:cNvSpPr/>
          <p:nvPr/>
        </p:nvSpPr>
        <p:spPr>
          <a:xfrm>
            <a:off x="487680" y="3560863"/>
            <a:ext cx="2194560" cy="59754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117C872F-A892-466A-830B-23F00BB9BCC0}"/>
              </a:ext>
            </a:extLst>
          </p:cNvPr>
          <p:cNvSpPr/>
          <p:nvPr/>
        </p:nvSpPr>
        <p:spPr>
          <a:xfrm>
            <a:off x="487680" y="3560863"/>
            <a:ext cx="219456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max_depth</a:t>
            </a:r>
            <a:endParaRPr lang="en-US" sz="1600" dirty="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94DC55C6-E1F0-428A-B639-AD60065B2A74}"/>
              </a:ext>
            </a:extLst>
          </p:cNvPr>
          <p:cNvSpPr/>
          <p:nvPr/>
        </p:nvSpPr>
        <p:spPr>
          <a:xfrm>
            <a:off x="2682240" y="3560863"/>
            <a:ext cx="1463040" cy="59754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594A6458-A007-4401-A4F4-6C9822DB5598}"/>
              </a:ext>
            </a:extLst>
          </p:cNvPr>
          <p:cNvSpPr/>
          <p:nvPr/>
        </p:nvSpPr>
        <p:spPr>
          <a:xfrm>
            <a:off x="2682240" y="3560863"/>
            <a:ext cx="146304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1600" b="1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F539A010-6FB8-421F-B19A-2B9E2A74FC8A}"/>
              </a:ext>
            </a:extLst>
          </p:cNvPr>
          <p:cNvSpPr/>
          <p:nvPr/>
        </p:nvSpPr>
        <p:spPr>
          <a:xfrm>
            <a:off x="4145280" y="3560863"/>
            <a:ext cx="3048000" cy="59754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C7B6E874-189D-4B6F-8F09-667FF3C3CE19}"/>
              </a:ext>
            </a:extLst>
          </p:cNvPr>
          <p:cNvSpPr/>
          <p:nvPr/>
        </p:nvSpPr>
        <p:spPr>
          <a:xfrm>
            <a:off x="4145280" y="3560863"/>
            <a:ext cx="304800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트리 최대 깊이</a:t>
            </a:r>
            <a:endParaRPr lang="en-US" sz="1400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E64AE592-6A69-402C-8BFE-809AA7878F4C}"/>
              </a:ext>
            </a:extLst>
          </p:cNvPr>
          <p:cNvSpPr/>
          <p:nvPr/>
        </p:nvSpPr>
        <p:spPr>
          <a:xfrm>
            <a:off x="7193280" y="3560863"/>
            <a:ext cx="3657600" cy="59754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6AF5C0AE-EB7B-4E69-A56A-2B01E1913635}"/>
              </a:ext>
            </a:extLst>
          </p:cNvPr>
          <p:cNvSpPr/>
          <p:nvPr/>
        </p:nvSpPr>
        <p:spPr>
          <a:xfrm>
            <a:off x="7193280" y="3560863"/>
            <a:ext cx="3657600" cy="59754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-1이면 무제한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과적합 시 6~10 설정</a:t>
            </a:r>
            <a:endParaRPr lang="en-US" sz="1400" dirty="0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8A41751F-E7D7-42C8-A514-AAC091EFEF8B}"/>
              </a:ext>
            </a:extLst>
          </p:cNvPr>
          <p:cNvSpPr/>
          <p:nvPr/>
        </p:nvSpPr>
        <p:spPr>
          <a:xfrm>
            <a:off x="487680" y="4170600"/>
            <a:ext cx="2194560" cy="5975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0A649F5A-93B9-4A02-B8FD-CA60DC666A00}"/>
              </a:ext>
            </a:extLst>
          </p:cNvPr>
          <p:cNvSpPr/>
          <p:nvPr/>
        </p:nvSpPr>
        <p:spPr>
          <a:xfrm>
            <a:off x="487680" y="4170600"/>
            <a:ext cx="219456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min_child_samples</a:t>
            </a:r>
            <a:endParaRPr lang="en-US" sz="1600" dirty="0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4535DF70-2D74-4E5F-BDB8-0A0A20617C01}"/>
              </a:ext>
            </a:extLst>
          </p:cNvPr>
          <p:cNvSpPr/>
          <p:nvPr/>
        </p:nvSpPr>
        <p:spPr>
          <a:xfrm>
            <a:off x="2682240" y="4170600"/>
            <a:ext cx="1463040" cy="5975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FF14DAC9-0051-4A30-A1CB-9F4B5E914AB3}"/>
              </a:ext>
            </a:extLst>
          </p:cNvPr>
          <p:cNvSpPr/>
          <p:nvPr/>
        </p:nvSpPr>
        <p:spPr>
          <a:xfrm>
            <a:off x="2682240" y="4170600"/>
            <a:ext cx="146304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600" b="1" dirty="0"/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3A3206D8-A0BB-4C2C-BB6A-7E71B3B1C65B}"/>
              </a:ext>
            </a:extLst>
          </p:cNvPr>
          <p:cNvSpPr/>
          <p:nvPr/>
        </p:nvSpPr>
        <p:spPr>
          <a:xfrm>
            <a:off x="4145280" y="4170600"/>
            <a:ext cx="3048000" cy="5975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FE7F1913-23EA-4376-9739-A0947AE36DDF}"/>
              </a:ext>
            </a:extLst>
          </p:cNvPr>
          <p:cNvSpPr/>
          <p:nvPr/>
        </p:nvSpPr>
        <p:spPr>
          <a:xfrm>
            <a:off x="4145280" y="4170600"/>
            <a:ext cx="304800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리프 최소 샘플 수</a:t>
            </a:r>
            <a:endParaRPr lang="en-US" sz="1400" dirty="0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ED8F996E-333A-471C-86DD-499FD7251230}"/>
              </a:ext>
            </a:extLst>
          </p:cNvPr>
          <p:cNvSpPr/>
          <p:nvPr/>
        </p:nvSpPr>
        <p:spPr>
          <a:xfrm>
            <a:off x="7193280" y="4170600"/>
            <a:ext cx="3657600" cy="5975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2B338F3A-2C00-497E-8626-49B2FD4EB9CA}"/>
              </a:ext>
            </a:extLst>
          </p:cNvPr>
          <p:cNvSpPr/>
          <p:nvPr/>
        </p:nvSpPr>
        <p:spPr>
          <a:xfrm>
            <a:off x="7193280" y="4170600"/>
            <a:ext cx="3657600" cy="59754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클수록 과적합 방지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데이터 적으면 줄이기</a:t>
            </a:r>
            <a:endParaRPr lang="en-US" sz="1400" dirty="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61F4DB92-221E-4BE9-8CA5-971969015055}"/>
              </a:ext>
            </a:extLst>
          </p:cNvPr>
          <p:cNvSpPr/>
          <p:nvPr/>
        </p:nvSpPr>
        <p:spPr>
          <a:xfrm>
            <a:off x="487680" y="4780336"/>
            <a:ext cx="2194560" cy="59754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9B7AFD50-8743-4669-A95B-7B6CB0BC0B3B}"/>
              </a:ext>
            </a:extLst>
          </p:cNvPr>
          <p:cNvSpPr/>
          <p:nvPr/>
        </p:nvSpPr>
        <p:spPr>
          <a:xfrm>
            <a:off x="487680" y="4780336"/>
            <a:ext cx="219456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subsample</a:t>
            </a:r>
            <a:endParaRPr lang="en-US" sz="1600" dirty="0"/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07A93F04-FCE5-4D52-9793-301C3AD3DAD1}"/>
              </a:ext>
            </a:extLst>
          </p:cNvPr>
          <p:cNvSpPr/>
          <p:nvPr/>
        </p:nvSpPr>
        <p:spPr>
          <a:xfrm>
            <a:off x="2682240" y="4780336"/>
            <a:ext cx="1463040" cy="59754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FEFB09F5-C88F-45E1-98BC-D4881018FEF9}"/>
              </a:ext>
            </a:extLst>
          </p:cNvPr>
          <p:cNvSpPr/>
          <p:nvPr/>
        </p:nvSpPr>
        <p:spPr>
          <a:xfrm>
            <a:off x="2682240" y="4780336"/>
            <a:ext cx="146304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1600" b="1" dirty="0"/>
          </a:p>
        </p:txBody>
      </p:sp>
      <p:sp>
        <p:nvSpPr>
          <p:cNvPr id="57" name="Shape 55">
            <a:extLst>
              <a:ext uri="{FF2B5EF4-FFF2-40B4-BE49-F238E27FC236}">
                <a16:creationId xmlns:a16="http://schemas.microsoft.com/office/drawing/2014/main" id="{AB28F15E-E1A2-442E-9D0E-E9F55868F92E}"/>
              </a:ext>
            </a:extLst>
          </p:cNvPr>
          <p:cNvSpPr/>
          <p:nvPr/>
        </p:nvSpPr>
        <p:spPr>
          <a:xfrm>
            <a:off x="4145280" y="4780336"/>
            <a:ext cx="3048000" cy="59754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C78830DB-2DB8-4126-95E5-7B5162095C18}"/>
              </a:ext>
            </a:extLst>
          </p:cNvPr>
          <p:cNvSpPr/>
          <p:nvPr/>
        </p:nvSpPr>
        <p:spPr>
          <a:xfrm>
            <a:off x="4145280" y="4780336"/>
            <a:ext cx="304800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샘플링 비율</a:t>
            </a:r>
            <a:endParaRPr lang="en-US" sz="1400" dirty="0"/>
          </a:p>
        </p:txBody>
      </p:sp>
      <p:sp>
        <p:nvSpPr>
          <p:cNvPr id="59" name="Shape 57">
            <a:extLst>
              <a:ext uri="{FF2B5EF4-FFF2-40B4-BE49-F238E27FC236}">
                <a16:creationId xmlns:a16="http://schemas.microsoft.com/office/drawing/2014/main" id="{67F89929-1556-4EBB-B323-5E5B91A51742}"/>
              </a:ext>
            </a:extLst>
          </p:cNvPr>
          <p:cNvSpPr/>
          <p:nvPr/>
        </p:nvSpPr>
        <p:spPr>
          <a:xfrm>
            <a:off x="7193280" y="4780336"/>
            <a:ext cx="3657600" cy="59754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7F03734F-4FD5-4407-BCBD-C84F500D50AC}"/>
              </a:ext>
            </a:extLst>
          </p:cNvPr>
          <p:cNvSpPr/>
          <p:nvPr/>
        </p:nvSpPr>
        <p:spPr>
          <a:xfrm>
            <a:off x="7193280" y="4780336"/>
            <a:ext cx="3657600" cy="59754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0.8~0.9 권장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과적합 방지</a:t>
            </a:r>
            <a:endParaRPr lang="en-US" sz="1400" dirty="0"/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0F22B5A2-08F6-4580-939D-A78FD6CB1B68}"/>
              </a:ext>
            </a:extLst>
          </p:cNvPr>
          <p:cNvSpPr/>
          <p:nvPr/>
        </p:nvSpPr>
        <p:spPr>
          <a:xfrm>
            <a:off x="487680" y="5390073"/>
            <a:ext cx="2194560" cy="5975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30DE3E2B-4BCB-4D11-8DF1-8D8EB00E52C5}"/>
              </a:ext>
            </a:extLst>
          </p:cNvPr>
          <p:cNvSpPr/>
          <p:nvPr/>
        </p:nvSpPr>
        <p:spPr>
          <a:xfrm>
            <a:off x="487680" y="5390073"/>
            <a:ext cx="219456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colsample_bytree</a:t>
            </a:r>
            <a:endParaRPr lang="en-US" sz="1600" dirty="0"/>
          </a:p>
        </p:txBody>
      </p:sp>
      <p:sp>
        <p:nvSpPr>
          <p:cNvPr id="63" name="Shape 61">
            <a:extLst>
              <a:ext uri="{FF2B5EF4-FFF2-40B4-BE49-F238E27FC236}">
                <a16:creationId xmlns:a16="http://schemas.microsoft.com/office/drawing/2014/main" id="{67233DC0-9066-414C-B9BD-3F306ED3EAF5}"/>
              </a:ext>
            </a:extLst>
          </p:cNvPr>
          <p:cNvSpPr/>
          <p:nvPr/>
        </p:nvSpPr>
        <p:spPr>
          <a:xfrm>
            <a:off x="2682240" y="5390073"/>
            <a:ext cx="1463040" cy="5975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4B4FBF07-766F-460C-87F4-D15A90F1EE68}"/>
              </a:ext>
            </a:extLst>
          </p:cNvPr>
          <p:cNvSpPr/>
          <p:nvPr/>
        </p:nvSpPr>
        <p:spPr>
          <a:xfrm>
            <a:off x="2682240" y="5390073"/>
            <a:ext cx="146304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1600" b="1" dirty="0"/>
          </a:p>
        </p:txBody>
      </p:sp>
      <p:sp>
        <p:nvSpPr>
          <p:cNvPr id="65" name="Shape 63">
            <a:extLst>
              <a:ext uri="{FF2B5EF4-FFF2-40B4-BE49-F238E27FC236}">
                <a16:creationId xmlns:a16="http://schemas.microsoft.com/office/drawing/2014/main" id="{CEE7FDF7-F1FB-46A1-AF6A-0E2705DFE3D2}"/>
              </a:ext>
            </a:extLst>
          </p:cNvPr>
          <p:cNvSpPr/>
          <p:nvPr/>
        </p:nvSpPr>
        <p:spPr>
          <a:xfrm>
            <a:off x="4145280" y="5390073"/>
            <a:ext cx="3048000" cy="5975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E27B447A-C22F-4F67-8E08-2B386DF3E3C1}"/>
              </a:ext>
            </a:extLst>
          </p:cNvPr>
          <p:cNvSpPr/>
          <p:nvPr/>
        </p:nvSpPr>
        <p:spPr>
          <a:xfrm>
            <a:off x="4145280" y="5390073"/>
            <a:ext cx="304800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특성 샘플링 비율</a:t>
            </a:r>
            <a:endParaRPr lang="en-US" sz="1400" dirty="0"/>
          </a:p>
        </p:txBody>
      </p:sp>
      <p:sp>
        <p:nvSpPr>
          <p:cNvPr id="67" name="Shape 65">
            <a:extLst>
              <a:ext uri="{FF2B5EF4-FFF2-40B4-BE49-F238E27FC236}">
                <a16:creationId xmlns:a16="http://schemas.microsoft.com/office/drawing/2014/main" id="{1043D211-3CCD-4842-B4F1-8A125533DADA}"/>
              </a:ext>
            </a:extLst>
          </p:cNvPr>
          <p:cNvSpPr/>
          <p:nvPr/>
        </p:nvSpPr>
        <p:spPr>
          <a:xfrm>
            <a:off x="7193280" y="5390073"/>
            <a:ext cx="3657600" cy="5975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8" name="Text 66">
            <a:extLst>
              <a:ext uri="{FF2B5EF4-FFF2-40B4-BE49-F238E27FC236}">
                <a16:creationId xmlns:a16="http://schemas.microsoft.com/office/drawing/2014/main" id="{652BECC2-E64D-4BBC-80BE-84C7DCBF882B}"/>
              </a:ext>
            </a:extLst>
          </p:cNvPr>
          <p:cNvSpPr/>
          <p:nvPr/>
        </p:nvSpPr>
        <p:spPr>
          <a:xfrm>
            <a:off x="7193280" y="5390073"/>
            <a:ext cx="3657600" cy="59754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0.8~0.9 권장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특성 많을 때 유용</a:t>
            </a:r>
            <a:endParaRPr lang="en-US" sz="1400" dirty="0"/>
          </a:p>
        </p:txBody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BBD961E8-6A55-44A7-B407-ECEAB97285F2}"/>
              </a:ext>
            </a:extLst>
          </p:cNvPr>
          <p:cNvSpPr/>
          <p:nvPr/>
        </p:nvSpPr>
        <p:spPr>
          <a:xfrm>
            <a:off x="487680" y="5999810"/>
            <a:ext cx="2194560" cy="59754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0" name="Text 68">
            <a:extLst>
              <a:ext uri="{FF2B5EF4-FFF2-40B4-BE49-F238E27FC236}">
                <a16:creationId xmlns:a16="http://schemas.microsoft.com/office/drawing/2014/main" id="{C3CB90C1-977E-4C77-8012-A02F30F0196E}"/>
              </a:ext>
            </a:extLst>
          </p:cNvPr>
          <p:cNvSpPr/>
          <p:nvPr/>
        </p:nvSpPr>
        <p:spPr>
          <a:xfrm>
            <a:off x="487680" y="5999810"/>
            <a:ext cx="219456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scale_pos_weight</a:t>
            </a:r>
            <a:endParaRPr lang="en-US" sz="1600" dirty="0"/>
          </a:p>
        </p:txBody>
      </p:sp>
      <p:sp>
        <p:nvSpPr>
          <p:cNvPr id="71" name="Shape 69">
            <a:extLst>
              <a:ext uri="{FF2B5EF4-FFF2-40B4-BE49-F238E27FC236}">
                <a16:creationId xmlns:a16="http://schemas.microsoft.com/office/drawing/2014/main" id="{4E17C6C7-831C-4571-B952-818ABA10069E}"/>
              </a:ext>
            </a:extLst>
          </p:cNvPr>
          <p:cNvSpPr/>
          <p:nvPr/>
        </p:nvSpPr>
        <p:spPr>
          <a:xfrm>
            <a:off x="2682240" y="5999810"/>
            <a:ext cx="1463040" cy="59754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6AE9D81D-2B44-42F4-9357-CD54A257AD78}"/>
              </a:ext>
            </a:extLst>
          </p:cNvPr>
          <p:cNvSpPr/>
          <p:nvPr/>
        </p:nvSpPr>
        <p:spPr>
          <a:xfrm>
            <a:off x="2682240" y="5999810"/>
            <a:ext cx="146304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b="1" dirty="0"/>
          </a:p>
        </p:txBody>
      </p:sp>
      <p:sp>
        <p:nvSpPr>
          <p:cNvPr id="73" name="Shape 71">
            <a:extLst>
              <a:ext uri="{FF2B5EF4-FFF2-40B4-BE49-F238E27FC236}">
                <a16:creationId xmlns:a16="http://schemas.microsoft.com/office/drawing/2014/main" id="{413E9775-4F6E-4261-A59E-21A10815B7ED}"/>
              </a:ext>
            </a:extLst>
          </p:cNvPr>
          <p:cNvSpPr/>
          <p:nvPr/>
        </p:nvSpPr>
        <p:spPr>
          <a:xfrm>
            <a:off x="4145280" y="5999810"/>
            <a:ext cx="3048000" cy="59754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59732C6C-06AE-41E1-9818-8E4D2BC6D26A}"/>
              </a:ext>
            </a:extLst>
          </p:cNvPr>
          <p:cNvSpPr/>
          <p:nvPr/>
        </p:nvSpPr>
        <p:spPr>
          <a:xfrm>
            <a:off x="4145280" y="5999810"/>
            <a:ext cx="3048000" cy="59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불균형 데이터 가중치</a:t>
            </a:r>
            <a:endParaRPr lang="en-US" sz="1400" dirty="0"/>
          </a:p>
        </p:txBody>
      </p:sp>
      <p:sp>
        <p:nvSpPr>
          <p:cNvPr id="75" name="Shape 73">
            <a:extLst>
              <a:ext uri="{FF2B5EF4-FFF2-40B4-BE49-F238E27FC236}">
                <a16:creationId xmlns:a16="http://schemas.microsoft.com/office/drawing/2014/main" id="{9A341879-0DEE-4757-87EF-D444B286057D}"/>
              </a:ext>
            </a:extLst>
          </p:cNvPr>
          <p:cNvSpPr/>
          <p:nvPr/>
        </p:nvSpPr>
        <p:spPr>
          <a:xfrm>
            <a:off x="7193280" y="5999810"/>
            <a:ext cx="3657600" cy="59754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ED801BA0-0F0C-47B2-95EE-9E4955685F58}"/>
              </a:ext>
            </a:extLst>
          </p:cNvPr>
          <p:cNvSpPr/>
          <p:nvPr/>
        </p:nvSpPr>
        <p:spPr>
          <a:xfrm>
            <a:off x="7193280" y="5999810"/>
            <a:ext cx="3657600" cy="59754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음성수/양성수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XGBoost와 동일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42506059"/>
      </p:ext>
    </p:extLst>
  </p:cSld>
  <p:clrMapOvr>
    <a:masterClrMapping/>
  </p:clrMapOvr>
  <p:transition spd="slow"/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D07474E-3705-4A7C-A9C4-D813AE650494}"/>
              </a:ext>
            </a:extLst>
          </p:cNvPr>
          <p:cNvSpPr/>
          <p:nvPr/>
        </p:nvSpPr>
        <p:spPr>
          <a:xfrm>
            <a:off x="0" y="0"/>
            <a:ext cx="12192000" cy="23909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5C0F0E8-758A-48D9-8A12-E2A398B41095}"/>
              </a:ext>
            </a:extLst>
          </p:cNvPr>
          <p:cNvSpPr/>
          <p:nvPr/>
        </p:nvSpPr>
        <p:spPr>
          <a:xfrm>
            <a:off x="609600" y="188640"/>
            <a:ext cx="10972800" cy="730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1단계 — 환경 설정 &amp; 데이터 준비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1858C2F-6933-4189-AECA-3AEDC8F32EF7}"/>
              </a:ext>
            </a:extLst>
          </p:cNvPr>
          <p:cNvSpPr/>
          <p:nvPr/>
        </p:nvSpPr>
        <p:spPr>
          <a:xfrm>
            <a:off x="609600" y="945758"/>
            <a:ext cx="10972800" cy="3984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F9245E3-F407-4177-930E-D7BED5FC8E7F}"/>
              </a:ext>
            </a:extLst>
          </p:cNvPr>
          <p:cNvSpPr/>
          <p:nvPr/>
        </p:nvSpPr>
        <p:spPr>
          <a:xfrm>
            <a:off x="487680" y="1078586"/>
            <a:ext cx="633984" cy="425049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52A6992-42CA-4A8C-80F3-C9F9C0E7E45E}"/>
              </a:ext>
            </a:extLst>
          </p:cNvPr>
          <p:cNvSpPr/>
          <p:nvPr/>
        </p:nvSpPr>
        <p:spPr>
          <a:xfrm>
            <a:off x="487680" y="1078586"/>
            <a:ext cx="633984" cy="425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4CD9877-CBDC-4F13-8EB4-AC6D06FA09B2}"/>
              </a:ext>
            </a:extLst>
          </p:cNvPr>
          <p:cNvSpPr/>
          <p:nvPr/>
        </p:nvSpPr>
        <p:spPr>
          <a:xfrm>
            <a:off x="1243584" y="1078586"/>
            <a:ext cx="6096000" cy="4250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</a:rPr>
              <a:t>LightGBM 설치</a:t>
            </a:r>
            <a:endParaRPr lang="en-US" sz="1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9915159-728B-44FE-819D-2A8E29962E5F}"/>
              </a:ext>
            </a:extLst>
          </p:cNvPr>
          <p:cNvSpPr/>
          <p:nvPr/>
        </p:nvSpPr>
        <p:spPr>
          <a:xfrm>
            <a:off x="487680" y="1583332"/>
            <a:ext cx="11216640" cy="425049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2CB73A8-118D-464B-96B9-093D5ADB1B12}"/>
              </a:ext>
            </a:extLst>
          </p:cNvPr>
          <p:cNvSpPr/>
          <p:nvPr/>
        </p:nvSpPr>
        <p:spPr>
          <a:xfrm>
            <a:off x="731520" y="1663028"/>
            <a:ext cx="10972800" cy="265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!pip install lightgbm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7F6EA6D-1466-4949-9F5B-CCDC73828DB8}"/>
              </a:ext>
            </a:extLst>
          </p:cNvPr>
          <p:cNvSpPr/>
          <p:nvPr/>
        </p:nvSpPr>
        <p:spPr>
          <a:xfrm>
            <a:off x="487680" y="2207622"/>
            <a:ext cx="633984" cy="425049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6F3515A-A9C1-4D8A-B945-269061DD083A}"/>
              </a:ext>
            </a:extLst>
          </p:cNvPr>
          <p:cNvSpPr/>
          <p:nvPr/>
        </p:nvSpPr>
        <p:spPr>
          <a:xfrm>
            <a:off x="487680" y="2207622"/>
            <a:ext cx="633984" cy="425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4A67372-4C9F-44D9-8CA7-28645D080D20}"/>
              </a:ext>
            </a:extLst>
          </p:cNvPr>
          <p:cNvSpPr/>
          <p:nvPr/>
        </p:nvSpPr>
        <p:spPr>
          <a:xfrm>
            <a:off x="1243584" y="2207622"/>
            <a:ext cx="6096000" cy="4250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</a:rPr>
              <a:t>라이브러리 임포트</a:t>
            </a:r>
            <a:endParaRPr lang="en-US" sz="16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355776BC-42CC-4D86-8C57-7AA746717EFC}"/>
              </a:ext>
            </a:extLst>
          </p:cNvPr>
          <p:cNvSpPr/>
          <p:nvPr/>
        </p:nvSpPr>
        <p:spPr>
          <a:xfrm>
            <a:off x="487680" y="2712368"/>
            <a:ext cx="11216640" cy="1487671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857627C-0EBB-4D57-B64E-68A53F7ECFAF}"/>
              </a:ext>
            </a:extLst>
          </p:cNvPr>
          <p:cNvSpPr/>
          <p:nvPr/>
        </p:nvSpPr>
        <p:spPr>
          <a:xfrm>
            <a:off x="731520" y="2792063"/>
            <a:ext cx="10972800" cy="1407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</a:p>
          <a:p>
            <a:pPr>
              <a:lnSpc>
                <a:spcPts val="2000"/>
              </a:lnSpc>
            </a:pPr>
            <a:r>
              <a:rPr lang="en-US" altLang="ko-KR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r>
              <a:rPr lang="en-US" altLang="ko-KR" sz="14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numpy</a:t>
            </a:r>
            <a:r>
              <a:rPr lang="en-US" altLang="ko-KR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 np</a:t>
            </a:r>
          </a:p>
          <a:p>
            <a:pPr>
              <a:lnSpc>
                <a:spcPts val="2000"/>
              </a:lnSpc>
            </a:pPr>
            <a:r>
              <a:rPr lang="en-US" altLang="ko-KR" sz="14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lang="en-US" altLang="ko-KR" sz="1400" b="1" dirty="0" err="1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lightgbm</a:t>
            </a:r>
            <a:r>
              <a:rPr lang="en-US" altLang="ko-KR" sz="14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import </a:t>
            </a:r>
            <a:r>
              <a:rPr lang="en-US" altLang="ko-KR" sz="1400" b="1" dirty="0" err="1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LGBMClassifier</a:t>
            </a:r>
            <a:endParaRPr lang="en-US" altLang="ko-KR" sz="1400" b="1" dirty="0">
              <a:solidFill>
                <a:srgbClr val="0284C7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ts val="2000"/>
              </a:lnSpc>
            </a:pPr>
            <a:r>
              <a:rPr lang="en-US" altLang="ko-KR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lang="en-US" altLang="ko-KR" sz="14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sklearn.model_selection</a:t>
            </a:r>
            <a:r>
              <a:rPr lang="en-US" altLang="ko-KR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import </a:t>
            </a:r>
            <a:r>
              <a:rPr lang="en-US" altLang="ko-KR" sz="14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train_test_split</a:t>
            </a:r>
            <a:endParaRPr lang="en-US" altLang="ko-KR" sz="1400" b="1" dirty="0">
              <a:solidFill>
                <a:srgbClr val="1E293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ts val="2000"/>
              </a:lnSpc>
            </a:pPr>
            <a:r>
              <a:rPr lang="en-US" altLang="ko-KR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lang="en-US" altLang="ko-KR" sz="14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sklearn.metrics</a:t>
            </a:r>
            <a:r>
              <a:rPr lang="en-US" altLang="ko-KR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import </a:t>
            </a:r>
            <a:r>
              <a:rPr lang="en-US" altLang="ko-KR" sz="14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classification_report</a:t>
            </a:r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pPr marL="0" indent="0">
              <a:buNone/>
            </a:pPr>
            <a:endParaRPr lang="en-US" sz="1400" b="1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EB1765F-7A3E-4903-8286-A19FBF965C5C}"/>
              </a:ext>
            </a:extLst>
          </p:cNvPr>
          <p:cNvSpPr/>
          <p:nvPr/>
        </p:nvSpPr>
        <p:spPr>
          <a:xfrm>
            <a:off x="731520" y="3057720"/>
            <a:ext cx="10972800" cy="265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D62FE88-DC16-4C88-88D1-B1970B6B331A}"/>
              </a:ext>
            </a:extLst>
          </p:cNvPr>
          <p:cNvSpPr/>
          <p:nvPr/>
        </p:nvSpPr>
        <p:spPr>
          <a:xfrm>
            <a:off x="731520" y="3323376"/>
            <a:ext cx="10972800" cy="265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9E4EDFA1-EC72-4E80-9A4C-93F175C50846}"/>
              </a:ext>
            </a:extLst>
          </p:cNvPr>
          <p:cNvSpPr/>
          <p:nvPr/>
        </p:nvSpPr>
        <p:spPr>
          <a:xfrm>
            <a:off x="731520" y="3589031"/>
            <a:ext cx="10972800" cy="265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7D996AC-D082-4FB7-AD1C-96840FCE5118}"/>
              </a:ext>
            </a:extLst>
          </p:cNvPr>
          <p:cNvSpPr/>
          <p:nvPr/>
        </p:nvSpPr>
        <p:spPr>
          <a:xfrm>
            <a:off x="731520" y="3854687"/>
            <a:ext cx="10972800" cy="265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9B220D8B-011F-4CBB-A21E-510CEBE22A3E}"/>
              </a:ext>
            </a:extLst>
          </p:cNvPr>
          <p:cNvSpPr/>
          <p:nvPr/>
        </p:nvSpPr>
        <p:spPr>
          <a:xfrm>
            <a:off x="487680" y="4399281"/>
            <a:ext cx="633984" cy="425049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357379C-D1AE-4E4D-AF40-8959B76CFFCC}"/>
              </a:ext>
            </a:extLst>
          </p:cNvPr>
          <p:cNvSpPr/>
          <p:nvPr/>
        </p:nvSpPr>
        <p:spPr>
          <a:xfrm>
            <a:off x="487680" y="4399281"/>
            <a:ext cx="633984" cy="425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DD45C02-1166-4139-B48A-9EDFDF1012EC}"/>
              </a:ext>
            </a:extLst>
          </p:cNvPr>
          <p:cNvSpPr/>
          <p:nvPr/>
        </p:nvSpPr>
        <p:spPr>
          <a:xfrm>
            <a:off x="1243584" y="4399281"/>
            <a:ext cx="6096000" cy="4250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</a:rPr>
              <a:t>CSV 데이터 로드 &amp; 확인</a:t>
            </a:r>
            <a:endParaRPr lang="en-US" sz="160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DB16B8E3-47DA-41AC-98F4-6F1CAC2065F2}"/>
              </a:ext>
            </a:extLst>
          </p:cNvPr>
          <p:cNvSpPr/>
          <p:nvPr/>
        </p:nvSpPr>
        <p:spPr>
          <a:xfrm>
            <a:off x="487680" y="4904026"/>
            <a:ext cx="11216640" cy="165406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CD020A5-8D1C-4766-B1C7-68A66CF3D504}"/>
              </a:ext>
            </a:extLst>
          </p:cNvPr>
          <p:cNvSpPr/>
          <p:nvPr/>
        </p:nvSpPr>
        <p:spPr>
          <a:xfrm>
            <a:off x="731520" y="4983722"/>
            <a:ext cx="10972800" cy="11423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1400" b="1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google.colab </a:t>
            </a:r>
            <a:r>
              <a:rPr lang="en-US" altLang="ko-KR" sz="1400" b="1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files </a:t>
            </a:r>
          </a:p>
          <a:p>
            <a:r>
              <a:rPr lang="en-US" altLang="ko-KR" sz="14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uploaded = files.upload()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</a:t>
            </a:r>
            <a:r>
              <a:rPr lang="en-US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pd.read_csv</a:t>
            </a:r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('TH_quality_10000.csv’)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            # (10000, 3)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확인</a:t>
            </a:r>
            <a:endParaRPr lang="en-US" altLang="ko-KR" sz="1400" b="1" dirty="0">
              <a:solidFill>
                <a:schemeClr val="tx1">
                  <a:lumMod val="75000"/>
                  <a:lumOff val="25000"/>
                </a:schemeClr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ts val="2100"/>
              </a:lnSpc>
            </a:pP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</a:t>
            </a:r>
          </a:p>
          <a:p>
            <a:pPr>
              <a:lnSpc>
                <a:spcPts val="2100"/>
              </a:lnSpc>
            </a:pP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print(df['label'].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value_counts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  #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정상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불량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비율</a:t>
            </a:r>
            <a:endParaRPr lang="en-US" altLang="ko-KR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endParaRPr lang="en-US" altLang="ko-KR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endParaRPr lang="en-US" altLang="ko-KR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0FE2F7A2-0DC4-4EE8-AE69-FB16081B2B69}"/>
              </a:ext>
            </a:extLst>
          </p:cNvPr>
          <p:cNvSpPr/>
          <p:nvPr/>
        </p:nvSpPr>
        <p:spPr>
          <a:xfrm>
            <a:off x="731520" y="5249379"/>
            <a:ext cx="10972800" cy="265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860B5748-F271-4ABD-84B4-98C24B88CBE4}"/>
              </a:ext>
            </a:extLst>
          </p:cNvPr>
          <p:cNvSpPr/>
          <p:nvPr/>
        </p:nvSpPr>
        <p:spPr>
          <a:xfrm>
            <a:off x="731520" y="5515034"/>
            <a:ext cx="10972800" cy="265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4935BCA2-5179-4D2C-8DD7-2A96BCC831DB}"/>
              </a:ext>
            </a:extLst>
          </p:cNvPr>
          <p:cNvSpPr/>
          <p:nvPr/>
        </p:nvSpPr>
        <p:spPr>
          <a:xfrm>
            <a:off x="731520" y="5780690"/>
            <a:ext cx="10972800" cy="265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3B77251-6862-4313-B06C-83B5FABA2997}"/>
              </a:ext>
            </a:extLst>
          </p:cNvPr>
          <p:cNvSpPr txBox="1"/>
          <p:nvPr/>
        </p:nvSpPr>
        <p:spPr>
          <a:xfrm>
            <a:off x="4079776" y="1035784"/>
            <a:ext cx="809163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Colab 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파일 업로드</a:t>
            </a:r>
            <a:endParaRPr lang="ko-KR" altLang="en-US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from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google.colab </a:t>
            </a:r>
            <a:r>
              <a:rPr lang="en-US" altLang="ko-KR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files</a:t>
            </a: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uploaded = files.upload()</a:t>
            </a:r>
          </a:p>
          <a:p>
            <a:b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업로드된</a:t>
            </a:r>
            <a:r>
              <a:rPr lang="ko-KR" alt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 파일명 확인</a:t>
            </a:r>
            <a:endParaRPr lang="ko-KR" altLang="en-US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filename = </a:t>
            </a:r>
            <a:r>
              <a:rPr lang="en-US" altLang="ko-KR" b="0" dirty="0">
                <a:solidFill>
                  <a:srgbClr val="257693"/>
                </a:solidFill>
                <a:effectLst/>
                <a:latin typeface="Courier New" panose="02070309020205020404" pitchFamily="49" charset="0"/>
              </a:rPr>
              <a:t>list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uploaded.keys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())[</a:t>
            </a:r>
            <a:r>
              <a:rPr lang="en-US" altLang="ko-KR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</a:t>
            </a:r>
          </a:p>
          <a:p>
            <a:r>
              <a:rPr lang="en-US" altLang="ko-KR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ko-KR" altLang="en-US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업로드된</a:t>
            </a:r>
            <a:r>
              <a:rPr lang="ko-KR" altLang="en-US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 파일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{filename}</a:t>
            </a:r>
            <a:r>
              <a:rPr lang="en-US" altLang="ko-KR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27544788"/>
      </p:ext>
    </p:extLst>
  </p:cSld>
  <p:clrMapOvr>
    <a:masterClrMapping/>
  </p:clrMapOvr>
  <p:transition spd="slow"/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431CB4B-6BD5-4C45-A376-ECB22319A353}"/>
              </a:ext>
            </a:extLst>
          </p:cNvPr>
          <p:cNvSpPr/>
          <p:nvPr/>
        </p:nvSpPr>
        <p:spPr>
          <a:xfrm>
            <a:off x="0" y="0"/>
            <a:ext cx="12192000" cy="21785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B3AC8EB-9CFC-4D9B-A2FE-21C26C5D56FF}"/>
              </a:ext>
            </a:extLst>
          </p:cNvPr>
          <p:cNvSpPr/>
          <p:nvPr/>
        </p:nvSpPr>
        <p:spPr>
          <a:xfrm>
            <a:off x="609600" y="338884"/>
            <a:ext cx="10972800" cy="6656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2단계 — 전처리 &amp; 모델 학습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89BDF42-7E7A-4B33-9AB3-2A859F61FAD6}"/>
              </a:ext>
            </a:extLst>
          </p:cNvPr>
          <p:cNvSpPr/>
          <p:nvPr/>
        </p:nvSpPr>
        <p:spPr>
          <a:xfrm>
            <a:off x="609600" y="1028755"/>
            <a:ext cx="10972800" cy="36309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BC49CA7-D6F5-4AC5-9938-0D28325FE90A}"/>
              </a:ext>
            </a:extLst>
          </p:cNvPr>
          <p:cNvSpPr/>
          <p:nvPr/>
        </p:nvSpPr>
        <p:spPr>
          <a:xfrm>
            <a:off x="487680" y="1186093"/>
            <a:ext cx="633984" cy="38729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0A63D4D-8DB3-4D02-A004-C22054F748A2}"/>
              </a:ext>
            </a:extLst>
          </p:cNvPr>
          <p:cNvSpPr/>
          <p:nvPr/>
        </p:nvSpPr>
        <p:spPr>
          <a:xfrm>
            <a:off x="487680" y="1186093"/>
            <a:ext cx="633984" cy="387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125793F-63CF-4306-AA46-5E9D776BF0F2}"/>
              </a:ext>
            </a:extLst>
          </p:cNvPr>
          <p:cNvSpPr/>
          <p:nvPr/>
        </p:nvSpPr>
        <p:spPr>
          <a:xfrm>
            <a:off x="1243584" y="1186093"/>
            <a:ext cx="6096000" cy="387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</a:rPr>
              <a:t>데이터 전처리 &amp; 분할</a:t>
            </a:r>
            <a:endParaRPr lang="en-US" sz="1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E547D18-68F5-44ED-9901-84C3D129CCFA}"/>
              </a:ext>
            </a:extLst>
          </p:cNvPr>
          <p:cNvSpPr/>
          <p:nvPr/>
        </p:nvSpPr>
        <p:spPr>
          <a:xfrm>
            <a:off x="487680" y="1646007"/>
            <a:ext cx="11216640" cy="1331329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5D57AE4-7AE8-4732-9990-969302955465}"/>
              </a:ext>
            </a:extLst>
          </p:cNvPr>
          <p:cNvSpPr/>
          <p:nvPr/>
        </p:nvSpPr>
        <p:spPr>
          <a:xfrm>
            <a:off x="731520" y="1718624"/>
            <a:ext cx="10972800" cy="128291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df[['temp', 'humi']].values   # </a:t>
            </a:r>
            <a:r>
              <a:rPr lang="en-US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특성</a:t>
            </a:r>
            <a:endParaRPr lang="en-US" sz="1200" b="1" dirty="0">
              <a:solidFill>
                <a:srgbClr val="1E293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ts val="2000"/>
              </a:lnSpc>
            </a:pP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df['label'].values            #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정답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(0=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정상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1=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불량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</a:p>
          <a:p>
            <a:pPr>
              <a:lnSpc>
                <a:spcPts val="2000"/>
              </a:lnSpc>
            </a:pPr>
            <a:r>
              <a:rPr lang="en-US" altLang="ko-KR" sz="12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</a:t>
            </a:r>
            <a:r>
              <a:rPr lang="en-US" altLang="ko-KR" sz="1200" b="1" dirty="0" err="1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학습</a:t>
            </a:r>
            <a:r>
              <a:rPr lang="en-US" altLang="ko-KR" sz="12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80% / </a:t>
            </a:r>
            <a:r>
              <a:rPr lang="en-US" altLang="ko-KR" sz="1200" b="1" dirty="0" err="1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테스트</a:t>
            </a:r>
            <a:r>
              <a:rPr lang="en-US" altLang="ko-KR" sz="12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20% </a:t>
            </a:r>
            <a:r>
              <a:rPr lang="en-US" altLang="ko-KR" sz="1200" b="1" dirty="0" err="1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분할</a:t>
            </a:r>
            <a:endParaRPr lang="en-US" altLang="ko-KR" sz="1200" b="1" dirty="0">
              <a:solidFill>
                <a:srgbClr val="64748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ts val="2000"/>
              </a:lnSpc>
            </a:pPr>
            <a:r>
              <a:rPr lang="en-US" altLang="ko-KR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X_train, X_test, y_train, y_test = </a:t>
            </a:r>
            <a:r>
              <a:rPr lang="en-US" altLang="ko-KR" sz="1200" b="1" dirty="0" err="1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train_test_split</a:t>
            </a:r>
            <a:r>
              <a:rPr lang="en-US" altLang="ko-KR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(X, y, </a:t>
            </a:r>
            <a:r>
              <a:rPr lang="en-US" altLang="ko-KR" sz="1200" b="1" dirty="0" err="1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test_size</a:t>
            </a:r>
            <a:r>
              <a:rPr lang="en-US" altLang="ko-KR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=0.2, </a:t>
            </a:r>
            <a:r>
              <a:rPr lang="en-US" altLang="ko-KR" sz="1200" b="1" dirty="0" err="1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random_state</a:t>
            </a:r>
            <a:r>
              <a:rPr lang="en-US" altLang="ko-KR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=42)</a:t>
            </a:r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pPr marL="0" indent="0">
              <a:buNone/>
            </a:pPr>
            <a:endParaRPr lang="en-US" sz="1200" b="1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8A8F49B-B870-4310-B631-4B31DF4612B2}"/>
              </a:ext>
            </a:extLst>
          </p:cNvPr>
          <p:cNvSpPr/>
          <p:nvPr/>
        </p:nvSpPr>
        <p:spPr>
          <a:xfrm>
            <a:off x="731520" y="2003046"/>
            <a:ext cx="10972800" cy="2844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20D3A49-8E9E-48B7-A7BE-EE88124CE505}"/>
              </a:ext>
            </a:extLst>
          </p:cNvPr>
          <p:cNvSpPr/>
          <p:nvPr/>
        </p:nvSpPr>
        <p:spPr>
          <a:xfrm>
            <a:off x="731520" y="2287466"/>
            <a:ext cx="10972800" cy="2844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04390FF-092D-4A92-95C4-E321574EDE39}"/>
              </a:ext>
            </a:extLst>
          </p:cNvPr>
          <p:cNvSpPr/>
          <p:nvPr/>
        </p:nvSpPr>
        <p:spPr>
          <a:xfrm>
            <a:off x="731520" y="2571886"/>
            <a:ext cx="10972800" cy="2844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83C18908-4EF8-4619-886A-EAC6589AA256}"/>
              </a:ext>
            </a:extLst>
          </p:cNvPr>
          <p:cNvSpPr/>
          <p:nvPr/>
        </p:nvSpPr>
        <p:spPr>
          <a:xfrm>
            <a:off x="487680" y="3098367"/>
            <a:ext cx="633984" cy="38729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24D5D78-51E0-4B6C-8621-642678F3F573}"/>
              </a:ext>
            </a:extLst>
          </p:cNvPr>
          <p:cNvSpPr/>
          <p:nvPr/>
        </p:nvSpPr>
        <p:spPr>
          <a:xfrm>
            <a:off x="487680" y="3098367"/>
            <a:ext cx="633984" cy="387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82CDF1A-DBF2-4F58-AD97-629DE2714654}"/>
              </a:ext>
            </a:extLst>
          </p:cNvPr>
          <p:cNvSpPr/>
          <p:nvPr/>
        </p:nvSpPr>
        <p:spPr>
          <a:xfrm>
            <a:off x="1243584" y="3098367"/>
            <a:ext cx="6096000" cy="387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</a:rPr>
              <a:t>LightGBM 모델 정의 &amp; 학습</a:t>
            </a:r>
            <a:endParaRPr lang="en-US" sz="16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3F1EE07-BD78-496A-95E5-1469437FD9FF}"/>
              </a:ext>
            </a:extLst>
          </p:cNvPr>
          <p:cNvSpPr/>
          <p:nvPr/>
        </p:nvSpPr>
        <p:spPr>
          <a:xfrm>
            <a:off x="487680" y="3558280"/>
            <a:ext cx="11216640" cy="2662659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EA56CE4-4F97-4369-9C39-C184EB44E903}"/>
              </a:ext>
            </a:extLst>
          </p:cNvPr>
          <p:cNvSpPr/>
          <p:nvPr/>
        </p:nvSpPr>
        <p:spPr>
          <a:xfrm>
            <a:off x="731520" y="3606691"/>
            <a:ext cx="10972800" cy="26142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lgbm_model = </a:t>
            </a:r>
            <a:r>
              <a:rPr lang="en-US" sz="1200" b="1" dirty="0" err="1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LGBMClassifier</a:t>
            </a:r>
            <a:r>
              <a:rPr lang="en-US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</a:p>
          <a:p>
            <a:pPr marL="0" indent="0">
              <a:lnSpc>
                <a:spcPts val="1900"/>
              </a:lnSpc>
              <a:buNone/>
            </a:pP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n_estimators      = 500,   #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트리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개수</a:t>
            </a:r>
            <a:endParaRPr lang="en-US" altLang="ko-KR" sz="1200" b="1" dirty="0">
              <a:solidFill>
                <a:srgbClr val="1E293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lvl="1">
              <a:lnSpc>
                <a:spcPts val="1900"/>
              </a:lnSpc>
            </a:pPr>
            <a:r>
              <a:rPr lang="en-US" altLang="ko-KR" sz="1200" b="1" dirty="0" err="1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num_leaves</a:t>
            </a:r>
            <a:r>
              <a:rPr lang="en-US" altLang="ko-KR" sz="120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= 31,    # </a:t>
            </a:r>
            <a:r>
              <a:rPr lang="en-US" altLang="ko-KR" sz="1200" b="1" dirty="0" err="1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리프</a:t>
            </a:r>
            <a:r>
              <a:rPr lang="en-US" altLang="ko-KR" sz="120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수 (</a:t>
            </a:r>
            <a:r>
              <a:rPr lang="en-US" altLang="ko-KR" sz="1200" b="1" dirty="0" err="1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LightGBM</a:t>
            </a:r>
            <a:r>
              <a:rPr lang="en-US" altLang="ko-KR" sz="120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200" b="1" dirty="0" err="1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핵심</a:t>
            </a:r>
            <a:r>
              <a:rPr lang="en-US" altLang="ko-KR" sz="120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!)</a:t>
            </a:r>
          </a:p>
          <a:p>
            <a:pPr lvl="1">
              <a:lnSpc>
                <a:spcPts val="1900"/>
              </a:lnSpc>
            </a:pP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learning_rate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= 0.05,  # 학습률</a:t>
            </a:r>
          </a:p>
          <a:p>
            <a:pPr lvl="1">
              <a:lnSpc>
                <a:spcPts val="1900"/>
              </a:lnSpc>
            </a:pP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max_depth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= -1,    #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깊이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제한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altLang="ko-KR" sz="1200" b="1" dirty="0">
              <a:solidFill>
                <a:srgbClr val="1E293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lvl="1">
              <a:lnSpc>
                <a:spcPts val="1900"/>
              </a:lnSpc>
            </a:pP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subsample         = 0.8,   #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80%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샘플링</a:t>
            </a:r>
            <a:endParaRPr lang="en-US" altLang="ko-KR" sz="1200" b="1" dirty="0">
              <a:solidFill>
                <a:srgbClr val="1E293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lvl="1">
              <a:lnSpc>
                <a:spcPts val="1900"/>
              </a:lnSpc>
            </a:pP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scale_pos_weight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1,     #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불균형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시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</a:t>
            </a:r>
            <a:endParaRPr lang="en-US" altLang="ko-KR" sz="1200" b="1" dirty="0">
              <a:solidFill>
                <a:srgbClr val="1E293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lvl="1">
              <a:lnSpc>
                <a:spcPts val="1900"/>
              </a:lnSpc>
            </a:pP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random_state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= 42,</a:t>
            </a:r>
          </a:p>
          <a:p>
            <a:pPr lvl="1">
              <a:lnSpc>
                <a:spcPts val="1900"/>
              </a:lnSpc>
            </a:pP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verbose           = -1     #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로그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숨김</a:t>
            </a:r>
            <a:endParaRPr lang="en-US" altLang="ko-KR" sz="1200" b="1" dirty="0">
              <a:solidFill>
                <a:srgbClr val="1E293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lnSpc>
                <a:spcPts val="1900"/>
              </a:lnSpc>
              <a:buNone/>
            </a:pPr>
            <a:r>
              <a:rPr lang="en-US" altLang="ko-KR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b="1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85D313E-0157-4C59-BC81-5F9E0264F0F3}"/>
              </a:ext>
            </a:extLst>
          </p:cNvPr>
          <p:cNvSpPr/>
          <p:nvPr/>
        </p:nvSpPr>
        <p:spPr>
          <a:xfrm>
            <a:off x="731520" y="3848752"/>
            <a:ext cx="10972800" cy="242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2B1A93E-ADF3-448A-ABE7-31D3F4264673}"/>
              </a:ext>
            </a:extLst>
          </p:cNvPr>
          <p:cNvSpPr/>
          <p:nvPr/>
        </p:nvSpPr>
        <p:spPr>
          <a:xfrm>
            <a:off x="731520" y="4090812"/>
            <a:ext cx="10972800" cy="242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860E70C-23D8-4C76-BE3A-6A7200026CF3}"/>
              </a:ext>
            </a:extLst>
          </p:cNvPr>
          <p:cNvSpPr/>
          <p:nvPr/>
        </p:nvSpPr>
        <p:spPr>
          <a:xfrm>
            <a:off x="731520" y="4574932"/>
            <a:ext cx="10972800" cy="242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1200" b="1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EE33BDB-37C8-48BF-84B0-E3FE77772231}"/>
              </a:ext>
            </a:extLst>
          </p:cNvPr>
          <p:cNvSpPr/>
          <p:nvPr/>
        </p:nvSpPr>
        <p:spPr>
          <a:xfrm>
            <a:off x="731520" y="4816992"/>
            <a:ext cx="10972800" cy="242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1200" b="1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61795F3-FE30-4D61-ABC4-A1D580BC2DC6}"/>
              </a:ext>
            </a:extLst>
          </p:cNvPr>
          <p:cNvSpPr/>
          <p:nvPr/>
        </p:nvSpPr>
        <p:spPr>
          <a:xfrm>
            <a:off x="731520" y="5059052"/>
            <a:ext cx="10972800" cy="242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1200" b="1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80DA701-DC80-47B3-A748-AC2FB63B9213}"/>
              </a:ext>
            </a:extLst>
          </p:cNvPr>
          <p:cNvSpPr/>
          <p:nvPr/>
        </p:nvSpPr>
        <p:spPr>
          <a:xfrm>
            <a:off x="731520" y="5301112"/>
            <a:ext cx="10972800" cy="242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1200" b="1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0157F24E-1691-4822-91E3-5C91537A1D36}"/>
              </a:ext>
            </a:extLst>
          </p:cNvPr>
          <p:cNvSpPr/>
          <p:nvPr/>
        </p:nvSpPr>
        <p:spPr>
          <a:xfrm>
            <a:off x="731520" y="5543172"/>
            <a:ext cx="10972800" cy="242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1200" b="1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E7E621A8-6AD6-44C2-B4B6-E3A9E89AF40B}"/>
              </a:ext>
            </a:extLst>
          </p:cNvPr>
          <p:cNvSpPr/>
          <p:nvPr/>
        </p:nvSpPr>
        <p:spPr>
          <a:xfrm>
            <a:off x="487680" y="6317763"/>
            <a:ext cx="11216640" cy="423605"/>
          </a:xfrm>
          <a:prstGeom prst="rect">
            <a:avLst/>
          </a:prstGeom>
          <a:solidFill>
            <a:srgbClr val="F0FDF4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3FFA0201-2CA6-4B93-BF0F-0827CCBFB5D7}"/>
              </a:ext>
            </a:extLst>
          </p:cNvPr>
          <p:cNvSpPr/>
          <p:nvPr/>
        </p:nvSpPr>
        <p:spPr>
          <a:xfrm>
            <a:off x="670560" y="6317763"/>
            <a:ext cx="10972800" cy="4236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lgbm_model.fit(X_train, y_train)   # 학습 시작!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882249455"/>
      </p:ext>
    </p:extLst>
  </p:cSld>
  <p:clrMapOvr>
    <a:masterClrMapping/>
  </p:clrMapOvr>
  <p:transition spd="slow"/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2C54F4F-1F92-451E-841E-D094A2EE78D9}"/>
              </a:ext>
            </a:extLst>
          </p:cNvPr>
          <p:cNvSpPr/>
          <p:nvPr/>
        </p:nvSpPr>
        <p:spPr>
          <a:xfrm>
            <a:off x="0" y="0"/>
            <a:ext cx="12192000" cy="2267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2E1400D-6DA6-4D51-B086-FAC71AAEB78F}"/>
              </a:ext>
            </a:extLst>
          </p:cNvPr>
          <p:cNvSpPr/>
          <p:nvPr/>
        </p:nvSpPr>
        <p:spPr>
          <a:xfrm>
            <a:off x="609600" y="352768"/>
            <a:ext cx="10972800" cy="6929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3단계 — 성능 평가 &amp; 시각화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2BAB5E2-1BE2-4BCC-9251-94D5EFAC41B2}"/>
              </a:ext>
            </a:extLst>
          </p:cNvPr>
          <p:cNvSpPr/>
          <p:nvPr/>
        </p:nvSpPr>
        <p:spPr>
          <a:xfrm>
            <a:off x="609600" y="1070904"/>
            <a:ext cx="10972800" cy="37797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38B0633-0616-4DE4-8942-00853DE2D8DC}"/>
              </a:ext>
            </a:extLst>
          </p:cNvPr>
          <p:cNvSpPr/>
          <p:nvPr/>
        </p:nvSpPr>
        <p:spPr>
          <a:xfrm>
            <a:off x="487680" y="1209492"/>
            <a:ext cx="633984" cy="4031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51EE25B-CBFE-4A5A-9AF2-FB8EFCE46CDC}"/>
              </a:ext>
            </a:extLst>
          </p:cNvPr>
          <p:cNvSpPr/>
          <p:nvPr/>
        </p:nvSpPr>
        <p:spPr>
          <a:xfrm>
            <a:off x="487680" y="1209492"/>
            <a:ext cx="633984" cy="403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170C289-8B7E-400E-8A4F-E09114598A93}"/>
              </a:ext>
            </a:extLst>
          </p:cNvPr>
          <p:cNvSpPr/>
          <p:nvPr/>
        </p:nvSpPr>
        <p:spPr>
          <a:xfrm>
            <a:off x="1243584" y="1209492"/>
            <a:ext cx="6096000" cy="403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예측 &amp; 성능 평가</a:t>
            </a:r>
            <a:endParaRPr lang="en-US" sz="13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ABB34112-79B3-4623-9BFE-3A5F41CB076D}"/>
              </a:ext>
            </a:extLst>
          </p:cNvPr>
          <p:cNvSpPr/>
          <p:nvPr/>
        </p:nvSpPr>
        <p:spPr>
          <a:xfrm>
            <a:off x="487680" y="1688249"/>
            <a:ext cx="11216640" cy="6677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221CD66-2A33-49D5-B156-87535B3176F3}"/>
              </a:ext>
            </a:extLst>
          </p:cNvPr>
          <p:cNvSpPr/>
          <p:nvPr/>
        </p:nvSpPr>
        <p:spPr>
          <a:xfrm>
            <a:off x="731520" y="1751243"/>
            <a:ext cx="10972800" cy="667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y_pred = lgbm_model.predict(X_test)</a:t>
            </a:r>
          </a:p>
          <a:p>
            <a:pPr>
              <a:lnSpc>
                <a:spcPts val="1900"/>
              </a:lnSpc>
            </a:pPr>
            <a:r>
              <a:rPr lang="en-US" altLang="ko-KR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r>
              <a:rPr lang="en-US" altLang="ko-KR" sz="1200" b="1" dirty="0" err="1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classification_report</a:t>
            </a:r>
            <a:r>
              <a:rPr lang="en-US" altLang="ko-KR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(y_test, </a:t>
            </a:r>
            <a:r>
              <a:rPr lang="en-US" altLang="ko-KR" sz="1200" b="1" dirty="0" err="1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y_pred</a:t>
            </a:r>
            <a:r>
              <a:rPr lang="en-US" altLang="ko-KR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altLang="ko-KR" sz="1200" b="1" dirty="0" err="1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target_names</a:t>
            </a:r>
            <a:r>
              <a:rPr lang="en-US" altLang="ko-KR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=['</a:t>
            </a:r>
            <a:r>
              <a:rPr lang="en-US" altLang="ko-KR" sz="1200" b="1" dirty="0" err="1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정상</a:t>
            </a:r>
            <a:r>
              <a:rPr lang="en-US" altLang="ko-KR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(0)', '</a:t>
            </a:r>
            <a:r>
              <a:rPr lang="en-US" altLang="ko-KR" sz="1200" b="1" dirty="0" err="1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불량</a:t>
            </a:r>
            <a:r>
              <a:rPr lang="en-US" altLang="ko-KR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(1)']))</a:t>
            </a:r>
            <a:endParaRPr lang="en-US" altLang="ko-KR" sz="1200" b="1" dirty="0"/>
          </a:p>
          <a:p>
            <a:pPr marL="0" indent="0">
              <a:buNone/>
            </a:pPr>
            <a:endParaRPr lang="en-US" sz="1200" b="1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1C81A28B-07E4-4620-96A1-CA4BF88F7FF8}"/>
              </a:ext>
            </a:extLst>
          </p:cNvPr>
          <p:cNvSpPr/>
          <p:nvPr/>
        </p:nvSpPr>
        <p:spPr>
          <a:xfrm>
            <a:off x="487680" y="2544972"/>
            <a:ext cx="633984" cy="4031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17773AD-A3FE-46CA-9972-70DC01CD719E}"/>
              </a:ext>
            </a:extLst>
          </p:cNvPr>
          <p:cNvSpPr/>
          <p:nvPr/>
        </p:nvSpPr>
        <p:spPr>
          <a:xfrm>
            <a:off x="487680" y="2544972"/>
            <a:ext cx="633984" cy="403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07</a:t>
            </a:r>
            <a:endParaRPr lang="en-US" sz="11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49F063B-08E1-41F1-A799-E787C8D8D5CC}"/>
              </a:ext>
            </a:extLst>
          </p:cNvPr>
          <p:cNvSpPr/>
          <p:nvPr/>
        </p:nvSpPr>
        <p:spPr>
          <a:xfrm>
            <a:off x="1243584" y="2544972"/>
            <a:ext cx="6096000" cy="403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특성 중요도 시각화</a:t>
            </a:r>
            <a:endParaRPr lang="en-US" sz="13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2A41BFBA-3D2E-4894-AE5F-1E0BA28005AD}"/>
              </a:ext>
            </a:extLst>
          </p:cNvPr>
          <p:cNvSpPr/>
          <p:nvPr/>
        </p:nvSpPr>
        <p:spPr>
          <a:xfrm>
            <a:off x="487680" y="3023729"/>
            <a:ext cx="11216640" cy="1480367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78069E5-92AE-49BD-AB5A-7966F53A255C}"/>
              </a:ext>
            </a:extLst>
          </p:cNvPr>
          <p:cNvSpPr/>
          <p:nvPr/>
        </p:nvSpPr>
        <p:spPr>
          <a:xfrm>
            <a:off x="731520" y="3086722"/>
            <a:ext cx="10972800" cy="14173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lightgbm as </a:t>
            </a:r>
            <a:r>
              <a:rPr lang="en-US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lgb</a:t>
            </a:r>
            <a:endParaRPr lang="en-US" sz="1200" b="1" dirty="0">
              <a:solidFill>
                <a:srgbClr val="1E293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ts val="1900"/>
              </a:lnSpc>
            </a:pP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lgb.plot_importance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lgbm_model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importance_type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='gain’,</a:t>
            </a:r>
          </a:p>
          <a:p>
            <a:pPr>
              <a:lnSpc>
                <a:spcPts val="1900"/>
              </a:lnSpc>
            </a:pP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	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figsize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=(8,4), title='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LightGBM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특성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중요도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’)</a:t>
            </a:r>
          </a:p>
          <a:p>
            <a:pPr>
              <a:lnSpc>
                <a:spcPts val="1900"/>
              </a:lnSpc>
            </a:pP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matplotlib.pyplot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</a:t>
            </a:r>
            <a:endParaRPr lang="en-US" altLang="ko-KR" sz="1200" b="1" dirty="0">
              <a:solidFill>
                <a:srgbClr val="1E293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ts val="1900"/>
              </a:lnSpc>
            </a:pP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plt.tight_layout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;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plt.show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pPr marL="0" indent="0">
              <a:buNone/>
            </a:pPr>
            <a:endParaRPr lang="en-US" sz="1200" b="1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05072FB9-D3FE-4C5E-889C-662A6255CBA8}"/>
              </a:ext>
            </a:extLst>
          </p:cNvPr>
          <p:cNvSpPr/>
          <p:nvPr/>
        </p:nvSpPr>
        <p:spPr>
          <a:xfrm>
            <a:off x="731520" y="3899350"/>
            <a:ext cx="10972800" cy="2708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AFC5CD5E-0AAD-49A0-9773-CF2DA2BDD4D5}"/>
              </a:ext>
            </a:extLst>
          </p:cNvPr>
          <p:cNvSpPr/>
          <p:nvPr/>
        </p:nvSpPr>
        <p:spPr>
          <a:xfrm>
            <a:off x="487680" y="4693079"/>
            <a:ext cx="633984" cy="4031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2C8778D-0EA2-43A1-8533-BDB451E44050}"/>
              </a:ext>
            </a:extLst>
          </p:cNvPr>
          <p:cNvSpPr/>
          <p:nvPr/>
        </p:nvSpPr>
        <p:spPr>
          <a:xfrm>
            <a:off x="487680" y="4693079"/>
            <a:ext cx="633984" cy="403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08</a:t>
            </a:r>
            <a:endParaRPr lang="en-US" sz="11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2AF34DC-FC01-4FBA-8283-521597034A88}"/>
              </a:ext>
            </a:extLst>
          </p:cNvPr>
          <p:cNvSpPr/>
          <p:nvPr/>
        </p:nvSpPr>
        <p:spPr>
          <a:xfrm>
            <a:off x="1243584" y="4693079"/>
            <a:ext cx="6096000" cy="403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모델 저장 (pkl)</a:t>
            </a:r>
            <a:endParaRPr lang="en-US" sz="13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60A0DC63-E89C-4DDB-9980-054DB953BD2F}"/>
              </a:ext>
            </a:extLst>
          </p:cNvPr>
          <p:cNvSpPr/>
          <p:nvPr/>
        </p:nvSpPr>
        <p:spPr>
          <a:xfrm>
            <a:off x="487680" y="5171836"/>
            <a:ext cx="11216640" cy="120949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8E8F80A-147F-4524-9630-6E78BBA54692}"/>
              </a:ext>
            </a:extLst>
          </p:cNvPr>
          <p:cNvSpPr/>
          <p:nvPr/>
        </p:nvSpPr>
        <p:spPr>
          <a:xfrm>
            <a:off x="731520" y="5234831"/>
            <a:ext cx="10972800" cy="11464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r>
              <a:rPr lang="en-US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joblib</a:t>
            </a:r>
            <a:endParaRPr lang="en-US" sz="1200" b="1" dirty="0">
              <a:solidFill>
                <a:srgbClr val="1E293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ts val="1900"/>
              </a:lnSpc>
            </a:pPr>
            <a:r>
              <a:rPr lang="en-US" altLang="ko-KR" sz="1200" b="1" dirty="0" err="1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joblib.dump</a:t>
            </a:r>
            <a:r>
              <a:rPr lang="en-US" altLang="ko-KR" sz="12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altLang="ko-KR" sz="1200" b="1" dirty="0" err="1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lgbm_model</a:t>
            </a:r>
            <a:r>
              <a:rPr lang="en-US" altLang="ko-KR" sz="12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'</a:t>
            </a:r>
            <a:r>
              <a:rPr lang="en-US" altLang="ko-KR" sz="1200" b="1" dirty="0" err="1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lgbm_model.pkl</a:t>
            </a:r>
            <a:r>
              <a:rPr lang="en-US" altLang="ko-KR" sz="12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')   # </a:t>
            </a:r>
            <a:r>
              <a:rPr lang="en-US" altLang="ko-KR" sz="1200" b="1" dirty="0" err="1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저장</a:t>
            </a:r>
            <a:r>
              <a:rPr lang="en-US" altLang="ko-KR" sz="12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200" b="1" dirty="0" err="1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완료</a:t>
            </a:r>
            <a:r>
              <a:rPr lang="en-US" altLang="ko-KR" sz="1200" b="1" dirty="0">
                <a:solidFill>
                  <a:srgbClr val="16A3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</a:p>
          <a:p>
            <a:pPr>
              <a:lnSpc>
                <a:spcPts val="1900"/>
              </a:lnSpc>
            </a:pPr>
            <a:r>
              <a:rPr lang="en-US" altLang="ko-KR" sz="12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</a:t>
            </a:r>
            <a:r>
              <a:rPr lang="en-US" altLang="ko-KR" sz="1200" b="1" dirty="0" err="1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다운로드</a:t>
            </a:r>
            <a:endParaRPr lang="en-US" altLang="ko-KR" sz="1200" b="1" dirty="0"/>
          </a:p>
          <a:p>
            <a:pPr>
              <a:lnSpc>
                <a:spcPts val="1900"/>
              </a:lnSpc>
            </a:pPr>
            <a:r>
              <a:rPr lang="en-US" altLang="ko-KR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google.colab import files ; </a:t>
            </a:r>
            <a:r>
              <a:rPr lang="en-US" altLang="ko-KR" sz="1200" b="1" dirty="0" err="1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files.download</a:t>
            </a:r>
            <a:r>
              <a:rPr lang="en-US" altLang="ko-KR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('</a:t>
            </a:r>
            <a:r>
              <a:rPr lang="en-US" altLang="ko-KR" sz="1200" b="1" dirty="0" err="1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lgbm_model.pkl</a:t>
            </a:r>
            <a:r>
              <a:rPr lang="en-US" altLang="ko-KR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')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380128464"/>
      </p:ext>
    </p:extLst>
  </p:cSld>
  <p:clrMapOvr>
    <a:masterClrMapping/>
  </p:clrMapOvr>
  <p:transition spd="slow"/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B9ED3F9-D68E-4235-8B29-C7F7F32A6598}"/>
              </a:ext>
            </a:extLst>
          </p:cNvPr>
          <p:cNvSpPr/>
          <p:nvPr/>
        </p:nvSpPr>
        <p:spPr>
          <a:xfrm>
            <a:off x="0" y="0"/>
            <a:ext cx="12192000" cy="21903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3A8E0B-6F9A-4625-AFF8-3F1BC16C9172}"/>
              </a:ext>
            </a:extLst>
          </p:cNvPr>
          <p:cNvSpPr/>
          <p:nvPr/>
        </p:nvSpPr>
        <p:spPr>
          <a:xfrm>
            <a:off x="609600" y="340719"/>
            <a:ext cx="10972800" cy="6692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Confusion Matrix — 혼동 행렬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9AD76A6-F032-40F0-90BB-97A78F8DA8C9}"/>
              </a:ext>
            </a:extLst>
          </p:cNvPr>
          <p:cNvSpPr/>
          <p:nvPr/>
        </p:nvSpPr>
        <p:spPr>
          <a:xfrm>
            <a:off x="609600" y="1034325"/>
            <a:ext cx="10972800" cy="3650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FC95137-DF74-4F52-BC50-D5427DD1DA31}"/>
              </a:ext>
            </a:extLst>
          </p:cNvPr>
          <p:cNvSpPr/>
          <p:nvPr/>
        </p:nvSpPr>
        <p:spPr>
          <a:xfrm>
            <a:off x="487680" y="1192516"/>
            <a:ext cx="633984" cy="389393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D8B7970-3378-4E32-89C2-721285EC5B71}"/>
              </a:ext>
            </a:extLst>
          </p:cNvPr>
          <p:cNvSpPr/>
          <p:nvPr/>
        </p:nvSpPr>
        <p:spPr>
          <a:xfrm>
            <a:off x="487680" y="1192516"/>
            <a:ext cx="633984" cy="389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09</a:t>
            </a:r>
            <a:endParaRPr lang="en-US" sz="11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78C913D-5736-4DD5-8993-E43F47AD2BC9}"/>
              </a:ext>
            </a:extLst>
          </p:cNvPr>
          <p:cNvSpPr/>
          <p:nvPr/>
        </p:nvSpPr>
        <p:spPr>
          <a:xfrm>
            <a:off x="1243584" y="1192516"/>
            <a:ext cx="6096000" cy="3893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Confusion Matrix 시각화 코드</a:t>
            </a:r>
            <a:endParaRPr lang="en-US" sz="13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6BA942A-1BD9-4C44-BC38-B9FF50C91D41}"/>
              </a:ext>
            </a:extLst>
          </p:cNvPr>
          <p:cNvSpPr/>
          <p:nvPr/>
        </p:nvSpPr>
        <p:spPr>
          <a:xfrm>
            <a:off x="487680" y="1654921"/>
            <a:ext cx="6217920" cy="401561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80A8026-8B64-4696-92D3-30AA9C616340}"/>
              </a:ext>
            </a:extLst>
          </p:cNvPr>
          <p:cNvSpPr/>
          <p:nvPr/>
        </p:nvSpPr>
        <p:spPr>
          <a:xfrm>
            <a:off x="707136" y="1703594"/>
            <a:ext cx="5852160" cy="351670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seaborn as </a:t>
            </a:r>
            <a:r>
              <a:rPr lang="en-US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sns</a:t>
            </a:r>
            <a:endParaRPr lang="en-US" sz="1200" b="1" dirty="0">
              <a:solidFill>
                <a:srgbClr val="1E293B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ts val="2000"/>
              </a:lnSpc>
            </a:pP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matplotlib.pyplot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</a:t>
            </a:r>
            <a:endParaRPr lang="en-US" altLang="ko-KR" sz="1200" b="1" dirty="0"/>
          </a:p>
          <a:p>
            <a:pPr>
              <a:lnSpc>
                <a:spcPts val="2000"/>
              </a:lnSpc>
            </a:pP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sklearn.metrics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import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confusion_matrix</a:t>
            </a:r>
            <a:endParaRPr lang="en-US" altLang="ko-KR" sz="1200" b="1" dirty="0"/>
          </a:p>
          <a:p>
            <a:pPr>
              <a:lnSpc>
                <a:spcPts val="2000"/>
              </a:lnSpc>
            </a:pPr>
            <a:r>
              <a:rPr lang="en-US" altLang="ko-KR" sz="12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Confusion Matrix </a:t>
            </a:r>
            <a:r>
              <a:rPr lang="en-US" altLang="ko-KR" sz="1200" b="1" dirty="0" err="1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</a:t>
            </a:r>
            <a:endParaRPr lang="en-US" altLang="ko-KR" sz="1200" b="1" dirty="0"/>
          </a:p>
          <a:p>
            <a:pPr>
              <a:lnSpc>
                <a:spcPts val="2000"/>
              </a:lnSpc>
            </a:pPr>
            <a:r>
              <a:rPr lang="en-US" altLang="ko-KR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 = </a:t>
            </a:r>
            <a:r>
              <a:rPr lang="en-US" altLang="ko-KR" sz="1200" b="1" dirty="0" err="1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confusion_matrix</a:t>
            </a:r>
            <a:r>
              <a:rPr lang="en-US" altLang="ko-KR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(y_test, </a:t>
            </a:r>
            <a:r>
              <a:rPr lang="en-US" altLang="ko-KR" sz="1200" b="1" dirty="0" err="1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y_pred</a:t>
            </a:r>
            <a:r>
              <a:rPr lang="en-US" altLang="ko-KR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altLang="ko-KR" sz="1200" b="1" dirty="0"/>
          </a:p>
          <a:p>
            <a:pPr>
              <a:lnSpc>
                <a:spcPts val="2000"/>
              </a:lnSpc>
            </a:pPr>
            <a:r>
              <a:rPr lang="en-US" altLang="ko-KR" sz="12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</a:t>
            </a:r>
            <a:r>
              <a:rPr lang="en-US" altLang="ko-KR" sz="1200" b="1" dirty="0" err="1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히트맵으로</a:t>
            </a:r>
            <a:r>
              <a:rPr lang="en-US" altLang="ko-KR" sz="12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200" b="1" dirty="0" err="1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시각화</a:t>
            </a:r>
            <a:endParaRPr lang="en-US" altLang="ko-KR" sz="1200" b="1" dirty="0"/>
          </a:p>
          <a:p>
            <a:pPr>
              <a:lnSpc>
                <a:spcPts val="2000"/>
              </a:lnSpc>
            </a:pP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fig, ax =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plt.subplots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figsize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=(5, 4))</a:t>
            </a:r>
            <a:endParaRPr lang="en-US" altLang="ko-KR" sz="1200" b="1" dirty="0"/>
          </a:p>
          <a:p>
            <a:pPr>
              <a:lnSpc>
                <a:spcPts val="2000"/>
              </a:lnSpc>
            </a:pP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sns.heatmap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(cm,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=True,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fmt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='d',</a:t>
            </a:r>
            <a:endParaRPr lang="en-US" altLang="ko-KR" sz="1200" b="1" dirty="0"/>
          </a:p>
          <a:p>
            <a:pPr lvl="1">
              <a:lnSpc>
                <a:spcPts val="2000"/>
              </a:lnSpc>
            </a:pPr>
            <a:r>
              <a:rPr lang="en-US" altLang="ko-KR" sz="1200" b="1" dirty="0" err="1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cmap</a:t>
            </a:r>
            <a:r>
              <a:rPr lang="en-US" altLang="ko-KR" sz="120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='Blues’,</a:t>
            </a:r>
          </a:p>
          <a:p>
            <a:pPr lvl="1">
              <a:lnSpc>
                <a:spcPts val="2000"/>
              </a:lnSpc>
            </a:pP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xticklabels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=['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정상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(0)','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불량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(1)’],</a:t>
            </a:r>
            <a:endParaRPr lang="en-US" altLang="ko-KR" sz="1200" b="1" dirty="0">
              <a:solidFill>
                <a:srgbClr val="EA580C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lvl="1">
              <a:lnSpc>
                <a:spcPts val="2000"/>
              </a:lnSpc>
            </a:pP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yticklabels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=['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정상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(0)','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불량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(1)’])</a:t>
            </a:r>
          </a:p>
          <a:p>
            <a:pPr lvl="1" indent="-457200">
              <a:lnSpc>
                <a:spcPts val="2000"/>
              </a:lnSpc>
            </a:pP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ax.set_xlabel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('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예측값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’)</a:t>
            </a:r>
          </a:p>
          <a:p>
            <a:pPr lvl="1" indent="-457200">
              <a:lnSpc>
                <a:spcPts val="2000"/>
              </a:lnSpc>
            </a:pP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ax.set_ylabel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('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실제값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')</a:t>
            </a:r>
            <a:endParaRPr lang="en-US" altLang="ko-KR" sz="1200" b="1" dirty="0"/>
          </a:p>
          <a:p>
            <a:pPr lvl="1" indent="-457200">
              <a:lnSpc>
                <a:spcPts val="2000"/>
              </a:lnSpc>
            </a:pPr>
            <a:r>
              <a:rPr lang="en-US" altLang="ko-KR" sz="1200" b="1" dirty="0" err="1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ax.set_title</a:t>
            </a:r>
            <a:r>
              <a:rPr lang="en-US" altLang="ko-KR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('</a:t>
            </a:r>
            <a:r>
              <a:rPr lang="en-US" altLang="ko-KR" sz="1200" b="1" dirty="0" err="1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LightGBM</a:t>
            </a:r>
            <a:r>
              <a:rPr lang="en-US" altLang="ko-KR" sz="1200" b="1" dirty="0">
                <a:solidFill>
                  <a:srgbClr val="0284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Confusion Matrix’)</a:t>
            </a:r>
          </a:p>
          <a:p>
            <a:pPr lvl="1" indent="-457200">
              <a:lnSpc>
                <a:spcPts val="2000"/>
              </a:lnSpc>
            </a:pP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plt.tight_layout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; </a:t>
            </a:r>
            <a:r>
              <a:rPr lang="en-US" altLang="ko-KR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plt.show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altLang="ko-KR" sz="1200" b="1" dirty="0"/>
          </a:p>
          <a:p>
            <a:pPr lvl="1" indent="-457200"/>
            <a:endParaRPr lang="en-US" altLang="ko-KR" sz="1200" b="1" dirty="0"/>
          </a:p>
          <a:p>
            <a:pPr lvl="1" indent="-457200"/>
            <a:endParaRPr lang="en-US" altLang="ko-KR" sz="1200" b="1" dirty="0"/>
          </a:p>
          <a:p>
            <a:pPr lvl="1"/>
            <a:endParaRPr lang="en-US" sz="1200" b="1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D848846-F6F5-4083-B1F8-B9EFA261E46E}"/>
              </a:ext>
            </a:extLst>
          </p:cNvPr>
          <p:cNvSpPr/>
          <p:nvPr/>
        </p:nvSpPr>
        <p:spPr>
          <a:xfrm>
            <a:off x="707136" y="1928713"/>
            <a:ext cx="5852160" cy="2251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201B9FC-77D1-490D-A590-E3EF884030B1}"/>
              </a:ext>
            </a:extLst>
          </p:cNvPr>
          <p:cNvSpPr/>
          <p:nvPr/>
        </p:nvSpPr>
        <p:spPr>
          <a:xfrm>
            <a:off x="707136" y="2378948"/>
            <a:ext cx="5852160" cy="2251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7520E40-9C67-4502-8530-5CB3E6DCDD98}"/>
              </a:ext>
            </a:extLst>
          </p:cNvPr>
          <p:cNvSpPr/>
          <p:nvPr/>
        </p:nvSpPr>
        <p:spPr>
          <a:xfrm>
            <a:off x="707136" y="3054302"/>
            <a:ext cx="5852160" cy="2251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D1F4DA88-8025-4A6B-BD32-9C1A0A15B83F}"/>
              </a:ext>
            </a:extLst>
          </p:cNvPr>
          <p:cNvSpPr/>
          <p:nvPr/>
        </p:nvSpPr>
        <p:spPr>
          <a:xfrm>
            <a:off x="707136" y="3729656"/>
            <a:ext cx="5852160" cy="2251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38507B0-2723-47B9-A527-33A0E559972A}"/>
              </a:ext>
            </a:extLst>
          </p:cNvPr>
          <p:cNvSpPr/>
          <p:nvPr/>
        </p:nvSpPr>
        <p:spPr>
          <a:xfrm>
            <a:off x="707136" y="4405009"/>
            <a:ext cx="5852160" cy="2251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endParaRPr lang="en-US" sz="1200" b="1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9D5B7707-139A-476F-963F-35B3007ABEB0}"/>
              </a:ext>
            </a:extLst>
          </p:cNvPr>
          <p:cNvSpPr/>
          <p:nvPr/>
        </p:nvSpPr>
        <p:spPr>
          <a:xfrm>
            <a:off x="707136" y="5305481"/>
            <a:ext cx="5852160" cy="2251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96F9F5F-FAAA-45D1-ACD3-86CEC1E1F1F8}"/>
              </a:ext>
            </a:extLst>
          </p:cNvPr>
          <p:cNvSpPr/>
          <p:nvPr/>
        </p:nvSpPr>
        <p:spPr>
          <a:xfrm>
            <a:off x="6949440" y="1192516"/>
            <a:ext cx="4754880" cy="3893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출력 결과 예시</a:t>
            </a:r>
            <a:endParaRPr lang="en-US" sz="13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EB9CE640-6455-4D29-A836-869FF693BF57}"/>
              </a:ext>
            </a:extLst>
          </p:cNvPr>
          <p:cNvSpPr/>
          <p:nvPr/>
        </p:nvSpPr>
        <p:spPr>
          <a:xfrm>
            <a:off x="6949440" y="1654921"/>
            <a:ext cx="4754880" cy="401561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31ED2FC-B20B-441C-8E08-BB105FE022A1}"/>
              </a:ext>
            </a:extLst>
          </p:cNvPr>
          <p:cNvSpPr/>
          <p:nvPr/>
        </p:nvSpPr>
        <p:spPr>
          <a:xfrm>
            <a:off x="7802880" y="1727932"/>
            <a:ext cx="3169920" cy="340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</a:rPr>
              <a:t>예측값</a:t>
            </a:r>
            <a:endParaRPr lang="en-US" sz="10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399AE73-1AE2-4A1A-95ED-61F51D13EAF6}"/>
              </a:ext>
            </a:extLst>
          </p:cNvPr>
          <p:cNvSpPr/>
          <p:nvPr/>
        </p:nvSpPr>
        <p:spPr>
          <a:xfrm>
            <a:off x="7802880" y="2068651"/>
            <a:ext cx="1463040" cy="340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6A34A"/>
                </a:solidFill>
              </a:rPr>
              <a:t>정상(0)</a:t>
            </a:r>
            <a:endParaRPr lang="en-US" sz="10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58BCD5E6-B160-4B8F-919D-07D539579275}"/>
              </a:ext>
            </a:extLst>
          </p:cNvPr>
          <p:cNvSpPr/>
          <p:nvPr/>
        </p:nvSpPr>
        <p:spPr>
          <a:xfrm>
            <a:off x="9326880" y="2068651"/>
            <a:ext cx="1463040" cy="340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</a:rPr>
              <a:t>불량(1)</a:t>
            </a:r>
            <a:endParaRPr lang="en-US" sz="10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D6C1A3BF-A7B1-4447-9416-CB70DA0503AD}"/>
              </a:ext>
            </a:extLst>
          </p:cNvPr>
          <p:cNvSpPr/>
          <p:nvPr/>
        </p:nvSpPr>
        <p:spPr>
          <a:xfrm>
            <a:off x="6973824" y="2494550"/>
            <a:ext cx="426720" cy="182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4748B"/>
                </a:solidFill>
              </a:rPr>
              <a:t>실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64748B"/>
                </a:solidFill>
              </a:rPr>
              <a:t>제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64748B"/>
                </a:solidFill>
              </a:rPr>
              <a:t>값</a:t>
            </a:r>
            <a:endParaRPr lang="en-US" sz="9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83DF0C2C-6EE4-43E6-A45B-CE867C934B25}"/>
              </a:ext>
            </a:extLst>
          </p:cNvPr>
          <p:cNvSpPr/>
          <p:nvPr/>
        </p:nvSpPr>
        <p:spPr>
          <a:xfrm>
            <a:off x="7388352" y="2494550"/>
            <a:ext cx="609600" cy="8761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A34A"/>
                </a:solidFill>
              </a:rPr>
              <a:t>정상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6A34A"/>
                </a:solidFill>
              </a:rPr>
              <a:t>(0)</a:t>
            </a:r>
            <a:endParaRPr lang="en-US" sz="9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F6A0A8B-305E-4B78-9A3E-A152437BD895}"/>
              </a:ext>
            </a:extLst>
          </p:cNvPr>
          <p:cNvSpPr/>
          <p:nvPr/>
        </p:nvSpPr>
        <p:spPr>
          <a:xfrm>
            <a:off x="7388352" y="3370684"/>
            <a:ext cx="609600" cy="8761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불량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(1)</a:t>
            </a:r>
            <a:endParaRPr lang="en-US" sz="9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23A20A86-C013-4BB3-9C14-6A1AD5599267}"/>
              </a:ext>
            </a:extLst>
          </p:cNvPr>
          <p:cNvSpPr/>
          <p:nvPr/>
        </p:nvSpPr>
        <p:spPr>
          <a:xfrm>
            <a:off x="8022336" y="2494550"/>
            <a:ext cx="1341120" cy="87613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9E671AFF-6DBB-40B6-8984-96096057A844}"/>
              </a:ext>
            </a:extLst>
          </p:cNvPr>
          <p:cNvSpPr/>
          <p:nvPr/>
        </p:nvSpPr>
        <p:spPr>
          <a:xfrm>
            <a:off x="8022336" y="2494550"/>
            <a:ext cx="1341120" cy="547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1842</a:t>
            </a:r>
            <a:endParaRPr lang="en-US" sz="18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AB4DE24D-1693-4C71-90D7-966B531FB701}"/>
              </a:ext>
            </a:extLst>
          </p:cNvPr>
          <p:cNvSpPr/>
          <p:nvPr/>
        </p:nvSpPr>
        <p:spPr>
          <a:xfrm>
            <a:off x="8022336" y="3042134"/>
            <a:ext cx="1341120" cy="328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FDBFE"/>
                </a:solidFill>
              </a:rPr>
              <a:t>TN</a:t>
            </a:r>
            <a:endParaRPr lang="en-US" sz="90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B25826C5-8FD4-49F1-A39D-62E51EC74656}"/>
              </a:ext>
            </a:extLst>
          </p:cNvPr>
          <p:cNvSpPr/>
          <p:nvPr/>
        </p:nvSpPr>
        <p:spPr>
          <a:xfrm>
            <a:off x="9412224" y="2494550"/>
            <a:ext cx="1341120" cy="876134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7C6A32C2-A284-4393-B852-96A0632C2610}"/>
              </a:ext>
            </a:extLst>
          </p:cNvPr>
          <p:cNvSpPr/>
          <p:nvPr/>
        </p:nvSpPr>
        <p:spPr>
          <a:xfrm>
            <a:off x="9412224" y="2494550"/>
            <a:ext cx="1341120" cy="547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C2626"/>
                </a:solidFill>
              </a:rPr>
              <a:t>58</a:t>
            </a:r>
            <a:endParaRPr lang="en-US" sz="1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4BA751D-EE32-4014-85A4-7570BDC8171B}"/>
              </a:ext>
            </a:extLst>
          </p:cNvPr>
          <p:cNvSpPr/>
          <p:nvPr/>
        </p:nvSpPr>
        <p:spPr>
          <a:xfrm>
            <a:off x="9412224" y="3042134"/>
            <a:ext cx="1341120" cy="328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2626"/>
                </a:solidFill>
              </a:rPr>
              <a:t>FP</a:t>
            </a:r>
            <a:endParaRPr lang="en-US" sz="9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B8DE3600-0967-47A4-9501-F8DBDE7BB903}"/>
              </a:ext>
            </a:extLst>
          </p:cNvPr>
          <p:cNvSpPr/>
          <p:nvPr/>
        </p:nvSpPr>
        <p:spPr>
          <a:xfrm>
            <a:off x="8022336" y="3370684"/>
            <a:ext cx="1341120" cy="876134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FE81253B-53C0-4ED4-91C7-E640CB52F8F3}"/>
              </a:ext>
            </a:extLst>
          </p:cNvPr>
          <p:cNvSpPr/>
          <p:nvPr/>
        </p:nvSpPr>
        <p:spPr>
          <a:xfrm>
            <a:off x="8022336" y="3370684"/>
            <a:ext cx="1341120" cy="547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06"/>
                </a:solidFill>
              </a:rPr>
              <a:t>43</a:t>
            </a:r>
            <a:endParaRPr lang="en-US" sz="1800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7CC1F0BB-4F59-4A46-802A-5752DCF3EC6D}"/>
              </a:ext>
            </a:extLst>
          </p:cNvPr>
          <p:cNvSpPr/>
          <p:nvPr/>
        </p:nvSpPr>
        <p:spPr>
          <a:xfrm>
            <a:off x="8022336" y="3918268"/>
            <a:ext cx="1341120" cy="328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97706"/>
                </a:solidFill>
              </a:rPr>
              <a:t>FN</a:t>
            </a:r>
            <a:endParaRPr lang="en-US" sz="900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6374EA9A-5B19-4F3C-9382-3D58B64D2AFE}"/>
              </a:ext>
            </a:extLst>
          </p:cNvPr>
          <p:cNvSpPr/>
          <p:nvPr/>
        </p:nvSpPr>
        <p:spPr>
          <a:xfrm>
            <a:off x="9412224" y="3370684"/>
            <a:ext cx="1341120" cy="87613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EAA239D7-0BCB-4159-A867-1E9C4A6937C4}"/>
              </a:ext>
            </a:extLst>
          </p:cNvPr>
          <p:cNvSpPr/>
          <p:nvPr/>
        </p:nvSpPr>
        <p:spPr>
          <a:xfrm>
            <a:off x="9412224" y="3370684"/>
            <a:ext cx="1341120" cy="547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557</a:t>
            </a:r>
            <a:endParaRPr lang="en-US" sz="18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F93B5FCB-356A-4461-B20C-E6F1E6D46162}"/>
              </a:ext>
            </a:extLst>
          </p:cNvPr>
          <p:cNvSpPr/>
          <p:nvPr/>
        </p:nvSpPr>
        <p:spPr>
          <a:xfrm>
            <a:off x="9412224" y="3918268"/>
            <a:ext cx="1341120" cy="328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FDBFE"/>
                </a:solidFill>
              </a:rPr>
              <a:t>TP</a:t>
            </a:r>
            <a:endParaRPr lang="en-US" sz="900" dirty="0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99C6586C-8E03-4170-99A6-AD1664E1CAAA}"/>
              </a:ext>
            </a:extLst>
          </p:cNvPr>
          <p:cNvSpPr/>
          <p:nvPr/>
        </p:nvSpPr>
        <p:spPr>
          <a:xfrm>
            <a:off x="6949440" y="4405009"/>
            <a:ext cx="2267712" cy="389393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EE198CAE-F9D3-4061-A727-CC8BA27CA1E1}"/>
              </a:ext>
            </a:extLst>
          </p:cNvPr>
          <p:cNvSpPr/>
          <p:nvPr/>
        </p:nvSpPr>
        <p:spPr>
          <a:xfrm>
            <a:off x="7046976" y="4405009"/>
            <a:ext cx="2170176" cy="3893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TN: 정상 → 정상 예측 (정답)</a:t>
            </a:r>
            <a:endParaRPr lang="en-US" sz="1050" b="1" dirty="0"/>
          </a:p>
        </p:txBody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1AAC4B57-D24F-4808-B451-2620110C68D1}"/>
              </a:ext>
            </a:extLst>
          </p:cNvPr>
          <p:cNvSpPr/>
          <p:nvPr/>
        </p:nvSpPr>
        <p:spPr>
          <a:xfrm>
            <a:off x="9339072" y="4405009"/>
            <a:ext cx="2267712" cy="389393"/>
          </a:xfrm>
          <a:prstGeom prst="rect">
            <a:avLst/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1E8281EE-1570-46B8-98CD-386D1B50C877}"/>
              </a:ext>
            </a:extLst>
          </p:cNvPr>
          <p:cNvSpPr/>
          <p:nvPr/>
        </p:nvSpPr>
        <p:spPr>
          <a:xfrm>
            <a:off x="9436608" y="4405009"/>
            <a:ext cx="2170176" cy="3893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FP: 정상 → 불량 예측 (오답)</a:t>
            </a:r>
            <a:endParaRPr lang="en-US" sz="1050" b="1" dirty="0"/>
          </a:p>
        </p:txBody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684150ED-48D0-4175-A070-E17B44A1DF49}"/>
              </a:ext>
            </a:extLst>
          </p:cNvPr>
          <p:cNvSpPr/>
          <p:nvPr/>
        </p:nvSpPr>
        <p:spPr>
          <a:xfrm>
            <a:off x="6949440" y="4867414"/>
            <a:ext cx="2267712" cy="389393"/>
          </a:xfrm>
          <a:prstGeom prst="rect">
            <a:avLst/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611CBC10-A17E-4E85-B831-E5FC3DE4F524}"/>
              </a:ext>
            </a:extLst>
          </p:cNvPr>
          <p:cNvSpPr/>
          <p:nvPr/>
        </p:nvSpPr>
        <p:spPr>
          <a:xfrm>
            <a:off x="7046976" y="4867414"/>
            <a:ext cx="2170176" cy="3893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FN: 불량 → 정상 예측 (오답)</a:t>
            </a:r>
            <a:endParaRPr lang="en-US" sz="1050" b="1" dirty="0"/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78161E84-E89F-478C-91CF-7FBEECFC8C34}"/>
              </a:ext>
            </a:extLst>
          </p:cNvPr>
          <p:cNvSpPr/>
          <p:nvPr/>
        </p:nvSpPr>
        <p:spPr>
          <a:xfrm>
            <a:off x="9339072" y="4867414"/>
            <a:ext cx="2267712" cy="389393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CDB1448C-4BC7-4EEA-A855-322061534BE9}"/>
              </a:ext>
            </a:extLst>
          </p:cNvPr>
          <p:cNvSpPr/>
          <p:nvPr/>
        </p:nvSpPr>
        <p:spPr>
          <a:xfrm>
            <a:off x="9436608" y="4867414"/>
            <a:ext cx="2170176" cy="3893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TP: 불량 → 불량 예측 (정답)</a:t>
            </a:r>
            <a:endParaRPr lang="en-US" sz="1050" b="1" dirty="0"/>
          </a:p>
        </p:txBody>
      </p:sp>
      <p:sp>
        <p:nvSpPr>
          <p:cNvPr id="54" name="Shape 52">
            <a:extLst>
              <a:ext uri="{FF2B5EF4-FFF2-40B4-BE49-F238E27FC236}">
                <a16:creationId xmlns:a16="http://schemas.microsoft.com/office/drawing/2014/main" id="{5E8EA93D-1436-454B-B066-8F8A9AF9C06F}"/>
              </a:ext>
            </a:extLst>
          </p:cNvPr>
          <p:cNvSpPr/>
          <p:nvPr/>
        </p:nvSpPr>
        <p:spPr>
          <a:xfrm>
            <a:off x="487680" y="5792222"/>
            <a:ext cx="11216640" cy="949146"/>
          </a:xfrm>
          <a:prstGeom prst="rect">
            <a:avLst/>
          </a:prstGeom>
          <a:solidFill>
            <a:srgbClr val="F0F9FF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CA1282F0-8C03-42D5-A10F-CF5B05BE24AF}"/>
              </a:ext>
            </a:extLst>
          </p:cNvPr>
          <p:cNvSpPr/>
          <p:nvPr/>
        </p:nvSpPr>
        <p:spPr>
          <a:xfrm>
            <a:off x="792480" y="5840896"/>
            <a:ext cx="3048000" cy="3163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4C7"/>
                </a:solidFill>
              </a:rPr>
              <a:t>📊  핵심 지표 해석</a:t>
            </a:r>
            <a:endParaRPr lang="en-US" sz="1100" dirty="0"/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D85B1947-B5FC-410F-87FA-38859CE86EA4}"/>
              </a:ext>
            </a:extLst>
          </p:cNvPr>
          <p:cNvSpPr/>
          <p:nvPr/>
        </p:nvSpPr>
        <p:spPr>
          <a:xfrm>
            <a:off x="792480" y="6205952"/>
            <a:ext cx="3657600" cy="4624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 (Accuracy)  =  (TN+TP) / 전체  =  (1842+557)/2500 = 95.96%</a:t>
            </a:r>
            <a:endParaRPr lang="en-US" sz="950" dirty="0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7FD29E3E-4DBA-4769-AA6A-5F3E9A930B0D}"/>
              </a:ext>
            </a:extLst>
          </p:cNvPr>
          <p:cNvSpPr/>
          <p:nvPr/>
        </p:nvSpPr>
        <p:spPr>
          <a:xfrm>
            <a:off x="4523232" y="6205952"/>
            <a:ext cx="3657600" cy="4624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정밀도 (Precision)  =  TP / (TP+FP)  =  557/(557+58) = 90.57%</a:t>
            </a:r>
            <a:endParaRPr lang="en-US" sz="950" dirty="0"/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9CD935D2-C519-4DB9-A6B9-072A3D823749}"/>
              </a:ext>
            </a:extLst>
          </p:cNvPr>
          <p:cNvSpPr/>
          <p:nvPr/>
        </p:nvSpPr>
        <p:spPr>
          <a:xfrm>
            <a:off x="8253984" y="6205952"/>
            <a:ext cx="3657600" cy="4624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재현율 (Recall)  =  TP / (TP+FN)  =  557/(557+43) = 92.83%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926875003"/>
      </p:ext>
    </p:extLst>
  </p:cSld>
  <p:clrMapOvr>
    <a:masterClrMapping/>
  </p:clrMapOvr>
  <p:transition spd="slow"/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C023524-56C0-4F10-8D0A-8FAD3911747E}"/>
              </a:ext>
            </a:extLst>
          </p:cNvPr>
          <p:cNvSpPr/>
          <p:nvPr/>
        </p:nvSpPr>
        <p:spPr>
          <a:xfrm>
            <a:off x="0" y="0"/>
            <a:ext cx="12192000" cy="21802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1CA9465-8DBC-4773-AB34-138DAA4FC1D1}"/>
              </a:ext>
            </a:extLst>
          </p:cNvPr>
          <p:cNvSpPr/>
          <p:nvPr/>
        </p:nvSpPr>
        <p:spPr>
          <a:xfrm>
            <a:off x="1219200" y="1211267"/>
            <a:ext cx="4632960" cy="1332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0" b="1" dirty="0">
                <a:solidFill>
                  <a:srgbClr val="F5A62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Cat</a:t>
            </a:r>
            <a:endParaRPr lang="en-US" sz="8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6AAA76A-ECC2-41BB-912B-F8A95EE5897F}"/>
              </a:ext>
            </a:extLst>
          </p:cNvPr>
          <p:cNvSpPr/>
          <p:nvPr/>
        </p:nvSpPr>
        <p:spPr>
          <a:xfrm>
            <a:off x="5852160" y="1211267"/>
            <a:ext cx="5120640" cy="1332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Boost</a:t>
            </a:r>
            <a:endParaRPr lang="en-US" sz="8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C1E64AC-4F0B-426B-87A9-875721DA9C21}"/>
              </a:ext>
            </a:extLst>
          </p:cNvPr>
          <p:cNvSpPr/>
          <p:nvPr/>
        </p:nvSpPr>
        <p:spPr>
          <a:xfrm>
            <a:off x="1219200" y="2689012"/>
            <a:ext cx="9753600" cy="5450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Boost — 범주형 데이터의 최강자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1C67F07-F6E7-4D0F-8C34-7BD9E7A400FE}"/>
              </a:ext>
            </a:extLst>
          </p:cNvPr>
          <p:cNvSpPr/>
          <p:nvPr/>
        </p:nvSpPr>
        <p:spPr>
          <a:xfrm>
            <a:off x="4267200" y="3391547"/>
            <a:ext cx="3657600" cy="48451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4AA5F80-C0EC-476F-AB95-449591689F4D}"/>
              </a:ext>
            </a:extLst>
          </p:cNvPr>
          <p:cNvSpPr/>
          <p:nvPr/>
        </p:nvSpPr>
        <p:spPr>
          <a:xfrm>
            <a:off x="975360" y="3694364"/>
            <a:ext cx="2560320" cy="58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A623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B5C212F-7B71-4655-8A7B-D0E1BEE535D0}"/>
              </a:ext>
            </a:extLst>
          </p:cNvPr>
          <p:cNvSpPr/>
          <p:nvPr/>
        </p:nvSpPr>
        <p:spPr>
          <a:xfrm>
            <a:off x="975360" y="3694364"/>
            <a:ext cx="2560320" cy="581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🐱 범주형 자동처리</a:t>
            </a:r>
            <a:endParaRPr lang="en-US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9774923F-F97B-4A33-A749-A22129EC6738}"/>
              </a:ext>
            </a:extLst>
          </p:cNvPr>
          <p:cNvSpPr/>
          <p:nvPr/>
        </p:nvSpPr>
        <p:spPr>
          <a:xfrm>
            <a:off x="3779520" y="3694364"/>
            <a:ext cx="2560320" cy="58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DF7388D-8B1A-43AE-A8D1-592F9DC04409}"/>
              </a:ext>
            </a:extLst>
          </p:cNvPr>
          <p:cNvSpPr/>
          <p:nvPr/>
        </p:nvSpPr>
        <p:spPr>
          <a:xfrm>
            <a:off x="3779520" y="3694364"/>
            <a:ext cx="2560320" cy="581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전처리 최소화</a:t>
            </a:r>
            <a:endParaRPr lang="en-US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24DA7079-04B0-43EE-ADCF-670BA41AE59D}"/>
              </a:ext>
            </a:extLst>
          </p:cNvPr>
          <p:cNvSpPr/>
          <p:nvPr/>
        </p:nvSpPr>
        <p:spPr>
          <a:xfrm>
            <a:off x="6583680" y="3694364"/>
            <a:ext cx="2560320" cy="58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001CBC6-7549-467C-A366-FB7029A27ECC}"/>
              </a:ext>
            </a:extLst>
          </p:cNvPr>
          <p:cNvSpPr/>
          <p:nvPr/>
        </p:nvSpPr>
        <p:spPr>
          <a:xfrm>
            <a:off x="6583680" y="3694364"/>
            <a:ext cx="2560320" cy="581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높은 정확도</a:t>
            </a:r>
            <a:endParaRPr lang="en-US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B78A9600-3FA0-407E-B36E-C154ED35D1EF}"/>
              </a:ext>
            </a:extLst>
          </p:cNvPr>
          <p:cNvSpPr/>
          <p:nvPr/>
        </p:nvSpPr>
        <p:spPr>
          <a:xfrm>
            <a:off x="9265920" y="3694364"/>
            <a:ext cx="2560320" cy="58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CFE14C3-E892-4AC4-BFA8-5E4462C4D37B}"/>
              </a:ext>
            </a:extLst>
          </p:cNvPr>
          <p:cNvSpPr/>
          <p:nvPr/>
        </p:nvSpPr>
        <p:spPr>
          <a:xfrm>
            <a:off x="9265920" y="3694364"/>
            <a:ext cx="2560320" cy="581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과적합 방지</a:t>
            </a:r>
            <a:endParaRPr 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AB20D9C3-7EF5-4F71-9C05-6239192E2EE3}"/>
              </a:ext>
            </a:extLst>
          </p:cNvPr>
          <p:cNvSpPr/>
          <p:nvPr/>
        </p:nvSpPr>
        <p:spPr>
          <a:xfrm>
            <a:off x="2438400" y="4951582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이탈 예측 — 범주형 데이터 실전 실습</a:t>
            </a:r>
            <a:endParaRPr lang="en-US" sz="2000" b="1" dirty="0"/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CB2BC6CA-488D-40D6-8A03-466ACC3D327D}"/>
              </a:ext>
            </a:extLst>
          </p:cNvPr>
          <p:cNvSpPr/>
          <p:nvPr/>
        </p:nvSpPr>
        <p:spPr>
          <a:xfrm>
            <a:off x="25551" y="6525344"/>
            <a:ext cx="12166450" cy="31546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73ED57A7-3756-4A97-96D3-731527AA07F6}"/>
              </a:ext>
            </a:extLst>
          </p:cNvPr>
          <p:cNvSpPr/>
          <p:nvPr/>
        </p:nvSpPr>
        <p:spPr>
          <a:xfrm>
            <a:off x="25551" y="6525344"/>
            <a:ext cx="1216645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4748B"/>
                </a:solidFill>
              </a:rPr>
              <a:t>실습 환경: Google Colab  |  데이터: 코드로 직접 생성 (10,000건)  |  언어: Python 3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673295644"/>
      </p:ext>
    </p:extLst>
  </p:cSld>
  <p:clrMapOvr>
    <a:masterClrMapping/>
  </p:clrMapOvr>
  <p:transition spd="slow"/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9AE6B98-5308-468F-9A5F-E960A60A6A61}"/>
              </a:ext>
            </a:extLst>
          </p:cNvPr>
          <p:cNvSpPr/>
          <p:nvPr/>
        </p:nvSpPr>
        <p:spPr>
          <a:xfrm>
            <a:off x="0" y="0"/>
            <a:ext cx="12192000" cy="218639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5EB7694-E96D-42C3-84B3-B9598005E6B1}"/>
              </a:ext>
            </a:extLst>
          </p:cNvPr>
          <p:cNvSpPr/>
          <p:nvPr/>
        </p:nvSpPr>
        <p:spPr>
          <a:xfrm>
            <a:off x="609600" y="340105"/>
            <a:ext cx="10972800" cy="7045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CatBoost 란?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536AE88-EDF4-4FC6-8BA6-4C6413B77E72}"/>
              </a:ext>
            </a:extLst>
          </p:cNvPr>
          <p:cNvSpPr/>
          <p:nvPr/>
        </p:nvSpPr>
        <p:spPr>
          <a:xfrm>
            <a:off x="609600" y="1068902"/>
            <a:ext cx="10972800" cy="36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4241519-A15C-40D7-AEF9-93A405DD50F3}"/>
              </a:ext>
            </a:extLst>
          </p:cNvPr>
          <p:cNvSpPr/>
          <p:nvPr/>
        </p:nvSpPr>
        <p:spPr>
          <a:xfrm>
            <a:off x="609600" y="1214661"/>
            <a:ext cx="10972800" cy="5101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EF3758D-4E81-449C-9C17-691F2C939ACB}"/>
              </a:ext>
            </a:extLst>
          </p:cNvPr>
          <p:cNvSpPr/>
          <p:nvPr/>
        </p:nvSpPr>
        <p:spPr>
          <a:xfrm>
            <a:off x="829056" y="1287541"/>
            <a:ext cx="10607040" cy="3643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러시아 IT 기업 Yandex가 2017년 공개. Cat = Category(범주형), Boost = Gradient Boosting.</a:t>
            </a:r>
            <a:endParaRPr lang="en-US" sz="1600" b="1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96046DE-CE42-487A-9E39-4F1BFC6ED464}"/>
              </a:ext>
            </a:extLst>
          </p:cNvPr>
          <p:cNvSpPr/>
          <p:nvPr/>
        </p:nvSpPr>
        <p:spPr>
          <a:xfrm>
            <a:off x="487680" y="1846285"/>
            <a:ext cx="3535680" cy="285445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6A96E02-9367-482D-9EC9-3E5E32B628B8}"/>
              </a:ext>
            </a:extLst>
          </p:cNvPr>
          <p:cNvSpPr/>
          <p:nvPr/>
        </p:nvSpPr>
        <p:spPr>
          <a:xfrm>
            <a:off x="487680" y="1846285"/>
            <a:ext cx="3535680" cy="728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9ABFB90-9F93-4D57-BA97-59AFA6965BD5}"/>
              </a:ext>
            </a:extLst>
          </p:cNvPr>
          <p:cNvSpPr/>
          <p:nvPr/>
        </p:nvSpPr>
        <p:spPr>
          <a:xfrm>
            <a:off x="487680" y="1943457"/>
            <a:ext cx="3535680" cy="5830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🐱</a:t>
            </a:r>
            <a:endParaRPr lang="en-US" sz="3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B7629CF-748B-4E59-AF57-1F26C467A752}"/>
              </a:ext>
            </a:extLst>
          </p:cNvPr>
          <p:cNvSpPr/>
          <p:nvPr/>
        </p:nvSpPr>
        <p:spPr>
          <a:xfrm>
            <a:off x="487680" y="2526495"/>
            <a:ext cx="3535680" cy="4615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범주형 자동 처리</a:t>
            </a:r>
            <a:endParaRPr lang="en-US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C667C28-7BBB-4BA9-9721-C7F76FA327B0}"/>
              </a:ext>
            </a:extLst>
          </p:cNvPr>
          <p:cNvSpPr/>
          <p:nvPr/>
        </p:nvSpPr>
        <p:spPr>
          <a:xfrm>
            <a:off x="609600" y="3012359"/>
            <a:ext cx="3291840" cy="14575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문자열 데이터(성별, 지역, 등급 등)를</a:t>
            </a:r>
            <a:endParaRPr lang="en-US" sz="1400" b="1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별도 인코딩 없이 그대로 입력 가능.</a:t>
            </a:r>
            <a:endParaRPr lang="en-US" sz="1400" b="1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Encoding 불필요!</a:t>
            </a:r>
            <a:endParaRPr lang="en-US" sz="1400" b="1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B53B6F78-9398-4205-8087-C3E7F5B5D816}"/>
              </a:ext>
            </a:extLst>
          </p:cNvPr>
          <p:cNvSpPr/>
          <p:nvPr/>
        </p:nvSpPr>
        <p:spPr>
          <a:xfrm>
            <a:off x="4389120" y="1846285"/>
            <a:ext cx="3535680" cy="285445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095758F5-6C6D-4D37-8438-695BCA338C66}"/>
              </a:ext>
            </a:extLst>
          </p:cNvPr>
          <p:cNvSpPr/>
          <p:nvPr/>
        </p:nvSpPr>
        <p:spPr>
          <a:xfrm>
            <a:off x="4389120" y="1846285"/>
            <a:ext cx="3535680" cy="728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53FF7E0-FB86-48D0-A017-1B63F0865300}"/>
              </a:ext>
            </a:extLst>
          </p:cNvPr>
          <p:cNvSpPr/>
          <p:nvPr/>
        </p:nvSpPr>
        <p:spPr>
          <a:xfrm>
            <a:off x="4389120" y="1943457"/>
            <a:ext cx="3535680" cy="5830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🛡️</a:t>
            </a:r>
            <a:endParaRPr lang="en-US" sz="3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2E549AD-A230-482E-92C5-1DBF7DD8B7EA}"/>
              </a:ext>
            </a:extLst>
          </p:cNvPr>
          <p:cNvSpPr/>
          <p:nvPr/>
        </p:nvSpPr>
        <p:spPr>
          <a:xfrm>
            <a:off x="4389120" y="2526495"/>
            <a:ext cx="3535680" cy="4615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Boosting</a:t>
            </a:r>
            <a:endParaRPr lang="en-US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93F8BF4-F63D-4B9E-8256-ADDFEB077D3F}"/>
              </a:ext>
            </a:extLst>
          </p:cNvPr>
          <p:cNvSpPr/>
          <p:nvPr/>
        </p:nvSpPr>
        <p:spPr>
          <a:xfrm>
            <a:off x="4511040" y="3012359"/>
            <a:ext cx="3291840" cy="14575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누수(Data Leakage)를 방지하는</a:t>
            </a:r>
            <a:endParaRPr lang="en-US" sz="1400" b="1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독자적 학습 방식으로</a:t>
            </a:r>
            <a:endParaRPr lang="en-US" sz="1400" b="1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과적합을 원천 차단.</a:t>
            </a:r>
            <a:endParaRPr lang="en-US" sz="1400" b="1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A6D96554-15A3-43AF-9324-E2E6919246A0}"/>
              </a:ext>
            </a:extLst>
          </p:cNvPr>
          <p:cNvSpPr/>
          <p:nvPr/>
        </p:nvSpPr>
        <p:spPr>
          <a:xfrm>
            <a:off x="8290560" y="1846285"/>
            <a:ext cx="3535680" cy="285445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EF934768-4A1F-4AC6-85BA-982D9510877B}"/>
              </a:ext>
            </a:extLst>
          </p:cNvPr>
          <p:cNvSpPr/>
          <p:nvPr/>
        </p:nvSpPr>
        <p:spPr>
          <a:xfrm>
            <a:off x="8290560" y="1846285"/>
            <a:ext cx="3535680" cy="728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B94B3A6-8C6A-41A6-A0A9-AAA0288A0FAF}"/>
              </a:ext>
            </a:extLst>
          </p:cNvPr>
          <p:cNvSpPr/>
          <p:nvPr/>
        </p:nvSpPr>
        <p:spPr>
          <a:xfrm>
            <a:off x="8290560" y="1943457"/>
            <a:ext cx="3535680" cy="5830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⚖️</a:t>
            </a:r>
            <a:endParaRPr lang="en-US" sz="36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50B1F8-FC17-4DFF-A254-A71D5CE206B0}"/>
              </a:ext>
            </a:extLst>
          </p:cNvPr>
          <p:cNvSpPr/>
          <p:nvPr/>
        </p:nvSpPr>
        <p:spPr>
          <a:xfrm>
            <a:off x="8290560" y="2526495"/>
            <a:ext cx="3535680" cy="4615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대칭 트리 구조</a:t>
            </a:r>
            <a:endParaRPr lang="en-US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01E8A65-8D65-4C6F-BF8C-EB67F3F96718}"/>
              </a:ext>
            </a:extLst>
          </p:cNvPr>
          <p:cNvSpPr/>
          <p:nvPr/>
        </p:nvSpPr>
        <p:spPr>
          <a:xfrm>
            <a:off x="8412480" y="3012359"/>
            <a:ext cx="3291840" cy="14575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분기를 같은 기준으로 나눔.</a:t>
            </a:r>
            <a:endParaRPr lang="en-US" sz="1400" b="1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예측 속도가 빠르고</a:t>
            </a:r>
            <a:endParaRPr lang="en-US" sz="1400" b="1" dirty="0"/>
          </a:p>
          <a:p>
            <a:pPr marL="0" indent="0" algn="ctr">
              <a:lnSpc>
                <a:spcPct val="145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안정적인 결과 보장.</a:t>
            </a:r>
            <a:endParaRPr lang="en-US" sz="1400" b="1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3F78FE23-9F9F-4FCE-9B62-056CB63BE0DE}"/>
              </a:ext>
            </a:extLst>
          </p:cNvPr>
          <p:cNvSpPr/>
          <p:nvPr/>
        </p:nvSpPr>
        <p:spPr>
          <a:xfrm>
            <a:off x="487680" y="4858644"/>
            <a:ext cx="11216640" cy="1882724"/>
          </a:xfrm>
          <a:prstGeom prst="rect">
            <a:avLst/>
          </a:prstGeom>
          <a:solidFill>
            <a:srgbClr val="FFF7ED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D1E929C-93C2-47DA-BF7A-9F54388192F2}"/>
              </a:ext>
            </a:extLst>
          </p:cNvPr>
          <p:cNvSpPr/>
          <p:nvPr/>
        </p:nvSpPr>
        <p:spPr>
          <a:xfrm>
            <a:off x="792480" y="4955816"/>
            <a:ext cx="4876800" cy="3643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</a:rPr>
              <a:t>🐱  </a:t>
            </a:r>
            <a:r>
              <a:rPr lang="en-US" sz="1600" b="1" dirty="0">
                <a:solidFill>
                  <a:srgbClr val="F5A623"/>
                </a:solidFill>
              </a:rPr>
              <a:t>범주형 데이터 처리 비교</a:t>
            </a:r>
            <a:endParaRPr lang="en-US" sz="12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36F7B4B6-A626-4B25-9EA5-5C345F422F01}"/>
              </a:ext>
            </a:extLst>
          </p:cNvPr>
          <p:cNvSpPr/>
          <p:nvPr/>
        </p:nvSpPr>
        <p:spPr>
          <a:xfrm>
            <a:off x="792480" y="5368801"/>
            <a:ext cx="4754880" cy="1153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25194D1-9FB8-4F17-87CB-A07ACD2114F1}"/>
              </a:ext>
            </a:extLst>
          </p:cNvPr>
          <p:cNvSpPr/>
          <p:nvPr/>
        </p:nvSpPr>
        <p:spPr>
          <a:xfrm>
            <a:off x="914400" y="5417388"/>
            <a:ext cx="4511040" cy="3401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</a:rPr>
              <a:t>XGBoost / LightGBM</a:t>
            </a:r>
            <a:endParaRPr lang="en-US" sz="14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4B98D7E5-1297-4153-84AC-597540451FC6}"/>
              </a:ext>
            </a:extLst>
          </p:cNvPr>
          <p:cNvSpPr/>
          <p:nvPr/>
        </p:nvSpPr>
        <p:spPr>
          <a:xfrm>
            <a:off x="914400" y="5757493"/>
            <a:ext cx="4511040" cy="6680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성별 컬럼 → 직접 못 씀 → One-Hot Encoding → [1,0] / [0,1]</a:t>
            </a:r>
            <a:endParaRPr lang="en-US" sz="1200" b="1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컬럼이 늘어나고 전처리 시간 소요</a:t>
            </a:r>
            <a:endParaRPr lang="en-US" sz="1200" b="1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C1EA1BA9-DA4E-48BC-8C20-72AF8143AFC2}"/>
              </a:ext>
            </a:extLst>
          </p:cNvPr>
          <p:cNvSpPr/>
          <p:nvPr/>
        </p:nvSpPr>
        <p:spPr>
          <a:xfrm>
            <a:off x="5791200" y="5368801"/>
            <a:ext cx="5608320" cy="1153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90BADE27-6981-4F9D-9DBE-46DAC1EFFF56}"/>
              </a:ext>
            </a:extLst>
          </p:cNvPr>
          <p:cNvSpPr/>
          <p:nvPr/>
        </p:nvSpPr>
        <p:spPr>
          <a:xfrm>
            <a:off x="5949696" y="5417388"/>
            <a:ext cx="5242560" cy="3401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</a:rPr>
              <a:t>CatBoost ✓</a:t>
            </a:r>
            <a:endParaRPr lang="en-US" sz="14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F9D54239-308E-44BB-A69A-ADEDB7AD130B}"/>
              </a:ext>
            </a:extLst>
          </p:cNvPr>
          <p:cNvSpPr/>
          <p:nvPr/>
        </p:nvSpPr>
        <p:spPr>
          <a:xfrm>
            <a:off x="5949696" y="5757493"/>
            <a:ext cx="5242560" cy="6680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성별 컬럼 → 그대로 입력 가능 cat_features=['gender']</a:t>
            </a:r>
            <a:endParaRPr lang="en-US" sz="1200" b="1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전처리 없이 바로 학습 시작!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739778731"/>
      </p:ext>
    </p:extLst>
  </p:cSld>
  <p:clrMapOvr>
    <a:masterClrMapping/>
  </p:clrMapOvr>
  <p:transition spd="slow"/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540F216-1F3D-47AB-9F66-926BCE1154E1}"/>
              </a:ext>
            </a:extLst>
          </p:cNvPr>
          <p:cNvSpPr/>
          <p:nvPr/>
        </p:nvSpPr>
        <p:spPr>
          <a:xfrm>
            <a:off x="0" y="0"/>
            <a:ext cx="12192000" cy="209939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6CB6347-0B07-4DB4-BBC7-CACE07D9E788}"/>
              </a:ext>
            </a:extLst>
          </p:cNvPr>
          <p:cNvSpPr/>
          <p:nvPr/>
        </p:nvSpPr>
        <p:spPr>
          <a:xfrm>
            <a:off x="609600" y="326571"/>
            <a:ext cx="10972800" cy="6764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XGBoost vs LightGBM vs CatBoost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5920BA3-D001-4F74-8320-695FC00A8ED3}"/>
              </a:ext>
            </a:extLst>
          </p:cNvPr>
          <p:cNvSpPr/>
          <p:nvPr/>
        </p:nvSpPr>
        <p:spPr>
          <a:xfrm>
            <a:off x="609600" y="1026367"/>
            <a:ext cx="10972800" cy="3499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4FCAB67-927B-42E4-BC3C-38EA3E79CD84}"/>
              </a:ext>
            </a:extLst>
          </p:cNvPr>
          <p:cNvSpPr/>
          <p:nvPr/>
        </p:nvSpPr>
        <p:spPr>
          <a:xfrm>
            <a:off x="487680" y="1189653"/>
            <a:ext cx="2438400" cy="51318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D9B99FD-B6D1-4E92-8B7D-6B218236C886}"/>
              </a:ext>
            </a:extLst>
          </p:cNvPr>
          <p:cNvSpPr/>
          <p:nvPr/>
        </p:nvSpPr>
        <p:spPr>
          <a:xfrm>
            <a:off x="487680" y="1189653"/>
            <a:ext cx="2438400" cy="51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</a:rPr>
              <a:t>항목</a:t>
            </a:r>
            <a:endParaRPr lang="en-US" sz="1400" b="1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2352042-8E09-4270-B8C6-668B7F8A8564}"/>
              </a:ext>
            </a:extLst>
          </p:cNvPr>
          <p:cNvSpPr/>
          <p:nvPr/>
        </p:nvSpPr>
        <p:spPr>
          <a:xfrm>
            <a:off x="2926080" y="1189653"/>
            <a:ext cx="2804160" cy="51318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1D19A08-48CB-477A-BF2C-64EF16273464}"/>
              </a:ext>
            </a:extLst>
          </p:cNvPr>
          <p:cNvSpPr/>
          <p:nvPr/>
        </p:nvSpPr>
        <p:spPr>
          <a:xfrm>
            <a:off x="2926080" y="1189653"/>
            <a:ext cx="2804160" cy="51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</a:rPr>
              <a:t>XGBoost</a:t>
            </a:r>
            <a:endParaRPr lang="en-US" sz="1400" b="1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8AFDAC7-0E61-45B7-98DE-CC7A7A77A930}"/>
              </a:ext>
            </a:extLst>
          </p:cNvPr>
          <p:cNvSpPr/>
          <p:nvPr/>
        </p:nvSpPr>
        <p:spPr>
          <a:xfrm>
            <a:off x="5730240" y="1189653"/>
            <a:ext cx="2804160" cy="513184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A22C14B-B7FD-43F0-A54E-B57410106DD9}"/>
              </a:ext>
            </a:extLst>
          </p:cNvPr>
          <p:cNvSpPr/>
          <p:nvPr/>
        </p:nvSpPr>
        <p:spPr>
          <a:xfrm>
            <a:off x="5730240" y="1189653"/>
            <a:ext cx="2804160" cy="51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4C7"/>
                </a:solidFill>
              </a:rPr>
              <a:t>LightGBM</a:t>
            </a:r>
            <a:endParaRPr lang="en-US" sz="1400" b="1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8AA9AFB-6B73-4351-A383-C93C225E3F96}"/>
              </a:ext>
            </a:extLst>
          </p:cNvPr>
          <p:cNvSpPr/>
          <p:nvPr/>
        </p:nvSpPr>
        <p:spPr>
          <a:xfrm>
            <a:off x="8534400" y="1189653"/>
            <a:ext cx="2804160" cy="513184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768982F-9C8B-4486-BA9A-A7DD525F0AB7}"/>
              </a:ext>
            </a:extLst>
          </p:cNvPr>
          <p:cNvSpPr/>
          <p:nvPr/>
        </p:nvSpPr>
        <p:spPr>
          <a:xfrm>
            <a:off x="8534400" y="1189653"/>
            <a:ext cx="2804160" cy="51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</a:rPr>
              <a:t>CatBoost ✓</a:t>
            </a:r>
            <a:endParaRPr lang="en-US" sz="1400" b="1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9B74F449-F0C6-4269-8912-F7334C38E418}"/>
              </a:ext>
            </a:extLst>
          </p:cNvPr>
          <p:cNvSpPr/>
          <p:nvPr/>
        </p:nvSpPr>
        <p:spPr>
          <a:xfrm>
            <a:off x="487680" y="1702837"/>
            <a:ext cx="2438400" cy="4548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D2DE57B-F074-49CB-BBCE-902D30FC9824}"/>
              </a:ext>
            </a:extLst>
          </p:cNvPr>
          <p:cNvSpPr/>
          <p:nvPr/>
        </p:nvSpPr>
        <p:spPr>
          <a:xfrm>
            <a:off x="487680" y="1702837"/>
            <a:ext cx="243840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출시 / 개발사</a:t>
            </a:r>
            <a:endParaRPr lang="en-US" sz="1050" b="1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777CEAC8-A376-4ED5-927B-ACD5F2CF7E11}"/>
              </a:ext>
            </a:extLst>
          </p:cNvPr>
          <p:cNvSpPr/>
          <p:nvPr/>
        </p:nvSpPr>
        <p:spPr>
          <a:xfrm>
            <a:off x="2926080" y="1702837"/>
            <a:ext cx="2804160" cy="4548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D7B75A1-6070-407B-8ED3-1DD39A136466}"/>
              </a:ext>
            </a:extLst>
          </p:cNvPr>
          <p:cNvSpPr/>
          <p:nvPr/>
        </p:nvSpPr>
        <p:spPr>
          <a:xfrm>
            <a:off x="2926080" y="1702837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</a:t>
            </a:r>
            <a:endParaRPr lang="en-US" sz="1050" b="1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워싱턴대</a:t>
            </a:r>
            <a:endParaRPr lang="en-US" sz="1050" b="1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D7DAF6A-9D8D-4E0C-9015-267500B56FBE}"/>
              </a:ext>
            </a:extLst>
          </p:cNvPr>
          <p:cNvSpPr/>
          <p:nvPr/>
        </p:nvSpPr>
        <p:spPr>
          <a:xfrm>
            <a:off x="5730240" y="1702837"/>
            <a:ext cx="2804160" cy="4548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A513497-C780-4C48-95B9-A22AC075D669}"/>
              </a:ext>
            </a:extLst>
          </p:cNvPr>
          <p:cNvSpPr/>
          <p:nvPr/>
        </p:nvSpPr>
        <p:spPr>
          <a:xfrm>
            <a:off x="5730240" y="1702837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</a:t>
            </a:r>
            <a:endParaRPr lang="en-US" sz="1050" b="1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050" b="1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5F1E5FE6-D363-4A92-86AF-3D3395C5C146}"/>
              </a:ext>
            </a:extLst>
          </p:cNvPr>
          <p:cNvSpPr/>
          <p:nvPr/>
        </p:nvSpPr>
        <p:spPr>
          <a:xfrm>
            <a:off x="8534400" y="1702837"/>
            <a:ext cx="2804160" cy="454867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5BF65764-6C35-4671-97C6-8EF555ED8A96}"/>
              </a:ext>
            </a:extLst>
          </p:cNvPr>
          <p:cNvSpPr/>
          <p:nvPr/>
        </p:nvSpPr>
        <p:spPr>
          <a:xfrm>
            <a:off x="8534400" y="1702837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</a:t>
            </a:r>
            <a:endParaRPr lang="en-US" sz="1050" b="1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Yandex</a:t>
            </a:r>
            <a:endParaRPr lang="en-US" sz="1050" b="1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13C59253-5C10-4FC1-8256-CB306A5FC6BE}"/>
              </a:ext>
            </a:extLst>
          </p:cNvPr>
          <p:cNvSpPr/>
          <p:nvPr/>
        </p:nvSpPr>
        <p:spPr>
          <a:xfrm>
            <a:off x="487680" y="2169368"/>
            <a:ext cx="2438400" cy="45486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55550B1-A1A7-459D-8B71-F4E3020A7727}"/>
              </a:ext>
            </a:extLst>
          </p:cNvPr>
          <p:cNvSpPr/>
          <p:nvPr/>
        </p:nvSpPr>
        <p:spPr>
          <a:xfrm>
            <a:off x="487680" y="2169368"/>
            <a:ext cx="243840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트리 구조</a:t>
            </a:r>
            <a:endParaRPr lang="en-US" sz="1050" b="1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36469170-2CD2-47C9-812C-472E999C1A1C}"/>
              </a:ext>
            </a:extLst>
          </p:cNvPr>
          <p:cNvSpPr/>
          <p:nvPr/>
        </p:nvSpPr>
        <p:spPr>
          <a:xfrm>
            <a:off x="2926080" y="2169368"/>
            <a:ext cx="2804160" cy="45486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AEC189D-5A65-4AB7-961C-0A2CC568E691}"/>
              </a:ext>
            </a:extLst>
          </p:cNvPr>
          <p:cNvSpPr/>
          <p:nvPr/>
        </p:nvSpPr>
        <p:spPr>
          <a:xfrm>
            <a:off x="2926080" y="2169368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Level-wise</a:t>
            </a:r>
            <a:endParaRPr lang="en-US" sz="1050" b="1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A4DC7E30-E624-4B06-BF11-A058826A9976}"/>
              </a:ext>
            </a:extLst>
          </p:cNvPr>
          <p:cNvSpPr/>
          <p:nvPr/>
        </p:nvSpPr>
        <p:spPr>
          <a:xfrm>
            <a:off x="5730240" y="2169368"/>
            <a:ext cx="2804160" cy="45486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1FFF2B6-131D-433C-AE04-3683A147E249}"/>
              </a:ext>
            </a:extLst>
          </p:cNvPr>
          <p:cNvSpPr/>
          <p:nvPr/>
        </p:nvSpPr>
        <p:spPr>
          <a:xfrm>
            <a:off x="5730240" y="2169368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Leaf-wise</a:t>
            </a:r>
            <a:endParaRPr lang="en-US" sz="1050" b="1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36F5019D-C73F-4395-8BF5-DB586AD3A02A}"/>
              </a:ext>
            </a:extLst>
          </p:cNvPr>
          <p:cNvSpPr/>
          <p:nvPr/>
        </p:nvSpPr>
        <p:spPr>
          <a:xfrm>
            <a:off x="8534400" y="2169368"/>
            <a:ext cx="2804160" cy="454867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A0D08DC2-BC90-43A0-B588-1173DCC7C946}"/>
              </a:ext>
            </a:extLst>
          </p:cNvPr>
          <p:cNvSpPr/>
          <p:nvPr/>
        </p:nvSpPr>
        <p:spPr>
          <a:xfrm>
            <a:off x="8534400" y="2169368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대칭 트리</a:t>
            </a:r>
            <a:endParaRPr lang="en-US" sz="1050" b="1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AEDFEB13-700A-4499-ACF6-D483ABB84F05}"/>
              </a:ext>
            </a:extLst>
          </p:cNvPr>
          <p:cNvSpPr/>
          <p:nvPr/>
        </p:nvSpPr>
        <p:spPr>
          <a:xfrm>
            <a:off x="487680" y="2635898"/>
            <a:ext cx="2438400" cy="4548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44920886-3DD7-4CCC-B537-63DF7964C641}"/>
              </a:ext>
            </a:extLst>
          </p:cNvPr>
          <p:cNvSpPr/>
          <p:nvPr/>
        </p:nvSpPr>
        <p:spPr>
          <a:xfrm>
            <a:off x="487680" y="2635898"/>
            <a:ext cx="243840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속도</a:t>
            </a:r>
            <a:endParaRPr lang="en-US" sz="1050" b="1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DEAD53FA-3DE1-41F0-B444-6AAB9476193A}"/>
              </a:ext>
            </a:extLst>
          </p:cNvPr>
          <p:cNvSpPr/>
          <p:nvPr/>
        </p:nvSpPr>
        <p:spPr>
          <a:xfrm>
            <a:off x="2926080" y="2635898"/>
            <a:ext cx="2804160" cy="4548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93A89966-0603-451A-B37D-449B29E4BA81}"/>
              </a:ext>
            </a:extLst>
          </p:cNvPr>
          <p:cNvSpPr/>
          <p:nvPr/>
        </p:nvSpPr>
        <p:spPr>
          <a:xfrm>
            <a:off x="2926080" y="2635898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보통</a:t>
            </a:r>
            <a:endParaRPr lang="en-US" sz="1050" b="1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5843B634-BE85-4959-A58E-E064719CB9CA}"/>
              </a:ext>
            </a:extLst>
          </p:cNvPr>
          <p:cNvSpPr/>
          <p:nvPr/>
        </p:nvSpPr>
        <p:spPr>
          <a:xfrm>
            <a:off x="5730240" y="2635898"/>
            <a:ext cx="2804160" cy="4548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79521DC9-D151-47F2-BBEF-380FBE1EB215}"/>
              </a:ext>
            </a:extLst>
          </p:cNvPr>
          <p:cNvSpPr/>
          <p:nvPr/>
        </p:nvSpPr>
        <p:spPr>
          <a:xfrm>
            <a:off x="5730240" y="2635898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빠름 ⚡</a:t>
            </a:r>
            <a:endParaRPr lang="en-US" sz="1050" b="1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4E75A2C4-582C-4B63-B12C-45F027D62227}"/>
              </a:ext>
            </a:extLst>
          </p:cNvPr>
          <p:cNvSpPr/>
          <p:nvPr/>
        </p:nvSpPr>
        <p:spPr>
          <a:xfrm>
            <a:off x="8534400" y="2635898"/>
            <a:ext cx="2804160" cy="454867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8751CC49-920C-46B9-B971-A1E87C635B94}"/>
              </a:ext>
            </a:extLst>
          </p:cNvPr>
          <p:cNvSpPr/>
          <p:nvPr/>
        </p:nvSpPr>
        <p:spPr>
          <a:xfrm>
            <a:off x="8534400" y="2635898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보통~느림</a:t>
            </a:r>
            <a:endParaRPr lang="en-US" sz="1050" b="1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343D4066-6ACE-4CC5-90B5-CD7808139770}"/>
              </a:ext>
            </a:extLst>
          </p:cNvPr>
          <p:cNvSpPr/>
          <p:nvPr/>
        </p:nvSpPr>
        <p:spPr>
          <a:xfrm>
            <a:off x="487680" y="3102429"/>
            <a:ext cx="2438400" cy="45486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5FCD6C74-D75F-4C8B-90E4-3F4AF15148A7}"/>
              </a:ext>
            </a:extLst>
          </p:cNvPr>
          <p:cNvSpPr/>
          <p:nvPr/>
        </p:nvSpPr>
        <p:spPr>
          <a:xfrm>
            <a:off x="487680" y="3102429"/>
            <a:ext cx="243840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메모리</a:t>
            </a:r>
            <a:endParaRPr lang="en-US" sz="1050" b="1" dirty="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C4DFD1A7-C097-403E-A0B2-3EE63AA08BEF}"/>
              </a:ext>
            </a:extLst>
          </p:cNvPr>
          <p:cNvSpPr/>
          <p:nvPr/>
        </p:nvSpPr>
        <p:spPr>
          <a:xfrm>
            <a:off x="2926080" y="3102429"/>
            <a:ext cx="2804160" cy="45486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5355F950-652D-4192-A49F-0173AFD57511}"/>
              </a:ext>
            </a:extLst>
          </p:cNvPr>
          <p:cNvSpPr/>
          <p:nvPr/>
        </p:nvSpPr>
        <p:spPr>
          <a:xfrm>
            <a:off x="2926080" y="3102429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보통</a:t>
            </a:r>
            <a:endParaRPr lang="en-US" sz="1050" b="1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63D9BDEC-281E-45D8-A11F-E3494F4005BC}"/>
              </a:ext>
            </a:extLst>
          </p:cNvPr>
          <p:cNvSpPr/>
          <p:nvPr/>
        </p:nvSpPr>
        <p:spPr>
          <a:xfrm>
            <a:off x="5730240" y="3102429"/>
            <a:ext cx="2804160" cy="45486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49CC5006-012E-45DD-A569-6042975DBC27}"/>
              </a:ext>
            </a:extLst>
          </p:cNvPr>
          <p:cNvSpPr/>
          <p:nvPr/>
        </p:nvSpPr>
        <p:spPr>
          <a:xfrm>
            <a:off x="5730240" y="3102429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적음 💾</a:t>
            </a:r>
            <a:endParaRPr lang="en-US" sz="1050" b="1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FAD83210-B04B-4BB9-B974-D852991EB4F9}"/>
              </a:ext>
            </a:extLst>
          </p:cNvPr>
          <p:cNvSpPr/>
          <p:nvPr/>
        </p:nvSpPr>
        <p:spPr>
          <a:xfrm>
            <a:off x="8534400" y="3102429"/>
            <a:ext cx="2804160" cy="454867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8186A8CA-8CA8-4A40-829D-5F040DAF8AB6}"/>
              </a:ext>
            </a:extLst>
          </p:cNvPr>
          <p:cNvSpPr/>
          <p:nvPr/>
        </p:nvSpPr>
        <p:spPr>
          <a:xfrm>
            <a:off x="8534400" y="3102429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많음</a:t>
            </a:r>
            <a:endParaRPr lang="en-US" sz="1050" b="1" dirty="0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00AAE071-A886-4720-A02D-A614B578A4FF}"/>
              </a:ext>
            </a:extLst>
          </p:cNvPr>
          <p:cNvSpPr/>
          <p:nvPr/>
        </p:nvSpPr>
        <p:spPr>
          <a:xfrm>
            <a:off x="487680" y="3568960"/>
            <a:ext cx="2438400" cy="4548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8D7E213D-046B-496C-89C7-BF30472BDEA8}"/>
              </a:ext>
            </a:extLst>
          </p:cNvPr>
          <p:cNvSpPr/>
          <p:nvPr/>
        </p:nvSpPr>
        <p:spPr>
          <a:xfrm>
            <a:off x="487680" y="3568960"/>
            <a:ext cx="243840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범주형 처리</a:t>
            </a:r>
            <a:endParaRPr lang="en-US" sz="1050" b="1" dirty="0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8B269D84-4122-4E7F-B4A6-E10FFD112743}"/>
              </a:ext>
            </a:extLst>
          </p:cNvPr>
          <p:cNvSpPr/>
          <p:nvPr/>
        </p:nvSpPr>
        <p:spPr>
          <a:xfrm>
            <a:off x="2926080" y="3568960"/>
            <a:ext cx="2804160" cy="4548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96EFB049-F127-419B-B2E4-6FB2110E478A}"/>
              </a:ext>
            </a:extLst>
          </p:cNvPr>
          <p:cNvSpPr/>
          <p:nvPr/>
        </p:nvSpPr>
        <p:spPr>
          <a:xfrm>
            <a:off x="2926080" y="3568960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 인코딩 필요</a:t>
            </a:r>
            <a:endParaRPr lang="en-US" sz="1050" b="1" dirty="0"/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17C23674-7F64-40DB-9CFF-1506CEFC8692}"/>
              </a:ext>
            </a:extLst>
          </p:cNvPr>
          <p:cNvSpPr/>
          <p:nvPr/>
        </p:nvSpPr>
        <p:spPr>
          <a:xfrm>
            <a:off x="5730240" y="3568960"/>
            <a:ext cx="2804160" cy="4548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40D65870-4FB3-4CF1-A26D-D8B2884AC2F8}"/>
              </a:ext>
            </a:extLst>
          </p:cNvPr>
          <p:cNvSpPr/>
          <p:nvPr/>
        </p:nvSpPr>
        <p:spPr>
          <a:xfrm>
            <a:off x="5730240" y="3568960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 인코딩 필요</a:t>
            </a:r>
            <a:endParaRPr lang="en-US" sz="1050" b="1" dirty="0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498DCAD8-9F06-409A-8DE0-7327BC946473}"/>
              </a:ext>
            </a:extLst>
          </p:cNvPr>
          <p:cNvSpPr/>
          <p:nvPr/>
        </p:nvSpPr>
        <p:spPr>
          <a:xfrm>
            <a:off x="8534400" y="3568960"/>
            <a:ext cx="2804160" cy="454867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623C7D57-E088-4085-8F75-022D88564300}"/>
              </a:ext>
            </a:extLst>
          </p:cNvPr>
          <p:cNvSpPr/>
          <p:nvPr/>
        </p:nvSpPr>
        <p:spPr>
          <a:xfrm>
            <a:off x="8534400" y="3568960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처리 🐱</a:t>
            </a:r>
            <a:endParaRPr lang="en-US" sz="1050" b="1" dirty="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6F2D9548-1CDC-4571-B259-C289693AC3EB}"/>
              </a:ext>
            </a:extLst>
          </p:cNvPr>
          <p:cNvSpPr/>
          <p:nvPr/>
        </p:nvSpPr>
        <p:spPr>
          <a:xfrm>
            <a:off x="487680" y="4035490"/>
            <a:ext cx="2438400" cy="45486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A4D5C877-A7DB-4194-A740-EF9FA5CA1921}"/>
              </a:ext>
            </a:extLst>
          </p:cNvPr>
          <p:cNvSpPr/>
          <p:nvPr/>
        </p:nvSpPr>
        <p:spPr>
          <a:xfrm>
            <a:off x="487680" y="4035490"/>
            <a:ext cx="243840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전처리 필요량</a:t>
            </a:r>
            <a:endParaRPr lang="en-US" sz="1050" b="1" dirty="0"/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D4041FCA-C8CA-40ED-90D9-510D12689D32}"/>
              </a:ext>
            </a:extLst>
          </p:cNvPr>
          <p:cNvSpPr/>
          <p:nvPr/>
        </p:nvSpPr>
        <p:spPr>
          <a:xfrm>
            <a:off x="2926080" y="4035490"/>
            <a:ext cx="2804160" cy="45486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B65057A7-78F8-4C1D-85B2-5730C4B5A87A}"/>
              </a:ext>
            </a:extLst>
          </p:cNvPr>
          <p:cNvSpPr/>
          <p:nvPr/>
        </p:nvSpPr>
        <p:spPr>
          <a:xfrm>
            <a:off x="2926080" y="4035490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많음</a:t>
            </a:r>
            <a:endParaRPr lang="en-US" sz="1050" b="1" dirty="0"/>
          </a:p>
        </p:txBody>
      </p:sp>
      <p:sp>
        <p:nvSpPr>
          <p:cNvPr id="57" name="Shape 55">
            <a:extLst>
              <a:ext uri="{FF2B5EF4-FFF2-40B4-BE49-F238E27FC236}">
                <a16:creationId xmlns:a16="http://schemas.microsoft.com/office/drawing/2014/main" id="{4A5542BE-576A-438A-8828-5F3ED84B5E32}"/>
              </a:ext>
            </a:extLst>
          </p:cNvPr>
          <p:cNvSpPr/>
          <p:nvPr/>
        </p:nvSpPr>
        <p:spPr>
          <a:xfrm>
            <a:off x="5730240" y="4035490"/>
            <a:ext cx="2804160" cy="45486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95D55505-CFAC-4456-A2FD-9AB6850ACB32}"/>
              </a:ext>
            </a:extLst>
          </p:cNvPr>
          <p:cNvSpPr/>
          <p:nvPr/>
        </p:nvSpPr>
        <p:spPr>
          <a:xfrm>
            <a:off x="5730240" y="4035490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많음</a:t>
            </a:r>
            <a:endParaRPr lang="en-US" sz="1050" b="1" dirty="0"/>
          </a:p>
        </p:txBody>
      </p:sp>
      <p:sp>
        <p:nvSpPr>
          <p:cNvPr id="59" name="Shape 57">
            <a:extLst>
              <a:ext uri="{FF2B5EF4-FFF2-40B4-BE49-F238E27FC236}">
                <a16:creationId xmlns:a16="http://schemas.microsoft.com/office/drawing/2014/main" id="{DF93B0BC-1F64-411F-A7E9-2720CF53827C}"/>
              </a:ext>
            </a:extLst>
          </p:cNvPr>
          <p:cNvSpPr/>
          <p:nvPr/>
        </p:nvSpPr>
        <p:spPr>
          <a:xfrm>
            <a:off x="8534400" y="4035490"/>
            <a:ext cx="2804160" cy="454867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07565685-72CF-4D6A-9DA2-CF46E5619C16}"/>
              </a:ext>
            </a:extLst>
          </p:cNvPr>
          <p:cNvSpPr/>
          <p:nvPr/>
        </p:nvSpPr>
        <p:spPr>
          <a:xfrm>
            <a:off x="8534400" y="4035490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✅</a:t>
            </a:r>
            <a:endParaRPr lang="en-US" sz="1050" b="1" dirty="0"/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E388905F-EA40-44FF-9015-4C15A30A0B1B}"/>
              </a:ext>
            </a:extLst>
          </p:cNvPr>
          <p:cNvSpPr/>
          <p:nvPr/>
        </p:nvSpPr>
        <p:spPr>
          <a:xfrm>
            <a:off x="487680" y="4502021"/>
            <a:ext cx="2438400" cy="4548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7842D78F-C4B3-4545-9DE2-0D24CE28BF62}"/>
              </a:ext>
            </a:extLst>
          </p:cNvPr>
          <p:cNvSpPr/>
          <p:nvPr/>
        </p:nvSpPr>
        <p:spPr>
          <a:xfrm>
            <a:off x="487680" y="4502021"/>
            <a:ext cx="243840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과적합 방지</a:t>
            </a:r>
            <a:endParaRPr lang="en-US" sz="1050" b="1" dirty="0"/>
          </a:p>
        </p:txBody>
      </p:sp>
      <p:sp>
        <p:nvSpPr>
          <p:cNvPr id="63" name="Shape 61">
            <a:extLst>
              <a:ext uri="{FF2B5EF4-FFF2-40B4-BE49-F238E27FC236}">
                <a16:creationId xmlns:a16="http://schemas.microsoft.com/office/drawing/2014/main" id="{7E98B43B-2078-4400-A412-A01E93376FC4}"/>
              </a:ext>
            </a:extLst>
          </p:cNvPr>
          <p:cNvSpPr/>
          <p:nvPr/>
        </p:nvSpPr>
        <p:spPr>
          <a:xfrm>
            <a:off x="2926080" y="4502021"/>
            <a:ext cx="2804160" cy="4548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5F816E65-B6DC-4AB1-8096-9E7E2DB2F61D}"/>
              </a:ext>
            </a:extLst>
          </p:cNvPr>
          <p:cNvSpPr/>
          <p:nvPr/>
        </p:nvSpPr>
        <p:spPr>
          <a:xfrm>
            <a:off x="2926080" y="4502021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정규화 파라미터</a:t>
            </a:r>
            <a:endParaRPr lang="en-US" sz="1050" b="1" dirty="0"/>
          </a:p>
        </p:txBody>
      </p:sp>
      <p:sp>
        <p:nvSpPr>
          <p:cNvPr id="65" name="Shape 63">
            <a:extLst>
              <a:ext uri="{FF2B5EF4-FFF2-40B4-BE49-F238E27FC236}">
                <a16:creationId xmlns:a16="http://schemas.microsoft.com/office/drawing/2014/main" id="{00DAFA05-805C-4112-AF98-5D5AB594AD33}"/>
              </a:ext>
            </a:extLst>
          </p:cNvPr>
          <p:cNvSpPr/>
          <p:nvPr/>
        </p:nvSpPr>
        <p:spPr>
          <a:xfrm>
            <a:off x="5730240" y="4502021"/>
            <a:ext cx="2804160" cy="4548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9A55A91E-B340-4260-9B55-635AD10084C1}"/>
              </a:ext>
            </a:extLst>
          </p:cNvPr>
          <p:cNvSpPr/>
          <p:nvPr/>
        </p:nvSpPr>
        <p:spPr>
          <a:xfrm>
            <a:off x="5730240" y="4502021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파라미터 조정</a:t>
            </a:r>
            <a:endParaRPr lang="en-US" sz="1050" b="1" dirty="0"/>
          </a:p>
        </p:txBody>
      </p:sp>
      <p:sp>
        <p:nvSpPr>
          <p:cNvPr id="67" name="Shape 65">
            <a:extLst>
              <a:ext uri="{FF2B5EF4-FFF2-40B4-BE49-F238E27FC236}">
                <a16:creationId xmlns:a16="http://schemas.microsoft.com/office/drawing/2014/main" id="{054AE8E6-EE5A-4DC7-B6AC-167D490F8373}"/>
              </a:ext>
            </a:extLst>
          </p:cNvPr>
          <p:cNvSpPr/>
          <p:nvPr/>
        </p:nvSpPr>
        <p:spPr>
          <a:xfrm>
            <a:off x="8534400" y="4502021"/>
            <a:ext cx="2804160" cy="454867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8" name="Text 66">
            <a:extLst>
              <a:ext uri="{FF2B5EF4-FFF2-40B4-BE49-F238E27FC236}">
                <a16:creationId xmlns:a16="http://schemas.microsoft.com/office/drawing/2014/main" id="{621E324B-1356-4C55-924B-A17A07B5783F}"/>
              </a:ext>
            </a:extLst>
          </p:cNvPr>
          <p:cNvSpPr/>
          <p:nvPr/>
        </p:nvSpPr>
        <p:spPr>
          <a:xfrm>
            <a:off x="8534400" y="4502021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방지 🛡️</a:t>
            </a:r>
            <a:endParaRPr lang="en-US" sz="1050" b="1" dirty="0"/>
          </a:p>
        </p:txBody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8853E6A1-1E58-490A-8A72-1FB7311C4DC9}"/>
              </a:ext>
            </a:extLst>
          </p:cNvPr>
          <p:cNvSpPr/>
          <p:nvPr/>
        </p:nvSpPr>
        <p:spPr>
          <a:xfrm>
            <a:off x="487680" y="4968552"/>
            <a:ext cx="2438400" cy="45486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0" name="Text 68">
            <a:extLst>
              <a:ext uri="{FF2B5EF4-FFF2-40B4-BE49-F238E27FC236}">
                <a16:creationId xmlns:a16="http://schemas.microsoft.com/office/drawing/2014/main" id="{28102926-325A-4DD0-A79A-2B867962BEDB}"/>
              </a:ext>
            </a:extLst>
          </p:cNvPr>
          <p:cNvSpPr/>
          <p:nvPr/>
        </p:nvSpPr>
        <p:spPr>
          <a:xfrm>
            <a:off x="487680" y="4968552"/>
            <a:ext cx="243840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소규모 데이터</a:t>
            </a:r>
            <a:endParaRPr lang="en-US" sz="1050" b="1" dirty="0"/>
          </a:p>
        </p:txBody>
      </p:sp>
      <p:sp>
        <p:nvSpPr>
          <p:cNvPr id="71" name="Shape 69">
            <a:extLst>
              <a:ext uri="{FF2B5EF4-FFF2-40B4-BE49-F238E27FC236}">
                <a16:creationId xmlns:a16="http://schemas.microsoft.com/office/drawing/2014/main" id="{16AA4D62-D3BC-402C-A43E-A49CEBB8C3D8}"/>
              </a:ext>
            </a:extLst>
          </p:cNvPr>
          <p:cNvSpPr/>
          <p:nvPr/>
        </p:nvSpPr>
        <p:spPr>
          <a:xfrm>
            <a:off x="2926080" y="4968552"/>
            <a:ext cx="2804160" cy="45486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F388B404-3F56-4DC9-A5FD-3A4C296A6A0E}"/>
              </a:ext>
            </a:extLst>
          </p:cNvPr>
          <p:cNvSpPr/>
          <p:nvPr/>
        </p:nvSpPr>
        <p:spPr>
          <a:xfrm>
            <a:off x="2926080" y="4968552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안정적</a:t>
            </a:r>
            <a:endParaRPr lang="en-US" sz="1050" b="1" dirty="0"/>
          </a:p>
        </p:txBody>
      </p:sp>
      <p:sp>
        <p:nvSpPr>
          <p:cNvPr id="73" name="Shape 71">
            <a:extLst>
              <a:ext uri="{FF2B5EF4-FFF2-40B4-BE49-F238E27FC236}">
                <a16:creationId xmlns:a16="http://schemas.microsoft.com/office/drawing/2014/main" id="{A7E74C7F-9976-4985-837E-6449A3FC0750}"/>
              </a:ext>
            </a:extLst>
          </p:cNvPr>
          <p:cNvSpPr/>
          <p:nvPr/>
        </p:nvSpPr>
        <p:spPr>
          <a:xfrm>
            <a:off x="5730240" y="4968552"/>
            <a:ext cx="2804160" cy="45486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3CC2CCDA-2544-43D3-BCE5-45ED69FFF5F3}"/>
              </a:ext>
            </a:extLst>
          </p:cNvPr>
          <p:cNvSpPr/>
          <p:nvPr/>
        </p:nvSpPr>
        <p:spPr>
          <a:xfrm>
            <a:off x="5730240" y="4968552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과적합 주의</a:t>
            </a:r>
            <a:endParaRPr lang="en-US" sz="1050" b="1" dirty="0"/>
          </a:p>
        </p:txBody>
      </p:sp>
      <p:sp>
        <p:nvSpPr>
          <p:cNvPr id="75" name="Shape 73">
            <a:extLst>
              <a:ext uri="{FF2B5EF4-FFF2-40B4-BE49-F238E27FC236}">
                <a16:creationId xmlns:a16="http://schemas.microsoft.com/office/drawing/2014/main" id="{0AC7509B-C4FF-4163-AE03-AFCDF90F00F0}"/>
              </a:ext>
            </a:extLst>
          </p:cNvPr>
          <p:cNvSpPr/>
          <p:nvPr/>
        </p:nvSpPr>
        <p:spPr>
          <a:xfrm>
            <a:off x="8534400" y="4968552"/>
            <a:ext cx="2804160" cy="454867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9B2F7DEB-0D5B-46C4-8838-B9928B500227}"/>
              </a:ext>
            </a:extLst>
          </p:cNvPr>
          <p:cNvSpPr/>
          <p:nvPr/>
        </p:nvSpPr>
        <p:spPr>
          <a:xfrm>
            <a:off x="8534400" y="4968552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강함</a:t>
            </a:r>
            <a:endParaRPr lang="en-US" sz="1050" b="1" dirty="0"/>
          </a:p>
        </p:txBody>
      </p:sp>
      <p:sp>
        <p:nvSpPr>
          <p:cNvPr id="77" name="Shape 75">
            <a:extLst>
              <a:ext uri="{FF2B5EF4-FFF2-40B4-BE49-F238E27FC236}">
                <a16:creationId xmlns:a16="http://schemas.microsoft.com/office/drawing/2014/main" id="{E2E5CCA9-3DF5-4B0B-A999-277FEE9664E5}"/>
              </a:ext>
            </a:extLst>
          </p:cNvPr>
          <p:cNvSpPr/>
          <p:nvPr/>
        </p:nvSpPr>
        <p:spPr>
          <a:xfrm>
            <a:off x="487680" y="5435082"/>
            <a:ext cx="2438400" cy="4548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8" name="Text 76">
            <a:extLst>
              <a:ext uri="{FF2B5EF4-FFF2-40B4-BE49-F238E27FC236}">
                <a16:creationId xmlns:a16="http://schemas.microsoft.com/office/drawing/2014/main" id="{57817155-58AD-4314-A0AB-5D7C1A4AD806}"/>
              </a:ext>
            </a:extLst>
          </p:cNvPr>
          <p:cNvSpPr/>
          <p:nvPr/>
        </p:nvSpPr>
        <p:spPr>
          <a:xfrm>
            <a:off x="487680" y="5435082"/>
            <a:ext cx="243840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대규모 데이터</a:t>
            </a:r>
            <a:endParaRPr lang="en-US" sz="1050" b="1" dirty="0"/>
          </a:p>
        </p:txBody>
      </p:sp>
      <p:sp>
        <p:nvSpPr>
          <p:cNvPr id="79" name="Shape 77">
            <a:extLst>
              <a:ext uri="{FF2B5EF4-FFF2-40B4-BE49-F238E27FC236}">
                <a16:creationId xmlns:a16="http://schemas.microsoft.com/office/drawing/2014/main" id="{47741CDF-D901-4CD9-850D-38DE44F8F0CC}"/>
              </a:ext>
            </a:extLst>
          </p:cNvPr>
          <p:cNvSpPr/>
          <p:nvPr/>
        </p:nvSpPr>
        <p:spPr>
          <a:xfrm>
            <a:off x="2926080" y="5435082"/>
            <a:ext cx="2804160" cy="4548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78">
            <a:extLst>
              <a:ext uri="{FF2B5EF4-FFF2-40B4-BE49-F238E27FC236}">
                <a16:creationId xmlns:a16="http://schemas.microsoft.com/office/drawing/2014/main" id="{5733E1D9-922B-4E7B-AF56-DA545E5F8D38}"/>
              </a:ext>
            </a:extLst>
          </p:cNvPr>
          <p:cNvSpPr/>
          <p:nvPr/>
        </p:nvSpPr>
        <p:spPr>
          <a:xfrm>
            <a:off x="2926080" y="5435082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좋음</a:t>
            </a:r>
            <a:endParaRPr lang="en-US" sz="1050" b="1" dirty="0"/>
          </a:p>
        </p:txBody>
      </p:sp>
      <p:sp>
        <p:nvSpPr>
          <p:cNvPr id="81" name="Shape 79">
            <a:extLst>
              <a:ext uri="{FF2B5EF4-FFF2-40B4-BE49-F238E27FC236}">
                <a16:creationId xmlns:a16="http://schemas.microsoft.com/office/drawing/2014/main" id="{1F786D17-E512-4D68-8471-EFF269DFC64A}"/>
              </a:ext>
            </a:extLst>
          </p:cNvPr>
          <p:cNvSpPr/>
          <p:nvPr/>
        </p:nvSpPr>
        <p:spPr>
          <a:xfrm>
            <a:off x="5730240" y="5435082"/>
            <a:ext cx="2804160" cy="4548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D0279226-2C82-4212-8182-1BBFCEA3551D}"/>
              </a:ext>
            </a:extLst>
          </p:cNvPr>
          <p:cNvSpPr/>
          <p:nvPr/>
        </p:nvSpPr>
        <p:spPr>
          <a:xfrm>
            <a:off x="5730240" y="5435082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압도적 🏆</a:t>
            </a:r>
            <a:endParaRPr lang="en-US" sz="1050" b="1" dirty="0"/>
          </a:p>
        </p:txBody>
      </p:sp>
      <p:sp>
        <p:nvSpPr>
          <p:cNvPr id="83" name="Shape 81">
            <a:extLst>
              <a:ext uri="{FF2B5EF4-FFF2-40B4-BE49-F238E27FC236}">
                <a16:creationId xmlns:a16="http://schemas.microsoft.com/office/drawing/2014/main" id="{F1B2C8F6-2CF8-46DD-A32B-AE4A57716D4E}"/>
              </a:ext>
            </a:extLst>
          </p:cNvPr>
          <p:cNvSpPr/>
          <p:nvPr/>
        </p:nvSpPr>
        <p:spPr>
          <a:xfrm>
            <a:off x="8534400" y="5435082"/>
            <a:ext cx="2804160" cy="454867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4" name="Text 82">
            <a:extLst>
              <a:ext uri="{FF2B5EF4-FFF2-40B4-BE49-F238E27FC236}">
                <a16:creationId xmlns:a16="http://schemas.microsoft.com/office/drawing/2014/main" id="{AFE3C927-9470-42D2-8668-348F9CF99110}"/>
              </a:ext>
            </a:extLst>
          </p:cNvPr>
          <p:cNvSpPr/>
          <p:nvPr/>
        </p:nvSpPr>
        <p:spPr>
          <a:xfrm>
            <a:off x="8534400" y="5435082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좋음</a:t>
            </a:r>
            <a:endParaRPr lang="en-US" sz="1050" b="1" dirty="0"/>
          </a:p>
        </p:txBody>
      </p:sp>
      <p:sp>
        <p:nvSpPr>
          <p:cNvPr id="85" name="Shape 83">
            <a:extLst>
              <a:ext uri="{FF2B5EF4-FFF2-40B4-BE49-F238E27FC236}">
                <a16:creationId xmlns:a16="http://schemas.microsoft.com/office/drawing/2014/main" id="{007A4C92-5D3A-4796-BD71-5AD785BFDB00}"/>
              </a:ext>
            </a:extLst>
          </p:cNvPr>
          <p:cNvSpPr/>
          <p:nvPr/>
        </p:nvSpPr>
        <p:spPr>
          <a:xfrm>
            <a:off x="487680" y="5901613"/>
            <a:ext cx="2438400" cy="45486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6" name="Text 84">
            <a:extLst>
              <a:ext uri="{FF2B5EF4-FFF2-40B4-BE49-F238E27FC236}">
                <a16:creationId xmlns:a16="http://schemas.microsoft.com/office/drawing/2014/main" id="{CF728539-83E7-4519-ADD8-7724D3A1DEC1}"/>
              </a:ext>
            </a:extLst>
          </p:cNvPr>
          <p:cNvSpPr/>
          <p:nvPr/>
        </p:nvSpPr>
        <p:spPr>
          <a:xfrm>
            <a:off x="487680" y="5901613"/>
            <a:ext cx="243840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사용</a:t>
            </a:r>
            <a:endParaRPr lang="en-US" sz="1050" b="1" dirty="0"/>
          </a:p>
        </p:txBody>
      </p:sp>
      <p:sp>
        <p:nvSpPr>
          <p:cNvPr id="87" name="Shape 85">
            <a:extLst>
              <a:ext uri="{FF2B5EF4-FFF2-40B4-BE49-F238E27FC236}">
                <a16:creationId xmlns:a16="http://schemas.microsoft.com/office/drawing/2014/main" id="{A53F4067-529D-43D5-B819-B695599F4BBA}"/>
              </a:ext>
            </a:extLst>
          </p:cNvPr>
          <p:cNvSpPr/>
          <p:nvPr/>
        </p:nvSpPr>
        <p:spPr>
          <a:xfrm>
            <a:off x="2926080" y="5901613"/>
            <a:ext cx="2804160" cy="45486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8" name="Text 86">
            <a:extLst>
              <a:ext uri="{FF2B5EF4-FFF2-40B4-BE49-F238E27FC236}">
                <a16:creationId xmlns:a16="http://schemas.microsoft.com/office/drawing/2014/main" id="{B9ECF8DF-89CC-4FE9-9AC1-551C924BF93E}"/>
              </a:ext>
            </a:extLst>
          </p:cNvPr>
          <p:cNvSpPr/>
          <p:nvPr/>
        </p:nvSpPr>
        <p:spPr>
          <a:xfrm>
            <a:off x="2926080" y="5901613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높음</a:t>
            </a:r>
            <a:endParaRPr lang="en-US" sz="1050" b="1" dirty="0"/>
          </a:p>
        </p:txBody>
      </p:sp>
      <p:sp>
        <p:nvSpPr>
          <p:cNvPr id="89" name="Shape 87">
            <a:extLst>
              <a:ext uri="{FF2B5EF4-FFF2-40B4-BE49-F238E27FC236}">
                <a16:creationId xmlns:a16="http://schemas.microsoft.com/office/drawing/2014/main" id="{DF0BC208-92DF-45A6-BD99-4074DF94DFDE}"/>
              </a:ext>
            </a:extLst>
          </p:cNvPr>
          <p:cNvSpPr/>
          <p:nvPr/>
        </p:nvSpPr>
        <p:spPr>
          <a:xfrm>
            <a:off x="5730240" y="5901613"/>
            <a:ext cx="2804160" cy="45486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0" name="Text 88">
            <a:extLst>
              <a:ext uri="{FF2B5EF4-FFF2-40B4-BE49-F238E27FC236}">
                <a16:creationId xmlns:a16="http://schemas.microsoft.com/office/drawing/2014/main" id="{1D4E1A52-A62D-4D20-9287-8B7E534B915A}"/>
              </a:ext>
            </a:extLst>
          </p:cNvPr>
          <p:cNvSpPr/>
          <p:nvPr/>
        </p:nvSpPr>
        <p:spPr>
          <a:xfrm>
            <a:off x="5730240" y="5901613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높음</a:t>
            </a:r>
            <a:endParaRPr lang="en-US" sz="1050" b="1" dirty="0"/>
          </a:p>
        </p:txBody>
      </p:sp>
      <p:sp>
        <p:nvSpPr>
          <p:cNvPr id="91" name="Shape 89">
            <a:extLst>
              <a:ext uri="{FF2B5EF4-FFF2-40B4-BE49-F238E27FC236}">
                <a16:creationId xmlns:a16="http://schemas.microsoft.com/office/drawing/2014/main" id="{F09A856B-408B-4F5D-A478-F930EBF593A8}"/>
              </a:ext>
            </a:extLst>
          </p:cNvPr>
          <p:cNvSpPr/>
          <p:nvPr/>
        </p:nvSpPr>
        <p:spPr>
          <a:xfrm>
            <a:off x="8534400" y="5901613"/>
            <a:ext cx="2804160" cy="454867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2" name="Text 90">
            <a:extLst>
              <a:ext uri="{FF2B5EF4-FFF2-40B4-BE49-F238E27FC236}">
                <a16:creationId xmlns:a16="http://schemas.microsoft.com/office/drawing/2014/main" id="{9F4D327B-63C6-4FFD-9E4C-EF797E4AE7F1}"/>
              </a:ext>
            </a:extLst>
          </p:cNvPr>
          <p:cNvSpPr/>
          <p:nvPr/>
        </p:nvSpPr>
        <p:spPr>
          <a:xfrm>
            <a:off x="8534400" y="5901613"/>
            <a:ext cx="2804160" cy="4548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높아지는 중</a:t>
            </a:r>
            <a:endParaRPr lang="en-US" sz="1050" b="1" dirty="0"/>
          </a:p>
        </p:txBody>
      </p:sp>
      <p:sp>
        <p:nvSpPr>
          <p:cNvPr id="93" name="Shape 91">
            <a:extLst>
              <a:ext uri="{FF2B5EF4-FFF2-40B4-BE49-F238E27FC236}">
                <a16:creationId xmlns:a16="http://schemas.microsoft.com/office/drawing/2014/main" id="{8551225C-9B69-4AD0-A703-01B8D145324F}"/>
              </a:ext>
            </a:extLst>
          </p:cNvPr>
          <p:cNvSpPr/>
          <p:nvPr/>
        </p:nvSpPr>
        <p:spPr>
          <a:xfrm>
            <a:off x="487680" y="6391470"/>
            <a:ext cx="11216640" cy="349898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185D950A-5AE1-40CB-938D-C51AF10FFC87}"/>
              </a:ext>
            </a:extLst>
          </p:cNvPr>
          <p:cNvSpPr/>
          <p:nvPr/>
        </p:nvSpPr>
        <p:spPr>
          <a:xfrm>
            <a:off x="487680" y="6391470"/>
            <a:ext cx="11216640" cy="349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A34A"/>
                </a:solidFill>
              </a:rPr>
              <a:t>✅  범주형 데이터가 많다면 CatBoost,  속도 우선이면 LightGBM,  안정성은 XGBoost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5389782"/>
      </p:ext>
    </p:extLst>
  </p:cSld>
  <p:clrMapOvr>
    <a:masterClrMapping/>
  </p:clrMapOvr>
  <p:transition spd="slow"/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FF1413C-4783-46D6-9168-1D9A25F4A415}"/>
              </a:ext>
            </a:extLst>
          </p:cNvPr>
          <p:cNvSpPr/>
          <p:nvPr/>
        </p:nvSpPr>
        <p:spPr>
          <a:xfrm>
            <a:off x="0" y="0"/>
            <a:ext cx="12192000" cy="218639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EBF2BEF-B605-4D0B-904B-B4B6E1D933FB}"/>
              </a:ext>
            </a:extLst>
          </p:cNvPr>
          <p:cNvSpPr/>
          <p:nvPr/>
        </p:nvSpPr>
        <p:spPr>
          <a:xfrm>
            <a:off x="609600" y="340105"/>
            <a:ext cx="10972800" cy="7045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핵심 파라미터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045995D-EF3D-44EF-A1D8-173A14DF29E4}"/>
              </a:ext>
            </a:extLst>
          </p:cNvPr>
          <p:cNvSpPr/>
          <p:nvPr/>
        </p:nvSpPr>
        <p:spPr>
          <a:xfrm>
            <a:off x="609600" y="1068902"/>
            <a:ext cx="10972800" cy="36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70A3DF6-5487-4F80-A0C7-679D30A37AB0}"/>
              </a:ext>
            </a:extLst>
          </p:cNvPr>
          <p:cNvSpPr/>
          <p:nvPr/>
        </p:nvSpPr>
        <p:spPr>
          <a:xfrm>
            <a:off x="487680" y="1238954"/>
            <a:ext cx="2316480" cy="485864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DD9D5B7-F273-4F76-B687-A4AB0F67AB48}"/>
              </a:ext>
            </a:extLst>
          </p:cNvPr>
          <p:cNvSpPr/>
          <p:nvPr/>
        </p:nvSpPr>
        <p:spPr>
          <a:xfrm>
            <a:off x="487680" y="1238954"/>
            <a:ext cx="2316480" cy="485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파라미터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739736D-E7F7-471B-BA80-C2AB85FFC442}"/>
              </a:ext>
            </a:extLst>
          </p:cNvPr>
          <p:cNvSpPr/>
          <p:nvPr/>
        </p:nvSpPr>
        <p:spPr>
          <a:xfrm>
            <a:off x="2804160" y="1238954"/>
            <a:ext cx="1341120" cy="485864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B4F92F0-5765-4B3D-A47A-AA9E097C03A9}"/>
              </a:ext>
            </a:extLst>
          </p:cNvPr>
          <p:cNvSpPr/>
          <p:nvPr/>
        </p:nvSpPr>
        <p:spPr>
          <a:xfrm>
            <a:off x="2804160" y="1238954"/>
            <a:ext cx="1341120" cy="485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기본값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14980AE-3581-4ECC-B831-8E9F38D4AB04}"/>
              </a:ext>
            </a:extLst>
          </p:cNvPr>
          <p:cNvSpPr/>
          <p:nvPr/>
        </p:nvSpPr>
        <p:spPr>
          <a:xfrm>
            <a:off x="4145280" y="1238954"/>
            <a:ext cx="2926080" cy="485864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CE5E793-9486-4CC6-B147-7ABBDCD7D0D8}"/>
              </a:ext>
            </a:extLst>
          </p:cNvPr>
          <p:cNvSpPr/>
          <p:nvPr/>
        </p:nvSpPr>
        <p:spPr>
          <a:xfrm>
            <a:off x="4145280" y="1238954"/>
            <a:ext cx="2926080" cy="485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의미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0E6E7398-0EE1-4E27-80B5-7D79FE015479}"/>
              </a:ext>
            </a:extLst>
          </p:cNvPr>
          <p:cNvSpPr/>
          <p:nvPr/>
        </p:nvSpPr>
        <p:spPr>
          <a:xfrm>
            <a:off x="7132320" y="1238954"/>
            <a:ext cx="3779520" cy="485864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82D16CF-8236-4AE4-B56E-C7F91004EF6C}"/>
              </a:ext>
            </a:extLst>
          </p:cNvPr>
          <p:cNvSpPr/>
          <p:nvPr/>
        </p:nvSpPr>
        <p:spPr>
          <a:xfrm>
            <a:off x="7132320" y="1238954"/>
            <a:ext cx="3779520" cy="485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조정 가이드</a:t>
            </a: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DA30A435-F563-4327-B866-5505929FC876}"/>
              </a:ext>
            </a:extLst>
          </p:cNvPr>
          <p:cNvSpPr/>
          <p:nvPr/>
        </p:nvSpPr>
        <p:spPr>
          <a:xfrm>
            <a:off x="487680" y="1724818"/>
            <a:ext cx="2316480" cy="5465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C40F7A3-C753-44F7-BEF6-1F82A9083DBD}"/>
              </a:ext>
            </a:extLst>
          </p:cNvPr>
          <p:cNvSpPr/>
          <p:nvPr/>
        </p:nvSpPr>
        <p:spPr>
          <a:xfrm>
            <a:off x="487680" y="1724818"/>
            <a:ext cx="231648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iterations</a:t>
            </a:r>
            <a:endParaRPr lang="en-US" sz="1200" b="1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E05388D9-D14D-4691-9D45-7C30248CA26C}"/>
              </a:ext>
            </a:extLst>
          </p:cNvPr>
          <p:cNvSpPr/>
          <p:nvPr/>
        </p:nvSpPr>
        <p:spPr>
          <a:xfrm>
            <a:off x="2804160" y="1724818"/>
            <a:ext cx="1341120" cy="5465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0DB0512-DDC4-42C6-A9AB-1828FEECA8C0}"/>
              </a:ext>
            </a:extLst>
          </p:cNvPr>
          <p:cNvSpPr/>
          <p:nvPr/>
        </p:nvSpPr>
        <p:spPr>
          <a:xfrm>
            <a:off x="2804160" y="1724818"/>
            <a:ext cx="134112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1000</a:t>
            </a:r>
            <a:endParaRPr lang="en-US" sz="1200" b="1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EFC0132E-D843-484D-81FA-6B7CC06CE6E2}"/>
              </a:ext>
            </a:extLst>
          </p:cNvPr>
          <p:cNvSpPr/>
          <p:nvPr/>
        </p:nvSpPr>
        <p:spPr>
          <a:xfrm>
            <a:off x="4145280" y="1724818"/>
            <a:ext cx="2926080" cy="5465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0AC1693-1EC6-4C61-A7C0-B01C31B4453F}"/>
              </a:ext>
            </a:extLst>
          </p:cNvPr>
          <p:cNvSpPr/>
          <p:nvPr/>
        </p:nvSpPr>
        <p:spPr>
          <a:xfrm>
            <a:off x="4145280" y="1724818"/>
            <a:ext cx="292608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트리 개수 (n_estimators)</a:t>
            </a:r>
            <a:endParaRPr lang="en-US" sz="1200" b="1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B092AE25-845F-4A5F-921E-35DEAAE7FF84}"/>
              </a:ext>
            </a:extLst>
          </p:cNvPr>
          <p:cNvSpPr/>
          <p:nvPr/>
        </p:nvSpPr>
        <p:spPr>
          <a:xfrm>
            <a:off x="7132320" y="1724818"/>
            <a:ext cx="3779520" cy="5465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ABDD47CF-3AC2-4158-B7FC-03B2EE26EEF5}"/>
              </a:ext>
            </a:extLst>
          </p:cNvPr>
          <p:cNvSpPr/>
          <p:nvPr/>
        </p:nvSpPr>
        <p:spPr>
          <a:xfrm>
            <a:off x="7132320" y="1724818"/>
            <a:ext cx="3779520" cy="546597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500~2000 권장, 많을수록 정확</a:t>
            </a:r>
            <a:endParaRPr lang="en-US" sz="1200" b="1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B5A162E3-5BFF-410E-AB43-DD09E5E99404}"/>
              </a:ext>
            </a:extLst>
          </p:cNvPr>
          <p:cNvSpPr/>
          <p:nvPr/>
        </p:nvSpPr>
        <p:spPr>
          <a:xfrm>
            <a:off x="487680" y="2283562"/>
            <a:ext cx="2316480" cy="54659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AC631CB-3E68-46B0-BAFE-F936BE08536A}"/>
              </a:ext>
            </a:extLst>
          </p:cNvPr>
          <p:cNvSpPr/>
          <p:nvPr/>
        </p:nvSpPr>
        <p:spPr>
          <a:xfrm>
            <a:off x="487680" y="2283562"/>
            <a:ext cx="231648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learning_rate</a:t>
            </a:r>
            <a:endParaRPr lang="en-US" sz="1200" b="1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B4FE1461-314B-43D7-9A03-1143C92D7500}"/>
              </a:ext>
            </a:extLst>
          </p:cNvPr>
          <p:cNvSpPr/>
          <p:nvPr/>
        </p:nvSpPr>
        <p:spPr>
          <a:xfrm>
            <a:off x="2804160" y="2283562"/>
            <a:ext cx="1341120" cy="54659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F0C48293-DE7C-47B4-8656-EF4D18BFD891}"/>
              </a:ext>
            </a:extLst>
          </p:cNvPr>
          <p:cNvSpPr/>
          <p:nvPr/>
        </p:nvSpPr>
        <p:spPr>
          <a:xfrm>
            <a:off x="2804160" y="2283562"/>
            <a:ext cx="134112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1200" b="1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9609D385-169E-4C7F-B6CD-B9959E209D5D}"/>
              </a:ext>
            </a:extLst>
          </p:cNvPr>
          <p:cNvSpPr/>
          <p:nvPr/>
        </p:nvSpPr>
        <p:spPr>
          <a:xfrm>
            <a:off x="4145280" y="2283562"/>
            <a:ext cx="2926080" cy="54659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4985868-4543-48B6-ADA2-D4273B06699C}"/>
              </a:ext>
            </a:extLst>
          </p:cNvPr>
          <p:cNvSpPr/>
          <p:nvPr/>
        </p:nvSpPr>
        <p:spPr>
          <a:xfrm>
            <a:off x="4145280" y="2283562"/>
            <a:ext cx="292608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학습률</a:t>
            </a:r>
            <a:endParaRPr lang="en-US" sz="1200" b="1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8AB2BDEF-2C26-45F9-8193-24BF782220D1}"/>
              </a:ext>
            </a:extLst>
          </p:cNvPr>
          <p:cNvSpPr/>
          <p:nvPr/>
        </p:nvSpPr>
        <p:spPr>
          <a:xfrm>
            <a:off x="7132320" y="2283562"/>
            <a:ext cx="3779520" cy="54659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5EBAFFA4-9E66-4BF8-B32E-25B5876CE16D}"/>
              </a:ext>
            </a:extLst>
          </p:cNvPr>
          <p:cNvSpPr/>
          <p:nvPr/>
        </p:nvSpPr>
        <p:spPr>
          <a:xfrm>
            <a:off x="7132320" y="2283562"/>
            <a:ext cx="3779520" cy="546597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작을수록 안정적 → 0.01~0.1</a:t>
            </a:r>
            <a:endParaRPr lang="en-US" sz="1200" b="1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C8CC6643-57B8-4206-8235-EE2D1705E660}"/>
              </a:ext>
            </a:extLst>
          </p:cNvPr>
          <p:cNvSpPr/>
          <p:nvPr/>
        </p:nvSpPr>
        <p:spPr>
          <a:xfrm>
            <a:off x="487680" y="2842307"/>
            <a:ext cx="2316480" cy="5465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1DF5C12A-A9CF-4CDF-83E2-4C2023FA4BB5}"/>
              </a:ext>
            </a:extLst>
          </p:cNvPr>
          <p:cNvSpPr/>
          <p:nvPr/>
        </p:nvSpPr>
        <p:spPr>
          <a:xfrm>
            <a:off x="487680" y="2842307"/>
            <a:ext cx="231648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depth</a:t>
            </a:r>
            <a:endParaRPr lang="en-US" sz="1200" b="1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2DF9FDC-0356-4541-93E6-F2B09D9C378C}"/>
              </a:ext>
            </a:extLst>
          </p:cNvPr>
          <p:cNvSpPr/>
          <p:nvPr/>
        </p:nvSpPr>
        <p:spPr>
          <a:xfrm>
            <a:off x="2804160" y="2842307"/>
            <a:ext cx="1341120" cy="5465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F16A4550-845B-42E7-A178-C8060161A983}"/>
              </a:ext>
            </a:extLst>
          </p:cNvPr>
          <p:cNvSpPr/>
          <p:nvPr/>
        </p:nvSpPr>
        <p:spPr>
          <a:xfrm>
            <a:off x="2804160" y="2842307"/>
            <a:ext cx="134112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b="1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149E2B35-6DEF-469C-9EC0-278CB9CC8C5D}"/>
              </a:ext>
            </a:extLst>
          </p:cNvPr>
          <p:cNvSpPr/>
          <p:nvPr/>
        </p:nvSpPr>
        <p:spPr>
          <a:xfrm>
            <a:off x="4145280" y="2842307"/>
            <a:ext cx="2926080" cy="5465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D2106A34-677D-41E6-BF26-4136B1C9F7CF}"/>
              </a:ext>
            </a:extLst>
          </p:cNvPr>
          <p:cNvSpPr/>
          <p:nvPr/>
        </p:nvSpPr>
        <p:spPr>
          <a:xfrm>
            <a:off x="4145280" y="2842307"/>
            <a:ext cx="292608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트리 깊이 (max_depth)</a:t>
            </a:r>
            <a:endParaRPr lang="en-US" sz="1200" b="1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AE2EC842-63EE-4CBA-9AEA-5D75472EAB68}"/>
              </a:ext>
            </a:extLst>
          </p:cNvPr>
          <p:cNvSpPr/>
          <p:nvPr/>
        </p:nvSpPr>
        <p:spPr>
          <a:xfrm>
            <a:off x="7132320" y="2842307"/>
            <a:ext cx="3779520" cy="5465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CF70E90-60C4-4AEE-B52E-4DE894792CE5}"/>
              </a:ext>
            </a:extLst>
          </p:cNvPr>
          <p:cNvSpPr/>
          <p:nvPr/>
        </p:nvSpPr>
        <p:spPr>
          <a:xfrm>
            <a:off x="7132320" y="2842307"/>
            <a:ext cx="3779520" cy="546597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4~10 권장, 클수록 복잡</a:t>
            </a:r>
            <a:endParaRPr lang="en-US" sz="1200" b="1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60ED2136-B7C0-43B8-BF0C-FA2A57F2DAB7}"/>
              </a:ext>
            </a:extLst>
          </p:cNvPr>
          <p:cNvSpPr/>
          <p:nvPr/>
        </p:nvSpPr>
        <p:spPr>
          <a:xfrm>
            <a:off x="487680" y="3401051"/>
            <a:ext cx="2316480" cy="54659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48F745A0-D924-4D22-BD77-1B168CF68939}"/>
              </a:ext>
            </a:extLst>
          </p:cNvPr>
          <p:cNvSpPr/>
          <p:nvPr/>
        </p:nvSpPr>
        <p:spPr>
          <a:xfrm>
            <a:off x="487680" y="3401051"/>
            <a:ext cx="231648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l2_leaf_reg</a:t>
            </a:r>
            <a:endParaRPr lang="en-US" sz="1200" b="1" dirty="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A487CF24-27E9-4CF7-8313-1A341F6F1EDF}"/>
              </a:ext>
            </a:extLst>
          </p:cNvPr>
          <p:cNvSpPr/>
          <p:nvPr/>
        </p:nvSpPr>
        <p:spPr>
          <a:xfrm>
            <a:off x="2804160" y="3401051"/>
            <a:ext cx="1341120" cy="54659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59E9E296-6199-4C0F-92B4-EF6DF124B734}"/>
              </a:ext>
            </a:extLst>
          </p:cNvPr>
          <p:cNvSpPr/>
          <p:nvPr/>
        </p:nvSpPr>
        <p:spPr>
          <a:xfrm>
            <a:off x="2804160" y="3401051"/>
            <a:ext cx="134112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b="1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1CCF3D13-6131-40C0-BB05-F25EE8FCEA7B}"/>
              </a:ext>
            </a:extLst>
          </p:cNvPr>
          <p:cNvSpPr/>
          <p:nvPr/>
        </p:nvSpPr>
        <p:spPr>
          <a:xfrm>
            <a:off x="4145280" y="3401051"/>
            <a:ext cx="2926080" cy="54659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7CBA16E4-368D-437E-AED9-F7587F1A10DE}"/>
              </a:ext>
            </a:extLst>
          </p:cNvPr>
          <p:cNvSpPr/>
          <p:nvPr/>
        </p:nvSpPr>
        <p:spPr>
          <a:xfrm>
            <a:off x="4145280" y="3401051"/>
            <a:ext cx="292608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L2 정규화 계수</a:t>
            </a:r>
            <a:endParaRPr lang="en-US" sz="1200" b="1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FA0B811E-E80A-4EE5-8862-083C2427B94D}"/>
              </a:ext>
            </a:extLst>
          </p:cNvPr>
          <p:cNvSpPr/>
          <p:nvPr/>
        </p:nvSpPr>
        <p:spPr>
          <a:xfrm>
            <a:off x="7132320" y="3401051"/>
            <a:ext cx="3779520" cy="54659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6CDC410E-B628-429D-836A-D19B0C605DF2}"/>
              </a:ext>
            </a:extLst>
          </p:cNvPr>
          <p:cNvSpPr/>
          <p:nvPr/>
        </p:nvSpPr>
        <p:spPr>
          <a:xfrm>
            <a:off x="7132320" y="3401051"/>
            <a:ext cx="3779520" cy="546597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클수록 과적합 방지 → 1~10</a:t>
            </a:r>
            <a:endParaRPr lang="en-US" sz="1200" b="1" dirty="0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ADEF5B3F-57F0-43C5-96AE-DF09EFF7E893}"/>
              </a:ext>
            </a:extLst>
          </p:cNvPr>
          <p:cNvSpPr/>
          <p:nvPr/>
        </p:nvSpPr>
        <p:spPr>
          <a:xfrm>
            <a:off x="487680" y="3959795"/>
            <a:ext cx="2316480" cy="546597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F37AB67C-5B26-43C3-9067-C95B4E544209}"/>
              </a:ext>
            </a:extLst>
          </p:cNvPr>
          <p:cNvSpPr/>
          <p:nvPr/>
        </p:nvSpPr>
        <p:spPr>
          <a:xfrm>
            <a:off x="487680" y="3959795"/>
            <a:ext cx="231648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cat_features</a:t>
            </a:r>
            <a:endParaRPr lang="en-US" sz="1200" b="1" dirty="0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315CE62E-3AA0-44CA-9B0C-631355918142}"/>
              </a:ext>
            </a:extLst>
          </p:cNvPr>
          <p:cNvSpPr/>
          <p:nvPr/>
        </p:nvSpPr>
        <p:spPr>
          <a:xfrm>
            <a:off x="2804160" y="3959795"/>
            <a:ext cx="1341120" cy="5465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1EAB7FFA-6C2F-477B-833F-00249D5D4414}"/>
              </a:ext>
            </a:extLst>
          </p:cNvPr>
          <p:cNvSpPr/>
          <p:nvPr/>
        </p:nvSpPr>
        <p:spPr>
          <a:xfrm>
            <a:off x="2804160" y="3959795"/>
            <a:ext cx="134112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[]</a:t>
            </a:r>
            <a:endParaRPr lang="en-US" sz="1200" b="1" dirty="0"/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8791C9B1-B5B3-4E07-AEDE-9822B6157704}"/>
              </a:ext>
            </a:extLst>
          </p:cNvPr>
          <p:cNvSpPr/>
          <p:nvPr/>
        </p:nvSpPr>
        <p:spPr>
          <a:xfrm>
            <a:off x="4145280" y="3959795"/>
            <a:ext cx="2926080" cy="5465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79CFBA49-A56D-41A6-9198-D485DBE4AB4E}"/>
              </a:ext>
            </a:extLst>
          </p:cNvPr>
          <p:cNvSpPr/>
          <p:nvPr/>
        </p:nvSpPr>
        <p:spPr>
          <a:xfrm>
            <a:off x="4145280" y="3959795"/>
            <a:ext cx="292608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범주형 컬럼 인덱스/이름</a:t>
            </a:r>
            <a:endParaRPr lang="en-US" sz="1200" b="1" dirty="0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FA31DA2D-28DC-43FA-9967-C0745CA393A7}"/>
              </a:ext>
            </a:extLst>
          </p:cNvPr>
          <p:cNvSpPr/>
          <p:nvPr/>
        </p:nvSpPr>
        <p:spPr>
          <a:xfrm>
            <a:off x="7132320" y="3959795"/>
            <a:ext cx="3779520" cy="5465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C1AD71DC-8CD2-4214-85BC-0C46B006C33D}"/>
              </a:ext>
            </a:extLst>
          </p:cNvPr>
          <p:cNvSpPr/>
          <p:nvPr/>
        </p:nvSpPr>
        <p:spPr>
          <a:xfrm>
            <a:off x="7132320" y="3959795"/>
            <a:ext cx="3779520" cy="546597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핵심! ['gender','region'] 입력</a:t>
            </a:r>
            <a:endParaRPr lang="en-US" sz="1200" b="1" dirty="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D2C980D1-D8B6-4E17-9167-69A3799C34CB}"/>
              </a:ext>
            </a:extLst>
          </p:cNvPr>
          <p:cNvSpPr/>
          <p:nvPr/>
        </p:nvSpPr>
        <p:spPr>
          <a:xfrm>
            <a:off x="487680" y="4518539"/>
            <a:ext cx="2316480" cy="54659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49EEDDAE-71FE-4DD2-813C-1A0CE440581A}"/>
              </a:ext>
            </a:extLst>
          </p:cNvPr>
          <p:cNvSpPr/>
          <p:nvPr/>
        </p:nvSpPr>
        <p:spPr>
          <a:xfrm>
            <a:off x="487680" y="4518539"/>
            <a:ext cx="231648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auto_class_weights</a:t>
            </a:r>
            <a:endParaRPr lang="en-US" sz="1200" b="1" dirty="0"/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377C7071-E83A-461E-8297-69C881958E02}"/>
              </a:ext>
            </a:extLst>
          </p:cNvPr>
          <p:cNvSpPr/>
          <p:nvPr/>
        </p:nvSpPr>
        <p:spPr>
          <a:xfrm>
            <a:off x="2804160" y="4518539"/>
            <a:ext cx="1341120" cy="54659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61171CBB-0003-4EED-AA6A-DA317E39A2E3}"/>
              </a:ext>
            </a:extLst>
          </p:cNvPr>
          <p:cNvSpPr/>
          <p:nvPr/>
        </p:nvSpPr>
        <p:spPr>
          <a:xfrm>
            <a:off x="2804160" y="4518539"/>
            <a:ext cx="134112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b="1" dirty="0"/>
          </a:p>
        </p:txBody>
      </p:sp>
      <p:sp>
        <p:nvSpPr>
          <p:cNvPr id="57" name="Shape 55">
            <a:extLst>
              <a:ext uri="{FF2B5EF4-FFF2-40B4-BE49-F238E27FC236}">
                <a16:creationId xmlns:a16="http://schemas.microsoft.com/office/drawing/2014/main" id="{6FDB9D68-101B-43CC-B763-3539E66873F1}"/>
              </a:ext>
            </a:extLst>
          </p:cNvPr>
          <p:cNvSpPr/>
          <p:nvPr/>
        </p:nvSpPr>
        <p:spPr>
          <a:xfrm>
            <a:off x="4145280" y="4518539"/>
            <a:ext cx="2926080" cy="54659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7A9ED1DE-D17A-42C6-B619-58FCEE34280F}"/>
              </a:ext>
            </a:extLst>
          </p:cNvPr>
          <p:cNvSpPr/>
          <p:nvPr/>
        </p:nvSpPr>
        <p:spPr>
          <a:xfrm>
            <a:off x="4145280" y="4518539"/>
            <a:ext cx="292608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불균형 데이터 가중치</a:t>
            </a:r>
            <a:endParaRPr lang="en-US" sz="1200" b="1" dirty="0"/>
          </a:p>
        </p:txBody>
      </p:sp>
      <p:sp>
        <p:nvSpPr>
          <p:cNvPr id="59" name="Shape 57">
            <a:extLst>
              <a:ext uri="{FF2B5EF4-FFF2-40B4-BE49-F238E27FC236}">
                <a16:creationId xmlns:a16="http://schemas.microsoft.com/office/drawing/2014/main" id="{559337D6-34DB-4BF3-B386-85DBC0D7A085}"/>
              </a:ext>
            </a:extLst>
          </p:cNvPr>
          <p:cNvSpPr/>
          <p:nvPr/>
        </p:nvSpPr>
        <p:spPr>
          <a:xfrm>
            <a:off x="7132320" y="4518539"/>
            <a:ext cx="3779520" cy="54659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A423EB0D-97A5-467C-9B21-E114DBCF5F99}"/>
              </a:ext>
            </a:extLst>
          </p:cNvPr>
          <p:cNvSpPr/>
          <p:nvPr/>
        </p:nvSpPr>
        <p:spPr>
          <a:xfrm>
            <a:off x="7132320" y="4518539"/>
            <a:ext cx="3779520" cy="546597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'Balanced' 설정 권장</a:t>
            </a:r>
            <a:endParaRPr lang="en-US" sz="1200" b="1" dirty="0"/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0DB647A4-9D74-4584-B917-760515B7BEE6}"/>
              </a:ext>
            </a:extLst>
          </p:cNvPr>
          <p:cNvSpPr/>
          <p:nvPr/>
        </p:nvSpPr>
        <p:spPr>
          <a:xfrm>
            <a:off x="487680" y="5077283"/>
            <a:ext cx="2316480" cy="5465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63A40C53-4BF0-41C4-BF03-4DD3637C870A}"/>
              </a:ext>
            </a:extLst>
          </p:cNvPr>
          <p:cNvSpPr/>
          <p:nvPr/>
        </p:nvSpPr>
        <p:spPr>
          <a:xfrm>
            <a:off x="487680" y="5077283"/>
            <a:ext cx="231648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eval_metric</a:t>
            </a:r>
            <a:endParaRPr lang="en-US" sz="1200" b="1" dirty="0"/>
          </a:p>
        </p:txBody>
      </p:sp>
      <p:sp>
        <p:nvSpPr>
          <p:cNvPr id="63" name="Shape 61">
            <a:extLst>
              <a:ext uri="{FF2B5EF4-FFF2-40B4-BE49-F238E27FC236}">
                <a16:creationId xmlns:a16="http://schemas.microsoft.com/office/drawing/2014/main" id="{020F4AEE-1C82-43C4-A86D-2B201D2EB94B}"/>
              </a:ext>
            </a:extLst>
          </p:cNvPr>
          <p:cNvSpPr/>
          <p:nvPr/>
        </p:nvSpPr>
        <p:spPr>
          <a:xfrm>
            <a:off x="2804160" y="5077283"/>
            <a:ext cx="1341120" cy="5465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86C94B78-8439-474D-AE2C-20A6DA660BA0}"/>
              </a:ext>
            </a:extLst>
          </p:cNvPr>
          <p:cNvSpPr/>
          <p:nvPr/>
        </p:nvSpPr>
        <p:spPr>
          <a:xfrm>
            <a:off x="2804160" y="5077283"/>
            <a:ext cx="134112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Logloss</a:t>
            </a:r>
            <a:endParaRPr lang="en-US" sz="1200" b="1" dirty="0"/>
          </a:p>
        </p:txBody>
      </p:sp>
      <p:sp>
        <p:nvSpPr>
          <p:cNvPr id="65" name="Shape 63">
            <a:extLst>
              <a:ext uri="{FF2B5EF4-FFF2-40B4-BE49-F238E27FC236}">
                <a16:creationId xmlns:a16="http://schemas.microsoft.com/office/drawing/2014/main" id="{25F5CD98-6A99-4599-8B9C-70002D3DD997}"/>
              </a:ext>
            </a:extLst>
          </p:cNvPr>
          <p:cNvSpPr/>
          <p:nvPr/>
        </p:nvSpPr>
        <p:spPr>
          <a:xfrm>
            <a:off x="4145280" y="5077283"/>
            <a:ext cx="2926080" cy="5465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795390E6-1D56-403C-9835-F87DA9B1B028}"/>
              </a:ext>
            </a:extLst>
          </p:cNvPr>
          <p:cNvSpPr/>
          <p:nvPr/>
        </p:nvSpPr>
        <p:spPr>
          <a:xfrm>
            <a:off x="4145280" y="5077283"/>
            <a:ext cx="292608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평가 지표</a:t>
            </a:r>
            <a:endParaRPr lang="en-US" sz="1200" b="1" dirty="0"/>
          </a:p>
        </p:txBody>
      </p:sp>
      <p:sp>
        <p:nvSpPr>
          <p:cNvPr id="67" name="Shape 65">
            <a:extLst>
              <a:ext uri="{FF2B5EF4-FFF2-40B4-BE49-F238E27FC236}">
                <a16:creationId xmlns:a16="http://schemas.microsoft.com/office/drawing/2014/main" id="{43D0D694-F318-494A-85C5-4C22A3BEB2D9}"/>
              </a:ext>
            </a:extLst>
          </p:cNvPr>
          <p:cNvSpPr/>
          <p:nvPr/>
        </p:nvSpPr>
        <p:spPr>
          <a:xfrm>
            <a:off x="7132320" y="5077283"/>
            <a:ext cx="3779520" cy="5465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8" name="Text 66">
            <a:extLst>
              <a:ext uri="{FF2B5EF4-FFF2-40B4-BE49-F238E27FC236}">
                <a16:creationId xmlns:a16="http://schemas.microsoft.com/office/drawing/2014/main" id="{B83F2EF1-6FE8-4657-AA66-D36568EAD067}"/>
              </a:ext>
            </a:extLst>
          </p:cNvPr>
          <p:cNvSpPr/>
          <p:nvPr/>
        </p:nvSpPr>
        <p:spPr>
          <a:xfrm>
            <a:off x="7132320" y="5077283"/>
            <a:ext cx="3779520" cy="546597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분류: 'AUC', 'F1', 'Accuracy'</a:t>
            </a:r>
            <a:endParaRPr lang="en-US" sz="1200" b="1" dirty="0"/>
          </a:p>
        </p:txBody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627B180E-D52E-4A61-8747-A0B4F0E4D122}"/>
              </a:ext>
            </a:extLst>
          </p:cNvPr>
          <p:cNvSpPr/>
          <p:nvPr/>
        </p:nvSpPr>
        <p:spPr>
          <a:xfrm>
            <a:off x="487680" y="5636027"/>
            <a:ext cx="2316480" cy="54659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0" name="Text 68">
            <a:extLst>
              <a:ext uri="{FF2B5EF4-FFF2-40B4-BE49-F238E27FC236}">
                <a16:creationId xmlns:a16="http://schemas.microsoft.com/office/drawing/2014/main" id="{EB8A213E-6B58-4B69-B74A-34F6F742675A}"/>
              </a:ext>
            </a:extLst>
          </p:cNvPr>
          <p:cNvSpPr/>
          <p:nvPr/>
        </p:nvSpPr>
        <p:spPr>
          <a:xfrm>
            <a:off x="487680" y="5636027"/>
            <a:ext cx="231648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early_stopping_rounds</a:t>
            </a:r>
            <a:endParaRPr lang="en-US" sz="1200" b="1" dirty="0"/>
          </a:p>
        </p:txBody>
      </p:sp>
      <p:sp>
        <p:nvSpPr>
          <p:cNvPr id="71" name="Shape 69">
            <a:extLst>
              <a:ext uri="{FF2B5EF4-FFF2-40B4-BE49-F238E27FC236}">
                <a16:creationId xmlns:a16="http://schemas.microsoft.com/office/drawing/2014/main" id="{9486D92A-04CF-4189-B678-0D9FF64C7FB9}"/>
              </a:ext>
            </a:extLst>
          </p:cNvPr>
          <p:cNvSpPr/>
          <p:nvPr/>
        </p:nvSpPr>
        <p:spPr>
          <a:xfrm>
            <a:off x="2804160" y="5636027"/>
            <a:ext cx="1341120" cy="54659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275337FB-A9AA-4BE6-83F0-AB419F55F388}"/>
              </a:ext>
            </a:extLst>
          </p:cNvPr>
          <p:cNvSpPr/>
          <p:nvPr/>
        </p:nvSpPr>
        <p:spPr>
          <a:xfrm>
            <a:off x="2804160" y="5636027"/>
            <a:ext cx="134112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200" b="1" dirty="0"/>
          </a:p>
        </p:txBody>
      </p:sp>
      <p:sp>
        <p:nvSpPr>
          <p:cNvPr id="73" name="Shape 71">
            <a:extLst>
              <a:ext uri="{FF2B5EF4-FFF2-40B4-BE49-F238E27FC236}">
                <a16:creationId xmlns:a16="http://schemas.microsoft.com/office/drawing/2014/main" id="{90D970F3-827B-48B8-AEDF-0658A689F550}"/>
              </a:ext>
            </a:extLst>
          </p:cNvPr>
          <p:cNvSpPr/>
          <p:nvPr/>
        </p:nvSpPr>
        <p:spPr>
          <a:xfrm>
            <a:off x="4145280" y="5636027"/>
            <a:ext cx="2926080" cy="54659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AC4489B8-52F9-4956-9E6F-504927D14571}"/>
              </a:ext>
            </a:extLst>
          </p:cNvPr>
          <p:cNvSpPr/>
          <p:nvPr/>
        </p:nvSpPr>
        <p:spPr>
          <a:xfrm>
            <a:off x="4145280" y="5636027"/>
            <a:ext cx="292608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조기 종료 기준</a:t>
            </a:r>
            <a:endParaRPr lang="en-US" sz="1200" b="1" dirty="0"/>
          </a:p>
        </p:txBody>
      </p:sp>
      <p:sp>
        <p:nvSpPr>
          <p:cNvPr id="75" name="Shape 73">
            <a:extLst>
              <a:ext uri="{FF2B5EF4-FFF2-40B4-BE49-F238E27FC236}">
                <a16:creationId xmlns:a16="http://schemas.microsoft.com/office/drawing/2014/main" id="{BC166FF5-E530-4DC2-BA77-BEF38FAFF94C}"/>
              </a:ext>
            </a:extLst>
          </p:cNvPr>
          <p:cNvSpPr/>
          <p:nvPr/>
        </p:nvSpPr>
        <p:spPr>
          <a:xfrm>
            <a:off x="7132320" y="5636027"/>
            <a:ext cx="3779520" cy="546597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C1648EDE-91A1-45A9-84DF-6D91EEF4E558}"/>
              </a:ext>
            </a:extLst>
          </p:cNvPr>
          <p:cNvSpPr/>
          <p:nvPr/>
        </p:nvSpPr>
        <p:spPr>
          <a:xfrm>
            <a:off x="7132320" y="5636027"/>
            <a:ext cx="3779520" cy="546597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과적합 방지 </a:t>
            </a:r>
            <a:r>
              <a:rPr lang="en-US" sz="12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핵심</a:t>
            </a: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옵션</a:t>
            </a:r>
            <a:endParaRPr lang="en-US" sz="1200" b="1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buNone/>
            </a:pPr>
            <a:r>
              <a:rPr lang="en-US" sz="1200" b="1" dirty="0">
                <a:latin typeface="Calibri" pitchFamily="34" charset="0"/>
                <a:cs typeface="Calibri" pitchFamily="34" charset="-120"/>
              </a:rPr>
              <a:t>50=50</a:t>
            </a:r>
            <a:r>
              <a:rPr lang="ko-KR" altLang="en-US" sz="1200" b="1" dirty="0">
                <a:latin typeface="Calibri" pitchFamily="34" charset="0"/>
                <a:cs typeface="Calibri" pitchFamily="34" charset="-120"/>
              </a:rPr>
              <a:t>번 학습 결과 동일하다면 학습 중단</a:t>
            </a:r>
            <a:endParaRPr lang="en-US" sz="1200" b="1" dirty="0"/>
          </a:p>
        </p:txBody>
      </p:sp>
      <p:sp>
        <p:nvSpPr>
          <p:cNvPr id="77" name="Shape 75">
            <a:extLst>
              <a:ext uri="{FF2B5EF4-FFF2-40B4-BE49-F238E27FC236}">
                <a16:creationId xmlns:a16="http://schemas.microsoft.com/office/drawing/2014/main" id="{0504A867-1BB8-4C7C-B16C-1263951A267A}"/>
              </a:ext>
            </a:extLst>
          </p:cNvPr>
          <p:cNvSpPr/>
          <p:nvPr/>
        </p:nvSpPr>
        <p:spPr>
          <a:xfrm>
            <a:off x="487680" y="6194771"/>
            <a:ext cx="2316480" cy="5465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8" name="Text 76">
            <a:extLst>
              <a:ext uri="{FF2B5EF4-FFF2-40B4-BE49-F238E27FC236}">
                <a16:creationId xmlns:a16="http://schemas.microsoft.com/office/drawing/2014/main" id="{2FE5D5A0-31DF-4597-9EB4-08C857E00B07}"/>
              </a:ext>
            </a:extLst>
          </p:cNvPr>
          <p:cNvSpPr/>
          <p:nvPr/>
        </p:nvSpPr>
        <p:spPr>
          <a:xfrm>
            <a:off x="487680" y="6194771"/>
            <a:ext cx="231648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verbose</a:t>
            </a:r>
            <a:endParaRPr lang="en-US" sz="1200" b="1" dirty="0"/>
          </a:p>
        </p:txBody>
      </p:sp>
      <p:sp>
        <p:nvSpPr>
          <p:cNvPr id="79" name="Shape 77">
            <a:extLst>
              <a:ext uri="{FF2B5EF4-FFF2-40B4-BE49-F238E27FC236}">
                <a16:creationId xmlns:a16="http://schemas.microsoft.com/office/drawing/2014/main" id="{123E280C-6A87-4CFD-96CC-7000B666C405}"/>
              </a:ext>
            </a:extLst>
          </p:cNvPr>
          <p:cNvSpPr/>
          <p:nvPr/>
        </p:nvSpPr>
        <p:spPr>
          <a:xfrm>
            <a:off x="2804160" y="6194771"/>
            <a:ext cx="1341120" cy="5465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78">
            <a:extLst>
              <a:ext uri="{FF2B5EF4-FFF2-40B4-BE49-F238E27FC236}">
                <a16:creationId xmlns:a16="http://schemas.microsoft.com/office/drawing/2014/main" id="{9A626AAF-259D-4113-929C-32550041D5C4}"/>
              </a:ext>
            </a:extLst>
          </p:cNvPr>
          <p:cNvSpPr/>
          <p:nvPr/>
        </p:nvSpPr>
        <p:spPr>
          <a:xfrm>
            <a:off x="2804160" y="6194771"/>
            <a:ext cx="134112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b="1" dirty="0"/>
          </a:p>
        </p:txBody>
      </p:sp>
      <p:sp>
        <p:nvSpPr>
          <p:cNvPr id="81" name="Shape 79">
            <a:extLst>
              <a:ext uri="{FF2B5EF4-FFF2-40B4-BE49-F238E27FC236}">
                <a16:creationId xmlns:a16="http://schemas.microsoft.com/office/drawing/2014/main" id="{E89D0592-5E4D-4848-BEB8-9C04FC154BD4}"/>
              </a:ext>
            </a:extLst>
          </p:cNvPr>
          <p:cNvSpPr/>
          <p:nvPr/>
        </p:nvSpPr>
        <p:spPr>
          <a:xfrm>
            <a:off x="4145280" y="6194771"/>
            <a:ext cx="2926080" cy="5465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99304ACA-F782-4DFC-A258-C82A00BA552E}"/>
              </a:ext>
            </a:extLst>
          </p:cNvPr>
          <p:cNvSpPr/>
          <p:nvPr/>
        </p:nvSpPr>
        <p:spPr>
          <a:xfrm>
            <a:off x="4145280" y="6194771"/>
            <a:ext cx="2926080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학습 로그 출력</a:t>
            </a:r>
            <a:endParaRPr lang="en-US" sz="1200" b="1" dirty="0"/>
          </a:p>
        </p:txBody>
      </p:sp>
      <p:sp>
        <p:nvSpPr>
          <p:cNvPr id="83" name="Shape 81">
            <a:extLst>
              <a:ext uri="{FF2B5EF4-FFF2-40B4-BE49-F238E27FC236}">
                <a16:creationId xmlns:a16="http://schemas.microsoft.com/office/drawing/2014/main" id="{4EBC424B-90A5-4316-8AAB-83B093CD1275}"/>
              </a:ext>
            </a:extLst>
          </p:cNvPr>
          <p:cNvSpPr/>
          <p:nvPr/>
        </p:nvSpPr>
        <p:spPr>
          <a:xfrm>
            <a:off x="7132320" y="6194771"/>
            <a:ext cx="3779520" cy="54659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4" name="Text 82">
            <a:extLst>
              <a:ext uri="{FF2B5EF4-FFF2-40B4-BE49-F238E27FC236}">
                <a16:creationId xmlns:a16="http://schemas.microsoft.com/office/drawing/2014/main" id="{77B445CB-428F-496B-AE54-61A072D4C6BD}"/>
              </a:ext>
            </a:extLst>
          </p:cNvPr>
          <p:cNvSpPr/>
          <p:nvPr/>
        </p:nvSpPr>
        <p:spPr>
          <a:xfrm>
            <a:off x="7132320" y="6194771"/>
            <a:ext cx="3779520" cy="546597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0=숨김, 100=100번마다 출력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256262817"/>
      </p:ext>
    </p:extLst>
  </p:cSld>
  <p:clrMapOvr>
    <a:masterClrMapping/>
  </p:clrMapOvr>
  <p:transition spd="slow"/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9577EF7-627D-433C-8347-EBDB6CBEA0D2}"/>
              </a:ext>
            </a:extLst>
          </p:cNvPr>
          <p:cNvSpPr/>
          <p:nvPr/>
        </p:nvSpPr>
        <p:spPr>
          <a:xfrm>
            <a:off x="0" y="0"/>
            <a:ext cx="12192000" cy="24124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768387C-F5AF-4660-872A-448DB313491F}"/>
              </a:ext>
            </a:extLst>
          </p:cNvPr>
          <p:cNvSpPr/>
          <p:nvPr/>
        </p:nvSpPr>
        <p:spPr>
          <a:xfrm>
            <a:off x="609600" y="375265"/>
            <a:ext cx="10972800" cy="737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왜 고객 이탈 예측인가? — CatBoost 적합성</a:t>
            </a:r>
            <a:endParaRPr lang="en-US" sz="2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41CE869-2566-48C0-A178-B3BD05194A28}"/>
              </a:ext>
            </a:extLst>
          </p:cNvPr>
          <p:cNvSpPr/>
          <p:nvPr/>
        </p:nvSpPr>
        <p:spPr>
          <a:xfrm>
            <a:off x="609600" y="1139197"/>
            <a:ext cx="10972800" cy="40207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ED9A0AF-A9B4-4F57-BED5-69CEC7FF43ED}"/>
              </a:ext>
            </a:extLst>
          </p:cNvPr>
          <p:cNvSpPr/>
          <p:nvPr/>
        </p:nvSpPr>
        <p:spPr>
          <a:xfrm>
            <a:off x="487680" y="1340232"/>
            <a:ext cx="5242560" cy="4798031"/>
          </a:xfrm>
          <a:prstGeom prst="rect">
            <a:avLst/>
          </a:prstGeom>
          <a:solidFill>
            <a:srgbClr val="FFF7ED"/>
          </a:solidFill>
          <a:ln w="12700">
            <a:solidFill>
              <a:srgbClr val="F5A623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C7F5B82-A982-4D12-9F80-FEC70E41B83B}"/>
              </a:ext>
            </a:extLst>
          </p:cNvPr>
          <p:cNvSpPr/>
          <p:nvPr/>
        </p:nvSpPr>
        <p:spPr>
          <a:xfrm>
            <a:off x="487680" y="1340232"/>
            <a:ext cx="5242560" cy="8041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616B022-982B-4C72-AFEF-99C63DAB474E}"/>
              </a:ext>
            </a:extLst>
          </p:cNvPr>
          <p:cNvSpPr/>
          <p:nvPr/>
        </p:nvSpPr>
        <p:spPr>
          <a:xfrm>
            <a:off x="670560" y="1474255"/>
            <a:ext cx="4876800" cy="4020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🐱  CatBoost가 빛나는 이유</a:t>
            </a:r>
            <a:endParaRPr lang="en-US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2F91A53-2706-46D2-BC38-7C2C219408DA}"/>
              </a:ext>
            </a:extLst>
          </p:cNvPr>
          <p:cNvSpPr/>
          <p:nvPr/>
        </p:nvSpPr>
        <p:spPr>
          <a:xfrm>
            <a:off x="731520" y="2010348"/>
            <a:ext cx="4876800" cy="3752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범주형 3개 포함</a:t>
            </a:r>
            <a:endParaRPr lang="en-US" sz="1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426BA56-A2D8-4319-A245-2737745EB821}"/>
              </a:ext>
            </a:extLst>
          </p:cNvPr>
          <p:cNvSpPr/>
          <p:nvPr/>
        </p:nvSpPr>
        <p:spPr>
          <a:xfrm>
            <a:off x="983432" y="2385613"/>
            <a:ext cx="4624888" cy="509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성별(2종), 지역(5종), 요금제(3종)</a:t>
            </a:r>
            <a:endParaRPr lang="en-US" sz="1200" b="1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인코딩 없이 그대로 입력</a:t>
            </a:r>
            <a:endParaRPr lang="en-US" sz="1200" b="1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5FE3C10-50B8-49B2-B01B-369880ABE140}"/>
              </a:ext>
            </a:extLst>
          </p:cNvPr>
          <p:cNvSpPr/>
          <p:nvPr/>
        </p:nvSpPr>
        <p:spPr>
          <a:xfrm>
            <a:off x="731520" y="2948511"/>
            <a:ext cx="4876800" cy="3752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숫자형도 혼합</a:t>
            </a:r>
            <a:endParaRPr lang="en-US" sz="12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BA5EA2B-98A6-4C2D-8FF9-CD0A1185BA9E}"/>
              </a:ext>
            </a:extLst>
          </p:cNvPr>
          <p:cNvSpPr/>
          <p:nvPr/>
        </p:nvSpPr>
        <p:spPr>
          <a:xfrm>
            <a:off x="983432" y="3323776"/>
            <a:ext cx="4624888" cy="509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나이, 가입기간, 월요금, 클레임횟수</a:t>
            </a:r>
            <a:endParaRPr lang="en-US" sz="1200" b="1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혼합 데이터에서 CatBoost 강점</a:t>
            </a:r>
            <a:endParaRPr lang="en-US" sz="1050" b="1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52FCBA8-C2D5-4F53-89A0-5C7EB541AB38}"/>
              </a:ext>
            </a:extLst>
          </p:cNvPr>
          <p:cNvSpPr/>
          <p:nvPr/>
        </p:nvSpPr>
        <p:spPr>
          <a:xfrm>
            <a:off x="731520" y="3886673"/>
            <a:ext cx="4876800" cy="3752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현장 실무형</a:t>
            </a:r>
            <a:endParaRPr lang="en-US" sz="12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3DB95DA-639E-4628-A5C2-04EC3C83788A}"/>
              </a:ext>
            </a:extLst>
          </p:cNvPr>
          <p:cNvSpPr/>
          <p:nvPr/>
        </p:nvSpPr>
        <p:spPr>
          <a:xfrm>
            <a:off x="911424" y="4261938"/>
            <a:ext cx="4696896" cy="509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통신사, 보험, 구독 서비스 등</a:t>
            </a:r>
            <a:endParaRPr lang="en-US" sz="1200" b="1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현장에서 가장 많이 쓰는 예측</a:t>
            </a:r>
            <a:endParaRPr lang="en-US" sz="1050" b="1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CFD1A09-CD0F-47DD-886A-018F362650FD}"/>
              </a:ext>
            </a:extLst>
          </p:cNvPr>
          <p:cNvSpPr/>
          <p:nvPr/>
        </p:nvSpPr>
        <p:spPr>
          <a:xfrm>
            <a:off x="731520" y="4824836"/>
            <a:ext cx="4876800" cy="3752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불균형 데이터</a:t>
            </a:r>
            <a:endParaRPr lang="en-US" sz="1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F111E1A-CB83-489D-864E-AB1BC2D13CE1}"/>
              </a:ext>
            </a:extLst>
          </p:cNvPr>
          <p:cNvSpPr/>
          <p:nvPr/>
        </p:nvSpPr>
        <p:spPr>
          <a:xfrm>
            <a:off x="983432" y="5200101"/>
            <a:ext cx="4624888" cy="509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이탈 고객은 보통 20~30%</a:t>
            </a:r>
            <a:endParaRPr lang="en-US" sz="1200" b="1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auto_class_weights 활용 가능</a:t>
            </a:r>
            <a:endParaRPr lang="en-US" sz="1200" b="1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3EE63F38-4B12-44C5-B46A-B9C683687A26}"/>
              </a:ext>
            </a:extLst>
          </p:cNvPr>
          <p:cNvSpPr/>
          <p:nvPr/>
        </p:nvSpPr>
        <p:spPr>
          <a:xfrm>
            <a:off x="5974080" y="1340232"/>
            <a:ext cx="5730240" cy="47980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40F2EEA8-FC71-4151-B1E9-15196E3450E5}"/>
              </a:ext>
            </a:extLst>
          </p:cNvPr>
          <p:cNvSpPr/>
          <p:nvPr/>
        </p:nvSpPr>
        <p:spPr>
          <a:xfrm>
            <a:off x="6156960" y="1474255"/>
            <a:ext cx="5364480" cy="4020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</a:rPr>
              <a:t>데이터 유형별 모델 선택 가이드</a:t>
            </a:r>
            <a:endParaRPr lang="en-US" sz="16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34C917C-EFF7-427E-ABE5-74468B371C8F}"/>
              </a:ext>
            </a:extLst>
          </p:cNvPr>
          <p:cNvSpPr/>
          <p:nvPr/>
        </p:nvSpPr>
        <p:spPr>
          <a:xfrm>
            <a:off x="5974080" y="2010348"/>
            <a:ext cx="5730240" cy="737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BB7872E-9887-4152-A81D-0F86A0EAA445}"/>
              </a:ext>
            </a:extLst>
          </p:cNvPr>
          <p:cNvSpPr/>
          <p:nvPr/>
        </p:nvSpPr>
        <p:spPr>
          <a:xfrm>
            <a:off x="6156960" y="2037153"/>
            <a:ext cx="2804160" cy="670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온도·습도 (순수 숫자)</a:t>
            </a:r>
            <a:endParaRPr lang="en-US" sz="1200" b="1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1D03C2C9-07A0-455D-858F-5F08AA2EBBBE}"/>
              </a:ext>
            </a:extLst>
          </p:cNvPr>
          <p:cNvSpPr/>
          <p:nvPr/>
        </p:nvSpPr>
        <p:spPr>
          <a:xfrm>
            <a:off x="8997696" y="2130969"/>
            <a:ext cx="1280160" cy="375265"/>
          </a:xfrm>
          <a:prstGeom prst="round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074FD757-3D99-4EB2-9C6C-5F46C56E6595}"/>
              </a:ext>
            </a:extLst>
          </p:cNvPr>
          <p:cNvSpPr/>
          <p:nvPr/>
        </p:nvSpPr>
        <p:spPr>
          <a:xfrm>
            <a:off x="8997696" y="2130969"/>
            <a:ext cx="1280160" cy="375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LightGBM</a:t>
            </a:r>
            <a:endParaRPr lang="en-US" sz="1100" b="1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5934327-AF05-444C-B155-E9954DD4C93A}"/>
              </a:ext>
            </a:extLst>
          </p:cNvPr>
          <p:cNvSpPr/>
          <p:nvPr/>
        </p:nvSpPr>
        <p:spPr>
          <a:xfrm>
            <a:off x="10363200" y="2037153"/>
            <a:ext cx="1280160" cy="670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범주형 없음</a:t>
            </a:r>
            <a:endParaRPr lang="en-US" sz="1100" b="1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92C1F5AA-E8FF-45C4-8056-E89309FA57DB}"/>
              </a:ext>
            </a:extLst>
          </p:cNvPr>
          <p:cNvSpPr/>
          <p:nvPr/>
        </p:nvSpPr>
        <p:spPr>
          <a:xfrm>
            <a:off x="5974080" y="2760878"/>
            <a:ext cx="5730240" cy="737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0E5392C-0D1D-4EDA-9E31-0585D87F9BE0}"/>
              </a:ext>
            </a:extLst>
          </p:cNvPr>
          <p:cNvSpPr/>
          <p:nvPr/>
        </p:nvSpPr>
        <p:spPr>
          <a:xfrm>
            <a:off x="6156960" y="2787683"/>
            <a:ext cx="2804160" cy="670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데이터 (범주형 혼합)</a:t>
            </a:r>
            <a:endParaRPr lang="en-US" sz="1200" b="1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B9A05C51-051B-46E9-812D-F115341F83F1}"/>
              </a:ext>
            </a:extLst>
          </p:cNvPr>
          <p:cNvSpPr/>
          <p:nvPr/>
        </p:nvSpPr>
        <p:spPr>
          <a:xfrm>
            <a:off x="8997696" y="2881499"/>
            <a:ext cx="1280160" cy="375265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413E98C9-CCE3-460F-9662-D18CD15DEFEF}"/>
              </a:ext>
            </a:extLst>
          </p:cNvPr>
          <p:cNvSpPr/>
          <p:nvPr/>
        </p:nvSpPr>
        <p:spPr>
          <a:xfrm>
            <a:off x="8997696" y="2881499"/>
            <a:ext cx="1280160" cy="375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CatBoost</a:t>
            </a:r>
            <a:endParaRPr lang="en-US" sz="1100" b="1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1A98D72-9364-40E2-A625-E881326A0B66}"/>
              </a:ext>
            </a:extLst>
          </p:cNvPr>
          <p:cNvSpPr/>
          <p:nvPr/>
        </p:nvSpPr>
        <p:spPr>
          <a:xfrm>
            <a:off x="10363200" y="2787683"/>
            <a:ext cx="1280160" cy="670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범주형 자동</a:t>
            </a:r>
            <a:endParaRPr lang="en-US" sz="1100" b="1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6EF1683E-3662-411C-9CB8-57640C400EAA}"/>
              </a:ext>
            </a:extLst>
          </p:cNvPr>
          <p:cNvSpPr/>
          <p:nvPr/>
        </p:nvSpPr>
        <p:spPr>
          <a:xfrm>
            <a:off x="5974080" y="3511408"/>
            <a:ext cx="5730240" cy="737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3A7548C1-3FCB-49FD-A7F4-BE41573FA840}"/>
              </a:ext>
            </a:extLst>
          </p:cNvPr>
          <p:cNvSpPr/>
          <p:nvPr/>
        </p:nvSpPr>
        <p:spPr>
          <a:xfrm>
            <a:off x="6156960" y="3538213"/>
            <a:ext cx="2804160" cy="670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이미지·음성</a:t>
            </a:r>
            <a:endParaRPr lang="en-US" sz="1200" b="1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2B4D88E9-D816-4D27-8E6B-C5D559999690}"/>
              </a:ext>
            </a:extLst>
          </p:cNvPr>
          <p:cNvSpPr/>
          <p:nvPr/>
        </p:nvSpPr>
        <p:spPr>
          <a:xfrm>
            <a:off x="8997696" y="3632029"/>
            <a:ext cx="1280160" cy="375265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C032F0A-3CB3-43EF-863F-AED6F264C72B}"/>
              </a:ext>
            </a:extLst>
          </p:cNvPr>
          <p:cNvSpPr/>
          <p:nvPr/>
        </p:nvSpPr>
        <p:spPr>
          <a:xfrm>
            <a:off x="8997696" y="3632029"/>
            <a:ext cx="1280160" cy="375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딥러닝</a:t>
            </a:r>
            <a:endParaRPr lang="en-US" sz="1100" b="1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91EC6D67-7856-46C1-B641-570891420058}"/>
              </a:ext>
            </a:extLst>
          </p:cNvPr>
          <p:cNvSpPr/>
          <p:nvPr/>
        </p:nvSpPr>
        <p:spPr>
          <a:xfrm>
            <a:off x="10363200" y="3538213"/>
            <a:ext cx="1280160" cy="670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비정형</a:t>
            </a:r>
            <a:endParaRPr lang="en-US" sz="1100" b="1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9B81DF21-6D4F-4420-8502-DFC11549197E}"/>
              </a:ext>
            </a:extLst>
          </p:cNvPr>
          <p:cNvSpPr/>
          <p:nvPr/>
        </p:nvSpPr>
        <p:spPr>
          <a:xfrm>
            <a:off x="5974080" y="4261938"/>
            <a:ext cx="5730240" cy="737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D90AA58C-56C9-48C7-B138-559164B6147F}"/>
              </a:ext>
            </a:extLst>
          </p:cNvPr>
          <p:cNvSpPr/>
          <p:nvPr/>
        </p:nvSpPr>
        <p:spPr>
          <a:xfrm>
            <a:off x="6156960" y="4288743"/>
            <a:ext cx="2804160" cy="670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대용량 로그 100만+</a:t>
            </a:r>
            <a:endParaRPr lang="en-US" sz="1200" b="1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E8507C45-D7FF-4AB8-86D4-B22803A264FD}"/>
              </a:ext>
            </a:extLst>
          </p:cNvPr>
          <p:cNvSpPr/>
          <p:nvPr/>
        </p:nvSpPr>
        <p:spPr>
          <a:xfrm>
            <a:off x="8997696" y="4382559"/>
            <a:ext cx="1280160" cy="375265"/>
          </a:xfrm>
          <a:prstGeom prst="round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DBA28F3A-C295-4217-9550-F0C9B6229812}"/>
              </a:ext>
            </a:extLst>
          </p:cNvPr>
          <p:cNvSpPr/>
          <p:nvPr/>
        </p:nvSpPr>
        <p:spPr>
          <a:xfrm>
            <a:off x="8997696" y="4382559"/>
            <a:ext cx="1280160" cy="375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LightGBM</a:t>
            </a:r>
            <a:endParaRPr lang="en-US" sz="1100" b="1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224BE5CD-8777-46E9-90D1-4E4A0E13E77D}"/>
              </a:ext>
            </a:extLst>
          </p:cNvPr>
          <p:cNvSpPr/>
          <p:nvPr/>
        </p:nvSpPr>
        <p:spPr>
          <a:xfrm>
            <a:off x="10363200" y="4288743"/>
            <a:ext cx="1280160" cy="670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 우선</a:t>
            </a:r>
            <a:endParaRPr lang="en-US" sz="1100" b="1" dirty="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0C9CA937-18AB-4834-9040-92418A43014D}"/>
              </a:ext>
            </a:extLst>
          </p:cNvPr>
          <p:cNvSpPr/>
          <p:nvPr/>
        </p:nvSpPr>
        <p:spPr>
          <a:xfrm>
            <a:off x="5974080" y="5012468"/>
            <a:ext cx="5730240" cy="737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D219F05-1663-4ABA-82BC-D923E4BDD998}"/>
              </a:ext>
            </a:extLst>
          </p:cNvPr>
          <p:cNvSpPr/>
          <p:nvPr/>
        </p:nvSpPr>
        <p:spPr>
          <a:xfrm>
            <a:off x="6156960" y="5039273"/>
            <a:ext cx="2804160" cy="670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범주형 + 소규모</a:t>
            </a:r>
            <a:endParaRPr lang="en-US" sz="1200" b="1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5040332D-1FD8-41C9-8059-A04715956E44}"/>
              </a:ext>
            </a:extLst>
          </p:cNvPr>
          <p:cNvSpPr/>
          <p:nvPr/>
        </p:nvSpPr>
        <p:spPr>
          <a:xfrm>
            <a:off x="8997696" y="5133089"/>
            <a:ext cx="1280160" cy="375265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F2941E8C-63D3-4126-BC74-35BC746F2C19}"/>
              </a:ext>
            </a:extLst>
          </p:cNvPr>
          <p:cNvSpPr/>
          <p:nvPr/>
        </p:nvSpPr>
        <p:spPr>
          <a:xfrm>
            <a:off x="8997696" y="5133089"/>
            <a:ext cx="1280160" cy="375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CatBoost</a:t>
            </a:r>
            <a:endParaRPr lang="en-US" sz="1100" b="1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AEE78C8D-06CF-4F7F-8DFF-1D5F14FA2AE9}"/>
              </a:ext>
            </a:extLst>
          </p:cNvPr>
          <p:cNvSpPr/>
          <p:nvPr/>
        </p:nvSpPr>
        <p:spPr>
          <a:xfrm>
            <a:off x="10363200" y="5039273"/>
            <a:ext cx="1280160" cy="6701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과적합 방지</a:t>
            </a:r>
            <a:endParaRPr lang="en-US" sz="1100" b="1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CDB524D4-5667-40B5-83B3-A0FC643097CD}"/>
              </a:ext>
            </a:extLst>
          </p:cNvPr>
          <p:cNvSpPr/>
          <p:nvPr/>
        </p:nvSpPr>
        <p:spPr>
          <a:xfrm>
            <a:off x="487680" y="6272287"/>
            <a:ext cx="11216640" cy="469081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8F3467EA-4A11-4D50-B095-B1477A35612E}"/>
              </a:ext>
            </a:extLst>
          </p:cNvPr>
          <p:cNvSpPr/>
          <p:nvPr/>
        </p:nvSpPr>
        <p:spPr>
          <a:xfrm>
            <a:off x="487680" y="6272287"/>
            <a:ext cx="11216640" cy="469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</a:rPr>
              <a:t>✅  고객 이탈 예측은 범주형 혼합 데이터 → CatBoost 최적의 선택!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824265727"/>
      </p:ext>
    </p:extLst>
  </p:cSld>
  <p:clrMapOvr>
    <a:masterClrMapping/>
  </p:clrMapOvr>
  <p:transition spd="slow"/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54AAD2D-F28F-4E60-9330-27649067450B}"/>
              </a:ext>
            </a:extLst>
          </p:cNvPr>
          <p:cNvSpPr/>
          <p:nvPr/>
        </p:nvSpPr>
        <p:spPr>
          <a:xfrm>
            <a:off x="0" y="0"/>
            <a:ext cx="12192000" cy="21903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95D3C63-64C9-4E70-A823-B4B67EDAA3C6}"/>
              </a:ext>
            </a:extLst>
          </p:cNvPr>
          <p:cNvSpPr/>
          <p:nvPr/>
        </p:nvSpPr>
        <p:spPr>
          <a:xfrm>
            <a:off x="609600" y="340719"/>
            <a:ext cx="10972800" cy="6327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1단계 — 설치 &amp; 데이터 생성</a:t>
            </a:r>
            <a:endParaRPr lang="en-US" sz="2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487FE49-7A98-4910-8112-E485AD436861}"/>
              </a:ext>
            </a:extLst>
          </p:cNvPr>
          <p:cNvSpPr/>
          <p:nvPr/>
        </p:nvSpPr>
        <p:spPr>
          <a:xfrm>
            <a:off x="609600" y="997820"/>
            <a:ext cx="10972800" cy="3650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BE4D169-FE61-4786-9F93-DBB3369C1F76}"/>
              </a:ext>
            </a:extLst>
          </p:cNvPr>
          <p:cNvSpPr/>
          <p:nvPr/>
        </p:nvSpPr>
        <p:spPr>
          <a:xfrm>
            <a:off x="487680" y="1143842"/>
            <a:ext cx="609600" cy="389393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0251579-E3A9-4BE6-B75F-A2EDE4AB9481}"/>
              </a:ext>
            </a:extLst>
          </p:cNvPr>
          <p:cNvSpPr/>
          <p:nvPr/>
        </p:nvSpPr>
        <p:spPr>
          <a:xfrm>
            <a:off x="487680" y="1143842"/>
            <a:ext cx="609600" cy="389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DA7FC3B-9168-4EB1-9147-11DFFFECB31E}"/>
              </a:ext>
            </a:extLst>
          </p:cNvPr>
          <p:cNvSpPr/>
          <p:nvPr/>
        </p:nvSpPr>
        <p:spPr>
          <a:xfrm>
            <a:off x="1219200" y="1143842"/>
            <a:ext cx="10485120" cy="3893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</a:rPr>
              <a:t>CatBoost 설치 &amp; 라이브러리 임포트</a:t>
            </a:r>
            <a:endParaRPr lang="en-US" sz="1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BAF294FB-15EA-4E32-BD1E-BE60D59E5D5D}"/>
              </a:ext>
            </a:extLst>
          </p:cNvPr>
          <p:cNvSpPr/>
          <p:nvPr/>
        </p:nvSpPr>
        <p:spPr>
          <a:xfrm>
            <a:off x="487680" y="1630584"/>
            <a:ext cx="11216640" cy="124119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057A1B7-F130-4DF5-9685-F11E266C7C24}"/>
              </a:ext>
            </a:extLst>
          </p:cNvPr>
          <p:cNvSpPr/>
          <p:nvPr/>
        </p:nvSpPr>
        <p:spPr>
          <a:xfrm>
            <a:off x="670560" y="1628800"/>
            <a:ext cx="10875264" cy="12673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!pip install </a:t>
            </a:r>
            <a:r>
              <a:rPr lang="en-US" sz="12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catboost</a:t>
            </a:r>
            <a:endParaRPr lang="en-US" sz="1200" b="1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pd,  numpy as np</a:t>
            </a:r>
            <a:endParaRPr lang="en-US" sz="1200" b="1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catboost import CatBoostClassifier</a:t>
            </a:r>
            <a:endParaRPr lang="en-US" sz="1200" b="1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sklearn.model_selection import train_test_split</a:t>
            </a:r>
            <a:endParaRPr lang="en-US" sz="1200" b="1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sklearn.metrics import classification_report, confusion_matrix</a:t>
            </a:r>
            <a:endParaRPr lang="en-US" sz="1200" b="1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seaborn as sns,  matplotlib.pyplot as plt</a:t>
            </a:r>
            <a:endParaRPr lang="en-US" sz="1200" b="1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08E533E-53B8-4C18-AC7A-79CD23EE26F0}"/>
              </a:ext>
            </a:extLst>
          </p:cNvPr>
          <p:cNvSpPr/>
          <p:nvPr/>
        </p:nvSpPr>
        <p:spPr>
          <a:xfrm>
            <a:off x="487680" y="3068960"/>
            <a:ext cx="609600" cy="389393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8CE23E0-6072-4939-B0D6-53E8719FDCCA}"/>
              </a:ext>
            </a:extLst>
          </p:cNvPr>
          <p:cNvSpPr/>
          <p:nvPr/>
        </p:nvSpPr>
        <p:spPr>
          <a:xfrm>
            <a:off x="487680" y="3068960"/>
            <a:ext cx="609600" cy="389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4C6E734-3BA1-4460-898F-FC77D3E703B5}"/>
              </a:ext>
            </a:extLst>
          </p:cNvPr>
          <p:cNvSpPr/>
          <p:nvPr/>
        </p:nvSpPr>
        <p:spPr>
          <a:xfrm>
            <a:off x="1219200" y="3068960"/>
            <a:ext cx="10485120" cy="3893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</a:rPr>
              <a:t>고객 데이터 직접 생성 — 범주형 3개(성별·지역·요금제) 포함</a:t>
            </a:r>
            <a:endParaRPr lang="en-US" sz="16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52C2B48-D760-4EB7-A8AE-B49417896FD5}"/>
              </a:ext>
            </a:extLst>
          </p:cNvPr>
          <p:cNvSpPr/>
          <p:nvPr/>
        </p:nvSpPr>
        <p:spPr>
          <a:xfrm>
            <a:off x="487680" y="3555702"/>
            <a:ext cx="11216640" cy="3261167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2400418-8883-4A29-AF85-2C60609D8FAE}"/>
              </a:ext>
            </a:extLst>
          </p:cNvPr>
          <p:cNvSpPr/>
          <p:nvPr/>
        </p:nvSpPr>
        <p:spPr>
          <a:xfrm>
            <a:off x="670560" y="3653050"/>
            <a:ext cx="10682024" cy="3090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np.random.seed(42);  n = 10000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gender = np.random.choice(['남성', '여성'], n)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 = np.random.choice(['서울', '부산', '대구', '인천', '광주'], n)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  = np.random.choice(['기본', '프리미엄', 'VIP'], n, p=[0.5, 0.35, 0.15])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   = np.random.randint(18, 70, n)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months = np.random.randint(1, 120, n)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    = np.where(plan=='기본',     np.random.randint(30000, 50000, n),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np.where(plan=='프리미엄', np.random.randint(50000, 80000, n),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np.random.randint(80000,150000, n)))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 = np.random.poisson(1.5, n)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churn  = ((months&lt;12)&amp;(claims&gt;2) | (plan=='기본')&amp;(fee&gt;45000)&amp;(np.random.rand(n)&gt;0.7)).astype(int)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pd.DataFrame({'나이':age,'성별':gender,'지역':region,'요금제':plan,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'가입기간':months,'월요금':fee,'클레임횟수':claims,'이탈여부':churn})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print(df.shape);  print(df.head());  print(df['이탈여부'].value_counts())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96041912"/>
      </p:ext>
    </p:extLst>
  </p:cSld>
  <p:clrMapOvr>
    <a:masterClrMapping/>
  </p:clrMapOvr>
  <p:transition spd="slow"/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4F736C0-6369-41FE-8F48-C31E0C136008}"/>
              </a:ext>
            </a:extLst>
          </p:cNvPr>
          <p:cNvSpPr/>
          <p:nvPr/>
        </p:nvSpPr>
        <p:spPr>
          <a:xfrm>
            <a:off x="0" y="0"/>
            <a:ext cx="12192000" cy="21140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B80DC29-652B-4943-8853-3E452C4B4E00}"/>
              </a:ext>
            </a:extLst>
          </p:cNvPr>
          <p:cNvSpPr/>
          <p:nvPr/>
        </p:nvSpPr>
        <p:spPr>
          <a:xfrm>
            <a:off x="609600" y="328847"/>
            <a:ext cx="10972800" cy="6107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2단계 — 전처리 &amp; 모델 학습</a:t>
            </a:r>
            <a:endParaRPr lang="en-US" sz="2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1C3AB86-26C6-4466-B82B-371155186A8C}"/>
              </a:ext>
            </a:extLst>
          </p:cNvPr>
          <p:cNvSpPr/>
          <p:nvPr/>
        </p:nvSpPr>
        <p:spPr>
          <a:xfrm>
            <a:off x="609600" y="963053"/>
            <a:ext cx="10972800" cy="3523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8E0B2505-CAB3-4770-83B5-A5BD14A92D5B}"/>
              </a:ext>
            </a:extLst>
          </p:cNvPr>
          <p:cNvGrpSpPr/>
          <p:nvPr/>
        </p:nvGrpSpPr>
        <p:grpSpPr>
          <a:xfrm>
            <a:off x="487680" y="1103987"/>
            <a:ext cx="609600" cy="328847"/>
            <a:chOff x="487680" y="1103987"/>
            <a:chExt cx="609600" cy="375825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C640DDB5-BCD4-45ED-94A0-B27BF8C7D2EB}"/>
                </a:ext>
              </a:extLst>
            </p:cNvPr>
            <p:cNvSpPr/>
            <p:nvPr/>
          </p:nvSpPr>
          <p:spPr>
            <a:xfrm>
              <a:off x="487680" y="1103987"/>
              <a:ext cx="609600" cy="375825"/>
            </a:xfrm>
            <a:prstGeom prst="rect">
              <a:avLst/>
            </a:prstGeom>
            <a:solidFill>
              <a:srgbClr val="16A34A"/>
            </a:solidFill>
            <a:ln w="12700">
              <a:solidFill>
                <a:srgbClr val="16A34A"/>
              </a:solidFill>
              <a:prstDash val="solid"/>
            </a:ln>
          </p:spPr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982D4E77-5B4C-474A-A5B4-04A7E301F73E}"/>
                </a:ext>
              </a:extLst>
            </p:cNvPr>
            <p:cNvSpPr/>
            <p:nvPr/>
          </p:nvSpPr>
          <p:spPr>
            <a:xfrm>
              <a:off x="487680" y="1103987"/>
              <a:ext cx="609600" cy="32884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03</a:t>
              </a:r>
              <a:endParaRPr lang="en-US" sz="1200" dirty="0"/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393A46F8-7476-4E4B-BA8E-C409A29859D2}"/>
              </a:ext>
            </a:extLst>
          </p:cNvPr>
          <p:cNvSpPr/>
          <p:nvPr/>
        </p:nvSpPr>
        <p:spPr>
          <a:xfrm>
            <a:off x="1219200" y="1103987"/>
            <a:ext cx="10485120" cy="3758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특성/정답 분리 &amp; 범주형 컬럼 지정 (CatBoost 핵심!)</a:t>
            </a:r>
            <a:endParaRPr lang="en-US" sz="1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B4046CA-85EA-4D2A-B2BD-A676B4CD1EBB}"/>
              </a:ext>
            </a:extLst>
          </p:cNvPr>
          <p:cNvSpPr/>
          <p:nvPr/>
        </p:nvSpPr>
        <p:spPr>
          <a:xfrm>
            <a:off x="487680" y="1484784"/>
            <a:ext cx="11216640" cy="934591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CC2240E-5E28-4400-9C04-970D9376B00F}"/>
              </a:ext>
            </a:extLst>
          </p:cNvPr>
          <p:cNvSpPr/>
          <p:nvPr/>
        </p:nvSpPr>
        <p:spPr>
          <a:xfrm>
            <a:off x="670560" y="1539815"/>
            <a:ext cx="10875264" cy="6342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FF75215-C6B1-4A0B-8ED2-C63E924B469B}"/>
              </a:ext>
            </a:extLst>
          </p:cNvPr>
          <p:cNvSpPr/>
          <p:nvPr/>
        </p:nvSpPr>
        <p:spPr>
          <a:xfrm>
            <a:off x="487680" y="2513332"/>
            <a:ext cx="609600" cy="375825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37DC658-5261-4E29-84AC-14795E0F9830}"/>
              </a:ext>
            </a:extLst>
          </p:cNvPr>
          <p:cNvSpPr/>
          <p:nvPr/>
        </p:nvSpPr>
        <p:spPr>
          <a:xfrm>
            <a:off x="487680" y="2513332"/>
            <a:ext cx="609600" cy="375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8729EFA-3D3C-4425-AB59-E302599ABC64}"/>
              </a:ext>
            </a:extLst>
          </p:cNvPr>
          <p:cNvSpPr/>
          <p:nvPr/>
        </p:nvSpPr>
        <p:spPr>
          <a:xfrm>
            <a:off x="1219200" y="2513332"/>
            <a:ext cx="10485120" cy="3758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학습/테스트 분할</a:t>
            </a:r>
            <a:endParaRPr lang="en-US" sz="14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F2A1449-8099-44A9-9949-6D892A241C2A}"/>
              </a:ext>
            </a:extLst>
          </p:cNvPr>
          <p:cNvSpPr/>
          <p:nvPr/>
        </p:nvSpPr>
        <p:spPr>
          <a:xfrm>
            <a:off x="487680" y="2983114"/>
            <a:ext cx="11216640" cy="587227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3CBDB77-0B72-4ADC-A34D-DA17F185EA3A}"/>
              </a:ext>
            </a:extLst>
          </p:cNvPr>
          <p:cNvSpPr/>
          <p:nvPr/>
        </p:nvSpPr>
        <p:spPr>
          <a:xfrm>
            <a:off x="670560" y="3077070"/>
            <a:ext cx="10875264" cy="4228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X_train, X_test, y_train, y_test = train_test_split(X, y, test_size=0.2, random_state=42)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print(f'학습: {X_train.shape},  테스트: {X_test.shape}')</a:t>
            </a:r>
            <a:endParaRPr lang="en-US" sz="1200" b="1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3F97FB1B-C190-4B1C-A569-1E99962C9DD7}"/>
              </a:ext>
            </a:extLst>
          </p:cNvPr>
          <p:cNvSpPr/>
          <p:nvPr/>
        </p:nvSpPr>
        <p:spPr>
          <a:xfrm>
            <a:off x="487680" y="3711276"/>
            <a:ext cx="609600" cy="375825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91D8659-B256-4A27-8439-18CCD5DBA9AA}"/>
              </a:ext>
            </a:extLst>
          </p:cNvPr>
          <p:cNvSpPr/>
          <p:nvPr/>
        </p:nvSpPr>
        <p:spPr>
          <a:xfrm>
            <a:off x="487680" y="3711276"/>
            <a:ext cx="609600" cy="375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9A663B72-D417-4D2D-AD15-60ADC509049D}"/>
              </a:ext>
            </a:extLst>
          </p:cNvPr>
          <p:cNvSpPr/>
          <p:nvPr/>
        </p:nvSpPr>
        <p:spPr>
          <a:xfrm>
            <a:off x="1219200" y="3711276"/>
            <a:ext cx="10485120" cy="3758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CatBoost 모델 정의</a:t>
            </a:r>
            <a:endParaRPr lang="en-US" sz="14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E03441EC-417A-495A-9187-2DB5C245E94C}"/>
              </a:ext>
            </a:extLst>
          </p:cNvPr>
          <p:cNvSpPr/>
          <p:nvPr/>
        </p:nvSpPr>
        <p:spPr>
          <a:xfrm>
            <a:off x="487680" y="4181058"/>
            <a:ext cx="11216640" cy="150330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737FC3E-9EA8-4484-BD57-17333D5C1322}"/>
              </a:ext>
            </a:extLst>
          </p:cNvPr>
          <p:cNvSpPr/>
          <p:nvPr/>
        </p:nvSpPr>
        <p:spPr>
          <a:xfrm>
            <a:off x="670560" y="4275014"/>
            <a:ext cx="10875264" cy="133887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cat_model = CatBoostClassifier(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iterations=1000,  learning_rate=0.03,  depth=6,  l2_leaf_reg=3,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cat_features=cat_cols,                #  범주형 컬럼 지정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auto_class_weights='Balanced',        # 불균형 자동 보정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eval_metric='AUC',  early_stopping_rounds=50,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verbose=100,  random_seed=42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b="1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1B2B91C-74D8-4485-A60A-D2A91EEC9E47}"/>
              </a:ext>
            </a:extLst>
          </p:cNvPr>
          <p:cNvSpPr/>
          <p:nvPr/>
        </p:nvSpPr>
        <p:spPr>
          <a:xfrm>
            <a:off x="487680" y="5825294"/>
            <a:ext cx="609600" cy="375825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2FC2C90-40FF-4EB6-B256-8DB6845115EB}"/>
              </a:ext>
            </a:extLst>
          </p:cNvPr>
          <p:cNvSpPr/>
          <p:nvPr/>
        </p:nvSpPr>
        <p:spPr>
          <a:xfrm>
            <a:off x="487680" y="5825294"/>
            <a:ext cx="609600" cy="375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06</a:t>
            </a: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68198CF-A7D4-4915-A9D2-E010C7D911BC}"/>
              </a:ext>
            </a:extLst>
          </p:cNvPr>
          <p:cNvSpPr/>
          <p:nvPr/>
        </p:nvSpPr>
        <p:spPr>
          <a:xfrm>
            <a:off x="1219200" y="5825294"/>
            <a:ext cx="10485120" cy="3758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모델 학습</a:t>
            </a:r>
            <a:endParaRPr lang="en-US" sz="14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84F63BAB-953B-4459-9043-4DE4DD83B570}"/>
              </a:ext>
            </a:extLst>
          </p:cNvPr>
          <p:cNvSpPr/>
          <p:nvPr/>
        </p:nvSpPr>
        <p:spPr>
          <a:xfrm>
            <a:off x="487680" y="6295075"/>
            <a:ext cx="11216640" cy="446293"/>
          </a:xfrm>
          <a:prstGeom prst="rect">
            <a:avLst/>
          </a:prstGeom>
          <a:solidFill>
            <a:srgbClr val="F0FDF4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B7371D5-CA40-4F34-BFC6-031C9DB92A45}"/>
              </a:ext>
            </a:extLst>
          </p:cNvPr>
          <p:cNvSpPr/>
          <p:nvPr/>
        </p:nvSpPr>
        <p:spPr>
          <a:xfrm>
            <a:off x="670560" y="6389032"/>
            <a:ext cx="10875264" cy="28186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cat_model.fit(X_train, y_train, eval_set=(X_test, y_test))   # 학습 시작!</a:t>
            </a:r>
            <a:endParaRPr 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9F47E8-57C7-4EC1-B748-F2D8C478830E}"/>
              </a:ext>
            </a:extLst>
          </p:cNvPr>
          <p:cNvSpPr txBox="1"/>
          <p:nvPr/>
        </p:nvSpPr>
        <p:spPr>
          <a:xfrm>
            <a:off x="623392" y="1510199"/>
            <a:ext cx="9119944" cy="906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 = </a:t>
            </a:r>
            <a:r>
              <a:rPr lang="en-US" altLang="ko-KR" sz="1200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df.drop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(columns=[</a:t>
            </a:r>
            <a:r>
              <a:rPr lang="en-US" altLang="ko-KR" sz="1200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200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이탈여부</a:t>
            </a:r>
            <a:r>
              <a:rPr lang="en-US" altLang="ko-KR" sz="1200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</a:t>
            </a:r>
          </a:p>
          <a:p>
            <a:pPr>
              <a:lnSpc>
                <a:spcPts val="1600"/>
              </a:lnSpc>
            </a:pPr>
            <a:r>
              <a:rPr lang="en-US" altLang="ko-KR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 = df[</a:t>
            </a:r>
            <a:r>
              <a:rPr lang="en-US" altLang="ko-KR" sz="1200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200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이탈여부</a:t>
            </a:r>
            <a:r>
              <a:rPr lang="en-US" altLang="ko-KR" sz="1200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].values</a:t>
            </a:r>
          </a:p>
          <a:p>
            <a:pPr>
              <a:lnSpc>
                <a:spcPts val="1600"/>
              </a:lnSpc>
            </a:pPr>
            <a:r>
              <a:rPr lang="en-US" altLang="ko-KR" sz="1200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cat_cols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[</a:t>
            </a:r>
            <a:r>
              <a:rPr lang="en-US" altLang="ko-KR" sz="1200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200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성별</a:t>
            </a:r>
            <a:r>
              <a:rPr lang="en-US" altLang="ko-KR" sz="1200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200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200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지역</a:t>
            </a:r>
            <a:r>
              <a:rPr lang="en-US" altLang="ko-KR" sz="1200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200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200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요금제</a:t>
            </a:r>
            <a:r>
              <a:rPr lang="en-US" altLang="ko-KR" sz="1200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   </a:t>
            </a:r>
            <a:r>
              <a:rPr lang="en-US" altLang="ko-KR" sz="1200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200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범주형 컬럼 직접 지정 </a:t>
            </a:r>
            <a:r>
              <a:rPr lang="en-US" altLang="ko-KR" sz="1200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— </a:t>
            </a:r>
            <a:r>
              <a:rPr lang="ko-KR" altLang="en-US" sz="1200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인코딩 불필요</a:t>
            </a:r>
            <a:r>
              <a:rPr lang="en-US" altLang="ko-KR" sz="1200" b="1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!</a:t>
            </a:r>
            <a:endParaRPr lang="ko-KR" altLang="en-US" sz="1200" b="1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600"/>
              </a:lnSpc>
            </a:pPr>
            <a:r>
              <a:rPr lang="en-US" altLang="ko-KR" sz="1200" b="1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200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200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범주형 컬럼</a:t>
            </a:r>
            <a:r>
              <a:rPr lang="en-US" altLang="ko-KR" sz="1200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:'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200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cat_cols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 </a:t>
            </a:r>
            <a:r>
              <a:rPr lang="en-US" altLang="ko-KR" sz="1200" b="1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  X shape:'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200" b="1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X.shape</a:t>
            </a:r>
            <a:r>
              <a:rPr lang="en-US" altLang="ko-KR" sz="12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67527908"/>
      </p:ext>
    </p:extLst>
  </p:cSld>
  <p:clrMapOvr>
    <a:masterClrMapping/>
  </p:clrMapOvr>
  <p:transition spd="slow"/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689890B-B699-4A67-852A-AA609EE5088A}"/>
              </a:ext>
            </a:extLst>
          </p:cNvPr>
          <p:cNvSpPr/>
          <p:nvPr/>
        </p:nvSpPr>
        <p:spPr>
          <a:xfrm>
            <a:off x="0" y="0"/>
            <a:ext cx="12192000" cy="23425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C45CED8-22D2-471E-88F9-97BC74B56972}"/>
              </a:ext>
            </a:extLst>
          </p:cNvPr>
          <p:cNvSpPr/>
          <p:nvPr/>
        </p:nvSpPr>
        <p:spPr>
          <a:xfrm>
            <a:off x="407368" y="332656"/>
            <a:ext cx="10972800" cy="40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3단계 — 성능 평가 &amp; Confusion Matrix</a:t>
            </a:r>
            <a:endParaRPr lang="en-US" sz="2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EFCDED8-4A5D-4941-873B-4DE06DF1B55D}"/>
              </a:ext>
            </a:extLst>
          </p:cNvPr>
          <p:cNvSpPr/>
          <p:nvPr/>
        </p:nvSpPr>
        <p:spPr>
          <a:xfrm>
            <a:off x="479376" y="764704"/>
            <a:ext cx="10972800" cy="39043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1367233-A040-4FD6-B0B5-D0A5D4B0FD58}"/>
              </a:ext>
            </a:extLst>
          </p:cNvPr>
          <p:cNvSpPr/>
          <p:nvPr/>
        </p:nvSpPr>
        <p:spPr>
          <a:xfrm>
            <a:off x="487680" y="1052736"/>
            <a:ext cx="609600" cy="416455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8CA7344-0EDE-4393-8AB0-95914E8B5745}"/>
              </a:ext>
            </a:extLst>
          </p:cNvPr>
          <p:cNvSpPr/>
          <p:nvPr/>
        </p:nvSpPr>
        <p:spPr>
          <a:xfrm>
            <a:off x="487680" y="1052736"/>
            <a:ext cx="609600" cy="416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07</a:t>
            </a:r>
            <a:endParaRPr lang="en-US" sz="11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86331C2-0CA9-45C3-B471-2407D789CD48}"/>
              </a:ext>
            </a:extLst>
          </p:cNvPr>
          <p:cNvSpPr/>
          <p:nvPr/>
        </p:nvSpPr>
        <p:spPr>
          <a:xfrm>
            <a:off x="1219200" y="1052736"/>
            <a:ext cx="10485120" cy="4164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예측 &amp; 성능 리포트</a:t>
            </a:r>
            <a:endParaRPr lang="en-US" sz="1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B826618B-F8D6-4EAF-9199-2807E8D2D4D5}"/>
              </a:ext>
            </a:extLst>
          </p:cNvPr>
          <p:cNvSpPr/>
          <p:nvPr/>
        </p:nvSpPr>
        <p:spPr>
          <a:xfrm>
            <a:off x="487680" y="1573305"/>
            <a:ext cx="6096000" cy="845925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86503D1-C422-47C2-9B0C-4B1D2DDD1BCE}"/>
              </a:ext>
            </a:extLst>
          </p:cNvPr>
          <p:cNvSpPr/>
          <p:nvPr/>
        </p:nvSpPr>
        <p:spPr>
          <a:xfrm>
            <a:off x="670560" y="1614007"/>
            <a:ext cx="5754624" cy="8068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r>
              <a:rPr lang="en-US" sz="20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</a:t>
            </a: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 = cat_model.predict(X_test)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print(classification_report(y_test, y_pred,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target_names=['유지(0)', '이탈(1)']))</a:t>
            </a:r>
            <a:endParaRPr lang="en-US" sz="1200" b="1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FC014C1-E8F4-4756-BD83-A6D55D6726F3}"/>
              </a:ext>
            </a:extLst>
          </p:cNvPr>
          <p:cNvSpPr/>
          <p:nvPr/>
        </p:nvSpPr>
        <p:spPr>
          <a:xfrm>
            <a:off x="487680" y="2588414"/>
            <a:ext cx="609600" cy="416455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84D87FF-A0D0-4316-A4F2-8AB50E58E3F0}"/>
              </a:ext>
            </a:extLst>
          </p:cNvPr>
          <p:cNvSpPr/>
          <p:nvPr/>
        </p:nvSpPr>
        <p:spPr>
          <a:xfrm>
            <a:off x="487680" y="2588414"/>
            <a:ext cx="609600" cy="416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08</a:t>
            </a:r>
            <a:endParaRPr lang="en-US" sz="11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823129D-EBAB-4A89-A304-450E272380FA}"/>
              </a:ext>
            </a:extLst>
          </p:cNvPr>
          <p:cNvSpPr/>
          <p:nvPr/>
        </p:nvSpPr>
        <p:spPr>
          <a:xfrm>
            <a:off x="1219200" y="2588414"/>
            <a:ext cx="10485120" cy="4164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Confusion Matrix 시각화</a:t>
            </a:r>
            <a:endParaRPr lang="en-US" sz="14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424498AA-AC2D-4E2F-9493-D8732F1EF7B1}"/>
              </a:ext>
            </a:extLst>
          </p:cNvPr>
          <p:cNvSpPr/>
          <p:nvPr/>
        </p:nvSpPr>
        <p:spPr>
          <a:xfrm>
            <a:off x="487680" y="3108983"/>
            <a:ext cx="6096000" cy="1795963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F743C4C-A214-4DF0-B316-18856B4B2289}"/>
              </a:ext>
            </a:extLst>
          </p:cNvPr>
          <p:cNvSpPr/>
          <p:nvPr/>
        </p:nvSpPr>
        <p:spPr>
          <a:xfrm>
            <a:off x="670560" y="3068959"/>
            <a:ext cx="5754624" cy="190105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 = confusion_matrix(y_test, y_pred)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fig, ax = plt.subplots(figsize=(5, 4))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sns.heatmap(cm, annot=True, fmt='d', cmap='Oranges',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xticklabels=['유지(0)','이탈(1)'],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yticklabels=['유지(0)','이탈(1)'])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ax.set_xlabel('예측값');  ax.set_ylabel('실제값')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ax.set_title('CatBoost — 고객 이탈 Confusion Matrix')</a:t>
            </a:r>
            <a:endParaRPr lang="en-US" sz="12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plt.tight_layout();  plt.show()</a:t>
            </a:r>
            <a:endParaRPr lang="en-US" sz="1200" b="1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6C061D5F-3E74-4494-B300-1FAB0AAEE9E6}"/>
              </a:ext>
            </a:extLst>
          </p:cNvPr>
          <p:cNvSpPr/>
          <p:nvPr/>
        </p:nvSpPr>
        <p:spPr>
          <a:xfrm>
            <a:off x="487680" y="5074131"/>
            <a:ext cx="609600" cy="416455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66120C7-9F0F-42BB-9287-CFCCB9F825F7}"/>
              </a:ext>
            </a:extLst>
          </p:cNvPr>
          <p:cNvSpPr/>
          <p:nvPr/>
        </p:nvSpPr>
        <p:spPr>
          <a:xfrm>
            <a:off x="487680" y="5074131"/>
            <a:ext cx="609600" cy="416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09</a:t>
            </a:r>
            <a:endParaRPr lang="en-US" sz="11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A94510D-9BA7-4CCC-A1B7-4157ABB9A97B}"/>
              </a:ext>
            </a:extLst>
          </p:cNvPr>
          <p:cNvSpPr/>
          <p:nvPr/>
        </p:nvSpPr>
        <p:spPr>
          <a:xfrm>
            <a:off x="1219200" y="5074131"/>
            <a:ext cx="10485120" cy="4164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특성 중요도</a:t>
            </a:r>
            <a:endParaRPr lang="en-US" sz="12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C2D3DA3-221D-44B3-80C1-D3DAF6591C4B}"/>
              </a:ext>
            </a:extLst>
          </p:cNvPr>
          <p:cNvSpPr/>
          <p:nvPr/>
        </p:nvSpPr>
        <p:spPr>
          <a:xfrm>
            <a:off x="487680" y="5594700"/>
            <a:ext cx="6096000" cy="976067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9616B4D-0605-4210-99ED-D00FE7386C69}"/>
              </a:ext>
            </a:extLst>
          </p:cNvPr>
          <p:cNvSpPr/>
          <p:nvPr/>
        </p:nvSpPr>
        <p:spPr>
          <a:xfrm>
            <a:off x="551384" y="5698814"/>
            <a:ext cx="5754624" cy="7938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feat_imp = pd.Series(cat_model.get_feature_importance(), index=X.columns).sort_values(ascending=False)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feat_imp.plot(kind='bar', title='특성 중요도', figsize=(8,4))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plt.tight_layout();  plt.show()</a:t>
            </a:r>
            <a:endParaRPr lang="en-US" sz="1200" b="1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62D7AAA-A1A9-4515-88A2-673749EC461F}"/>
              </a:ext>
            </a:extLst>
          </p:cNvPr>
          <p:cNvSpPr/>
          <p:nvPr/>
        </p:nvSpPr>
        <p:spPr>
          <a:xfrm>
            <a:off x="6827520" y="1052736"/>
            <a:ext cx="4876800" cy="4164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출력 결과 예시</a:t>
            </a:r>
            <a:endParaRPr lang="en-US" sz="13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82E06486-25EC-4DE6-A56E-BFBC383F621E}"/>
              </a:ext>
            </a:extLst>
          </p:cNvPr>
          <p:cNvSpPr/>
          <p:nvPr/>
        </p:nvSpPr>
        <p:spPr>
          <a:xfrm>
            <a:off x="6827520" y="1573305"/>
            <a:ext cx="4876800" cy="3774125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A462025-D7C4-4683-9FF7-A46BA97567FA}"/>
              </a:ext>
            </a:extLst>
          </p:cNvPr>
          <p:cNvSpPr/>
          <p:nvPr/>
        </p:nvSpPr>
        <p:spPr>
          <a:xfrm>
            <a:off x="7680960" y="1703447"/>
            <a:ext cx="3169920" cy="3383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</a:rPr>
              <a:t>예측값</a:t>
            </a:r>
            <a:endParaRPr lang="en-US" sz="1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ADB8D097-9EA2-4424-9C09-6302987EA205}"/>
              </a:ext>
            </a:extLst>
          </p:cNvPr>
          <p:cNvSpPr/>
          <p:nvPr/>
        </p:nvSpPr>
        <p:spPr>
          <a:xfrm>
            <a:off x="7680960" y="2041817"/>
            <a:ext cx="1438656" cy="3383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6A34A"/>
                </a:solidFill>
              </a:rPr>
              <a:t>유지(0)</a:t>
            </a:r>
            <a:endParaRPr lang="en-US" sz="10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4515791-6CB4-4660-9965-1AE4F7D676EE}"/>
              </a:ext>
            </a:extLst>
          </p:cNvPr>
          <p:cNvSpPr/>
          <p:nvPr/>
        </p:nvSpPr>
        <p:spPr>
          <a:xfrm>
            <a:off x="9168384" y="2041817"/>
            <a:ext cx="1438656" cy="3383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</a:rPr>
              <a:t>이탈(1)</a:t>
            </a:r>
            <a:endParaRPr lang="en-US" sz="10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4EA06B8-AB47-4437-A43A-40811AC4CCD0}"/>
              </a:ext>
            </a:extLst>
          </p:cNvPr>
          <p:cNvSpPr/>
          <p:nvPr/>
        </p:nvSpPr>
        <p:spPr>
          <a:xfrm>
            <a:off x="6851904" y="2458272"/>
            <a:ext cx="390144" cy="1756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4748B"/>
                </a:solidFill>
              </a:rPr>
              <a:t>실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64748B"/>
                </a:solidFill>
              </a:rPr>
              <a:t>제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64748B"/>
                </a:solidFill>
              </a:rPr>
              <a:t>값</a:t>
            </a:r>
            <a:endParaRPr lang="en-US" sz="9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903F402-3523-450B-97AE-9439E8EABCEF}"/>
              </a:ext>
            </a:extLst>
          </p:cNvPr>
          <p:cNvSpPr/>
          <p:nvPr/>
        </p:nvSpPr>
        <p:spPr>
          <a:xfrm>
            <a:off x="7254240" y="2458272"/>
            <a:ext cx="560832" cy="8459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A34A"/>
                </a:solidFill>
              </a:rPr>
              <a:t>유지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6A34A"/>
                </a:solidFill>
              </a:rPr>
              <a:t>(0)</a:t>
            </a:r>
            <a:endParaRPr lang="en-US" sz="9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8A6CE79C-D572-40A5-A946-3D82F33EB9C5}"/>
              </a:ext>
            </a:extLst>
          </p:cNvPr>
          <p:cNvSpPr/>
          <p:nvPr/>
        </p:nvSpPr>
        <p:spPr>
          <a:xfrm>
            <a:off x="7254240" y="3304197"/>
            <a:ext cx="560832" cy="8459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이탈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(1)</a:t>
            </a:r>
            <a:endParaRPr lang="en-US" sz="9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E4AAF637-FB51-41C7-BCDE-C2283548E3F7}"/>
              </a:ext>
            </a:extLst>
          </p:cNvPr>
          <p:cNvSpPr/>
          <p:nvPr/>
        </p:nvSpPr>
        <p:spPr>
          <a:xfrm>
            <a:off x="7839456" y="2458272"/>
            <a:ext cx="1292352" cy="845925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21548604-1271-4689-9735-AFDA97A810B2}"/>
              </a:ext>
            </a:extLst>
          </p:cNvPr>
          <p:cNvSpPr/>
          <p:nvPr/>
        </p:nvSpPr>
        <p:spPr>
          <a:xfrm>
            <a:off x="7839456" y="2458272"/>
            <a:ext cx="1292352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1523</a:t>
            </a:r>
            <a:endParaRPr lang="en-US" sz="17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126813F3-66BD-47FD-9360-2056C09C59F9}"/>
              </a:ext>
            </a:extLst>
          </p:cNvPr>
          <p:cNvSpPr/>
          <p:nvPr/>
        </p:nvSpPr>
        <p:spPr>
          <a:xfrm>
            <a:off x="7839456" y="3004870"/>
            <a:ext cx="1292352" cy="2993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ED7AA"/>
                </a:solidFill>
              </a:rPr>
              <a:t>TN</a:t>
            </a:r>
            <a:endParaRPr lang="en-US" sz="90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0D3A153F-9E9F-41C2-89A2-204ABBC07F55}"/>
              </a:ext>
            </a:extLst>
          </p:cNvPr>
          <p:cNvSpPr/>
          <p:nvPr/>
        </p:nvSpPr>
        <p:spPr>
          <a:xfrm>
            <a:off x="9168384" y="2458272"/>
            <a:ext cx="1292352" cy="845925"/>
          </a:xfrm>
          <a:prstGeom prst="rect">
            <a:avLst/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AF263C67-70BB-4480-9BBE-DA78564020C1}"/>
              </a:ext>
            </a:extLst>
          </p:cNvPr>
          <p:cNvSpPr/>
          <p:nvPr/>
        </p:nvSpPr>
        <p:spPr>
          <a:xfrm>
            <a:off x="9168384" y="2458272"/>
            <a:ext cx="1292352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C2626"/>
                </a:solidFill>
              </a:rPr>
              <a:t>87</a:t>
            </a:r>
            <a:endParaRPr lang="en-US" sz="17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C9B8F69D-45D5-4820-9321-93543FCAB73B}"/>
              </a:ext>
            </a:extLst>
          </p:cNvPr>
          <p:cNvSpPr/>
          <p:nvPr/>
        </p:nvSpPr>
        <p:spPr>
          <a:xfrm>
            <a:off x="9168384" y="3004870"/>
            <a:ext cx="1292352" cy="2993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2626"/>
                </a:solidFill>
              </a:rPr>
              <a:t>FP</a:t>
            </a:r>
            <a:endParaRPr lang="en-US" sz="9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524FF127-7F78-4347-BAC6-C5712872D2A8}"/>
              </a:ext>
            </a:extLst>
          </p:cNvPr>
          <p:cNvSpPr/>
          <p:nvPr/>
        </p:nvSpPr>
        <p:spPr>
          <a:xfrm>
            <a:off x="7839456" y="3304197"/>
            <a:ext cx="1292352" cy="845925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77357E9A-701C-412A-8BB3-237CB1A3C192}"/>
              </a:ext>
            </a:extLst>
          </p:cNvPr>
          <p:cNvSpPr/>
          <p:nvPr/>
        </p:nvSpPr>
        <p:spPr>
          <a:xfrm>
            <a:off x="7839456" y="3304197"/>
            <a:ext cx="1292352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97706"/>
                </a:solidFill>
              </a:rPr>
              <a:t>54</a:t>
            </a:r>
            <a:endParaRPr lang="en-US" sz="17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318BDAFA-A740-4678-83AB-203AA42FEF1F}"/>
              </a:ext>
            </a:extLst>
          </p:cNvPr>
          <p:cNvSpPr/>
          <p:nvPr/>
        </p:nvSpPr>
        <p:spPr>
          <a:xfrm>
            <a:off x="7839456" y="3850794"/>
            <a:ext cx="1292352" cy="2993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97706"/>
                </a:solidFill>
              </a:rPr>
              <a:t>FN</a:t>
            </a:r>
            <a:endParaRPr lang="en-US" sz="90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96C4967-7575-4D72-B41B-7A06AB25C0CE}"/>
              </a:ext>
            </a:extLst>
          </p:cNvPr>
          <p:cNvSpPr/>
          <p:nvPr/>
        </p:nvSpPr>
        <p:spPr>
          <a:xfrm>
            <a:off x="9168384" y="3304197"/>
            <a:ext cx="1292352" cy="845925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5FAF9C55-C02A-47A0-860B-2A666E764D5C}"/>
              </a:ext>
            </a:extLst>
          </p:cNvPr>
          <p:cNvSpPr/>
          <p:nvPr/>
        </p:nvSpPr>
        <p:spPr>
          <a:xfrm>
            <a:off x="9168384" y="3304197"/>
            <a:ext cx="1292352" cy="546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336</a:t>
            </a:r>
            <a:endParaRPr lang="en-US" sz="17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0EC7403-F5B2-4682-AD2B-8D0556E35C4A}"/>
              </a:ext>
            </a:extLst>
          </p:cNvPr>
          <p:cNvSpPr/>
          <p:nvPr/>
        </p:nvSpPr>
        <p:spPr>
          <a:xfrm>
            <a:off x="9168384" y="3850794"/>
            <a:ext cx="1292352" cy="2993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ED7AA"/>
                </a:solidFill>
              </a:rPr>
              <a:t>TP</a:t>
            </a:r>
            <a:endParaRPr lang="en-US" sz="9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56BBA672-1854-4398-9DA3-15FDF4A99B57}"/>
              </a:ext>
            </a:extLst>
          </p:cNvPr>
          <p:cNvSpPr/>
          <p:nvPr/>
        </p:nvSpPr>
        <p:spPr>
          <a:xfrm>
            <a:off x="6827520" y="5425515"/>
            <a:ext cx="4876800" cy="1145252"/>
          </a:xfrm>
          <a:prstGeom prst="rect">
            <a:avLst/>
          </a:prstGeom>
          <a:solidFill>
            <a:srgbClr val="FFF7ED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99AC3E37-7CEB-4E69-8B80-35AA552B42F1}"/>
              </a:ext>
            </a:extLst>
          </p:cNvPr>
          <p:cNvSpPr/>
          <p:nvPr/>
        </p:nvSpPr>
        <p:spPr>
          <a:xfrm>
            <a:off x="7046976" y="5503601"/>
            <a:ext cx="4389120" cy="3383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/>
              <a:t>핵심 지표</a:t>
            </a:r>
            <a:endParaRPr lang="en-US" sz="1400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1D29A6CA-4DE8-4C01-8E46-A654FC231420}"/>
              </a:ext>
            </a:extLst>
          </p:cNvPr>
          <p:cNvSpPr/>
          <p:nvPr/>
        </p:nvSpPr>
        <p:spPr>
          <a:xfrm>
            <a:off x="7046976" y="5867999"/>
            <a:ext cx="4511040" cy="234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정확도: (1523+336)/2000 = 92.95%</a:t>
            </a:r>
            <a:endParaRPr lang="en-US" sz="100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0883036F-F8DF-48A0-89D7-E90DE59365C6}"/>
              </a:ext>
            </a:extLst>
          </p:cNvPr>
          <p:cNvSpPr/>
          <p:nvPr/>
        </p:nvSpPr>
        <p:spPr>
          <a:xfrm>
            <a:off x="7046976" y="6102255"/>
            <a:ext cx="4511040" cy="234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정밀도: 336/(336+87) = 79.43%</a:t>
            </a:r>
            <a:endParaRPr lang="en-US" sz="100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CA4899E6-3707-48E5-8139-048A89CA2F16}"/>
              </a:ext>
            </a:extLst>
          </p:cNvPr>
          <p:cNvSpPr/>
          <p:nvPr/>
        </p:nvSpPr>
        <p:spPr>
          <a:xfrm>
            <a:off x="7046976" y="6336511"/>
            <a:ext cx="4511040" cy="234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재현율: 336/(336+54) = 86.15%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966327658"/>
      </p:ext>
    </p:extLst>
  </p:cSld>
  <p:clrMapOvr>
    <a:masterClrMapping/>
  </p:clrMapOvr>
  <p:transition spd="slow"/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8E3D1F6-191A-46F2-93A4-054CD2E36BBF}"/>
              </a:ext>
            </a:extLst>
          </p:cNvPr>
          <p:cNvSpPr/>
          <p:nvPr/>
        </p:nvSpPr>
        <p:spPr>
          <a:xfrm>
            <a:off x="0" y="0"/>
            <a:ext cx="12192000" cy="23425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C00540-5C9D-481A-A94C-F53379AE02F5}"/>
              </a:ext>
            </a:extLst>
          </p:cNvPr>
          <p:cNvSpPr/>
          <p:nvPr/>
        </p:nvSpPr>
        <p:spPr>
          <a:xfrm>
            <a:off x="407368" y="332656"/>
            <a:ext cx="10972800" cy="40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3단계 — </a:t>
            </a:r>
            <a:r>
              <a:rPr lang="ko-KR" alt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실제 성능 평가  </a:t>
            </a:r>
            <a:r>
              <a:rPr lang="en-US" altLang="ko-KR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  <a:sym typeface="Wingdings" panose="05000000000000000000" pitchFamily="2" charset="2"/>
              </a:rPr>
              <a:t> </a:t>
            </a:r>
            <a:r>
              <a:rPr lang="ko-KR" alt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  <a:sym typeface="Wingdings" panose="05000000000000000000" pitchFamily="2" charset="2"/>
              </a:rPr>
              <a:t>특성 중요도</a:t>
            </a:r>
            <a:endParaRPr lang="en-US" sz="2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38A3165-10AD-4C4D-983C-F06C33A01202}"/>
              </a:ext>
            </a:extLst>
          </p:cNvPr>
          <p:cNvSpPr/>
          <p:nvPr/>
        </p:nvSpPr>
        <p:spPr>
          <a:xfrm>
            <a:off x="479376" y="764704"/>
            <a:ext cx="10972800" cy="39043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9A3653DF-4839-48F9-9839-32AF68653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08" y="885470"/>
            <a:ext cx="8735644" cy="5087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677472"/>
      </p:ext>
    </p:extLst>
  </p:cSld>
  <p:clrMapOvr>
    <a:masterClrMapping/>
  </p:clrMapOvr>
  <p:transition spd="slow"/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8E3D1F6-191A-46F2-93A4-054CD2E36BBF}"/>
              </a:ext>
            </a:extLst>
          </p:cNvPr>
          <p:cNvSpPr/>
          <p:nvPr/>
        </p:nvSpPr>
        <p:spPr>
          <a:xfrm>
            <a:off x="0" y="0"/>
            <a:ext cx="12192000" cy="23425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C00540-5C9D-481A-A94C-F53379AE02F5}"/>
              </a:ext>
            </a:extLst>
          </p:cNvPr>
          <p:cNvSpPr/>
          <p:nvPr/>
        </p:nvSpPr>
        <p:spPr>
          <a:xfrm>
            <a:off x="407368" y="332656"/>
            <a:ext cx="10972800" cy="40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3단계 — </a:t>
            </a:r>
            <a:r>
              <a:rPr lang="ko-KR" alt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실제 성능 평가</a:t>
            </a:r>
            <a:endParaRPr lang="en-US" sz="2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38A3165-10AD-4C4D-983C-F06C33A01202}"/>
              </a:ext>
            </a:extLst>
          </p:cNvPr>
          <p:cNvSpPr/>
          <p:nvPr/>
        </p:nvSpPr>
        <p:spPr>
          <a:xfrm>
            <a:off x="479376" y="764704"/>
            <a:ext cx="10972800" cy="39043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8F25925-AAF7-4C1A-AB56-A166328166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352" y="886842"/>
            <a:ext cx="2376264" cy="188249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13C6D98-355B-43E9-8F5B-B52A95056000}"/>
              </a:ext>
            </a:extLst>
          </p:cNvPr>
          <p:cNvSpPr txBox="1"/>
          <p:nvPr/>
        </p:nvSpPr>
        <p:spPr>
          <a:xfrm>
            <a:off x="5591944" y="865147"/>
            <a:ext cx="51305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0033CC"/>
                </a:solidFill>
              </a:rPr>
              <a:t>1. </a:t>
            </a:r>
            <a:r>
              <a:rPr lang="ko-KR" altLang="en-US" sz="1400" b="1" dirty="0">
                <a:solidFill>
                  <a:srgbClr val="0033CC"/>
                </a:solidFill>
              </a:rPr>
              <a:t>한글 깨지는 문제 </a:t>
            </a:r>
            <a:r>
              <a:rPr lang="en-US" altLang="ko-KR" sz="1400" b="1" dirty="0">
                <a:solidFill>
                  <a:srgbClr val="0033CC"/>
                </a:solidFill>
                <a:sym typeface="Wingdings" panose="05000000000000000000" pitchFamily="2" charset="2"/>
              </a:rPr>
              <a:t> font  </a:t>
            </a:r>
            <a:r>
              <a:rPr lang="ko-KR" altLang="en-US" sz="1400" b="1" dirty="0">
                <a:solidFill>
                  <a:srgbClr val="0033CC"/>
                </a:solidFill>
                <a:sym typeface="Wingdings" panose="05000000000000000000" pitchFamily="2" charset="2"/>
              </a:rPr>
              <a:t>설치</a:t>
            </a:r>
            <a:br>
              <a:rPr lang="en-US" altLang="ko-KR" sz="1400" b="1" dirty="0">
                <a:solidFill>
                  <a:srgbClr val="0033CC"/>
                </a:solidFill>
                <a:sym typeface="Wingdings" panose="05000000000000000000" pitchFamily="2" charset="2"/>
              </a:rPr>
            </a:br>
            <a:r>
              <a:rPr lang="en-US" altLang="ko-KR" sz="1400" dirty="0">
                <a:sym typeface="Wingdings" panose="05000000000000000000" pitchFamily="2" charset="2"/>
              </a:rPr>
              <a:t>   confusion</a:t>
            </a:r>
            <a:r>
              <a:rPr lang="ko-KR" altLang="en-US" sz="1400" dirty="0">
                <a:sym typeface="Wingdings" panose="05000000000000000000" pitchFamily="2" charset="2"/>
              </a:rPr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matrix</a:t>
            </a:r>
            <a:r>
              <a:rPr lang="ko-KR" altLang="en-US" sz="1400" dirty="0">
                <a:sym typeface="Wingdings" panose="05000000000000000000" pitchFamily="2" charset="2"/>
              </a:rPr>
              <a:t> 실행 바로 위에 아래 코드 삽입하고 실행</a:t>
            </a:r>
            <a:endParaRPr lang="ko-KR" alt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EE7081-7D47-4231-9B2F-D40FE40768D2}"/>
              </a:ext>
            </a:extLst>
          </p:cNvPr>
          <p:cNvSpPr txBox="1"/>
          <p:nvPr/>
        </p:nvSpPr>
        <p:spPr>
          <a:xfrm>
            <a:off x="5622404" y="1700808"/>
            <a:ext cx="6100762" cy="413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── 1</a:t>
            </a:r>
            <a:r>
              <a:rPr lang="ko-KR" altLang="en-US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단계</a:t>
            </a:r>
            <a:r>
              <a:rPr lang="en-US" altLang="ko-KR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ko-KR" altLang="en-US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폰트 설치 ──</a:t>
            </a:r>
            <a:endParaRPr lang="ko-KR" altLang="en-US" sz="105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05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subprocess</a:t>
            </a:r>
          </a:p>
          <a:p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subprocess.run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([</a:t>
            </a:r>
            <a:r>
              <a:rPr lang="en-US" altLang="ko-KR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'apt-get'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'install'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'-y'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'fonts-</a:t>
            </a:r>
            <a:r>
              <a:rPr lang="en-US" altLang="ko-KR" sz="105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nanum</a:t>
            </a:r>
            <a:r>
              <a:rPr lang="en-US" altLang="ko-KR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capture_output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05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True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b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── 2</a:t>
            </a:r>
            <a:r>
              <a:rPr lang="ko-KR" altLang="en-US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단계</a:t>
            </a:r>
            <a:r>
              <a:rPr lang="en-US" altLang="ko-KR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ko-KR" altLang="en-US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캐시 삭제 </a:t>
            </a:r>
            <a:r>
              <a:rPr lang="en-US" altLang="ko-KR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ko-KR" altLang="en-US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버전 호환</a:t>
            </a:r>
            <a:r>
              <a:rPr lang="en-US" altLang="ko-KR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) ──</a:t>
            </a:r>
            <a:endParaRPr lang="ko-KR" altLang="en-US" sz="105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05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os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shutil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matplotlib </a:t>
            </a:r>
            <a:r>
              <a:rPr lang="en-US" altLang="ko-KR" sz="105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mpl</a:t>
            </a:r>
            <a:endParaRPr lang="en-US" altLang="ko-KR" sz="105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b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cache_dir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mpl.get_cachedir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   </a:t>
            </a:r>
            <a:r>
              <a:rPr lang="en-US" altLang="ko-KR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en-US" altLang="ko-KR" sz="1050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font_manager</a:t>
            </a:r>
            <a:r>
              <a:rPr lang="en-US" altLang="ko-KR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ko-KR" altLang="en-US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아닌 </a:t>
            </a:r>
            <a:r>
              <a:rPr lang="en-US" altLang="ko-KR" sz="1050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mpl</a:t>
            </a:r>
            <a:r>
              <a:rPr lang="en-US" altLang="ko-KR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ko-KR" altLang="en-US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에서 호출</a:t>
            </a:r>
            <a:endParaRPr lang="ko-KR" altLang="en-US" sz="105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05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for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f </a:t>
            </a:r>
            <a:r>
              <a:rPr lang="en-US" altLang="ko-KR" sz="105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in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os.listdir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cache_dir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):</a:t>
            </a:r>
          </a:p>
          <a:p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05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if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f.endswith(</a:t>
            </a:r>
            <a:r>
              <a:rPr lang="en-US" altLang="ko-KR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'.json'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 </a:t>
            </a:r>
            <a:r>
              <a:rPr lang="en-US" altLang="ko-KR" sz="105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or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f.endswith(</a:t>
            </a:r>
            <a:r>
              <a:rPr lang="en-US" altLang="ko-KR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'.cache'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):</a:t>
            </a:r>
          </a:p>
          <a:p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  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os.remove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os.path.join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cache_dir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f))</a:t>
            </a:r>
          </a:p>
          <a:p>
            <a:r>
              <a:rPr lang="en-US" altLang="ko-KR" sz="105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캐시 삭제 완료</a:t>
            </a:r>
            <a:r>
              <a:rPr lang="en-US" altLang="ko-KR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:'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cache_dir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b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── 3</a:t>
            </a:r>
            <a:r>
              <a:rPr lang="ko-KR" altLang="en-US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단계</a:t>
            </a:r>
            <a:r>
              <a:rPr lang="en-US" altLang="ko-KR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: </a:t>
            </a:r>
            <a:r>
              <a:rPr lang="ko-KR" altLang="en-US" sz="105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폰트 직접 경로 지정 ──</a:t>
            </a:r>
            <a:endParaRPr lang="ko-KR" altLang="en-US" sz="105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05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matplotlib.font_manager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05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fm</a:t>
            </a:r>
            <a:endParaRPr lang="en-US" altLang="ko-KR" sz="105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05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import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matplotlib.pyplot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050" b="0" dirty="0">
                <a:solidFill>
                  <a:srgbClr val="9723B4"/>
                </a:solidFill>
                <a:effectLst/>
                <a:latin typeface="Courier New" panose="02070309020205020404" pitchFamily="49" charset="0"/>
              </a:rPr>
              <a:t>as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</a:t>
            </a:r>
            <a:endParaRPr lang="en-US" altLang="ko-KR" sz="105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b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font_path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'/</a:t>
            </a:r>
            <a:r>
              <a:rPr lang="en-US" altLang="ko-KR" sz="105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usr</a:t>
            </a:r>
            <a:r>
              <a:rPr lang="en-US" altLang="ko-KR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/share/fonts/</a:t>
            </a:r>
            <a:r>
              <a:rPr lang="en-US" altLang="ko-KR" sz="105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truetype</a:t>
            </a:r>
            <a:r>
              <a:rPr lang="en-US" altLang="ko-KR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/</a:t>
            </a:r>
            <a:r>
              <a:rPr lang="en-US" altLang="ko-KR" sz="105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nanum</a:t>
            </a:r>
            <a:r>
              <a:rPr lang="en-US" altLang="ko-KR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/NanumGothic.ttf'</a:t>
            </a:r>
            <a:endParaRPr lang="en-US" altLang="ko-KR" sz="105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fm.fontManager.addfont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font_path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font_name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fm.FontProperties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fname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font_path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).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get_name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()</a:t>
            </a:r>
          </a:p>
          <a:p>
            <a:r>
              <a:rPr lang="en-US" altLang="ko-KR" sz="105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적용 폰트</a:t>
            </a:r>
            <a:r>
              <a:rPr lang="en-US" altLang="ko-KR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:'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font_name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b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</a:b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plt.rcParams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US" altLang="ko-KR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05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font.family</a:t>
            </a:r>
            <a:r>
              <a:rPr lang="en-US" altLang="ko-KR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 = </a:t>
            </a:r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font_name</a:t>
            </a:r>
            <a:endParaRPr lang="en-US" altLang="ko-KR" sz="105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r>
              <a:rPr lang="en-US" altLang="ko-KR" sz="105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plt.rcParams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[</a:t>
            </a:r>
            <a:r>
              <a:rPr lang="en-US" altLang="ko-KR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050" b="0" dirty="0" err="1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axes.unicode_minus</a:t>
            </a:r>
            <a:r>
              <a:rPr lang="en-US" altLang="ko-KR" sz="105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en-US" altLang="ko-KR" sz="105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 = </a:t>
            </a:r>
            <a:r>
              <a:rPr lang="en-US" altLang="ko-KR" sz="105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False</a:t>
            </a:r>
            <a:endParaRPr lang="en-US" altLang="ko-KR" sz="105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8DEE69DE-BDA9-4124-A1FC-1D99A3795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4" y="2924944"/>
            <a:ext cx="4618055" cy="3430318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922FC02F-0287-4B4E-A893-09FD4DD98861}"/>
              </a:ext>
            </a:extLst>
          </p:cNvPr>
          <p:cNvCxnSpPr>
            <a:cxnSpLocks/>
            <a:stCxn id="19" idx="1"/>
          </p:cNvCxnSpPr>
          <p:nvPr/>
        </p:nvCxnSpPr>
        <p:spPr>
          <a:xfrm flipH="1" flipV="1">
            <a:off x="3359696" y="4005065"/>
            <a:ext cx="1728192" cy="2386136"/>
          </a:xfrm>
          <a:prstGeom prst="straightConnector1">
            <a:avLst/>
          </a:prstGeom>
          <a:ln w="508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9F70772C-04EC-43B1-8837-013312953D8A}"/>
              </a:ext>
            </a:extLst>
          </p:cNvPr>
          <p:cNvSpPr txBox="1"/>
          <p:nvPr/>
        </p:nvSpPr>
        <p:spPr>
          <a:xfrm>
            <a:off x="5087888" y="6237312"/>
            <a:ext cx="4320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 dirty="0">
                <a:solidFill>
                  <a:srgbClr val="0033CC"/>
                </a:solidFill>
              </a:rPr>
              <a:t>224</a:t>
            </a:r>
            <a:r>
              <a:rPr lang="ko-KR" altLang="en-US" sz="1400" b="1" dirty="0">
                <a:solidFill>
                  <a:srgbClr val="0033CC"/>
                </a:solidFill>
              </a:rPr>
              <a:t>명 유지 고객을 이탈로 판단함</a:t>
            </a:r>
          </a:p>
        </p:txBody>
      </p:sp>
    </p:spTree>
    <p:extLst>
      <p:ext uri="{BB962C8B-B14F-4D97-AF65-F5344CB8AC3E}">
        <p14:creationId xmlns:p14="http://schemas.microsoft.com/office/powerpoint/2010/main" val="2129648965"/>
      </p:ext>
    </p:extLst>
  </p:cSld>
  <p:clrMapOvr>
    <a:masterClrMapping/>
  </p:clrMapOvr>
  <p:transition spd="slow"/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8E3D1F6-191A-46F2-93A4-054CD2E36BBF}"/>
              </a:ext>
            </a:extLst>
          </p:cNvPr>
          <p:cNvSpPr/>
          <p:nvPr/>
        </p:nvSpPr>
        <p:spPr>
          <a:xfrm>
            <a:off x="0" y="0"/>
            <a:ext cx="12192000" cy="23425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C00540-5C9D-481A-A94C-F53379AE02F5}"/>
              </a:ext>
            </a:extLst>
          </p:cNvPr>
          <p:cNvSpPr/>
          <p:nvPr/>
        </p:nvSpPr>
        <p:spPr>
          <a:xfrm>
            <a:off x="407368" y="332656"/>
            <a:ext cx="10972800" cy="40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</a:t>
            </a:r>
            <a:r>
              <a:rPr lang="en-US" sz="2000" b="1" dirty="0" err="1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실습</a:t>
            </a:r>
            <a:r>
              <a:rPr 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4단계 — </a:t>
            </a:r>
            <a:r>
              <a:rPr lang="ko-KR" alt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모델 최적화 </a:t>
            </a:r>
            <a:r>
              <a:rPr lang="en-US" altLang="ko-KR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(1) </a:t>
            </a:r>
            <a:r>
              <a:rPr lang="en-US" altLang="ko-KR" sz="2000" b="1" dirty="0" err="1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scale_pos_weight</a:t>
            </a:r>
            <a:r>
              <a:rPr lang="en-US" altLang="ko-KR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ko-KR" alt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직접 조정</a:t>
            </a:r>
            <a:endParaRPr lang="en-US" sz="2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38A3165-10AD-4C4D-983C-F06C33A01202}"/>
              </a:ext>
            </a:extLst>
          </p:cNvPr>
          <p:cNvSpPr/>
          <p:nvPr/>
        </p:nvSpPr>
        <p:spPr>
          <a:xfrm>
            <a:off x="479376" y="764704"/>
            <a:ext cx="10972800" cy="39043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51C09F-FDB2-40B8-81F4-33E0919FCA97}"/>
              </a:ext>
            </a:extLst>
          </p:cNvPr>
          <p:cNvSpPr txBox="1"/>
          <p:nvPr/>
        </p:nvSpPr>
        <p:spPr>
          <a:xfrm>
            <a:off x="461095" y="908720"/>
            <a:ext cx="6408712" cy="227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cat_model = 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CatBoostClassifier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</a:p>
          <a:p>
            <a:pPr>
              <a:lnSpc>
                <a:spcPts val="1900"/>
              </a:lnSpc>
            </a:pP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iterations=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1000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 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learning_rate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0.03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 depth=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6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 l2_leaf_reg=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3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pPr>
              <a:lnSpc>
                <a:spcPts val="1900"/>
              </a:lnSpc>
            </a:pP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cat_features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cat_cols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               </a:t>
            </a: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 </a:t>
            </a:r>
            <a:r>
              <a:rPr lang="ko-KR" altLang="en-US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범주형 컬럼 지정</a:t>
            </a:r>
            <a:endParaRPr lang="ko-KR" altLang="en-US" sz="12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900"/>
              </a:lnSpc>
            </a:pPr>
            <a:r>
              <a:rPr lang="ko-KR" altLang="en-US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en-US" altLang="ko-KR" sz="1200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auto_class_weights</a:t>
            </a: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='Balanced',        # </a:t>
            </a:r>
            <a:r>
              <a:rPr lang="ko-KR" altLang="en-US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불균형 자동 보정</a:t>
            </a:r>
            <a:endParaRPr lang="ko-KR" altLang="en-US" sz="12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900"/>
              </a:lnSpc>
            </a:pPr>
            <a:r>
              <a:rPr lang="ko-KR" altLang="en-US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auto_class_weights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200" b="0" dirty="0">
                <a:solidFill>
                  <a:srgbClr val="0000FF"/>
                </a:solidFill>
                <a:effectLst/>
                <a:latin typeface="Courier New" panose="02070309020205020404" pitchFamily="49" charset="0"/>
              </a:rPr>
              <a:t>None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    </a:t>
            </a: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Balanced </a:t>
            </a:r>
            <a:r>
              <a:rPr lang="ko-KR" altLang="en-US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제거</a:t>
            </a:r>
            <a:endParaRPr lang="ko-KR" altLang="en-US" sz="12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900"/>
              </a:lnSpc>
            </a:pPr>
            <a:r>
              <a:rPr lang="ko-KR" altLang="en-US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class_weights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=[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5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],        </a:t>
            </a: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# </a:t>
            </a:r>
            <a:r>
              <a:rPr lang="ko-KR" altLang="en-US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이탈에 </a:t>
            </a:r>
            <a:r>
              <a:rPr lang="en-US" altLang="ko-KR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5</a:t>
            </a:r>
            <a:r>
              <a:rPr lang="ko-KR" altLang="en-US" sz="1200" b="0" dirty="0">
                <a:solidFill>
                  <a:srgbClr val="008000"/>
                </a:solidFill>
                <a:effectLst/>
                <a:latin typeface="Courier New" panose="02070309020205020404" pitchFamily="49" charset="0"/>
              </a:rPr>
              <a:t>배만 가중치</a:t>
            </a:r>
            <a:endParaRPr lang="ko-KR" altLang="en-US" sz="12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900"/>
              </a:lnSpc>
            </a:pPr>
            <a:r>
              <a:rPr lang="ko-KR" altLang="en-US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eval_metric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2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'AUC'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 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early_stopping_rounds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50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pPr>
              <a:lnSpc>
                <a:spcPts val="1900"/>
              </a:lnSpc>
            </a:pP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verbose=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100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 </a:t>
            </a:r>
            <a:r>
              <a:rPr lang="en-US" altLang="ko-KR" sz="12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random_seed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</a:t>
            </a:r>
            <a:r>
              <a:rPr lang="en-US" altLang="ko-KR" sz="12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42</a:t>
            </a:r>
            <a:endParaRPr lang="en-US" altLang="ko-KR" sz="1200" b="0" dirty="0">
              <a:solidFill>
                <a:srgbClr val="000000"/>
              </a:solidFill>
              <a:effectLst/>
              <a:latin typeface="Courier New" panose="02070309020205020404" pitchFamily="49" charset="0"/>
            </a:endParaRPr>
          </a:p>
          <a:p>
            <a:pPr>
              <a:lnSpc>
                <a:spcPts val="1900"/>
              </a:lnSpc>
            </a:pPr>
            <a:r>
              <a:rPr lang="en-US" altLang="ko-KR" sz="12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22F9A11-AD4A-4B01-A680-6BBC84939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8" y="3291032"/>
            <a:ext cx="3600400" cy="294578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4473813-F6C1-43E0-AC38-983D0AB9E3DD}"/>
              </a:ext>
            </a:extLst>
          </p:cNvPr>
          <p:cNvSpPr txBox="1"/>
          <p:nvPr/>
        </p:nvSpPr>
        <p:spPr>
          <a:xfrm>
            <a:off x="4295800" y="5013176"/>
            <a:ext cx="2691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이탈 고객 </a:t>
            </a:r>
            <a:r>
              <a:rPr lang="en-US" altLang="ko-KR" dirty="0"/>
              <a:t>2</a:t>
            </a:r>
            <a:r>
              <a:rPr lang="ko-KR" altLang="en-US" dirty="0"/>
              <a:t>명을 놓침</a:t>
            </a:r>
          </a:p>
        </p:txBody>
      </p:sp>
    </p:spTree>
    <p:extLst>
      <p:ext uri="{BB962C8B-B14F-4D97-AF65-F5344CB8AC3E}">
        <p14:creationId xmlns:p14="http://schemas.microsoft.com/office/powerpoint/2010/main" val="2189159823"/>
      </p:ext>
    </p:extLst>
  </p:cSld>
  <p:clrMapOvr>
    <a:masterClrMapping/>
  </p:clrMapOvr>
  <p:transition spd="slow"/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8E3D1F6-191A-46F2-93A4-054CD2E36BBF}"/>
              </a:ext>
            </a:extLst>
          </p:cNvPr>
          <p:cNvSpPr/>
          <p:nvPr/>
        </p:nvSpPr>
        <p:spPr>
          <a:xfrm>
            <a:off x="0" y="0"/>
            <a:ext cx="12192000" cy="23425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C00540-5C9D-481A-A94C-F53379AE02F5}"/>
              </a:ext>
            </a:extLst>
          </p:cNvPr>
          <p:cNvSpPr/>
          <p:nvPr/>
        </p:nvSpPr>
        <p:spPr>
          <a:xfrm>
            <a:off x="407368" y="332656"/>
            <a:ext cx="10972800" cy="40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</a:t>
            </a:r>
            <a:r>
              <a:rPr lang="en-US" sz="2000" b="1" dirty="0" err="1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실습</a:t>
            </a:r>
            <a:r>
              <a:rPr 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4단계 — </a:t>
            </a:r>
            <a:r>
              <a:rPr lang="ko-KR" alt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모델 최적화 </a:t>
            </a:r>
            <a:r>
              <a:rPr lang="en-US" altLang="ko-KR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(2) </a:t>
            </a:r>
            <a:r>
              <a:rPr lang="ko-KR" altLang="en-US" sz="2000" b="1" dirty="0" err="1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임계값을</a:t>
            </a:r>
            <a:r>
              <a:rPr lang="ko-KR" altLang="en-US" sz="20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높이는 방법</a:t>
            </a:r>
            <a:endParaRPr lang="en-US" sz="2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38A3165-10AD-4C4D-983C-F06C33A01202}"/>
              </a:ext>
            </a:extLst>
          </p:cNvPr>
          <p:cNvSpPr/>
          <p:nvPr/>
        </p:nvSpPr>
        <p:spPr>
          <a:xfrm>
            <a:off x="479376" y="764704"/>
            <a:ext cx="10972800" cy="39043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7A566-9AF7-4ED5-A115-53F61BCC53E2}"/>
              </a:ext>
            </a:extLst>
          </p:cNvPr>
          <p:cNvSpPr txBox="1"/>
          <p:nvPr/>
        </p:nvSpPr>
        <p:spPr>
          <a:xfrm>
            <a:off x="407368" y="2348880"/>
            <a:ext cx="6120680" cy="1302408"/>
          </a:xfrm>
          <a:prstGeom prst="rect">
            <a:avLst/>
          </a:prstGeom>
          <a:noFill/>
          <a:ln w="3810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prob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cat_model.predict_proba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(X_test)[:,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1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</a:t>
            </a:r>
          </a:p>
          <a:p>
            <a:pPr>
              <a:lnSpc>
                <a:spcPts val="1900"/>
              </a:lnSpc>
            </a:pP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y_pred_adjusted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(prob &gt;= </a:t>
            </a:r>
            <a:r>
              <a:rPr lang="en-US" altLang="ko-KR" sz="1400" b="0" dirty="0">
                <a:solidFill>
                  <a:srgbClr val="116644"/>
                </a:solidFill>
                <a:effectLst/>
                <a:latin typeface="Courier New" panose="02070309020205020404" pitchFamily="49" charset="0"/>
              </a:rPr>
              <a:t>0.7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).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astype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257693"/>
                </a:solidFill>
                <a:effectLst/>
                <a:latin typeface="Courier New" panose="02070309020205020404" pitchFamily="49" charset="0"/>
              </a:rPr>
              <a:t>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900"/>
              </a:lnSpc>
            </a:pP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"── 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임계값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0.7 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적용 후 ──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"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ts val="1900"/>
              </a:lnSpc>
            </a:pPr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classification_report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(y_test,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y_pred_adjusted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pPr>
              <a:lnSpc>
                <a:spcPts val="1900"/>
              </a:lnSpc>
            </a:pP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target_names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유지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(0)'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이탈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(1)'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3FC34D-FDE0-4431-813A-EEB2D460B8D0}"/>
              </a:ext>
            </a:extLst>
          </p:cNvPr>
          <p:cNvSpPr txBox="1"/>
          <p:nvPr/>
        </p:nvSpPr>
        <p:spPr>
          <a:xfrm>
            <a:off x="417327" y="1105614"/>
            <a:ext cx="6100762" cy="738664"/>
          </a:xfrm>
          <a:prstGeom prst="rect">
            <a:avLst/>
          </a:prstGeom>
          <a:noFill/>
          <a:ln w="31750">
            <a:solidFill>
              <a:schemeClr val="bg2">
                <a:lumMod val="9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y_pred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 =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cat_model.predict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(X_test)</a:t>
            </a:r>
          </a:p>
          <a:p>
            <a:r>
              <a:rPr lang="en-US" altLang="ko-KR" sz="1400" b="0" dirty="0">
                <a:solidFill>
                  <a:srgbClr val="6A5221"/>
                </a:solidFill>
                <a:effectLst/>
                <a:latin typeface="Courier New" panose="02070309020205020404" pitchFamily="49" charset="0"/>
              </a:rPr>
              <a:t>print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classification_report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(y_test,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y_pred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</a:t>
            </a:r>
          </a:p>
          <a:p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      </a:t>
            </a:r>
            <a:r>
              <a:rPr lang="en-US" altLang="ko-KR" sz="1400" b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target_names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=[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유지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(0)'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'</a:t>
            </a:r>
            <a:r>
              <a:rPr lang="ko-KR" altLang="en-US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이탈</a:t>
            </a:r>
            <a:r>
              <a:rPr lang="en-US" altLang="ko-KR" sz="1400" b="0" dirty="0">
                <a:solidFill>
                  <a:srgbClr val="A31515"/>
                </a:solidFill>
                <a:effectLst/>
                <a:latin typeface="Courier New" panose="02070309020205020404" pitchFamily="49" charset="0"/>
              </a:rPr>
              <a:t>(1)'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]))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78239E-BFC3-4DDD-971A-33E43278F5C3}"/>
              </a:ext>
            </a:extLst>
          </p:cNvPr>
          <p:cNvSpPr txBox="1"/>
          <p:nvPr/>
        </p:nvSpPr>
        <p:spPr>
          <a:xfrm>
            <a:off x="6744072" y="1340768"/>
            <a:ext cx="232621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기존 예측 코드</a:t>
            </a:r>
            <a:r>
              <a:rPr lang="en-US" altLang="ko-KR" dirty="0"/>
              <a:t>, </a:t>
            </a:r>
          </a:p>
          <a:p>
            <a:endParaRPr lang="en-US" altLang="ko-KR" dirty="0"/>
          </a:p>
          <a:p>
            <a:r>
              <a:rPr lang="ko-KR" altLang="en-US" dirty="0"/>
              <a:t>바로 아래</a:t>
            </a:r>
            <a:r>
              <a:rPr lang="en-US" altLang="ko-KR" dirty="0"/>
              <a:t>, </a:t>
            </a:r>
          </a:p>
          <a:p>
            <a:endParaRPr lang="en-US" altLang="ko-KR" dirty="0"/>
          </a:p>
          <a:p>
            <a:r>
              <a:rPr lang="en-US" altLang="ko-KR" dirty="0"/>
              <a:t>threshold 0.7 </a:t>
            </a:r>
            <a:r>
              <a:rPr lang="ko-KR" altLang="en-US" dirty="0"/>
              <a:t>적용한</a:t>
            </a:r>
            <a:endParaRPr lang="en-US" altLang="ko-KR" dirty="0"/>
          </a:p>
          <a:p>
            <a:r>
              <a:rPr lang="ko-KR" altLang="en-US" dirty="0"/>
              <a:t>코드 삽입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DA9B189-91A4-4FAE-8200-7AA5AF815E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92" y="3849355"/>
            <a:ext cx="3528392" cy="2829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434992"/>
      </p:ext>
    </p:extLst>
  </p:cSld>
  <p:clrMapOvr>
    <a:masterClrMapping/>
  </p:clrMapOvr>
  <p:transition spd="slow"/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639B4607-5045-4FA4-9AF4-966F29ABF336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9144000" cy="5166360"/>
          </a:xfrm>
        </p:grpSpPr>
        <p:sp>
          <p:nvSpPr>
            <p:cNvPr id="12" name="Shape 0">
              <a:extLst>
                <a:ext uri="{FF2B5EF4-FFF2-40B4-BE49-F238E27FC236}">
                  <a16:creationId xmlns:a16="http://schemas.microsoft.com/office/drawing/2014/main" id="{FA70FA56-DC3A-4F15-81AC-8918C8417DB8}"/>
                </a:ext>
              </a:extLst>
            </p:cNvPr>
            <p:cNvSpPr/>
            <p:nvPr/>
          </p:nvSpPr>
          <p:spPr>
            <a:xfrm>
              <a:off x="0" y="0"/>
              <a:ext cx="9144000" cy="2926080"/>
            </a:xfrm>
            <a:prstGeom prst="rect">
              <a:avLst/>
            </a:prstGeom>
            <a:solidFill>
              <a:srgbClr val="1E3A8A"/>
            </a:solidFill>
            <a:ln w="12700">
              <a:solidFill>
                <a:srgbClr val="1E3A8A"/>
              </a:solidFill>
              <a:prstDash val="solid"/>
            </a:ln>
          </p:spPr>
        </p:sp>
        <p:sp>
          <p:nvSpPr>
            <p:cNvPr id="13" name="Shape 1">
              <a:extLst>
                <a:ext uri="{FF2B5EF4-FFF2-40B4-BE49-F238E27FC236}">
                  <a16:creationId xmlns:a16="http://schemas.microsoft.com/office/drawing/2014/main" id="{DEDF869E-D5EC-4E4E-ADF8-E71F50D255F2}"/>
                </a:ext>
              </a:extLst>
            </p:cNvPr>
            <p:cNvSpPr/>
            <p:nvPr/>
          </p:nvSpPr>
          <p:spPr>
            <a:xfrm>
              <a:off x="0" y="2926080"/>
              <a:ext cx="9144000" cy="2240280"/>
            </a:xfrm>
            <a:prstGeom prst="rect">
              <a:avLst/>
            </a:prstGeom>
            <a:solidFill>
              <a:srgbClr val="F8FAFF"/>
            </a:solidFill>
            <a:ln w="12700">
              <a:solidFill>
                <a:srgbClr val="F8FAFF"/>
              </a:solidFill>
              <a:prstDash val="solid"/>
            </a:ln>
          </p:spPr>
        </p:sp>
        <p:sp>
          <p:nvSpPr>
            <p:cNvPr id="15" name="Text 4">
              <a:extLst>
                <a:ext uri="{FF2B5EF4-FFF2-40B4-BE49-F238E27FC236}">
                  <a16:creationId xmlns:a16="http://schemas.microsoft.com/office/drawing/2014/main" id="{CE88558A-C62C-4D5F-95B3-04538BA6E775}"/>
                </a:ext>
              </a:extLst>
            </p:cNvPr>
            <p:cNvSpPr/>
            <p:nvPr/>
          </p:nvSpPr>
          <p:spPr>
            <a:xfrm>
              <a:off x="731520" y="411480"/>
              <a:ext cx="768096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4200" b="1" dirty="0">
                  <a:solidFill>
                    <a:srgbClr val="FFFFFF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Deep Learning</a:t>
              </a:r>
              <a:endParaRPr lang="en-US" sz="4200" dirty="0"/>
            </a:p>
          </p:txBody>
        </p:sp>
        <p:sp>
          <p:nvSpPr>
            <p:cNvPr id="16" name="Text 5">
              <a:extLst>
                <a:ext uri="{FF2B5EF4-FFF2-40B4-BE49-F238E27FC236}">
                  <a16:creationId xmlns:a16="http://schemas.microsoft.com/office/drawing/2014/main" id="{BB37BA0B-A63F-44F2-A2ED-640559D85736}"/>
                </a:ext>
              </a:extLst>
            </p:cNvPr>
            <p:cNvSpPr/>
            <p:nvPr/>
          </p:nvSpPr>
          <p:spPr>
            <a:xfrm>
              <a:off x="731520" y="1078992"/>
              <a:ext cx="76809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BFDBF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딥러닝 계열 완전 정복 — 종류 · 용도 · 장단점</a:t>
              </a:r>
              <a:endParaRPr lang="en-US" sz="1500" dirty="0"/>
            </a:p>
          </p:txBody>
        </p:sp>
        <p:sp>
          <p:nvSpPr>
            <p:cNvPr id="17" name="Shape 6">
              <a:extLst>
                <a:ext uri="{FF2B5EF4-FFF2-40B4-BE49-F238E27FC236}">
                  <a16:creationId xmlns:a16="http://schemas.microsoft.com/office/drawing/2014/main" id="{6E9D088A-3D03-4D88-A431-A28103561FE9}"/>
                </a:ext>
              </a:extLst>
            </p:cNvPr>
            <p:cNvSpPr/>
            <p:nvPr/>
          </p:nvSpPr>
          <p:spPr>
            <a:xfrm>
              <a:off x="3474720" y="1572768"/>
              <a:ext cx="2194560" cy="36576"/>
            </a:xfrm>
            <a:prstGeom prst="rect">
              <a:avLst/>
            </a:prstGeom>
            <a:solidFill>
              <a:srgbClr val="60A5FA"/>
            </a:solidFill>
            <a:ln w="12700">
              <a:solidFill>
                <a:srgbClr val="60A5FA"/>
              </a:solidFill>
              <a:prstDash val="solid"/>
            </a:ln>
          </p:spPr>
        </p:sp>
        <p:sp>
          <p:nvSpPr>
            <p:cNvPr id="18" name="Shape 7">
              <a:extLst>
                <a:ext uri="{FF2B5EF4-FFF2-40B4-BE49-F238E27FC236}">
                  <a16:creationId xmlns:a16="http://schemas.microsoft.com/office/drawing/2014/main" id="{B9C8717C-3F45-4AD8-BDBB-75B97C63E674}"/>
                </a:ext>
              </a:extLst>
            </p:cNvPr>
            <p:cNvSpPr/>
            <p:nvPr/>
          </p:nvSpPr>
          <p:spPr>
            <a:xfrm>
              <a:off x="548640" y="1874520"/>
              <a:ext cx="1828800" cy="384048"/>
            </a:xfrm>
            <a:prstGeom prst="roundRect">
              <a:avLst/>
            </a:prstGeom>
            <a:solidFill>
              <a:srgbClr val="3B82F6">
                <a:alpha val="75000"/>
              </a:srgbClr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9" name="Text 8">
              <a:extLst>
                <a:ext uri="{FF2B5EF4-FFF2-40B4-BE49-F238E27FC236}">
                  <a16:creationId xmlns:a16="http://schemas.microsoft.com/office/drawing/2014/main" id="{1EAC7075-8FA0-42DC-B7CB-CCAC2F11EF4C}"/>
                </a:ext>
              </a:extLst>
            </p:cNvPr>
            <p:cNvSpPr/>
            <p:nvPr/>
          </p:nvSpPr>
          <p:spPr>
            <a:xfrm>
              <a:off x="548640" y="1874520"/>
              <a:ext cx="182880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🧠 신경망</a:t>
              </a:r>
              <a:endParaRPr lang="en-US" sz="1100" dirty="0"/>
            </a:p>
          </p:txBody>
        </p:sp>
        <p:sp>
          <p:nvSpPr>
            <p:cNvPr id="20" name="Shape 9">
              <a:extLst>
                <a:ext uri="{FF2B5EF4-FFF2-40B4-BE49-F238E27FC236}">
                  <a16:creationId xmlns:a16="http://schemas.microsoft.com/office/drawing/2014/main" id="{1F343146-402A-4C65-87B4-1E7B3471451E}"/>
                </a:ext>
              </a:extLst>
            </p:cNvPr>
            <p:cNvSpPr/>
            <p:nvPr/>
          </p:nvSpPr>
          <p:spPr>
            <a:xfrm>
              <a:off x="2606040" y="1874520"/>
              <a:ext cx="1828800" cy="384048"/>
            </a:xfrm>
            <a:prstGeom prst="roundRect">
              <a:avLst/>
            </a:prstGeom>
            <a:solidFill>
              <a:srgbClr val="8B5CF6">
                <a:alpha val="75000"/>
              </a:srgbClr>
            </a:solidFill>
            <a:ln w="12700">
              <a:solidFill>
                <a:srgbClr val="8B5CF6"/>
              </a:solidFill>
              <a:prstDash val="solid"/>
            </a:ln>
          </p:spPr>
        </p:sp>
        <p:sp>
          <p:nvSpPr>
            <p:cNvPr id="21" name="Text 10">
              <a:extLst>
                <a:ext uri="{FF2B5EF4-FFF2-40B4-BE49-F238E27FC236}">
                  <a16:creationId xmlns:a16="http://schemas.microsoft.com/office/drawing/2014/main" id="{AE2A125F-4185-4088-BCA8-5F8593BAB799}"/>
                </a:ext>
              </a:extLst>
            </p:cNvPr>
            <p:cNvSpPr/>
            <p:nvPr/>
          </p:nvSpPr>
          <p:spPr>
            <a:xfrm>
              <a:off x="2606040" y="1874520"/>
              <a:ext cx="182880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👁️ 컴퓨터 비전</a:t>
              </a:r>
              <a:endParaRPr lang="en-US" sz="1100" dirty="0"/>
            </a:p>
          </p:txBody>
        </p:sp>
        <p:sp>
          <p:nvSpPr>
            <p:cNvPr id="22" name="Shape 11">
              <a:extLst>
                <a:ext uri="{FF2B5EF4-FFF2-40B4-BE49-F238E27FC236}">
                  <a16:creationId xmlns:a16="http://schemas.microsoft.com/office/drawing/2014/main" id="{2C3ED3F4-49C6-4436-B4EA-6AC74A5C539E}"/>
                </a:ext>
              </a:extLst>
            </p:cNvPr>
            <p:cNvSpPr/>
            <p:nvPr/>
          </p:nvSpPr>
          <p:spPr>
            <a:xfrm>
              <a:off x="4663440" y="1874520"/>
              <a:ext cx="1828800" cy="384048"/>
            </a:xfrm>
            <a:prstGeom prst="roundRect">
              <a:avLst/>
            </a:prstGeom>
            <a:solidFill>
              <a:srgbClr val="10B981">
                <a:alpha val="75000"/>
              </a:srgbClr>
            </a:solidFill>
            <a:ln w="12700">
              <a:solidFill>
                <a:srgbClr val="10B981"/>
              </a:solidFill>
              <a:prstDash val="solid"/>
            </a:ln>
          </p:spPr>
        </p:sp>
        <p:sp>
          <p:nvSpPr>
            <p:cNvPr id="23" name="Text 12">
              <a:extLst>
                <a:ext uri="{FF2B5EF4-FFF2-40B4-BE49-F238E27FC236}">
                  <a16:creationId xmlns:a16="http://schemas.microsoft.com/office/drawing/2014/main" id="{7EC6F6CB-2419-4634-9E2B-5FB9D2BF405E}"/>
                </a:ext>
              </a:extLst>
            </p:cNvPr>
            <p:cNvSpPr/>
            <p:nvPr/>
          </p:nvSpPr>
          <p:spPr>
            <a:xfrm>
              <a:off x="4663440" y="1874520"/>
              <a:ext cx="182880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📝 자연어처리</a:t>
              </a:r>
              <a:endParaRPr lang="en-US" sz="1100" dirty="0"/>
            </a:p>
          </p:txBody>
        </p:sp>
        <p:sp>
          <p:nvSpPr>
            <p:cNvPr id="24" name="Shape 13">
              <a:extLst>
                <a:ext uri="{FF2B5EF4-FFF2-40B4-BE49-F238E27FC236}">
                  <a16:creationId xmlns:a16="http://schemas.microsoft.com/office/drawing/2014/main" id="{FD1DB47B-E02A-4CB4-889D-7E7FDAE5A0A2}"/>
                </a:ext>
              </a:extLst>
            </p:cNvPr>
            <p:cNvSpPr/>
            <p:nvPr/>
          </p:nvSpPr>
          <p:spPr>
            <a:xfrm>
              <a:off x="6720840" y="1874520"/>
              <a:ext cx="1828800" cy="384048"/>
            </a:xfrm>
            <a:prstGeom prst="roundRect">
              <a:avLst/>
            </a:prstGeom>
            <a:solidFill>
              <a:srgbClr val="F59E0B">
                <a:alpha val="75000"/>
              </a:srgbClr>
            </a:solidFill>
            <a:ln w="12700">
              <a:solidFill>
                <a:srgbClr val="F59E0B"/>
              </a:solidFill>
              <a:prstDash val="solid"/>
            </a:ln>
          </p:spPr>
        </p:sp>
        <p:sp>
          <p:nvSpPr>
            <p:cNvPr id="25" name="Text 14">
              <a:extLst>
                <a:ext uri="{FF2B5EF4-FFF2-40B4-BE49-F238E27FC236}">
                  <a16:creationId xmlns:a16="http://schemas.microsoft.com/office/drawing/2014/main" id="{C0246D99-0DEE-404F-9CA0-DD88EE699F8D}"/>
                </a:ext>
              </a:extLst>
            </p:cNvPr>
            <p:cNvSpPr/>
            <p:nvPr/>
          </p:nvSpPr>
          <p:spPr>
            <a:xfrm>
              <a:off x="6720840" y="1874520"/>
              <a:ext cx="182880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🔊 음성·생성</a:t>
              </a:r>
              <a:endParaRPr lang="en-US" sz="1100" dirty="0"/>
            </a:p>
          </p:txBody>
        </p:sp>
        <p:sp>
          <p:nvSpPr>
            <p:cNvPr id="26" name="Shape 15">
              <a:extLst>
                <a:ext uri="{FF2B5EF4-FFF2-40B4-BE49-F238E27FC236}">
                  <a16:creationId xmlns:a16="http://schemas.microsoft.com/office/drawing/2014/main" id="{B1A63199-8B4A-4666-8237-F51C84650518}"/>
                </a:ext>
              </a:extLst>
            </p:cNvPr>
            <p:cNvSpPr/>
            <p:nvPr/>
          </p:nvSpPr>
          <p:spPr>
            <a:xfrm>
              <a:off x="384048" y="3127248"/>
              <a:ext cx="1261872" cy="148132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6000"/>
                </a:srgbClr>
              </a:outerShdw>
            </a:effectLst>
          </p:spPr>
        </p:sp>
        <p:sp>
          <p:nvSpPr>
            <p:cNvPr id="27" name="Shape 16">
              <a:extLst>
                <a:ext uri="{FF2B5EF4-FFF2-40B4-BE49-F238E27FC236}">
                  <a16:creationId xmlns:a16="http://schemas.microsoft.com/office/drawing/2014/main" id="{62D54039-9ED1-4A28-AE0A-1156A3512D43}"/>
                </a:ext>
              </a:extLst>
            </p:cNvPr>
            <p:cNvSpPr/>
            <p:nvPr/>
          </p:nvSpPr>
          <p:spPr>
            <a:xfrm>
              <a:off x="384048" y="3127248"/>
              <a:ext cx="1261872" cy="45720"/>
            </a:xfrm>
            <a:prstGeom prst="rect">
              <a:avLst/>
            </a:prstGeom>
            <a:solidFill>
              <a:srgbClr val="1D6FD8"/>
            </a:solidFill>
            <a:ln w="12700">
              <a:solidFill>
                <a:srgbClr val="1D6FD8"/>
              </a:solidFill>
              <a:prstDash val="solid"/>
            </a:ln>
          </p:spPr>
        </p:sp>
        <p:sp>
          <p:nvSpPr>
            <p:cNvPr id="28" name="Text 17">
              <a:extLst>
                <a:ext uri="{FF2B5EF4-FFF2-40B4-BE49-F238E27FC236}">
                  <a16:creationId xmlns:a16="http://schemas.microsoft.com/office/drawing/2014/main" id="{001286F9-97F2-4C3E-8198-DF47F2E5DACF}"/>
                </a:ext>
              </a:extLst>
            </p:cNvPr>
            <p:cNvSpPr/>
            <p:nvPr/>
          </p:nvSpPr>
          <p:spPr>
            <a:xfrm>
              <a:off x="384048" y="3218688"/>
              <a:ext cx="1261872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1D6FD8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CNN</a:t>
              </a:r>
              <a:endParaRPr lang="en-US" sz="1300" dirty="0"/>
            </a:p>
          </p:txBody>
        </p:sp>
        <p:sp>
          <p:nvSpPr>
            <p:cNvPr id="29" name="Text 18">
              <a:extLst>
                <a:ext uri="{FF2B5EF4-FFF2-40B4-BE49-F238E27FC236}">
                  <a16:creationId xmlns:a16="http://schemas.microsoft.com/office/drawing/2014/main" id="{C50DCBC3-3B58-4E67-B588-DFCA7062A0B6}"/>
                </a:ext>
              </a:extLst>
            </p:cNvPr>
            <p:cNvSpPr/>
            <p:nvPr/>
          </p:nvSpPr>
          <p:spPr>
            <a:xfrm>
              <a:off x="384048" y="3657600"/>
              <a:ext cx="1261872" cy="7498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이미지 인식</a:t>
              </a:r>
              <a:endParaRPr lang="en-US" sz="1200" b="1" dirty="0"/>
            </a:p>
          </p:txBody>
        </p:sp>
        <p:sp>
          <p:nvSpPr>
            <p:cNvPr id="30" name="Shape 19">
              <a:extLst>
                <a:ext uri="{FF2B5EF4-FFF2-40B4-BE49-F238E27FC236}">
                  <a16:creationId xmlns:a16="http://schemas.microsoft.com/office/drawing/2014/main" id="{66116E18-596D-4C64-A63D-5700FF8FD064}"/>
                </a:ext>
              </a:extLst>
            </p:cNvPr>
            <p:cNvSpPr/>
            <p:nvPr/>
          </p:nvSpPr>
          <p:spPr>
            <a:xfrm>
              <a:off x="1801368" y="3127248"/>
              <a:ext cx="1261872" cy="148132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6000"/>
                </a:srgbClr>
              </a:outerShdw>
            </a:effectLst>
          </p:spPr>
        </p:sp>
        <p:sp>
          <p:nvSpPr>
            <p:cNvPr id="31" name="Shape 20">
              <a:extLst>
                <a:ext uri="{FF2B5EF4-FFF2-40B4-BE49-F238E27FC236}">
                  <a16:creationId xmlns:a16="http://schemas.microsoft.com/office/drawing/2014/main" id="{A996C92B-54A0-4DCF-B07C-A4D306DD9E3D}"/>
                </a:ext>
              </a:extLst>
            </p:cNvPr>
            <p:cNvSpPr/>
            <p:nvPr/>
          </p:nvSpPr>
          <p:spPr>
            <a:xfrm>
              <a:off x="1801368" y="3127248"/>
              <a:ext cx="1261872" cy="45720"/>
            </a:xfrm>
            <a:prstGeom prst="rect">
              <a:avLst/>
            </a:prstGeom>
            <a:solidFill>
              <a:srgbClr val="16A34A"/>
            </a:solidFill>
            <a:ln w="12700">
              <a:solidFill>
                <a:srgbClr val="16A34A"/>
              </a:solidFill>
              <a:prstDash val="solid"/>
            </a:ln>
          </p:spPr>
        </p:sp>
        <p:sp>
          <p:nvSpPr>
            <p:cNvPr id="32" name="Text 21">
              <a:extLst>
                <a:ext uri="{FF2B5EF4-FFF2-40B4-BE49-F238E27FC236}">
                  <a16:creationId xmlns:a16="http://schemas.microsoft.com/office/drawing/2014/main" id="{C87A7067-BB3F-4201-B327-1D88DC7A9471}"/>
                </a:ext>
              </a:extLst>
            </p:cNvPr>
            <p:cNvSpPr/>
            <p:nvPr/>
          </p:nvSpPr>
          <p:spPr>
            <a:xfrm>
              <a:off x="1801368" y="3218688"/>
              <a:ext cx="1261872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16A34A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RNN</a:t>
              </a:r>
              <a:endParaRPr lang="en-US" sz="1300" dirty="0"/>
            </a:p>
          </p:txBody>
        </p:sp>
        <p:sp>
          <p:nvSpPr>
            <p:cNvPr id="33" name="Text 22">
              <a:extLst>
                <a:ext uri="{FF2B5EF4-FFF2-40B4-BE49-F238E27FC236}">
                  <a16:creationId xmlns:a16="http://schemas.microsoft.com/office/drawing/2014/main" id="{61BC0BBB-16AF-4412-88BF-15E08BE2FAB3}"/>
                </a:ext>
              </a:extLst>
            </p:cNvPr>
            <p:cNvSpPr/>
            <p:nvPr/>
          </p:nvSpPr>
          <p:spPr>
            <a:xfrm>
              <a:off x="1801368" y="3657600"/>
              <a:ext cx="1261872" cy="7498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순서 데이터</a:t>
              </a:r>
              <a:endParaRPr lang="en-US" sz="1200" b="1" dirty="0"/>
            </a:p>
          </p:txBody>
        </p:sp>
        <p:sp>
          <p:nvSpPr>
            <p:cNvPr id="34" name="Shape 23">
              <a:extLst>
                <a:ext uri="{FF2B5EF4-FFF2-40B4-BE49-F238E27FC236}">
                  <a16:creationId xmlns:a16="http://schemas.microsoft.com/office/drawing/2014/main" id="{30E42E4B-5C66-414A-B72A-F2587558E5BB}"/>
                </a:ext>
              </a:extLst>
            </p:cNvPr>
            <p:cNvSpPr/>
            <p:nvPr/>
          </p:nvSpPr>
          <p:spPr>
            <a:xfrm>
              <a:off x="3218688" y="3127248"/>
              <a:ext cx="1261872" cy="148132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6000"/>
                </a:srgbClr>
              </a:outerShdw>
            </a:effectLst>
          </p:spPr>
        </p:sp>
        <p:sp>
          <p:nvSpPr>
            <p:cNvPr id="35" name="Shape 24">
              <a:extLst>
                <a:ext uri="{FF2B5EF4-FFF2-40B4-BE49-F238E27FC236}">
                  <a16:creationId xmlns:a16="http://schemas.microsoft.com/office/drawing/2014/main" id="{D599910F-D4CE-41E2-B055-9945F74011AB}"/>
                </a:ext>
              </a:extLst>
            </p:cNvPr>
            <p:cNvSpPr/>
            <p:nvPr/>
          </p:nvSpPr>
          <p:spPr>
            <a:xfrm>
              <a:off x="3218688" y="3127248"/>
              <a:ext cx="1261872" cy="45720"/>
            </a:xfrm>
            <a:prstGeom prst="rect">
              <a:avLst/>
            </a:prstGeom>
            <a:solidFill>
              <a:srgbClr val="7C3AED"/>
            </a:solidFill>
            <a:ln w="12700">
              <a:solidFill>
                <a:srgbClr val="7C3AED"/>
              </a:solidFill>
              <a:prstDash val="solid"/>
            </a:ln>
          </p:spPr>
        </p:sp>
        <p:sp>
          <p:nvSpPr>
            <p:cNvPr id="36" name="Text 25">
              <a:extLst>
                <a:ext uri="{FF2B5EF4-FFF2-40B4-BE49-F238E27FC236}">
                  <a16:creationId xmlns:a16="http://schemas.microsoft.com/office/drawing/2014/main" id="{030707A1-EC8D-47DE-9133-1A8B2A280054}"/>
                </a:ext>
              </a:extLst>
            </p:cNvPr>
            <p:cNvSpPr/>
            <p:nvPr/>
          </p:nvSpPr>
          <p:spPr>
            <a:xfrm>
              <a:off x="3218688" y="3218688"/>
              <a:ext cx="1261872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7C3AED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LSTM</a:t>
              </a:r>
              <a:endParaRPr lang="en-US" sz="1300" dirty="0"/>
            </a:p>
          </p:txBody>
        </p:sp>
        <p:sp>
          <p:nvSpPr>
            <p:cNvPr id="37" name="Text 26">
              <a:extLst>
                <a:ext uri="{FF2B5EF4-FFF2-40B4-BE49-F238E27FC236}">
                  <a16:creationId xmlns:a16="http://schemas.microsoft.com/office/drawing/2014/main" id="{950998E6-B241-48B4-B7C4-EC89B7900695}"/>
                </a:ext>
              </a:extLst>
            </p:cNvPr>
            <p:cNvSpPr/>
            <p:nvPr/>
          </p:nvSpPr>
          <p:spPr>
            <a:xfrm>
              <a:off x="3218688" y="3657600"/>
              <a:ext cx="1261872" cy="7498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장기 기억</a:t>
              </a:r>
              <a:endParaRPr lang="en-US" sz="1200" b="1" dirty="0"/>
            </a:p>
          </p:txBody>
        </p:sp>
        <p:sp>
          <p:nvSpPr>
            <p:cNvPr id="38" name="Shape 27">
              <a:extLst>
                <a:ext uri="{FF2B5EF4-FFF2-40B4-BE49-F238E27FC236}">
                  <a16:creationId xmlns:a16="http://schemas.microsoft.com/office/drawing/2014/main" id="{CCF1E93A-FDDB-49E9-83DD-B6E0A934C296}"/>
                </a:ext>
              </a:extLst>
            </p:cNvPr>
            <p:cNvSpPr/>
            <p:nvPr/>
          </p:nvSpPr>
          <p:spPr>
            <a:xfrm>
              <a:off x="4636008" y="3127248"/>
              <a:ext cx="1261872" cy="148132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6000"/>
                </a:srgbClr>
              </a:outerShdw>
            </a:effectLst>
          </p:spPr>
        </p:sp>
        <p:sp>
          <p:nvSpPr>
            <p:cNvPr id="39" name="Shape 28">
              <a:extLst>
                <a:ext uri="{FF2B5EF4-FFF2-40B4-BE49-F238E27FC236}">
                  <a16:creationId xmlns:a16="http://schemas.microsoft.com/office/drawing/2014/main" id="{DCBC66CE-57BD-49B3-85CD-243A5706A8CC}"/>
                </a:ext>
              </a:extLst>
            </p:cNvPr>
            <p:cNvSpPr/>
            <p:nvPr/>
          </p:nvSpPr>
          <p:spPr>
            <a:xfrm>
              <a:off x="4636008" y="3127248"/>
              <a:ext cx="1261872" cy="45720"/>
            </a:xfrm>
            <a:prstGeom prst="rect">
              <a:avLst/>
            </a:prstGeom>
            <a:solidFill>
              <a:srgbClr val="EA580C"/>
            </a:solidFill>
            <a:ln w="12700">
              <a:solidFill>
                <a:srgbClr val="EA580C"/>
              </a:solidFill>
              <a:prstDash val="solid"/>
            </a:ln>
          </p:spPr>
        </p:sp>
        <p:sp>
          <p:nvSpPr>
            <p:cNvPr id="40" name="Text 29">
              <a:extLst>
                <a:ext uri="{FF2B5EF4-FFF2-40B4-BE49-F238E27FC236}">
                  <a16:creationId xmlns:a16="http://schemas.microsoft.com/office/drawing/2014/main" id="{07090509-9126-424B-A277-12024F87311F}"/>
                </a:ext>
              </a:extLst>
            </p:cNvPr>
            <p:cNvSpPr/>
            <p:nvPr/>
          </p:nvSpPr>
          <p:spPr>
            <a:xfrm>
              <a:off x="4636008" y="3218688"/>
              <a:ext cx="1261872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EA580C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Transformer</a:t>
              </a:r>
              <a:endParaRPr lang="en-US" sz="1300" dirty="0"/>
            </a:p>
          </p:txBody>
        </p:sp>
        <p:sp>
          <p:nvSpPr>
            <p:cNvPr id="41" name="Text 30">
              <a:extLst>
                <a:ext uri="{FF2B5EF4-FFF2-40B4-BE49-F238E27FC236}">
                  <a16:creationId xmlns:a16="http://schemas.microsoft.com/office/drawing/2014/main" id="{333716F2-B3D5-4FA5-BC5E-7A07B9E454DD}"/>
                </a:ext>
              </a:extLst>
            </p:cNvPr>
            <p:cNvSpPr/>
            <p:nvPr/>
          </p:nvSpPr>
          <p:spPr>
            <a:xfrm>
              <a:off x="4636008" y="3657600"/>
              <a:ext cx="1261872" cy="7498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자연어처리</a:t>
              </a:r>
              <a:endParaRPr lang="en-US" sz="1200" b="1" dirty="0"/>
            </a:p>
          </p:txBody>
        </p:sp>
        <p:sp>
          <p:nvSpPr>
            <p:cNvPr id="42" name="Shape 31">
              <a:extLst>
                <a:ext uri="{FF2B5EF4-FFF2-40B4-BE49-F238E27FC236}">
                  <a16:creationId xmlns:a16="http://schemas.microsoft.com/office/drawing/2014/main" id="{1A82C02E-6AC4-4FAF-A594-80D88C29321B}"/>
                </a:ext>
              </a:extLst>
            </p:cNvPr>
            <p:cNvSpPr/>
            <p:nvPr/>
          </p:nvSpPr>
          <p:spPr>
            <a:xfrm>
              <a:off x="6053328" y="3127248"/>
              <a:ext cx="1261872" cy="148132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6000"/>
                </a:srgbClr>
              </a:outerShdw>
            </a:effectLst>
          </p:spPr>
        </p:sp>
        <p:sp>
          <p:nvSpPr>
            <p:cNvPr id="43" name="Shape 32">
              <a:extLst>
                <a:ext uri="{FF2B5EF4-FFF2-40B4-BE49-F238E27FC236}">
                  <a16:creationId xmlns:a16="http://schemas.microsoft.com/office/drawing/2014/main" id="{7565EC22-DF6F-4010-AB7C-AB6A24E62EAA}"/>
                </a:ext>
              </a:extLst>
            </p:cNvPr>
            <p:cNvSpPr/>
            <p:nvPr/>
          </p:nvSpPr>
          <p:spPr>
            <a:xfrm>
              <a:off x="6053328" y="3127248"/>
              <a:ext cx="1261872" cy="45720"/>
            </a:xfrm>
            <a:prstGeom prst="rect">
              <a:avLst/>
            </a:prstGeom>
            <a:solidFill>
              <a:srgbClr val="DB2777"/>
            </a:solidFill>
            <a:ln w="12700">
              <a:solidFill>
                <a:srgbClr val="DB2777"/>
              </a:solidFill>
              <a:prstDash val="solid"/>
            </a:ln>
          </p:spPr>
        </p:sp>
        <p:sp>
          <p:nvSpPr>
            <p:cNvPr id="44" name="Text 33">
              <a:extLst>
                <a:ext uri="{FF2B5EF4-FFF2-40B4-BE49-F238E27FC236}">
                  <a16:creationId xmlns:a16="http://schemas.microsoft.com/office/drawing/2014/main" id="{A4275F40-9873-46E2-B8BA-50D055B1EBFA}"/>
                </a:ext>
              </a:extLst>
            </p:cNvPr>
            <p:cNvSpPr/>
            <p:nvPr/>
          </p:nvSpPr>
          <p:spPr>
            <a:xfrm>
              <a:off x="6053328" y="3218688"/>
              <a:ext cx="1261872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DB2777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GAN</a:t>
              </a:r>
              <a:endParaRPr lang="en-US" sz="1300" dirty="0"/>
            </a:p>
          </p:txBody>
        </p:sp>
        <p:sp>
          <p:nvSpPr>
            <p:cNvPr id="45" name="Text 34">
              <a:extLst>
                <a:ext uri="{FF2B5EF4-FFF2-40B4-BE49-F238E27FC236}">
                  <a16:creationId xmlns:a16="http://schemas.microsoft.com/office/drawing/2014/main" id="{801DFE3D-9C45-444B-B2CF-104385E00FE8}"/>
                </a:ext>
              </a:extLst>
            </p:cNvPr>
            <p:cNvSpPr/>
            <p:nvPr/>
          </p:nvSpPr>
          <p:spPr>
            <a:xfrm>
              <a:off x="6053328" y="3657600"/>
              <a:ext cx="1261872" cy="7498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데이터 생성</a:t>
              </a:r>
              <a:endParaRPr lang="en-US" sz="1200" b="1" dirty="0"/>
            </a:p>
          </p:txBody>
        </p:sp>
        <p:sp>
          <p:nvSpPr>
            <p:cNvPr id="46" name="Shape 35">
              <a:extLst>
                <a:ext uri="{FF2B5EF4-FFF2-40B4-BE49-F238E27FC236}">
                  <a16:creationId xmlns:a16="http://schemas.microsoft.com/office/drawing/2014/main" id="{F139D315-4D7F-433F-8320-DACE2E4B668C}"/>
                </a:ext>
              </a:extLst>
            </p:cNvPr>
            <p:cNvSpPr/>
            <p:nvPr/>
          </p:nvSpPr>
          <p:spPr>
            <a:xfrm>
              <a:off x="7470648" y="3127248"/>
              <a:ext cx="1261872" cy="148132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6000"/>
                </a:srgbClr>
              </a:outerShdw>
            </a:effectLst>
          </p:spPr>
        </p:sp>
        <p:sp>
          <p:nvSpPr>
            <p:cNvPr id="47" name="Shape 36">
              <a:extLst>
                <a:ext uri="{FF2B5EF4-FFF2-40B4-BE49-F238E27FC236}">
                  <a16:creationId xmlns:a16="http://schemas.microsoft.com/office/drawing/2014/main" id="{29BEF538-3B5F-40F2-9376-EFC7BDAAFCF8}"/>
                </a:ext>
              </a:extLst>
            </p:cNvPr>
            <p:cNvSpPr/>
            <p:nvPr/>
          </p:nvSpPr>
          <p:spPr>
            <a:xfrm>
              <a:off x="7470648" y="3127248"/>
              <a:ext cx="1261872" cy="45720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</p:sp>
        <p:sp>
          <p:nvSpPr>
            <p:cNvPr id="48" name="Text 37">
              <a:extLst>
                <a:ext uri="{FF2B5EF4-FFF2-40B4-BE49-F238E27FC236}">
                  <a16:creationId xmlns:a16="http://schemas.microsoft.com/office/drawing/2014/main" id="{EC361003-08CE-41EB-BCC3-C4DF23E0C1F5}"/>
                </a:ext>
              </a:extLst>
            </p:cNvPr>
            <p:cNvSpPr/>
            <p:nvPr/>
          </p:nvSpPr>
          <p:spPr>
            <a:xfrm>
              <a:off x="7470648" y="3218688"/>
              <a:ext cx="1261872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0D9488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AutoEncoder</a:t>
              </a:r>
              <a:endParaRPr lang="en-US" sz="1300" dirty="0"/>
            </a:p>
          </p:txBody>
        </p:sp>
        <p:sp>
          <p:nvSpPr>
            <p:cNvPr id="49" name="Text 38">
              <a:extLst>
                <a:ext uri="{FF2B5EF4-FFF2-40B4-BE49-F238E27FC236}">
                  <a16:creationId xmlns:a16="http://schemas.microsoft.com/office/drawing/2014/main" id="{4A1D2504-0689-4FC6-9159-616DC6AA0CCD}"/>
                </a:ext>
              </a:extLst>
            </p:cNvPr>
            <p:cNvSpPr/>
            <p:nvPr/>
          </p:nvSpPr>
          <p:spPr>
            <a:xfrm>
              <a:off x="7470648" y="3657600"/>
              <a:ext cx="1261872" cy="7498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차원 축소</a:t>
              </a:r>
              <a:endParaRPr lang="en-US" sz="1200" b="1" dirty="0"/>
            </a:p>
          </p:txBody>
        </p:sp>
        <p:sp>
          <p:nvSpPr>
            <p:cNvPr id="50" name="Shape 39">
              <a:extLst>
                <a:ext uri="{FF2B5EF4-FFF2-40B4-BE49-F238E27FC236}">
                  <a16:creationId xmlns:a16="http://schemas.microsoft.com/office/drawing/2014/main" id="{E940C3D6-8EA7-4CE4-AD8E-B09F1C4BB680}"/>
                </a:ext>
              </a:extLst>
            </p:cNvPr>
            <p:cNvSpPr/>
            <p:nvPr/>
          </p:nvSpPr>
          <p:spPr>
            <a:xfrm>
              <a:off x="0" y="4846320"/>
              <a:ext cx="9144000" cy="301752"/>
            </a:xfrm>
            <a:prstGeom prst="rect">
              <a:avLst/>
            </a:prstGeom>
            <a:solidFill>
              <a:srgbClr val="F1F5F9"/>
            </a:solidFill>
            <a:ln w="12700">
              <a:solidFill>
                <a:srgbClr val="E2E8F0"/>
              </a:solidFill>
              <a:prstDash val="solid"/>
            </a:ln>
          </p:spPr>
        </p:sp>
        <p:sp>
          <p:nvSpPr>
            <p:cNvPr id="51" name="Text 40">
              <a:extLst>
                <a:ext uri="{FF2B5EF4-FFF2-40B4-BE49-F238E27FC236}">
                  <a16:creationId xmlns:a16="http://schemas.microsoft.com/office/drawing/2014/main" id="{47000EF5-6AF4-48B2-ACCA-547EAF3977F1}"/>
                </a:ext>
              </a:extLst>
            </p:cNvPr>
            <p:cNvSpPr/>
            <p:nvPr/>
          </p:nvSpPr>
          <p:spPr>
            <a:xfrm>
              <a:off x="0" y="4846320"/>
              <a:ext cx="9144000" cy="3017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64748B"/>
                  </a:solidFill>
                </a:rPr>
                <a:t>머신러닝 다음 단계 — 딥러닝으로 더 강력한 AI 모델 만들기</a:t>
              </a:r>
              <a:endParaRPr lang="en-US" sz="11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74776949"/>
      </p:ext>
    </p:extLst>
  </p:cSld>
  <p:clrMapOvr>
    <a:masterClrMapping/>
  </p:clrMapOvr>
  <p:transition spd="slow"/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758FD3B-A9DA-45BE-B578-14505A43CF0D}"/>
              </a:ext>
            </a:extLst>
          </p:cNvPr>
          <p:cNvSpPr/>
          <p:nvPr/>
        </p:nvSpPr>
        <p:spPr>
          <a:xfrm>
            <a:off x="0" y="0"/>
            <a:ext cx="12192000" cy="169665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7E4C3F7-5606-49C2-9C97-35052AA8241A}"/>
              </a:ext>
            </a:extLst>
          </p:cNvPr>
          <p:cNvSpPr/>
          <p:nvPr/>
        </p:nvSpPr>
        <p:spPr>
          <a:xfrm>
            <a:off x="548640" y="248842"/>
            <a:ext cx="10972800" cy="5203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딥러닝 계열 한눈에 보기 — 5가지 분류 기준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8020649-A5CB-415A-9084-B726E52E9712}"/>
              </a:ext>
            </a:extLst>
          </p:cNvPr>
          <p:cNvSpPr/>
          <p:nvPr/>
        </p:nvSpPr>
        <p:spPr>
          <a:xfrm>
            <a:off x="548640" y="769149"/>
            <a:ext cx="10972800" cy="248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분류 기준 : 어떤 데이터를 입력하는가  +  무엇을 목적으로 하는가</a:t>
            </a:r>
            <a:endParaRPr lang="en-US" sz="1400" b="1" dirty="0">
              <a:solidFill>
                <a:srgbClr val="0033CC"/>
              </a:solidFill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852284F-D170-4AB4-8DE4-D7BF058A7F17}"/>
              </a:ext>
            </a:extLst>
          </p:cNvPr>
          <p:cNvSpPr/>
          <p:nvPr/>
        </p:nvSpPr>
        <p:spPr>
          <a:xfrm>
            <a:off x="548640" y="1017992"/>
            <a:ext cx="11094720" cy="2262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19F5864-84ED-417D-BB57-56F2A817B9E0}"/>
              </a:ext>
            </a:extLst>
          </p:cNvPr>
          <p:cNvSpPr/>
          <p:nvPr/>
        </p:nvSpPr>
        <p:spPr>
          <a:xfrm>
            <a:off x="341376" y="1108480"/>
            <a:ext cx="3755136" cy="2601535"/>
          </a:xfrm>
          <a:prstGeom prst="rect">
            <a:avLst/>
          </a:prstGeom>
          <a:solidFill>
            <a:srgbClr val="FFFFFF"/>
          </a:solidFill>
          <a:ln w="19050">
            <a:solidFill>
              <a:srgbClr val="1D6FD8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D3EEA1F5-224E-4112-AAAB-F35E89C3206B}"/>
              </a:ext>
            </a:extLst>
          </p:cNvPr>
          <p:cNvSpPr/>
          <p:nvPr/>
        </p:nvSpPr>
        <p:spPr>
          <a:xfrm>
            <a:off x="341376" y="1108480"/>
            <a:ext cx="3755136" cy="656039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3749C26-F056-453E-B2D2-032985269582}"/>
              </a:ext>
            </a:extLst>
          </p:cNvPr>
          <p:cNvSpPr/>
          <p:nvPr/>
        </p:nvSpPr>
        <p:spPr>
          <a:xfrm>
            <a:off x="487680" y="1153724"/>
            <a:ext cx="3511296" cy="3393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🖼️  이미지 · 영상</a:t>
            </a:r>
            <a:endParaRPr lang="en-US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DF1E669-4232-4D28-AD26-E25086F52FF7}"/>
              </a:ext>
            </a:extLst>
          </p:cNvPr>
          <p:cNvSpPr/>
          <p:nvPr/>
        </p:nvSpPr>
        <p:spPr>
          <a:xfrm>
            <a:off x="487680" y="1470433"/>
            <a:ext cx="3511296" cy="271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입력: 픽셀  |  목적: 인식·탐지·분할</a:t>
            </a:r>
            <a:endParaRPr lang="en-US" sz="1200" b="1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B15FFA9D-37AC-4782-A5E1-46EA7303B256}"/>
              </a:ext>
            </a:extLst>
          </p:cNvPr>
          <p:cNvSpPr/>
          <p:nvPr/>
        </p:nvSpPr>
        <p:spPr>
          <a:xfrm>
            <a:off x="463296" y="1855007"/>
            <a:ext cx="1694688" cy="316709"/>
          </a:xfrm>
          <a:prstGeom prst="rect">
            <a:avLst/>
          </a:prstGeom>
          <a:solidFill>
            <a:srgbClr val="EFF6FF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0226E18-61A7-4D3E-A5CF-C5D01C1D3233}"/>
              </a:ext>
            </a:extLst>
          </p:cNvPr>
          <p:cNvSpPr/>
          <p:nvPr/>
        </p:nvSpPr>
        <p:spPr>
          <a:xfrm>
            <a:off x="463296" y="1855007"/>
            <a:ext cx="1694688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</a:t>
            </a:r>
            <a:endParaRPr lang="en-US" sz="12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3D12766-749B-4120-8C5D-33BF30CB601A}"/>
              </a:ext>
            </a:extLst>
          </p:cNvPr>
          <p:cNvSpPr/>
          <p:nvPr/>
        </p:nvSpPr>
        <p:spPr>
          <a:xfrm>
            <a:off x="463296" y="2194338"/>
            <a:ext cx="1694688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특징 자동 추출</a:t>
            </a:r>
            <a:endParaRPr lang="en-US" sz="105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8B31002-6775-4045-8929-0E86097097AA}"/>
              </a:ext>
            </a:extLst>
          </p:cNvPr>
          <p:cNvSpPr/>
          <p:nvPr/>
        </p:nvSpPr>
        <p:spPr>
          <a:xfrm>
            <a:off x="2279904" y="1855007"/>
            <a:ext cx="1694688" cy="316709"/>
          </a:xfrm>
          <a:prstGeom prst="rect">
            <a:avLst/>
          </a:prstGeom>
          <a:solidFill>
            <a:srgbClr val="EFF6FF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3DEDB3B-7CB5-4214-B5D6-F3C7EECE471F}"/>
              </a:ext>
            </a:extLst>
          </p:cNvPr>
          <p:cNvSpPr/>
          <p:nvPr/>
        </p:nvSpPr>
        <p:spPr>
          <a:xfrm>
            <a:off x="2279904" y="1855007"/>
            <a:ext cx="1694688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</a:t>
            </a:r>
            <a:endParaRPr lang="en-US" sz="1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1E265D8-B259-470E-B0ED-25ABBE03D8E2}"/>
              </a:ext>
            </a:extLst>
          </p:cNvPr>
          <p:cNvSpPr/>
          <p:nvPr/>
        </p:nvSpPr>
        <p:spPr>
          <a:xfrm>
            <a:off x="2279904" y="2194338"/>
            <a:ext cx="1694688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잔차 연결 구조</a:t>
            </a:r>
            <a:endParaRPr lang="en-US" sz="105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6B83A6B-91D7-4FF9-9376-DE55258E5F2B}"/>
              </a:ext>
            </a:extLst>
          </p:cNvPr>
          <p:cNvSpPr/>
          <p:nvPr/>
        </p:nvSpPr>
        <p:spPr>
          <a:xfrm>
            <a:off x="463296" y="2692023"/>
            <a:ext cx="1694688" cy="316709"/>
          </a:xfrm>
          <a:prstGeom prst="rect">
            <a:avLst/>
          </a:prstGeom>
          <a:solidFill>
            <a:srgbClr val="EFF6FF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A1CC1A7-02E6-4BA7-BA95-1D3015BA9B99}"/>
              </a:ext>
            </a:extLst>
          </p:cNvPr>
          <p:cNvSpPr/>
          <p:nvPr/>
        </p:nvSpPr>
        <p:spPr>
          <a:xfrm>
            <a:off x="463296" y="2692023"/>
            <a:ext cx="1694688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</a:t>
            </a:r>
            <a:endParaRPr lang="en-US" sz="12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776079-183E-4D6C-A2CA-AD61FF9BB4EF}"/>
              </a:ext>
            </a:extLst>
          </p:cNvPr>
          <p:cNvSpPr/>
          <p:nvPr/>
        </p:nvSpPr>
        <p:spPr>
          <a:xfrm>
            <a:off x="463296" y="3031353"/>
            <a:ext cx="1694688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탐지</a:t>
            </a:r>
            <a:endParaRPr lang="en-US" sz="105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6AB08EC5-A099-4224-90D8-6139E6DD720F}"/>
              </a:ext>
            </a:extLst>
          </p:cNvPr>
          <p:cNvSpPr/>
          <p:nvPr/>
        </p:nvSpPr>
        <p:spPr>
          <a:xfrm>
            <a:off x="2279904" y="2692023"/>
            <a:ext cx="1694688" cy="316709"/>
          </a:xfrm>
          <a:prstGeom prst="rect">
            <a:avLst/>
          </a:prstGeom>
          <a:solidFill>
            <a:srgbClr val="EFF6FF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A6961B3-E5C8-4F15-8EAF-F788A3893B25}"/>
              </a:ext>
            </a:extLst>
          </p:cNvPr>
          <p:cNvSpPr/>
          <p:nvPr/>
        </p:nvSpPr>
        <p:spPr>
          <a:xfrm>
            <a:off x="2279904" y="2692023"/>
            <a:ext cx="1694688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</a:t>
            </a:r>
            <a:endParaRPr lang="en-US" sz="12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3A875DE-EB41-413A-BAF7-8F716D8A2255}"/>
              </a:ext>
            </a:extLst>
          </p:cNvPr>
          <p:cNvSpPr/>
          <p:nvPr/>
        </p:nvSpPr>
        <p:spPr>
          <a:xfrm>
            <a:off x="2279904" y="3031353"/>
            <a:ext cx="1694688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의료 영상 분할</a:t>
            </a:r>
            <a:endParaRPr lang="en-US" sz="105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D794DDE5-7C8D-43CE-9B05-2CA2626FE36D}"/>
              </a:ext>
            </a:extLst>
          </p:cNvPr>
          <p:cNvSpPr/>
          <p:nvPr/>
        </p:nvSpPr>
        <p:spPr>
          <a:xfrm>
            <a:off x="4218432" y="1108480"/>
            <a:ext cx="3755136" cy="2601535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4EE3A445-BBC6-44E8-9069-A80D7CBD45CC}"/>
              </a:ext>
            </a:extLst>
          </p:cNvPr>
          <p:cNvSpPr/>
          <p:nvPr/>
        </p:nvSpPr>
        <p:spPr>
          <a:xfrm>
            <a:off x="4218432" y="1108480"/>
            <a:ext cx="3755136" cy="656039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F7B7AF8-6971-4B3C-98D2-AE2567A6CE9C}"/>
              </a:ext>
            </a:extLst>
          </p:cNvPr>
          <p:cNvSpPr/>
          <p:nvPr/>
        </p:nvSpPr>
        <p:spPr>
          <a:xfrm>
            <a:off x="4364736" y="1153724"/>
            <a:ext cx="3511296" cy="3393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자연어 처리 (NLP)</a:t>
            </a:r>
            <a:endParaRPr lang="en-US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A22B3B5-126E-4ED9-998F-E2DE460992D6}"/>
              </a:ext>
            </a:extLst>
          </p:cNvPr>
          <p:cNvSpPr/>
          <p:nvPr/>
        </p:nvSpPr>
        <p:spPr>
          <a:xfrm>
            <a:off x="4364736" y="1470433"/>
            <a:ext cx="3511296" cy="271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입력: 텍스트  |  목적: 이해·생성·번역</a:t>
            </a:r>
            <a:endParaRPr lang="en-US" sz="1200" b="1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868CA1E0-551F-4ECE-8562-135282A3508A}"/>
              </a:ext>
            </a:extLst>
          </p:cNvPr>
          <p:cNvSpPr/>
          <p:nvPr/>
        </p:nvSpPr>
        <p:spPr>
          <a:xfrm>
            <a:off x="4340352" y="1855007"/>
            <a:ext cx="1694688" cy="316709"/>
          </a:xfrm>
          <a:prstGeom prst="rect">
            <a:avLst/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51B3C8B1-E9C1-461F-882D-867EE3CEC569}"/>
              </a:ext>
            </a:extLst>
          </p:cNvPr>
          <p:cNvSpPr/>
          <p:nvPr/>
        </p:nvSpPr>
        <p:spPr>
          <a:xfrm>
            <a:off x="4340352" y="1855007"/>
            <a:ext cx="1694688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2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27D6CBBF-2C9F-4966-B554-2B1F4C9D291E}"/>
              </a:ext>
            </a:extLst>
          </p:cNvPr>
          <p:cNvSpPr/>
          <p:nvPr/>
        </p:nvSpPr>
        <p:spPr>
          <a:xfrm>
            <a:off x="4340352" y="2194338"/>
            <a:ext cx="1694688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현대 NLP 표준</a:t>
            </a:r>
            <a:endParaRPr lang="en-US" sz="105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B27F7DBF-1A16-4471-A2A4-2B0CDCF44B03}"/>
              </a:ext>
            </a:extLst>
          </p:cNvPr>
          <p:cNvSpPr/>
          <p:nvPr/>
        </p:nvSpPr>
        <p:spPr>
          <a:xfrm>
            <a:off x="6156960" y="1855007"/>
            <a:ext cx="1694688" cy="316709"/>
          </a:xfrm>
          <a:prstGeom prst="rect">
            <a:avLst/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B5593C4-DD58-47FF-A250-B4854CDE041F}"/>
              </a:ext>
            </a:extLst>
          </p:cNvPr>
          <p:cNvSpPr/>
          <p:nvPr/>
        </p:nvSpPr>
        <p:spPr>
          <a:xfrm>
            <a:off x="6156960" y="1855007"/>
            <a:ext cx="1694688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C3FAD546-F3D1-460A-9C7B-3762EC35E100}"/>
              </a:ext>
            </a:extLst>
          </p:cNvPr>
          <p:cNvSpPr/>
          <p:nvPr/>
        </p:nvSpPr>
        <p:spPr>
          <a:xfrm>
            <a:off x="6156960" y="2194338"/>
            <a:ext cx="1694688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양방향 문맥</a:t>
            </a:r>
            <a:endParaRPr lang="en-US" sz="105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747CCCA1-9315-4B6A-9865-59F9A54C9795}"/>
              </a:ext>
            </a:extLst>
          </p:cNvPr>
          <p:cNvSpPr/>
          <p:nvPr/>
        </p:nvSpPr>
        <p:spPr>
          <a:xfrm>
            <a:off x="4340352" y="2692023"/>
            <a:ext cx="1694688" cy="316709"/>
          </a:xfrm>
          <a:prstGeom prst="rect">
            <a:avLst/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8831384-045B-4B51-A29B-878EC201623B}"/>
              </a:ext>
            </a:extLst>
          </p:cNvPr>
          <p:cNvSpPr/>
          <p:nvPr/>
        </p:nvSpPr>
        <p:spPr>
          <a:xfrm>
            <a:off x="4340352" y="2692023"/>
            <a:ext cx="1694688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</a:t>
            </a:r>
            <a:endParaRPr lang="en-US" sz="12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C2A88F04-3308-4B05-82DB-D96A3E28F645}"/>
              </a:ext>
            </a:extLst>
          </p:cNvPr>
          <p:cNvSpPr/>
          <p:nvPr/>
        </p:nvSpPr>
        <p:spPr>
          <a:xfrm>
            <a:off x="4340352" y="3031353"/>
            <a:ext cx="1694688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텍스트 생성</a:t>
            </a:r>
            <a:endParaRPr lang="en-US" sz="105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B6FADBF5-3A49-4FBD-8981-063E3B46F921}"/>
              </a:ext>
            </a:extLst>
          </p:cNvPr>
          <p:cNvSpPr/>
          <p:nvPr/>
        </p:nvSpPr>
        <p:spPr>
          <a:xfrm>
            <a:off x="6156960" y="2692023"/>
            <a:ext cx="1694688" cy="316709"/>
          </a:xfrm>
          <a:prstGeom prst="rect">
            <a:avLst/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372C4E4E-2D12-4C10-A13A-BCFD5EB528C5}"/>
              </a:ext>
            </a:extLst>
          </p:cNvPr>
          <p:cNvSpPr/>
          <p:nvPr/>
        </p:nvSpPr>
        <p:spPr>
          <a:xfrm>
            <a:off x="6156960" y="2692023"/>
            <a:ext cx="1694688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</a:t>
            </a:r>
            <a:endParaRPr lang="en-US" sz="12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B16B278E-89C4-4D86-B091-19C966B2AB36}"/>
              </a:ext>
            </a:extLst>
          </p:cNvPr>
          <p:cNvSpPr/>
          <p:nvPr/>
        </p:nvSpPr>
        <p:spPr>
          <a:xfrm>
            <a:off x="6156960" y="3031353"/>
            <a:ext cx="1694688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텍스트→텍스트</a:t>
            </a:r>
            <a:endParaRPr lang="en-US" sz="105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DDA36AC5-863E-46ED-A8CC-817DE12AB6EB}"/>
              </a:ext>
            </a:extLst>
          </p:cNvPr>
          <p:cNvSpPr/>
          <p:nvPr/>
        </p:nvSpPr>
        <p:spPr>
          <a:xfrm>
            <a:off x="8095488" y="1108480"/>
            <a:ext cx="3755136" cy="2601535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ACBCFBFB-49FA-4C8F-9B51-F0BF0AD3C30A}"/>
              </a:ext>
            </a:extLst>
          </p:cNvPr>
          <p:cNvSpPr/>
          <p:nvPr/>
        </p:nvSpPr>
        <p:spPr>
          <a:xfrm>
            <a:off x="8095488" y="1108480"/>
            <a:ext cx="3755136" cy="65603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759C336C-AB9F-46B6-AEE7-A74F4D14856C}"/>
              </a:ext>
            </a:extLst>
          </p:cNvPr>
          <p:cNvSpPr/>
          <p:nvPr/>
        </p:nvSpPr>
        <p:spPr>
          <a:xfrm>
            <a:off x="8241792" y="1153724"/>
            <a:ext cx="3511296" cy="3393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순서 · 시계열</a:t>
            </a:r>
            <a:endParaRPr lang="en-US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B9C9A832-7EE2-47CA-895C-4C64B880F136}"/>
              </a:ext>
            </a:extLst>
          </p:cNvPr>
          <p:cNvSpPr/>
          <p:nvPr/>
        </p:nvSpPr>
        <p:spPr>
          <a:xfrm>
            <a:off x="8241792" y="1470433"/>
            <a:ext cx="3511296" cy="271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입력: 순서 데이터  |  목적: 예측·기억</a:t>
            </a:r>
            <a:endParaRPr lang="en-US" sz="1200" b="1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224A1A27-11B5-423C-974C-51954A07A725}"/>
              </a:ext>
            </a:extLst>
          </p:cNvPr>
          <p:cNvSpPr/>
          <p:nvPr/>
        </p:nvSpPr>
        <p:spPr>
          <a:xfrm>
            <a:off x="8217408" y="1855007"/>
            <a:ext cx="1694688" cy="316709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E1BA179D-B31C-49F6-AFA2-72B53A65D364}"/>
              </a:ext>
            </a:extLst>
          </p:cNvPr>
          <p:cNvSpPr/>
          <p:nvPr/>
        </p:nvSpPr>
        <p:spPr>
          <a:xfrm>
            <a:off x="8217408" y="1855007"/>
            <a:ext cx="1694688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</a:t>
            </a:r>
            <a:endParaRPr lang="en-US" sz="120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59BE2C2A-3F18-4C2C-BEF6-FBD988FF75F2}"/>
              </a:ext>
            </a:extLst>
          </p:cNvPr>
          <p:cNvSpPr/>
          <p:nvPr/>
        </p:nvSpPr>
        <p:spPr>
          <a:xfrm>
            <a:off x="8217408" y="2194338"/>
            <a:ext cx="1694688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순서 처리 기본</a:t>
            </a:r>
            <a:endParaRPr lang="en-US" sz="105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822FEB34-94A4-47C2-96EB-02348067AA5E}"/>
              </a:ext>
            </a:extLst>
          </p:cNvPr>
          <p:cNvSpPr/>
          <p:nvPr/>
        </p:nvSpPr>
        <p:spPr>
          <a:xfrm>
            <a:off x="10034016" y="1855007"/>
            <a:ext cx="1694688" cy="316709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08708958-25B4-475A-B8D0-385A5AF8F0DD}"/>
              </a:ext>
            </a:extLst>
          </p:cNvPr>
          <p:cNvSpPr/>
          <p:nvPr/>
        </p:nvSpPr>
        <p:spPr>
          <a:xfrm>
            <a:off x="10034016" y="1855007"/>
            <a:ext cx="1694688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200" dirty="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4A11E3E0-C1FB-47FC-81A0-26F761FDC29A}"/>
              </a:ext>
            </a:extLst>
          </p:cNvPr>
          <p:cNvSpPr/>
          <p:nvPr/>
        </p:nvSpPr>
        <p:spPr>
          <a:xfrm>
            <a:off x="10034016" y="2194338"/>
            <a:ext cx="1694688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장기 기억 가능</a:t>
            </a:r>
            <a:endParaRPr lang="en-US" sz="105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62733259-973E-4E3B-97AC-D7B2E5C6EAD8}"/>
              </a:ext>
            </a:extLst>
          </p:cNvPr>
          <p:cNvSpPr/>
          <p:nvPr/>
        </p:nvSpPr>
        <p:spPr>
          <a:xfrm>
            <a:off x="8217408" y="2692023"/>
            <a:ext cx="1694688" cy="316709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D6152D96-BCAE-40AC-8A50-3F81F016EEE6}"/>
              </a:ext>
            </a:extLst>
          </p:cNvPr>
          <p:cNvSpPr/>
          <p:nvPr/>
        </p:nvSpPr>
        <p:spPr>
          <a:xfrm>
            <a:off x="8217408" y="2692023"/>
            <a:ext cx="1694688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</a:t>
            </a:r>
            <a:endParaRPr lang="en-US" sz="1200" dirty="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E5F0F4A6-5F34-4BA2-B813-A46F7ED4241A}"/>
              </a:ext>
            </a:extLst>
          </p:cNvPr>
          <p:cNvSpPr/>
          <p:nvPr/>
        </p:nvSpPr>
        <p:spPr>
          <a:xfrm>
            <a:off x="8217408" y="3031353"/>
            <a:ext cx="1694688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경량 LSTM</a:t>
            </a:r>
            <a:endParaRPr lang="en-US" sz="105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7DADD5D0-4CA9-4ED1-AFE4-20716BDE024D}"/>
              </a:ext>
            </a:extLst>
          </p:cNvPr>
          <p:cNvSpPr/>
          <p:nvPr/>
        </p:nvSpPr>
        <p:spPr>
          <a:xfrm>
            <a:off x="10034016" y="2692023"/>
            <a:ext cx="1694688" cy="316709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7F14BA60-74B1-45E4-B003-8E823A4CEDC5}"/>
              </a:ext>
            </a:extLst>
          </p:cNvPr>
          <p:cNvSpPr/>
          <p:nvPr/>
        </p:nvSpPr>
        <p:spPr>
          <a:xfrm>
            <a:off x="10034016" y="2692023"/>
            <a:ext cx="1694688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Seq2Seq</a:t>
            </a:r>
            <a:endParaRPr lang="en-US" sz="1200" dirty="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4DA87D0E-74EC-4D53-AE20-43B90AFCFD57}"/>
              </a:ext>
            </a:extLst>
          </p:cNvPr>
          <p:cNvSpPr/>
          <p:nvPr/>
        </p:nvSpPr>
        <p:spPr>
          <a:xfrm>
            <a:off x="10034016" y="3031353"/>
            <a:ext cx="1694688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길이 변환 가능</a:t>
            </a:r>
            <a:endParaRPr lang="en-US" sz="105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54" name="Shape 52">
            <a:extLst>
              <a:ext uri="{FF2B5EF4-FFF2-40B4-BE49-F238E27FC236}">
                <a16:creationId xmlns:a16="http://schemas.microsoft.com/office/drawing/2014/main" id="{0794B68B-2844-4D63-B29F-21A1A2CAF834}"/>
              </a:ext>
            </a:extLst>
          </p:cNvPr>
          <p:cNvSpPr/>
          <p:nvPr/>
        </p:nvSpPr>
        <p:spPr>
          <a:xfrm>
            <a:off x="341376" y="3823125"/>
            <a:ext cx="5632704" cy="2488424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54025074-37B2-485E-8191-B97A71F111FB}"/>
              </a:ext>
            </a:extLst>
          </p:cNvPr>
          <p:cNvSpPr/>
          <p:nvPr/>
        </p:nvSpPr>
        <p:spPr>
          <a:xfrm>
            <a:off x="341376" y="3823125"/>
            <a:ext cx="5632704" cy="656039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9B748AB1-50FD-4341-AF4C-04701038C4C4}"/>
              </a:ext>
            </a:extLst>
          </p:cNvPr>
          <p:cNvSpPr/>
          <p:nvPr/>
        </p:nvSpPr>
        <p:spPr>
          <a:xfrm>
            <a:off x="487680" y="3868369"/>
            <a:ext cx="5388864" cy="3393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 생성 모델</a:t>
            </a:r>
            <a:endParaRPr lang="en-US" dirty="0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911D7455-04E8-47EA-A997-3D3DAD721DF0}"/>
              </a:ext>
            </a:extLst>
          </p:cNvPr>
          <p:cNvSpPr/>
          <p:nvPr/>
        </p:nvSpPr>
        <p:spPr>
          <a:xfrm>
            <a:off x="487680" y="4185077"/>
            <a:ext cx="5388864" cy="271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입력: 노이즈·조건  |  목적: 새로운 데이터 만들기</a:t>
            </a:r>
            <a:endParaRPr lang="en-US" sz="1200" b="1" dirty="0"/>
          </a:p>
        </p:txBody>
      </p:sp>
      <p:sp>
        <p:nvSpPr>
          <p:cNvPr id="58" name="Shape 56">
            <a:extLst>
              <a:ext uri="{FF2B5EF4-FFF2-40B4-BE49-F238E27FC236}">
                <a16:creationId xmlns:a16="http://schemas.microsoft.com/office/drawing/2014/main" id="{DB244E38-DEA8-4FC8-B996-6CBBCCF4E79D}"/>
              </a:ext>
            </a:extLst>
          </p:cNvPr>
          <p:cNvSpPr/>
          <p:nvPr/>
        </p:nvSpPr>
        <p:spPr>
          <a:xfrm>
            <a:off x="463296" y="4569652"/>
            <a:ext cx="2633472" cy="316709"/>
          </a:xfrm>
          <a:prstGeom prst="rect">
            <a:avLst/>
          </a:prstGeom>
          <a:solidFill>
            <a:srgbClr val="FDF2F8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D866E135-609E-4733-A047-5EC1FF092AAC}"/>
              </a:ext>
            </a:extLst>
          </p:cNvPr>
          <p:cNvSpPr/>
          <p:nvPr/>
        </p:nvSpPr>
        <p:spPr>
          <a:xfrm>
            <a:off x="463296" y="4569652"/>
            <a:ext cx="2633472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</a:t>
            </a:r>
            <a:endParaRPr lang="en-US" sz="1200" dirty="0"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15B1BD57-8101-4B84-953E-D4FC6C2060F7}"/>
              </a:ext>
            </a:extLst>
          </p:cNvPr>
          <p:cNvSpPr/>
          <p:nvPr/>
        </p:nvSpPr>
        <p:spPr>
          <a:xfrm>
            <a:off x="463296" y="4908983"/>
            <a:ext cx="2633472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생성자 vs 판별자</a:t>
            </a:r>
            <a:endParaRPr lang="en-US" sz="105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E43E7DD8-C6D6-4826-9822-A5C955BCC4A8}"/>
              </a:ext>
            </a:extLst>
          </p:cNvPr>
          <p:cNvSpPr/>
          <p:nvPr/>
        </p:nvSpPr>
        <p:spPr>
          <a:xfrm>
            <a:off x="3218688" y="4569652"/>
            <a:ext cx="2633472" cy="316709"/>
          </a:xfrm>
          <a:prstGeom prst="rect">
            <a:avLst/>
          </a:prstGeom>
          <a:solidFill>
            <a:srgbClr val="FDF2F8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16FB66B4-9FB3-4942-B40A-50B0EDE5F3F2}"/>
              </a:ext>
            </a:extLst>
          </p:cNvPr>
          <p:cNvSpPr/>
          <p:nvPr/>
        </p:nvSpPr>
        <p:spPr>
          <a:xfrm>
            <a:off x="3218688" y="4569652"/>
            <a:ext cx="2633472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</a:t>
            </a:r>
            <a:endParaRPr lang="en-US" sz="1200" dirty="0"/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28DF3B6A-3D73-4CE1-8871-D6C5C9A36D12}"/>
              </a:ext>
            </a:extLst>
          </p:cNvPr>
          <p:cNvSpPr/>
          <p:nvPr/>
        </p:nvSpPr>
        <p:spPr>
          <a:xfrm>
            <a:off x="3218688" y="4908983"/>
            <a:ext cx="2633472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확률 분포 생성</a:t>
            </a:r>
            <a:endParaRPr lang="en-US" sz="105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4" name="Shape 62">
            <a:extLst>
              <a:ext uri="{FF2B5EF4-FFF2-40B4-BE49-F238E27FC236}">
                <a16:creationId xmlns:a16="http://schemas.microsoft.com/office/drawing/2014/main" id="{17100B0D-B0D7-45E9-81B3-558BCE11A15D}"/>
              </a:ext>
            </a:extLst>
          </p:cNvPr>
          <p:cNvSpPr/>
          <p:nvPr/>
        </p:nvSpPr>
        <p:spPr>
          <a:xfrm>
            <a:off x="463296" y="5406668"/>
            <a:ext cx="2633472" cy="316709"/>
          </a:xfrm>
          <a:prstGeom prst="rect">
            <a:avLst/>
          </a:prstGeom>
          <a:solidFill>
            <a:srgbClr val="FDF2F8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B89FF664-B241-4298-8B3D-EE55221D3ABF}"/>
              </a:ext>
            </a:extLst>
          </p:cNvPr>
          <p:cNvSpPr/>
          <p:nvPr/>
        </p:nvSpPr>
        <p:spPr>
          <a:xfrm>
            <a:off x="463296" y="5406668"/>
            <a:ext cx="2633472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</a:t>
            </a:r>
            <a:endParaRPr lang="en-US" sz="1200" dirty="0"/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D961FAE0-0952-46EF-95D3-7117BD48CAA1}"/>
              </a:ext>
            </a:extLst>
          </p:cNvPr>
          <p:cNvSpPr/>
          <p:nvPr/>
        </p:nvSpPr>
        <p:spPr>
          <a:xfrm>
            <a:off x="463296" y="5745998"/>
            <a:ext cx="2633472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노이즈→이미지</a:t>
            </a:r>
            <a:endParaRPr lang="en-US" sz="11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7" name="Shape 65">
            <a:extLst>
              <a:ext uri="{FF2B5EF4-FFF2-40B4-BE49-F238E27FC236}">
                <a16:creationId xmlns:a16="http://schemas.microsoft.com/office/drawing/2014/main" id="{819E18C2-BB51-4740-8496-48C837F88CE2}"/>
              </a:ext>
            </a:extLst>
          </p:cNvPr>
          <p:cNvSpPr/>
          <p:nvPr/>
        </p:nvSpPr>
        <p:spPr>
          <a:xfrm>
            <a:off x="3218688" y="5406668"/>
            <a:ext cx="2633472" cy="316709"/>
          </a:xfrm>
          <a:prstGeom prst="rect">
            <a:avLst/>
          </a:prstGeom>
          <a:solidFill>
            <a:srgbClr val="FDF2F8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>
            <a:extLst>
              <a:ext uri="{FF2B5EF4-FFF2-40B4-BE49-F238E27FC236}">
                <a16:creationId xmlns:a16="http://schemas.microsoft.com/office/drawing/2014/main" id="{6A3577E2-EE86-47A8-8544-CED423832306}"/>
              </a:ext>
            </a:extLst>
          </p:cNvPr>
          <p:cNvSpPr/>
          <p:nvPr/>
        </p:nvSpPr>
        <p:spPr>
          <a:xfrm>
            <a:off x="3218688" y="5406668"/>
            <a:ext cx="2633472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StyleGAN</a:t>
            </a:r>
            <a:endParaRPr lang="en-US" sz="1200" dirty="0"/>
          </a:p>
        </p:txBody>
      </p:sp>
      <p:sp>
        <p:nvSpPr>
          <p:cNvPr id="69" name="Text 67">
            <a:extLst>
              <a:ext uri="{FF2B5EF4-FFF2-40B4-BE49-F238E27FC236}">
                <a16:creationId xmlns:a16="http://schemas.microsoft.com/office/drawing/2014/main" id="{655FB726-7D71-4AE7-826E-B6E11E788B7F}"/>
              </a:ext>
            </a:extLst>
          </p:cNvPr>
          <p:cNvSpPr/>
          <p:nvPr/>
        </p:nvSpPr>
        <p:spPr>
          <a:xfrm>
            <a:off x="3218688" y="5745998"/>
            <a:ext cx="2633472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스타일 조절 생성</a:t>
            </a:r>
            <a:endParaRPr lang="en-US" sz="11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0" name="Shape 68">
            <a:extLst>
              <a:ext uri="{FF2B5EF4-FFF2-40B4-BE49-F238E27FC236}">
                <a16:creationId xmlns:a16="http://schemas.microsoft.com/office/drawing/2014/main" id="{1128410C-34A6-4198-BD8E-30B4B08B86E0}"/>
              </a:ext>
            </a:extLst>
          </p:cNvPr>
          <p:cNvSpPr/>
          <p:nvPr/>
        </p:nvSpPr>
        <p:spPr>
          <a:xfrm>
            <a:off x="6217920" y="3823125"/>
            <a:ext cx="5632704" cy="2488424"/>
          </a:xfrm>
          <a:prstGeom prst="rect">
            <a:avLst/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71" name="Shape 69">
            <a:extLst>
              <a:ext uri="{FF2B5EF4-FFF2-40B4-BE49-F238E27FC236}">
                <a16:creationId xmlns:a16="http://schemas.microsoft.com/office/drawing/2014/main" id="{2109416C-2DA5-442C-B6B0-7277A1D933FB}"/>
              </a:ext>
            </a:extLst>
          </p:cNvPr>
          <p:cNvSpPr/>
          <p:nvPr/>
        </p:nvSpPr>
        <p:spPr>
          <a:xfrm>
            <a:off x="6217920" y="3823125"/>
            <a:ext cx="5632704" cy="65603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73E2859F-4374-443A-A81F-77F782D51BA9}"/>
              </a:ext>
            </a:extLst>
          </p:cNvPr>
          <p:cNvSpPr/>
          <p:nvPr/>
        </p:nvSpPr>
        <p:spPr>
          <a:xfrm>
            <a:off x="6364224" y="3868369"/>
            <a:ext cx="5388864" cy="3393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표현 학습 (비지도)</a:t>
            </a:r>
            <a:endParaRPr lang="en-US" dirty="0"/>
          </a:p>
        </p:txBody>
      </p:sp>
      <p:sp>
        <p:nvSpPr>
          <p:cNvPr id="73" name="Text 71">
            <a:extLst>
              <a:ext uri="{FF2B5EF4-FFF2-40B4-BE49-F238E27FC236}">
                <a16:creationId xmlns:a16="http://schemas.microsoft.com/office/drawing/2014/main" id="{778E1296-BACC-4003-A03D-6EBB180B1D89}"/>
              </a:ext>
            </a:extLst>
          </p:cNvPr>
          <p:cNvSpPr/>
          <p:nvPr/>
        </p:nvSpPr>
        <p:spPr>
          <a:xfrm>
            <a:off x="6364224" y="4185077"/>
            <a:ext cx="5388864" cy="271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입력: 레이블 없는 데이터  |  목적: 특징 압축·이상 탐지</a:t>
            </a:r>
            <a:endParaRPr lang="en-US" sz="1200" b="1" dirty="0"/>
          </a:p>
        </p:txBody>
      </p:sp>
      <p:sp>
        <p:nvSpPr>
          <p:cNvPr id="74" name="Shape 72">
            <a:extLst>
              <a:ext uri="{FF2B5EF4-FFF2-40B4-BE49-F238E27FC236}">
                <a16:creationId xmlns:a16="http://schemas.microsoft.com/office/drawing/2014/main" id="{49B1AA52-2114-4D13-A8D3-BCB8938D3E9A}"/>
              </a:ext>
            </a:extLst>
          </p:cNvPr>
          <p:cNvSpPr/>
          <p:nvPr/>
        </p:nvSpPr>
        <p:spPr>
          <a:xfrm>
            <a:off x="6339840" y="4569652"/>
            <a:ext cx="2633472" cy="316709"/>
          </a:xfrm>
          <a:prstGeom prst="rect">
            <a:avLst/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A63899E8-FDC0-4DA6-9C35-C876E3002727}"/>
              </a:ext>
            </a:extLst>
          </p:cNvPr>
          <p:cNvSpPr/>
          <p:nvPr/>
        </p:nvSpPr>
        <p:spPr>
          <a:xfrm>
            <a:off x="6339840" y="4569652"/>
            <a:ext cx="2633472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</a:t>
            </a:r>
            <a:endParaRPr lang="en-US" sz="1200" dirty="0"/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80C73633-E151-4AE3-81BB-AD0816B955DB}"/>
              </a:ext>
            </a:extLst>
          </p:cNvPr>
          <p:cNvSpPr/>
          <p:nvPr/>
        </p:nvSpPr>
        <p:spPr>
          <a:xfrm>
            <a:off x="6339840" y="4908983"/>
            <a:ext cx="2633472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압축 후 복원</a:t>
            </a:r>
            <a:endParaRPr lang="en-US" sz="105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7" name="Shape 75">
            <a:extLst>
              <a:ext uri="{FF2B5EF4-FFF2-40B4-BE49-F238E27FC236}">
                <a16:creationId xmlns:a16="http://schemas.microsoft.com/office/drawing/2014/main" id="{7E93F1EC-2D87-422B-B617-FD07EACF8305}"/>
              </a:ext>
            </a:extLst>
          </p:cNvPr>
          <p:cNvSpPr/>
          <p:nvPr/>
        </p:nvSpPr>
        <p:spPr>
          <a:xfrm>
            <a:off x="9095232" y="4569652"/>
            <a:ext cx="2633472" cy="316709"/>
          </a:xfrm>
          <a:prstGeom prst="rect">
            <a:avLst/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8" name="Text 76">
            <a:extLst>
              <a:ext uri="{FF2B5EF4-FFF2-40B4-BE49-F238E27FC236}">
                <a16:creationId xmlns:a16="http://schemas.microsoft.com/office/drawing/2014/main" id="{922F50F8-4E1C-4150-8814-1F2A1B4C6401}"/>
              </a:ext>
            </a:extLst>
          </p:cNvPr>
          <p:cNvSpPr/>
          <p:nvPr/>
        </p:nvSpPr>
        <p:spPr>
          <a:xfrm>
            <a:off x="9095232" y="4569652"/>
            <a:ext cx="2633472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</a:t>
            </a:r>
            <a:endParaRPr lang="en-US" sz="1200" dirty="0"/>
          </a:p>
        </p:txBody>
      </p:sp>
      <p:sp>
        <p:nvSpPr>
          <p:cNvPr id="79" name="Text 77">
            <a:extLst>
              <a:ext uri="{FF2B5EF4-FFF2-40B4-BE49-F238E27FC236}">
                <a16:creationId xmlns:a16="http://schemas.microsoft.com/office/drawing/2014/main" id="{40EE7B06-ABAC-4642-BFA7-4C927B5476F5}"/>
              </a:ext>
            </a:extLst>
          </p:cNvPr>
          <p:cNvSpPr/>
          <p:nvPr/>
        </p:nvSpPr>
        <p:spPr>
          <a:xfrm>
            <a:off x="9095232" y="4908983"/>
            <a:ext cx="2633472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확률적 압축</a:t>
            </a:r>
            <a:endParaRPr lang="en-US" sz="105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80" name="Shape 78">
            <a:extLst>
              <a:ext uri="{FF2B5EF4-FFF2-40B4-BE49-F238E27FC236}">
                <a16:creationId xmlns:a16="http://schemas.microsoft.com/office/drawing/2014/main" id="{5169A30E-59CD-4809-987F-5A4CE2114728}"/>
              </a:ext>
            </a:extLst>
          </p:cNvPr>
          <p:cNvSpPr/>
          <p:nvPr/>
        </p:nvSpPr>
        <p:spPr>
          <a:xfrm>
            <a:off x="6339840" y="5406668"/>
            <a:ext cx="2633472" cy="316709"/>
          </a:xfrm>
          <a:prstGeom prst="rect">
            <a:avLst/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1" name="Text 79">
            <a:extLst>
              <a:ext uri="{FF2B5EF4-FFF2-40B4-BE49-F238E27FC236}">
                <a16:creationId xmlns:a16="http://schemas.microsoft.com/office/drawing/2014/main" id="{DA764B2B-1064-4FCE-8808-C64CD7C73AB8}"/>
              </a:ext>
            </a:extLst>
          </p:cNvPr>
          <p:cNvSpPr/>
          <p:nvPr/>
        </p:nvSpPr>
        <p:spPr>
          <a:xfrm>
            <a:off x="6339840" y="5406668"/>
            <a:ext cx="2633472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</a:t>
            </a:r>
            <a:endParaRPr lang="en-US" sz="1200" dirty="0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DCD6AB2E-394C-4587-B981-3995E5010818}"/>
              </a:ext>
            </a:extLst>
          </p:cNvPr>
          <p:cNvSpPr/>
          <p:nvPr/>
        </p:nvSpPr>
        <p:spPr>
          <a:xfrm>
            <a:off x="6339840" y="5745998"/>
            <a:ext cx="2633472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이미지+텍스트</a:t>
            </a:r>
            <a:endParaRPr lang="en-US" sz="11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83" name="Shape 81">
            <a:extLst>
              <a:ext uri="{FF2B5EF4-FFF2-40B4-BE49-F238E27FC236}">
                <a16:creationId xmlns:a16="http://schemas.microsoft.com/office/drawing/2014/main" id="{101CDFA5-D013-4C9D-86E4-70F4770D41A8}"/>
              </a:ext>
            </a:extLst>
          </p:cNvPr>
          <p:cNvSpPr/>
          <p:nvPr/>
        </p:nvSpPr>
        <p:spPr>
          <a:xfrm>
            <a:off x="9095232" y="5406668"/>
            <a:ext cx="2633472" cy="316709"/>
          </a:xfrm>
          <a:prstGeom prst="rect">
            <a:avLst/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4" name="Text 82">
            <a:extLst>
              <a:ext uri="{FF2B5EF4-FFF2-40B4-BE49-F238E27FC236}">
                <a16:creationId xmlns:a16="http://schemas.microsoft.com/office/drawing/2014/main" id="{9BBA06A1-8A48-4713-B126-7FFCC9D8667D}"/>
              </a:ext>
            </a:extLst>
          </p:cNvPr>
          <p:cNvSpPr/>
          <p:nvPr/>
        </p:nvSpPr>
        <p:spPr>
          <a:xfrm>
            <a:off x="9095232" y="5406668"/>
            <a:ext cx="2633472" cy="316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SimCLR</a:t>
            </a:r>
            <a:endParaRPr lang="en-US" sz="1200" dirty="0"/>
          </a:p>
        </p:txBody>
      </p:sp>
      <p:sp>
        <p:nvSpPr>
          <p:cNvPr id="85" name="Text 83">
            <a:extLst>
              <a:ext uri="{FF2B5EF4-FFF2-40B4-BE49-F238E27FC236}">
                <a16:creationId xmlns:a16="http://schemas.microsoft.com/office/drawing/2014/main" id="{0014C4FC-9C84-42C6-B208-AFDDFB6F2521}"/>
              </a:ext>
            </a:extLst>
          </p:cNvPr>
          <p:cNvSpPr/>
          <p:nvPr/>
        </p:nvSpPr>
        <p:spPr>
          <a:xfrm>
            <a:off x="9095232" y="5745998"/>
            <a:ext cx="2633472" cy="4298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대조 학습</a:t>
            </a:r>
            <a:endParaRPr lang="en-US" sz="11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86" name="Shape 84">
            <a:extLst>
              <a:ext uri="{FF2B5EF4-FFF2-40B4-BE49-F238E27FC236}">
                <a16:creationId xmlns:a16="http://schemas.microsoft.com/office/drawing/2014/main" id="{BF885B49-F880-4CAC-97B4-FD32C1A5A038}"/>
              </a:ext>
            </a:extLst>
          </p:cNvPr>
          <p:cNvSpPr/>
          <p:nvPr/>
        </p:nvSpPr>
        <p:spPr>
          <a:xfrm>
            <a:off x="341376" y="6402037"/>
            <a:ext cx="11509248" cy="339331"/>
          </a:xfrm>
          <a:prstGeom prst="rect">
            <a:avLst/>
          </a:prstGeom>
          <a:solidFill>
            <a:srgbClr val="EFF6FF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87" name="Text 85">
            <a:extLst>
              <a:ext uri="{FF2B5EF4-FFF2-40B4-BE49-F238E27FC236}">
                <a16:creationId xmlns:a16="http://schemas.microsoft.com/office/drawing/2014/main" id="{DD46F9AF-A738-40DD-BC1E-1A73E83897A1}"/>
              </a:ext>
            </a:extLst>
          </p:cNvPr>
          <p:cNvSpPr/>
          <p:nvPr/>
        </p:nvSpPr>
        <p:spPr>
          <a:xfrm>
            <a:off x="548640" y="6435970"/>
            <a:ext cx="1584960" cy="248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8A"/>
                </a:solidFill>
              </a:rPr>
              <a:t>📌  분류 기준:</a:t>
            </a:r>
            <a:endParaRPr lang="en-US" sz="1100" dirty="0"/>
          </a:p>
        </p:txBody>
      </p:sp>
      <p:sp>
        <p:nvSpPr>
          <p:cNvPr id="88" name="Shape 86">
            <a:extLst>
              <a:ext uri="{FF2B5EF4-FFF2-40B4-BE49-F238E27FC236}">
                <a16:creationId xmlns:a16="http://schemas.microsoft.com/office/drawing/2014/main" id="{4DFB3B78-9DE3-409D-BF38-5A59FE8833A4}"/>
              </a:ext>
            </a:extLst>
          </p:cNvPr>
          <p:cNvSpPr/>
          <p:nvPr/>
        </p:nvSpPr>
        <p:spPr>
          <a:xfrm>
            <a:off x="2133600" y="6447281"/>
            <a:ext cx="1804416" cy="226220"/>
          </a:xfrm>
          <a:prstGeom prst="roundRect">
            <a:avLst/>
          </a:prstGeom>
          <a:solidFill>
            <a:srgbClr val="1D6FD8">
              <a:alpha val="85000"/>
            </a:srgbClr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89" name="Text 87">
            <a:extLst>
              <a:ext uri="{FF2B5EF4-FFF2-40B4-BE49-F238E27FC236}">
                <a16:creationId xmlns:a16="http://schemas.microsoft.com/office/drawing/2014/main" id="{DD1868C1-AD62-4B20-A36D-207F0226DE67}"/>
              </a:ext>
            </a:extLst>
          </p:cNvPr>
          <p:cNvSpPr/>
          <p:nvPr/>
        </p:nvSpPr>
        <p:spPr>
          <a:xfrm>
            <a:off x="2133600" y="6447281"/>
            <a:ext cx="1804416" cy="22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🖼️ 픽셀 데이터</a:t>
            </a:r>
            <a:endParaRPr lang="en-US" sz="1050" dirty="0"/>
          </a:p>
        </p:txBody>
      </p:sp>
      <p:sp>
        <p:nvSpPr>
          <p:cNvPr id="90" name="Shape 88">
            <a:extLst>
              <a:ext uri="{FF2B5EF4-FFF2-40B4-BE49-F238E27FC236}">
                <a16:creationId xmlns:a16="http://schemas.microsoft.com/office/drawing/2014/main" id="{393C8CE9-76F5-4030-A70D-A737285D0C00}"/>
              </a:ext>
            </a:extLst>
          </p:cNvPr>
          <p:cNvSpPr/>
          <p:nvPr/>
        </p:nvSpPr>
        <p:spPr>
          <a:xfrm>
            <a:off x="4059936" y="6447281"/>
            <a:ext cx="1804416" cy="226220"/>
          </a:xfrm>
          <a:prstGeom prst="roundRect">
            <a:avLst/>
          </a:prstGeom>
          <a:solidFill>
            <a:srgbClr val="7C3AED">
              <a:alpha val="8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1" name="Text 89">
            <a:extLst>
              <a:ext uri="{FF2B5EF4-FFF2-40B4-BE49-F238E27FC236}">
                <a16:creationId xmlns:a16="http://schemas.microsoft.com/office/drawing/2014/main" id="{8CEF51B4-3CA1-479A-862F-7DD932F4CA82}"/>
              </a:ext>
            </a:extLst>
          </p:cNvPr>
          <p:cNvSpPr/>
          <p:nvPr/>
        </p:nvSpPr>
        <p:spPr>
          <a:xfrm>
            <a:off x="4059936" y="6447281"/>
            <a:ext cx="1804416" cy="22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텍스트 데이터</a:t>
            </a:r>
            <a:endParaRPr lang="en-US" sz="1050" dirty="0"/>
          </a:p>
        </p:txBody>
      </p:sp>
      <p:sp>
        <p:nvSpPr>
          <p:cNvPr id="92" name="Shape 90">
            <a:extLst>
              <a:ext uri="{FF2B5EF4-FFF2-40B4-BE49-F238E27FC236}">
                <a16:creationId xmlns:a16="http://schemas.microsoft.com/office/drawing/2014/main" id="{EE379336-305E-4C95-850D-7D7B7BA5229F}"/>
              </a:ext>
            </a:extLst>
          </p:cNvPr>
          <p:cNvSpPr/>
          <p:nvPr/>
        </p:nvSpPr>
        <p:spPr>
          <a:xfrm>
            <a:off x="5986272" y="6447281"/>
            <a:ext cx="1804416" cy="226220"/>
          </a:xfrm>
          <a:prstGeom prst="roundRect">
            <a:avLst/>
          </a:prstGeom>
          <a:solidFill>
            <a:srgbClr val="16A34A">
              <a:alpha val="85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3" name="Text 91">
            <a:extLst>
              <a:ext uri="{FF2B5EF4-FFF2-40B4-BE49-F238E27FC236}">
                <a16:creationId xmlns:a16="http://schemas.microsoft.com/office/drawing/2014/main" id="{AEE40379-BCBE-441F-9785-8D3882F97A2C}"/>
              </a:ext>
            </a:extLst>
          </p:cNvPr>
          <p:cNvSpPr/>
          <p:nvPr/>
        </p:nvSpPr>
        <p:spPr>
          <a:xfrm>
            <a:off x="5986272" y="6447281"/>
            <a:ext cx="1804416" cy="22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순서/시계열</a:t>
            </a:r>
            <a:endParaRPr lang="en-US" sz="1050" dirty="0"/>
          </a:p>
        </p:txBody>
      </p:sp>
      <p:sp>
        <p:nvSpPr>
          <p:cNvPr id="94" name="Shape 92">
            <a:extLst>
              <a:ext uri="{FF2B5EF4-FFF2-40B4-BE49-F238E27FC236}">
                <a16:creationId xmlns:a16="http://schemas.microsoft.com/office/drawing/2014/main" id="{9416857B-B038-4D16-A2BA-78CAE6A02D89}"/>
              </a:ext>
            </a:extLst>
          </p:cNvPr>
          <p:cNvSpPr/>
          <p:nvPr/>
        </p:nvSpPr>
        <p:spPr>
          <a:xfrm>
            <a:off x="7912608" y="6447281"/>
            <a:ext cx="1804416" cy="226220"/>
          </a:xfrm>
          <a:prstGeom prst="roundRect">
            <a:avLst/>
          </a:prstGeom>
          <a:solidFill>
            <a:srgbClr val="DB2777">
              <a:alpha val="85000"/>
            </a:srgbClr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BFBC8E70-D40E-415C-8B9C-611933B05F98}"/>
              </a:ext>
            </a:extLst>
          </p:cNvPr>
          <p:cNvSpPr/>
          <p:nvPr/>
        </p:nvSpPr>
        <p:spPr>
          <a:xfrm>
            <a:off x="7912608" y="6447281"/>
            <a:ext cx="1804416" cy="22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생성 목적</a:t>
            </a:r>
            <a:endParaRPr lang="en-US" sz="1050" dirty="0"/>
          </a:p>
        </p:txBody>
      </p:sp>
      <p:sp>
        <p:nvSpPr>
          <p:cNvPr id="96" name="Shape 94">
            <a:extLst>
              <a:ext uri="{FF2B5EF4-FFF2-40B4-BE49-F238E27FC236}">
                <a16:creationId xmlns:a16="http://schemas.microsoft.com/office/drawing/2014/main" id="{12293116-DD3F-4087-B5B6-C14101ACCC15}"/>
              </a:ext>
            </a:extLst>
          </p:cNvPr>
          <p:cNvSpPr/>
          <p:nvPr/>
        </p:nvSpPr>
        <p:spPr>
          <a:xfrm>
            <a:off x="9838944" y="6447281"/>
            <a:ext cx="1804416" cy="226220"/>
          </a:xfrm>
          <a:prstGeom prst="roundRect">
            <a:avLst/>
          </a:prstGeom>
          <a:solidFill>
            <a:srgbClr val="0D9488">
              <a:alpha val="85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7" name="Text 95">
            <a:extLst>
              <a:ext uri="{FF2B5EF4-FFF2-40B4-BE49-F238E27FC236}">
                <a16:creationId xmlns:a16="http://schemas.microsoft.com/office/drawing/2014/main" id="{BC8F1C1B-6C8A-4908-BA81-1FEB785A84A3}"/>
              </a:ext>
            </a:extLst>
          </p:cNvPr>
          <p:cNvSpPr/>
          <p:nvPr/>
        </p:nvSpPr>
        <p:spPr>
          <a:xfrm>
            <a:off x="9838944" y="6447281"/>
            <a:ext cx="1804416" cy="22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비지도 학습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507664775"/>
      </p:ext>
    </p:extLst>
  </p:cSld>
  <p:clrMapOvr>
    <a:masterClrMapping/>
  </p:clrMapOvr>
  <p:transition spd="slow"/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4385061-1761-48EA-BB1F-6B659EC3361B}"/>
              </a:ext>
            </a:extLst>
          </p:cNvPr>
          <p:cNvSpPr/>
          <p:nvPr/>
        </p:nvSpPr>
        <p:spPr>
          <a:xfrm>
            <a:off x="0" y="0"/>
            <a:ext cx="12192000" cy="204284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4666646-E1A8-466E-8BF0-92FA2926CB3F}"/>
              </a:ext>
            </a:extLst>
          </p:cNvPr>
          <p:cNvSpPr/>
          <p:nvPr/>
        </p:nvSpPr>
        <p:spPr>
          <a:xfrm>
            <a:off x="609600" y="331961"/>
            <a:ext cx="10972800" cy="6639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상세 비교표 ①  —  CNN · RNN · LSTM · GRU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9508196-CF94-4F6C-BCC1-FD0EEA16FC76}"/>
              </a:ext>
            </a:extLst>
          </p:cNvPr>
          <p:cNvSpPr/>
          <p:nvPr/>
        </p:nvSpPr>
        <p:spPr>
          <a:xfrm>
            <a:off x="609600" y="1021419"/>
            <a:ext cx="10972800" cy="38303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9BBE31B-BE76-4A2C-9D08-D52B7A9C6BA9}"/>
              </a:ext>
            </a:extLst>
          </p:cNvPr>
          <p:cNvSpPr/>
          <p:nvPr/>
        </p:nvSpPr>
        <p:spPr>
          <a:xfrm>
            <a:off x="463296" y="1149097"/>
            <a:ext cx="1706880" cy="536245"/>
          </a:xfrm>
          <a:prstGeom prst="rect">
            <a:avLst/>
          </a:prstGeom>
          <a:solidFill>
            <a:srgbClr val="1E3A8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FC3D562-1620-4AEB-956C-40117A7A2102}"/>
              </a:ext>
            </a:extLst>
          </p:cNvPr>
          <p:cNvSpPr/>
          <p:nvPr/>
        </p:nvSpPr>
        <p:spPr>
          <a:xfrm>
            <a:off x="463296" y="1149097"/>
            <a:ext cx="1706880" cy="536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모델</a:t>
            </a:r>
            <a:endParaRPr lang="en-US" sz="1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3FDF551-E045-44EC-B1D9-DF7A2504CDA2}"/>
              </a:ext>
            </a:extLst>
          </p:cNvPr>
          <p:cNvSpPr/>
          <p:nvPr/>
        </p:nvSpPr>
        <p:spPr>
          <a:xfrm>
            <a:off x="2170176" y="1149097"/>
            <a:ext cx="1950720" cy="536245"/>
          </a:xfrm>
          <a:prstGeom prst="rect">
            <a:avLst/>
          </a:prstGeom>
          <a:solidFill>
            <a:srgbClr val="1E3A8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075AB95-3BEE-4BCB-A7BF-950039A4A1EB}"/>
              </a:ext>
            </a:extLst>
          </p:cNvPr>
          <p:cNvSpPr/>
          <p:nvPr/>
        </p:nvSpPr>
        <p:spPr>
          <a:xfrm>
            <a:off x="2170176" y="1149097"/>
            <a:ext cx="1950720" cy="536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풀네임</a:t>
            </a:r>
            <a:endParaRPr lang="en-US" sz="16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BCE41449-30B0-40C9-BAA2-16B2DC05F28D}"/>
              </a:ext>
            </a:extLst>
          </p:cNvPr>
          <p:cNvSpPr/>
          <p:nvPr/>
        </p:nvSpPr>
        <p:spPr>
          <a:xfrm>
            <a:off x="4120896" y="1149097"/>
            <a:ext cx="2438400" cy="536245"/>
          </a:xfrm>
          <a:prstGeom prst="rect">
            <a:avLst/>
          </a:prstGeom>
          <a:solidFill>
            <a:srgbClr val="1E3A8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4FC9C34-5F8E-4D41-AC9B-0DE5401DD67F}"/>
              </a:ext>
            </a:extLst>
          </p:cNvPr>
          <p:cNvSpPr/>
          <p:nvPr/>
        </p:nvSpPr>
        <p:spPr>
          <a:xfrm>
            <a:off x="4120896" y="1149097"/>
            <a:ext cx="2438400" cy="536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주요 용도</a:t>
            </a:r>
            <a:endParaRPr lang="en-US" sz="16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521F855E-AEDE-4535-BD51-7D2BC3BB9960}"/>
              </a:ext>
            </a:extLst>
          </p:cNvPr>
          <p:cNvSpPr/>
          <p:nvPr/>
        </p:nvSpPr>
        <p:spPr>
          <a:xfrm>
            <a:off x="6559296" y="1149097"/>
            <a:ext cx="2804160" cy="536245"/>
          </a:xfrm>
          <a:prstGeom prst="rect">
            <a:avLst/>
          </a:prstGeom>
          <a:solidFill>
            <a:srgbClr val="16A3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3742C85-77DE-4E90-9101-41AE5C7E9348}"/>
              </a:ext>
            </a:extLst>
          </p:cNvPr>
          <p:cNvSpPr/>
          <p:nvPr/>
        </p:nvSpPr>
        <p:spPr>
          <a:xfrm>
            <a:off x="6559296" y="1149097"/>
            <a:ext cx="2804160" cy="536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</a:rPr>
              <a:t>장점</a:t>
            </a:r>
            <a:r>
              <a:rPr lang="en-US" sz="1600" b="1" dirty="0">
                <a:solidFill>
                  <a:srgbClr val="FFFFFF"/>
                </a:solidFill>
              </a:rPr>
              <a:t> </a:t>
            </a:r>
            <a:endParaRPr lang="en-US" sz="16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EF27D724-6790-4D18-BA4A-F69D109D8995}"/>
              </a:ext>
            </a:extLst>
          </p:cNvPr>
          <p:cNvSpPr/>
          <p:nvPr/>
        </p:nvSpPr>
        <p:spPr>
          <a:xfrm>
            <a:off x="9363456" y="1149097"/>
            <a:ext cx="2804160" cy="536245"/>
          </a:xfrm>
          <a:prstGeom prst="rect">
            <a:avLst/>
          </a:prstGeom>
          <a:solidFill>
            <a:srgbClr val="DC262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B60A78D-11DB-48C2-907A-8D1E46EB0082}"/>
              </a:ext>
            </a:extLst>
          </p:cNvPr>
          <p:cNvSpPr/>
          <p:nvPr/>
        </p:nvSpPr>
        <p:spPr>
          <a:xfrm>
            <a:off x="9363456" y="1149097"/>
            <a:ext cx="2804160" cy="536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</a:rPr>
              <a:t>단점</a:t>
            </a:r>
            <a:r>
              <a:rPr lang="en-US" sz="1600" b="1" dirty="0">
                <a:solidFill>
                  <a:srgbClr val="FFFFFF"/>
                </a:solidFill>
              </a:rPr>
              <a:t> </a:t>
            </a:r>
            <a:endParaRPr lang="en-US" sz="16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7B9449B5-A9D2-47F6-8679-CA7545E9767D}"/>
              </a:ext>
            </a:extLst>
          </p:cNvPr>
          <p:cNvSpPr/>
          <p:nvPr/>
        </p:nvSpPr>
        <p:spPr>
          <a:xfrm>
            <a:off x="463296" y="1685342"/>
            <a:ext cx="1706880" cy="1225703"/>
          </a:xfrm>
          <a:prstGeom prst="rect">
            <a:avLst/>
          </a:prstGeom>
          <a:solidFill>
            <a:srgbClr val="EFF6FF"/>
          </a:solidFill>
          <a:ln w="19050">
            <a:solidFill>
              <a:srgbClr val="1D6FD8"/>
            </a:solidFill>
            <a:prstDash val="solid"/>
          </a:ln>
        </p:spPr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6B5550B-2998-424C-90AB-C6397881B88C}"/>
              </a:ext>
            </a:extLst>
          </p:cNvPr>
          <p:cNvSpPr/>
          <p:nvPr/>
        </p:nvSpPr>
        <p:spPr>
          <a:xfrm>
            <a:off x="463296" y="1685342"/>
            <a:ext cx="1706880" cy="122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D6F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CNN</a:t>
            </a:r>
            <a:endParaRPr lang="en-US" sz="16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D70B5AC5-839D-4671-BFF5-1EA73804FEA3}"/>
              </a:ext>
            </a:extLst>
          </p:cNvPr>
          <p:cNvSpPr/>
          <p:nvPr/>
        </p:nvSpPr>
        <p:spPr>
          <a:xfrm>
            <a:off x="2170176" y="1685342"/>
            <a:ext cx="1950720" cy="122570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B82271D-E49C-40E2-A616-25B33F0D803A}"/>
              </a:ext>
            </a:extLst>
          </p:cNvPr>
          <p:cNvSpPr/>
          <p:nvPr/>
        </p:nvSpPr>
        <p:spPr>
          <a:xfrm>
            <a:off x="2292096" y="1761948"/>
            <a:ext cx="175564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Convolutional</a:t>
            </a:r>
            <a:endParaRPr lang="en-US" sz="1600" b="1" dirty="0"/>
          </a:p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</a:t>
            </a:r>
            <a:endParaRPr lang="en-US" sz="1600" b="1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5AAB9380-E5D4-4616-9C38-89C8857D4B4F}"/>
              </a:ext>
            </a:extLst>
          </p:cNvPr>
          <p:cNvSpPr/>
          <p:nvPr/>
        </p:nvSpPr>
        <p:spPr>
          <a:xfrm>
            <a:off x="4120896" y="1685342"/>
            <a:ext cx="2438400" cy="122570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FA3D4BB-B129-4FC3-BF53-473F5F1BD3F2}"/>
              </a:ext>
            </a:extLst>
          </p:cNvPr>
          <p:cNvSpPr/>
          <p:nvPr/>
        </p:nvSpPr>
        <p:spPr>
          <a:xfrm>
            <a:off x="4242816" y="1761948"/>
            <a:ext cx="224332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분류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물체 탐지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의료 영상 분석</a:t>
            </a:r>
            <a:endParaRPr lang="en-US" sz="1200" b="1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8C1AC82E-E3E5-4AB3-B47B-3FCAD5514099}"/>
              </a:ext>
            </a:extLst>
          </p:cNvPr>
          <p:cNvSpPr/>
          <p:nvPr/>
        </p:nvSpPr>
        <p:spPr>
          <a:xfrm>
            <a:off x="6559296" y="1685342"/>
            <a:ext cx="2804160" cy="1225703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5BD446BD-0064-49F7-B46C-89E4CBA74381}"/>
              </a:ext>
            </a:extLst>
          </p:cNvPr>
          <p:cNvSpPr/>
          <p:nvPr/>
        </p:nvSpPr>
        <p:spPr>
          <a:xfrm>
            <a:off x="6681216" y="1761948"/>
            <a:ext cx="260908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이미지에서 특징 자동 추출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공간 정보 보존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빠른 학습 속도</a:t>
            </a:r>
            <a:endParaRPr lang="en-US" sz="1200" b="1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59169779-6A93-4E87-BE92-D420872A709C}"/>
              </a:ext>
            </a:extLst>
          </p:cNvPr>
          <p:cNvSpPr/>
          <p:nvPr/>
        </p:nvSpPr>
        <p:spPr>
          <a:xfrm>
            <a:off x="9363456" y="1685342"/>
            <a:ext cx="2804160" cy="1225703"/>
          </a:xfrm>
          <a:prstGeom prst="rect">
            <a:avLst/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449F7BD-6375-4F02-8A14-11CD76EB9863}"/>
              </a:ext>
            </a:extLst>
          </p:cNvPr>
          <p:cNvSpPr/>
          <p:nvPr/>
        </p:nvSpPr>
        <p:spPr>
          <a:xfrm>
            <a:off x="9485376" y="1761948"/>
            <a:ext cx="260908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순서 데이터에 약함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대용량 데이터 필요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블랙박스 해석 어려움</a:t>
            </a:r>
            <a:endParaRPr lang="en-US" sz="1200" b="1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7440FD8-4DCA-4A30-BB2B-42110BDD9714}"/>
              </a:ext>
            </a:extLst>
          </p:cNvPr>
          <p:cNvSpPr/>
          <p:nvPr/>
        </p:nvSpPr>
        <p:spPr>
          <a:xfrm>
            <a:off x="463296" y="2962116"/>
            <a:ext cx="1706880" cy="1225703"/>
          </a:xfrm>
          <a:prstGeom prst="rect">
            <a:avLst/>
          </a:prstGeom>
          <a:solidFill>
            <a:srgbClr val="F0FDF4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3B04FB90-2554-43D8-8720-32636DD23C19}"/>
              </a:ext>
            </a:extLst>
          </p:cNvPr>
          <p:cNvSpPr/>
          <p:nvPr/>
        </p:nvSpPr>
        <p:spPr>
          <a:xfrm>
            <a:off x="463296" y="2962116"/>
            <a:ext cx="1706880" cy="122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RNN</a:t>
            </a:r>
            <a:endParaRPr lang="en-US" sz="16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6A4CFDC6-1245-4FA7-9144-D3C1E97E01C1}"/>
              </a:ext>
            </a:extLst>
          </p:cNvPr>
          <p:cNvSpPr/>
          <p:nvPr/>
        </p:nvSpPr>
        <p:spPr>
          <a:xfrm>
            <a:off x="2170176" y="2962116"/>
            <a:ext cx="1950720" cy="1225703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4E75496-B610-4FA1-9B43-5C49498E22EF}"/>
              </a:ext>
            </a:extLst>
          </p:cNvPr>
          <p:cNvSpPr/>
          <p:nvPr/>
        </p:nvSpPr>
        <p:spPr>
          <a:xfrm>
            <a:off x="2292096" y="3038723"/>
            <a:ext cx="175564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</a:t>
            </a:r>
            <a:endParaRPr lang="en-US" sz="1600" b="1" dirty="0"/>
          </a:p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</a:t>
            </a:r>
            <a:endParaRPr lang="en-US" sz="1600" b="1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9BA0A6A4-AB85-4C71-8856-481B158F215E}"/>
              </a:ext>
            </a:extLst>
          </p:cNvPr>
          <p:cNvSpPr/>
          <p:nvPr/>
        </p:nvSpPr>
        <p:spPr>
          <a:xfrm>
            <a:off x="4120896" y="2962116"/>
            <a:ext cx="2438400" cy="1225703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84A759AE-42D5-4699-BE8A-1B1CEFD424EC}"/>
              </a:ext>
            </a:extLst>
          </p:cNvPr>
          <p:cNvSpPr/>
          <p:nvPr/>
        </p:nvSpPr>
        <p:spPr>
          <a:xfrm>
            <a:off x="4242816" y="3038723"/>
            <a:ext cx="224332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텍스트 생성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번역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주가 예측</a:t>
            </a:r>
            <a:endParaRPr lang="en-US" sz="1200" b="1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7E56241A-B525-4393-B4A8-EB5756917D7D}"/>
              </a:ext>
            </a:extLst>
          </p:cNvPr>
          <p:cNvSpPr/>
          <p:nvPr/>
        </p:nvSpPr>
        <p:spPr>
          <a:xfrm>
            <a:off x="6559296" y="2962116"/>
            <a:ext cx="2804160" cy="1225703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2A02D4BD-044D-4609-8838-9AF605444E44}"/>
              </a:ext>
            </a:extLst>
          </p:cNvPr>
          <p:cNvSpPr/>
          <p:nvPr/>
        </p:nvSpPr>
        <p:spPr>
          <a:xfrm>
            <a:off x="6681216" y="3038723"/>
            <a:ext cx="260908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순서 데이터 처리 가능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이전 정보 기억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 단순</a:t>
            </a:r>
            <a:endParaRPr lang="en-US" sz="1200" b="1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ADCB144D-3787-4DFE-B65E-935216F131F2}"/>
              </a:ext>
            </a:extLst>
          </p:cNvPr>
          <p:cNvSpPr/>
          <p:nvPr/>
        </p:nvSpPr>
        <p:spPr>
          <a:xfrm>
            <a:off x="9363456" y="2962116"/>
            <a:ext cx="2804160" cy="1225703"/>
          </a:xfrm>
          <a:prstGeom prst="rect">
            <a:avLst/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DF938197-FAC7-4479-AF49-10ED30B9573A}"/>
              </a:ext>
            </a:extLst>
          </p:cNvPr>
          <p:cNvSpPr/>
          <p:nvPr/>
        </p:nvSpPr>
        <p:spPr>
          <a:xfrm>
            <a:off x="9485376" y="3038723"/>
            <a:ext cx="260908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기울기 소실 문제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장기 의존성 약함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병렬 처리 불가</a:t>
            </a:r>
            <a:endParaRPr lang="en-US" sz="1200" b="1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11A6CC40-1D6A-4351-995C-D092E7A6B8D7}"/>
              </a:ext>
            </a:extLst>
          </p:cNvPr>
          <p:cNvSpPr/>
          <p:nvPr/>
        </p:nvSpPr>
        <p:spPr>
          <a:xfrm>
            <a:off x="463296" y="4238890"/>
            <a:ext cx="1706880" cy="1225703"/>
          </a:xfrm>
          <a:prstGeom prst="rect">
            <a:avLst/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B447B275-719F-479F-AC6B-A5829AA0FF1E}"/>
              </a:ext>
            </a:extLst>
          </p:cNvPr>
          <p:cNvSpPr/>
          <p:nvPr/>
        </p:nvSpPr>
        <p:spPr>
          <a:xfrm>
            <a:off x="463296" y="4238890"/>
            <a:ext cx="1706880" cy="122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LSTM</a:t>
            </a:r>
            <a:endParaRPr lang="en-US" sz="160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6BB8A850-851D-4DE8-B339-708972E78966}"/>
              </a:ext>
            </a:extLst>
          </p:cNvPr>
          <p:cNvSpPr/>
          <p:nvPr/>
        </p:nvSpPr>
        <p:spPr>
          <a:xfrm>
            <a:off x="2170176" y="4238890"/>
            <a:ext cx="1950720" cy="122570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671EC468-EEE1-4765-B252-96DCEB05252D}"/>
              </a:ext>
            </a:extLst>
          </p:cNvPr>
          <p:cNvSpPr/>
          <p:nvPr/>
        </p:nvSpPr>
        <p:spPr>
          <a:xfrm>
            <a:off x="2292096" y="4315497"/>
            <a:ext cx="175564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Short-Term</a:t>
            </a:r>
            <a:endParaRPr lang="en-US" sz="1600" b="1" dirty="0"/>
          </a:p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600" b="1" dirty="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0D1A04E9-C4B2-4B8E-B322-67B10F98E2B8}"/>
              </a:ext>
            </a:extLst>
          </p:cNvPr>
          <p:cNvSpPr/>
          <p:nvPr/>
        </p:nvSpPr>
        <p:spPr>
          <a:xfrm>
            <a:off x="4120896" y="4238890"/>
            <a:ext cx="2438400" cy="122570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FAD2736F-7D5E-4840-8E21-28C997512D9F}"/>
              </a:ext>
            </a:extLst>
          </p:cNvPr>
          <p:cNvSpPr/>
          <p:nvPr/>
        </p:nvSpPr>
        <p:spPr>
          <a:xfrm>
            <a:off x="4242816" y="4315497"/>
            <a:ext cx="224332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자연어처리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음성 인식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시계열 예측</a:t>
            </a:r>
            <a:endParaRPr lang="en-US" sz="1200" b="1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1B70E7B4-68EA-4BDB-B56C-F853A20209EC}"/>
              </a:ext>
            </a:extLst>
          </p:cNvPr>
          <p:cNvSpPr/>
          <p:nvPr/>
        </p:nvSpPr>
        <p:spPr>
          <a:xfrm>
            <a:off x="6559296" y="4238890"/>
            <a:ext cx="2804160" cy="1225703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1FCE4AB9-9979-4A60-BCE8-CC544318126E}"/>
              </a:ext>
            </a:extLst>
          </p:cNvPr>
          <p:cNvSpPr/>
          <p:nvPr/>
        </p:nvSpPr>
        <p:spPr>
          <a:xfrm>
            <a:off x="6681216" y="4315497"/>
            <a:ext cx="260908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장기 기억 가능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기울기 소실 해결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RNN보다 정확</a:t>
            </a:r>
            <a:endParaRPr lang="en-US" sz="1200" b="1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1E988D6D-72E4-467B-8D1C-C45245B2993B}"/>
              </a:ext>
            </a:extLst>
          </p:cNvPr>
          <p:cNvSpPr/>
          <p:nvPr/>
        </p:nvSpPr>
        <p:spPr>
          <a:xfrm>
            <a:off x="9363456" y="4238890"/>
            <a:ext cx="2804160" cy="1225703"/>
          </a:xfrm>
          <a:prstGeom prst="rect">
            <a:avLst/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4F4452D8-382E-4CAB-83B9-AE492EBC741A}"/>
              </a:ext>
            </a:extLst>
          </p:cNvPr>
          <p:cNvSpPr/>
          <p:nvPr/>
        </p:nvSpPr>
        <p:spPr>
          <a:xfrm>
            <a:off x="9485376" y="4315497"/>
            <a:ext cx="260908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 복잡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느림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메모리 많이 사용</a:t>
            </a:r>
            <a:endParaRPr lang="en-US" sz="1200" b="1" dirty="0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8A5DD003-B8F7-4100-8C9E-354236D9A923}"/>
              </a:ext>
            </a:extLst>
          </p:cNvPr>
          <p:cNvSpPr/>
          <p:nvPr/>
        </p:nvSpPr>
        <p:spPr>
          <a:xfrm>
            <a:off x="463296" y="5515665"/>
            <a:ext cx="1706880" cy="1225703"/>
          </a:xfrm>
          <a:prstGeom prst="rect">
            <a:avLst/>
          </a:prstGeom>
          <a:solidFill>
            <a:srgbClr val="F0FDFA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ECA5FC76-1F19-49CA-900A-2FA93F090EB2}"/>
              </a:ext>
            </a:extLst>
          </p:cNvPr>
          <p:cNvSpPr/>
          <p:nvPr/>
        </p:nvSpPr>
        <p:spPr>
          <a:xfrm>
            <a:off x="463296" y="5515665"/>
            <a:ext cx="1706880" cy="122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GRU</a:t>
            </a:r>
            <a:endParaRPr lang="en-US" sz="1600" dirty="0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CFD0777B-D313-41A7-80AD-D5422B33EB67}"/>
              </a:ext>
            </a:extLst>
          </p:cNvPr>
          <p:cNvSpPr/>
          <p:nvPr/>
        </p:nvSpPr>
        <p:spPr>
          <a:xfrm>
            <a:off x="2170176" y="5515665"/>
            <a:ext cx="1950720" cy="1225703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19347E28-2061-40F6-AF3D-95D4CAEBC32F}"/>
              </a:ext>
            </a:extLst>
          </p:cNvPr>
          <p:cNvSpPr/>
          <p:nvPr/>
        </p:nvSpPr>
        <p:spPr>
          <a:xfrm>
            <a:off x="2292096" y="5592271"/>
            <a:ext cx="175564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Recurrent</a:t>
            </a:r>
            <a:endParaRPr lang="en-US" sz="1600" b="1" dirty="0"/>
          </a:p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600" b="1" dirty="0"/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5BDCADA7-D4BD-4609-8B13-2CB9793823FB}"/>
              </a:ext>
            </a:extLst>
          </p:cNvPr>
          <p:cNvSpPr/>
          <p:nvPr/>
        </p:nvSpPr>
        <p:spPr>
          <a:xfrm>
            <a:off x="4120896" y="5515665"/>
            <a:ext cx="2438400" cy="1225703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21FEFF9B-6BD0-44A9-B0A1-789524A7CC19}"/>
              </a:ext>
            </a:extLst>
          </p:cNvPr>
          <p:cNvSpPr/>
          <p:nvPr/>
        </p:nvSpPr>
        <p:spPr>
          <a:xfrm>
            <a:off x="4242816" y="5592271"/>
            <a:ext cx="224332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텍스트 분류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감정 분석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기계 번역</a:t>
            </a:r>
            <a:endParaRPr lang="en-US" sz="1200" b="1" dirty="0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6B567C7B-2368-4208-AA87-4BBDA2699531}"/>
              </a:ext>
            </a:extLst>
          </p:cNvPr>
          <p:cNvSpPr/>
          <p:nvPr/>
        </p:nvSpPr>
        <p:spPr>
          <a:xfrm>
            <a:off x="6559296" y="5515665"/>
            <a:ext cx="2804160" cy="1225703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A2ADD1DB-336D-4C4A-97AE-A8DA799BC20E}"/>
              </a:ext>
            </a:extLst>
          </p:cNvPr>
          <p:cNvSpPr/>
          <p:nvPr/>
        </p:nvSpPr>
        <p:spPr>
          <a:xfrm>
            <a:off x="6681216" y="5592271"/>
            <a:ext cx="260908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LSTM보다 단순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빠름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적은 데이터에도 강함</a:t>
            </a:r>
            <a:endParaRPr lang="en-US" sz="1200" b="1" dirty="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607830EC-C7B0-4476-BC78-819DBAF24E2B}"/>
              </a:ext>
            </a:extLst>
          </p:cNvPr>
          <p:cNvSpPr/>
          <p:nvPr/>
        </p:nvSpPr>
        <p:spPr>
          <a:xfrm>
            <a:off x="9363456" y="5515665"/>
            <a:ext cx="2804160" cy="1225703"/>
          </a:xfrm>
          <a:prstGeom prst="rect">
            <a:avLst/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EBEEFE96-2C35-4816-A9FB-17AB1CA0279D}"/>
              </a:ext>
            </a:extLst>
          </p:cNvPr>
          <p:cNvSpPr/>
          <p:nvPr/>
        </p:nvSpPr>
        <p:spPr>
          <a:xfrm>
            <a:off x="9485376" y="5592271"/>
            <a:ext cx="260908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LSTM보다 표현력 낮음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복잡한 패턴에 한계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긴 시퀀스에 약함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585299570"/>
      </p:ext>
    </p:extLst>
  </p:cSld>
  <p:clrMapOvr>
    <a:masterClrMapping/>
  </p:clrMapOvr>
  <p:transition spd="slow"/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68582B3-EE45-4B1C-8A9C-04E9E632690A}"/>
              </a:ext>
            </a:extLst>
          </p:cNvPr>
          <p:cNvSpPr/>
          <p:nvPr/>
        </p:nvSpPr>
        <p:spPr>
          <a:xfrm>
            <a:off x="0" y="0"/>
            <a:ext cx="12192000" cy="20646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2478AF8-3464-4105-942A-3EA5334251D7}"/>
              </a:ext>
            </a:extLst>
          </p:cNvPr>
          <p:cNvSpPr/>
          <p:nvPr/>
        </p:nvSpPr>
        <p:spPr>
          <a:xfrm>
            <a:off x="609600" y="335507"/>
            <a:ext cx="10972800" cy="6710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상세 비교표 ②  —  Transformer · BERT · GPT · GAN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5E41735-34BB-4FA7-BCF3-245835CC098A}"/>
              </a:ext>
            </a:extLst>
          </p:cNvPr>
          <p:cNvSpPr/>
          <p:nvPr/>
        </p:nvSpPr>
        <p:spPr>
          <a:xfrm>
            <a:off x="609600" y="1032330"/>
            <a:ext cx="10972800" cy="3871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9C0E912-62F5-402A-AAC2-885C2C468409}"/>
              </a:ext>
            </a:extLst>
          </p:cNvPr>
          <p:cNvSpPr/>
          <p:nvPr/>
        </p:nvSpPr>
        <p:spPr>
          <a:xfrm>
            <a:off x="463296" y="1161371"/>
            <a:ext cx="1828800" cy="541973"/>
          </a:xfrm>
          <a:prstGeom prst="rect">
            <a:avLst/>
          </a:prstGeom>
          <a:solidFill>
            <a:srgbClr val="4C1D9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0C61A68-9C6E-48AA-B2CF-A057DA660B18}"/>
              </a:ext>
            </a:extLst>
          </p:cNvPr>
          <p:cNvSpPr/>
          <p:nvPr/>
        </p:nvSpPr>
        <p:spPr>
          <a:xfrm>
            <a:off x="463296" y="1161371"/>
            <a:ext cx="1828800" cy="541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모델</a:t>
            </a:r>
            <a:endParaRPr lang="en-US" sz="14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EA8C44B-B4D4-4FE4-9151-C10A16853883}"/>
              </a:ext>
            </a:extLst>
          </p:cNvPr>
          <p:cNvSpPr/>
          <p:nvPr/>
        </p:nvSpPr>
        <p:spPr>
          <a:xfrm>
            <a:off x="2292096" y="1161371"/>
            <a:ext cx="1950720" cy="541973"/>
          </a:xfrm>
          <a:prstGeom prst="rect">
            <a:avLst/>
          </a:prstGeom>
          <a:solidFill>
            <a:srgbClr val="4C1D9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F7AD8DE-5DD4-45D9-81BB-CF98B43DA39C}"/>
              </a:ext>
            </a:extLst>
          </p:cNvPr>
          <p:cNvSpPr/>
          <p:nvPr/>
        </p:nvSpPr>
        <p:spPr>
          <a:xfrm>
            <a:off x="2292096" y="1161371"/>
            <a:ext cx="1950720" cy="541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풀네임</a:t>
            </a:r>
            <a:endParaRPr lang="en-US" sz="14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AB68AC5-373D-4B27-9FFE-A860E67F5BE3}"/>
              </a:ext>
            </a:extLst>
          </p:cNvPr>
          <p:cNvSpPr/>
          <p:nvPr/>
        </p:nvSpPr>
        <p:spPr>
          <a:xfrm>
            <a:off x="4242816" y="1161371"/>
            <a:ext cx="2438400" cy="541973"/>
          </a:xfrm>
          <a:prstGeom prst="rect">
            <a:avLst/>
          </a:prstGeom>
          <a:solidFill>
            <a:srgbClr val="4C1D9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B9205A1-40BD-4D51-AE58-4BDD735BE904}"/>
              </a:ext>
            </a:extLst>
          </p:cNvPr>
          <p:cNvSpPr/>
          <p:nvPr/>
        </p:nvSpPr>
        <p:spPr>
          <a:xfrm>
            <a:off x="4242816" y="1161371"/>
            <a:ext cx="2438400" cy="541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주요 용도</a:t>
            </a:r>
            <a:endParaRPr lang="en-US" sz="14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17BA150F-64A0-4D9E-8EB1-05FE544740C5}"/>
              </a:ext>
            </a:extLst>
          </p:cNvPr>
          <p:cNvSpPr/>
          <p:nvPr/>
        </p:nvSpPr>
        <p:spPr>
          <a:xfrm>
            <a:off x="6681216" y="1161371"/>
            <a:ext cx="2682240" cy="541973"/>
          </a:xfrm>
          <a:prstGeom prst="rect">
            <a:avLst/>
          </a:prstGeom>
          <a:solidFill>
            <a:srgbClr val="16A3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E49BADA-5BD5-4DDB-8A8B-747FD6BE6E76}"/>
              </a:ext>
            </a:extLst>
          </p:cNvPr>
          <p:cNvSpPr/>
          <p:nvPr/>
        </p:nvSpPr>
        <p:spPr>
          <a:xfrm>
            <a:off x="6681216" y="1161371"/>
            <a:ext cx="2682240" cy="541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FFFFFF"/>
                </a:solidFill>
              </a:rPr>
              <a:t>장점</a:t>
            </a:r>
            <a:endParaRPr lang="en-US" sz="14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0FD37FF-E259-40E7-9777-4721951B3C6D}"/>
              </a:ext>
            </a:extLst>
          </p:cNvPr>
          <p:cNvSpPr/>
          <p:nvPr/>
        </p:nvSpPr>
        <p:spPr>
          <a:xfrm>
            <a:off x="9363456" y="1161371"/>
            <a:ext cx="2804160" cy="541973"/>
          </a:xfrm>
          <a:prstGeom prst="rect">
            <a:avLst/>
          </a:prstGeom>
          <a:solidFill>
            <a:srgbClr val="DC262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A6AD2ED-A9DA-4C54-84F5-9281BCD20886}"/>
              </a:ext>
            </a:extLst>
          </p:cNvPr>
          <p:cNvSpPr/>
          <p:nvPr/>
        </p:nvSpPr>
        <p:spPr>
          <a:xfrm>
            <a:off x="9363456" y="1161371"/>
            <a:ext cx="2804160" cy="541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FFFFFF"/>
                </a:solidFill>
              </a:rPr>
              <a:t>단점</a:t>
            </a:r>
            <a:r>
              <a:rPr lang="en-US" sz="1400" b="1" dirty="0">
                <a:solidFill>
                  <a:srgbClr val="FFFFFF"/>
                </a:solidFill>
              </a:rPr>
              <a:t> </a:t>
            </a:r>
            <a:endParaRPr lang="en-US" sz="14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39167EA5-6641-4149-AA1E-F004AFD1768D}"/>
              </a:ext>
            </a:extLst>
          </p:cNvPr>
          <p:cNvSpPr/>
          <p:nvPr/>
        </p:nvSpPr>
        <p:spPr>
          <a:xfrm>
            <a:off x="463296" y="1703344"/>
            <a:ext cx="1828800" cy="1238796"/>
          </a:xfrm>
          <a:prstGeom prst="rect">
            <a:avLst/>
          </a:prstGeom>
          <a:solidFill>
            <a:srgbClr val="FFF7ED"/>
          </a:solidFill>
          <a:ln w="19050">
            <a:solidFill>
              <a:srgbClr val="EA580C"/>
            </a:solidFill>
            <a:prstDash val="solid"/>
          </a:ln>
        </p:spPr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69D256A-6C5C-4081-86BD-36AA4CB7D8DB}"/>
              </a:ext>
            </a:extLst>
          </p:cNvPr>
          <p:cNvSpPr/>
          <p:nvPr/>
        </p:nvSpPr>
        <p:spPr>
          <a:xfrm>
            <a:off x="463296" y="1703344"/>
            <a:ext cx="1828800" cy="1238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Trans-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former</a:t>
            </a:r>
            <a:endParaRPr lang="en-US" sz="14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70D7F2B8-1A26-4E27-AE1A-BE6C093CDDBD}"/>
              </a:ext>
            </a:extLst>
          </p:cNvPr>
          <p:cNvSpPr/>
          <p:nvPr/>
        </p:nvSpPr>
        <p:spPr>
          <a:xfrm>
            <a:off x="2292096" y="1703344"/>
            <a:ext cx="1950720" cy="12387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D3B6D33E-65ED-4C52-8314-A669C8885373}"/>
              </a:ext>
            </a:extLst>
          </p:cNvPr>
          <p:cNvSpPr/>
          <p:nvPr/>
        </p:nvSpPr>
        <p:spPr>
          <a:xfrm>
            <a:off x="2414016" y="1780769"/>
            <a:ext cx="1755648" cy="10839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(Attention Is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You Need)</a:t>
            </a:r>
            <a:endParaRPr lang="en-US" sz="1200" b="1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5FC73E2E-E244-4A8A-972C-71C8B5CB5C8D}"/>
              </a:ext>
            </a:extLst>
          </p:cNvPr>
          <p:cNvSpPr/>
          <p:nvPr/>
        </p:nvSpPr>
        <p:spPr>
          <a:xfrm>
            <a:off x="4242816" y="1703344"/>
            <a:ext cx="2438400" cy="12387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5E67931F-A2CC-4310-951A-F044ACF0BB43}"/>
              </a:ext>
            </a:extLst>
          </p:cNvPr>
          <p:cNvSpPr/>
          <p:nvPr/>
        </p:nvSpPr>
        <p:spPr>
          <a:xfrm>
            <a:off x="4364736" y="1780769"/>
            <a:ext cx="2243328" cy="10839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번역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질의응답</a:t>
            </a:r>
            <a:endParaRPr lang="en-US" sz="1200" b="1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B548A316-66D0-42B9-9894-5254BB9C8D60}"/>
              </a:ext>
            </a:extLst>
          </p:cNvPr>
          <p:cNvSpPr/>
          <p:nvPr/>
        </p:nvSpPr>
        <p:spPr>
          <a:xfrm>
            <a:off x="6681216" y="1703344"/>
            <a:ext cx="2682240" cy="1238796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99BE3C96-E494-456B-919E-E81F54984FCF}"/>
              </a:ext>
            </a:extLst>
          </p:cNvPr>
          <p:cNvSpPr/>
          <p:nvPr/>
        </p:nvSpPr>
        <p:spPr>
          <a:xfrm>
            <a:off x="6803136" y="1780769"/>
            <a:ext cx="2487168" cy="10839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병렬 처리 가능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장거리 의존성 처리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AI의 표준 구조</a:t>
            </a:r>
            <a:endParaRPr lang="en-US" sz="1200" b="1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B8BEEB6E-C7E3-4728-AEEC-8529ECD97BC1}"/>
              </a:ext>
            </a:extLst>
          </p:cNvPr>
          <p:cNvSpPr/>
          <p:nvPr/>
        </p:nvSpPr>
        <p:spPr>
          <a:xfrm>
            <a:off x="9363456" y="1703344"/>
            <a:ext cx="2804160" cy="1238796"/>
          </a:xfrm>
          <a:prstGeom prst="rect">
            <a:avLst/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6E04862-3289-404E-B804-D694C487365C}"/>
              </a:ext>
            </a:extLst>
          </p:cNvPr>
          <p:cNvSpPr/>
          <p:nvPr/>
        </p:nvSpPr>
        <p:spPr>
          <a:xfrm>
            <a:off x="9485376" y="1780769"/>
            <a:ext cx="2609088" cy="10839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대용량 메모리 필요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비용 매우 높음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짧은 텍스트엔 과함</a:t>
            </a:r>
            <a:endParaRPr lang="en-US" sz="1200" b="1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7012C59F-A8CA-44CD-9508-AA46CF903F06}"/>
              </a:ext>
            </a:extLst>
          </p:cNvPr>
          <p:cNvSpPr/>
          <p:nvPr/>
        </p:nvSpPr>
        <p:spPr>
          <a:xfrm>
            <a:off x="463296" y="2993756"/>
            <a:ext cx="1828800" cy="1238796"/>
          </a:xfrm>
          <a:prstGeom prst="rect">
            <a:avLst/>
          </a:prstGeom>
          <a:solidFill>
            <a:srgbClr val="EFF6FF"/>
          </a:solidFill>
          <a:ln w="19050">
            <a:solidFill>
              <a:srgbClr val="1D6FD8"/>
            </a:solidFill>
            <a:prstDash val="solid"/>
          </a:ln>
        </p:spPr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773EA08-48ED-4B80-92C2-4E4146E65B50}"/>
              </a:ext>
            </a:extLst>
          </p:cNvPr>
          <p:cNvSpPr/>
          <p:nvPr/>
        </p:nvSpPr>
        <p:spPr>
          <a:xfrm>
            <a:off x="463296" y="2993756"/>
            <a:ext cx="1828800" cy="1238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6F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BERT</a:t>
            </a:r>
            <a:endParaRPr lang="en-US" sz="14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022F1271-0C45-4598-9260-06A43437118F}"/>
              </a:ext>
            </a:extLst>
          </p:cNvPr>
          <p:cNvSpPr/>
          <p:nvPr/>
        </p:nvSpPr>
        <p:spPr>
          <a:xfrm>
            <a:off x="2292096" y="2993756"/>
            <a:ext cx="1950720" cy="123879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AFFBBBF-C7C9-4106-B245-9B828164D4BD}"/>
              </a:ext>
            </a:extLst>
          </p:cNvPr>
          <p:cNvSpPr/>
          <p:nvPr/>
        </p:nvSpPr>
        <p:spPr>
          <a:xfrm>
            <a:off x="2414016" y="3071181"/>
            <a:ext cx="1755648" cy="10839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Rep.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Transformers</a:t>
            </a:r>
            <a:endParaRPr lang="en-US" sz="1200" b="1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F49989D7-7BA2-4DFC-BC62-557E2A138E3D}"/>
              </a:ext>
            </a:extLst>
          </p:cNvPr>
          <p:cNvSpPr/>
          <p:nvPr/>
        </p:nvSpPr>
        <p:spPr>
          <a:xfrm>
            <a:off x="4242816" y="2993756"/>
            <a:ext cx="2438400" cy="123879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4C7020D5-EA2F-47C0-BDBB-A76DD2736D77}"/>
              </a:ext>
            </a:extLst>
          </p:cNvPr>
          <p:cNvSpPr/>
          <p:nvPr/>
        </p:nvSpPr>
        <p:spPr>
          <a:xfrm>
            <a:off x="4364736" y="3071181"/>
            <a:ext cx="2243328" cy="10839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감정 분석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 분류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개체명 인식</a:t>
            </a:r>
            <a:endParaRPr lang="en-US" sz="1200" b="1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FEF1CCDF-C68A-471A-8BB9-FA5145BDB504}"/>
              </a:ext>
            </a:extLst>
          </p:cNvPr>
          <p:cNvSpPr/>
          <p:nvPr/>
        </p:nvSpPr>
        <p:spPr>
          <a:xfrm>
            <a:off x="6681216" y="2993756"/>
            <a:ext cx="2682240" cy="1238796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3436C2CA-3D10-4EA0-BF7D-707ACECF8057}"/>
              </a:ext>
            </a:extLst>
          </p:cNvPr>
          <p:cNvSpPr/>
          <p:nvPr/>
        </p:nvSpPr>
        <p:spPr>
          <a:xfrm>
            <a:off x="6803136" y="3071181"/>
            <a:ext cx="2487168" cy="10839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양방향 문맥 이해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파인튜닝 쉬움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다양한 NLP 태스크</a:t>
            </a:r>
            <a:endParaRPr lang="en-US" sz="1200" b="1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6FAD21C-FF15-4EE4-86ED-617A74DEC0EA}"/>
              </a:ext>
            </a:extLst>
          </p:cNvPr>
          <p:cNvSpPr/>
          <p:nvPr/>
        </p:nvSpPr>
        <p:spPr>
          <a:xfrm>
            <a:off x="9363456" y="2993756"/>
            <a:ext cx="2804160" cy="1238796"/>
          </a:xfrm>
          <a:prstGeom prst="rect">
            <a:avLst/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08BD3CEC-1FA2-4185-9BCC-F16E8B3B9A58}"/>
              </a:ext>
            </a:extLst>
          </p:cNvPr>
          <p:cNvSpPr/>
          <p:nvPr/>
        </p:nvSpPr>
        <p:spPr>
          <a:xfrm>
            <a:off x="9485376" y="3071181"/>
            <a:ext cx="2609088" cy="10839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텍스트 생성 불가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크기 큼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 속도 느림</a:t>
            </a:r>
            <a:endParaRPr lang="en-US" sz="1200" b="1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5C141AC3-0705-43D4-B345-82C0AE1650AA}"/>
              </a:ext>
            </a:extLst>
          </p:cNvPr>
          <p:cNvSpPr/>
          <p:nvPr/>
        </p:nvSpPr>
        <p:spPr>
          <a:xfrm>
            <a:off x="463296" y="4284168"/>
            <a:ext cx="1828800" cy="1238796"/>
          </a:xfrm>
          <a:prstGeom prst="rect">
            <a:avLst/>
          </a:prstGeom>
          <a:solidFill>
            <a:srgbClr val="F0FDF4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1C3CCC1E-B373-4EAE-9E93-FAE33FDA0EF5}"/>
              </a:ext>
            </a:extLst>
          </p:cNvPr>
          <p:cNvSpPr/>
          <p:nvPr/>
        </p:nvSpPr>
        <p:spPr>
          <a:xfrm>
            <a:off x="463296" y="4284168"/>
            <a:ext cx="1828800" cy="1238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GPT</a:t>
            </a:r>
            <a:endParaRPr lang="en-US" sz="140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BCF7D474-EED5-4302-807F-AF92AA2C430A}"/>
              </a:ext>
            </a:extLst>
          </p:cNvPr>
          <p:cNvSpPr/>
          <p:nvPr/>
        </p:nvSpPr>
        <p:spPr>
          <a:xfrm>
            <a:off x="2292096" y="4284168"/>
            <a:ext cx="1950720" cy="12387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3D7D05AE-3848-4BB4-9EC5-3E61778E015A}"/>
              </a:ext>
            </a:extLst>
          </p:cNvPr>
          <p:cNvSpPr/>
          <p:nvPr/>
        </p:nvSpPr>
        <p:spPr>
          <a:xfrm>
            <a:off x="2414016" y="4361593"/>
            <a:ext cx="1755648" cy="10839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200" b="1" dirty="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F78AD223-5FC6-449F-AE13-C257B0F8A62A}"/>
              </a:ext>
            </a:extLst>
          </p:cNvPr>
          <p:cNvSpPr/>
          <p:nvPr/>
        </p:nvSpPr>
        <p:spPr>
          <a:xfrm>
            <a:off x="4242816" y="4284168"/>
            <a:ext cx="2438400" cy="12387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B4F81835-F613-45C6-943C-E9B2205FCFC8}"/>
              </a:ext>
            </a:extLst>
          </p:cNvPr>
          <p:cNvSpPr/>
          <p:nvPr/>
        </p:nvSpPr>
        <p:spPr>
          <a:xfrm>
            <a:off x="4364736" y="4361593"/>
            <a:ext cx="2243328" cy="10839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텍스트 생성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챗봇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생성</a:t>
            </a:r>
            <a:endParaRPr lang="en-US" sz="1200" b="1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E11CC605-64A7-4FDF-AB80-D7A5BE8F92A8}"/>
              </a:ext>
            </a:extLst>
          </p:cNvPr>
          <p:cNvSpPr/>
          <p:nvPr/>
        </p:nvSpPr>
        <p:spPr>
          <a:xfrm>
            <a:off x="6681216" y="4284168"/>
            <a:ext cx="2682240" cy="1238796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AE3D484C-082C-4DD2-BFD8-D08DBE706290}"/>
              </a:ext>
            </a:extLst>
          </p:cNvPr>
          <p:cNvSpPr/>
          <p:nvPr/>
        </p:nvSpPr>
        <p:spPr>
          <a:xfrm>
            <a:off x="6803136" y="4361593"/>
            <a:ext cx="2487168" cy="10839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뛰어난 텍스트 생성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다양한 태스크 수행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창의적 글쓰기 가능</a:t>
            </a:r>
            <a:endParaRPr lang="en-US" sz="1200" b="1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18039D32-30EE-47FD-BD69-F9B3E97A9212}"/>
              </a:ext>
            </a:extLst>
          </p:cNvPr>
          <p:cNvSpPr/>
          <p:nvPr/>
        </p:nvSpPr>
        <p:spPr>
          <a:xfrm>
            <a:off x="9363456" y="4284168"/>
            <a:ext cx="2804160" cy="1238796"/>
          </a:xfrm>
          <a:prstGeom prst="rect">
            <a:avLst/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9814E935-7DE8-44C4-9631-7258FF150237}"/>
              </a:ext>
            </a:extLst>
          </p:cNvPr>
          <p:cNvSpPr/>
          <p:nvPr/>
        </p:nvSpPr>
        <p:spPr>
          <a:xfrm>
            <a:off x="9485376" y="4361593"/>
            <a:ext cx="2609088" cy="10839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단방향 처리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환각(hallucination)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비용 매우 높음</a:t>
            </a:r>
            <a:endParaRPr lang="en-US" sz="1200" b="1" dirty="0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74AAC0CD-2567-4BB6-8558-1D9E04223FB1}"/>
              </a:ext>
            </a:extLst>
          </p:cNvPr>
          <p:cNvSpPr/>
          <p:nvPr/>
        </p:nvSpPr>
        <p:spPr>
          <a:xfrm>
            <a:off x="463296" y="5574580"/>
            <a:ext cx="1828800" cy="1238796"/>
          </a:xfrm>
          <a:prstGeom prst="rect">
            <a:avLst/>
          </a:prstGeom>
          <a:solidFill>
            <a:srgbClr val="FDF2F8"/>
          </a:solidFill>
          <a:ln w="19050">
            <a:solidFill>
              <a:srgbClr val="DB2777"/>
            </a:solidFill>
            <a:prstDash val="solid"/>
          </a:ln>
        </p:spPr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C22D9657-8C3E-4E54-BC9C-81323D757A95}"/>
              </a:ext>
            </a:extLst>
          </p:cNvPr>
          <p:cNvSpPr/>
          <p:nvPr/>
        </p:nvSpPr>
        <p:spPr>
          <a:xfrm>
            <a:off x="463296" y="5574580"/>
            <a:ext cx="1828800" cy="1238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B27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GAN</a:t>
            </a:r>
            <a:endParaRPr lang="en-US" sz="1400" dirty="0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3A827504-1144-4AB5-9530-7D89ABC00906}"/>
              </a:ext>
            </a:extLst>
          </p:cNvPr>
          <p:cNvSpPr/>
          <p:nvPr/>
        </p:nvSpPr>
        <p:spPr>
          <a:xfrm>
            <a:off x="2292096" y="5574580"/>
            <a:ext cx="1950720" cy="123879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A093D565-0D4F-498D-B98C-0CDCD84D03A2}"/>
              </a:ext>
            </a:extLst>
          </p:cNvPr>
          <p:cNvSpPr/>
          <p:nvPr/>
        </p:nvSpPr>
        <p:spPr>
          <a:xfrm>
            <a:off x="2414016" y="5652005"/>
            <a:ext cx="1755648" cy="10839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200" b="1" dirty="0"/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35974503-70DB-4F71-A1D9-E90073854633}"/>
              </a:ext>
            </a:extLst>
          </p:cNvPr>
          <p:cNvSpPr/>
          <p:nvPr/>
        </p:nvSpPr>
        <p:spPr>
          <a:xfrm>
            <a:off x="4242816" y="5574580"/>
            <a:ext cx="2438400" cy="123879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BE8C34F7-6875-4726-93A6-554E66E5AFCC}"/>
              </a:ext>
            </a:extLst>
          </p:cNvPr>
          <p:cNvSpPr/>
          <p:nvPr/>
        </p:nvSpPr>
        <p:spPr>
          <a:xfrm>
            <a:off x="4364736" y="5652005"/>
            <a:ext cx="2243328" cy="10839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생성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딥페이크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증강</a:t>
            </a:r>
            <a:endParaRPr lang="en-US" sz="1200" b="1" dirty="0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3A88A727-B788-454D-AAEF-A4D366E8538B}"/>
              </a:ext>
            </a:extLst>
          </p:cNvPr>
          <p:cNvSpPr/>
          <p:nvPr/>
        </p:nvSpPr>
        <p:spPr>
          <a:xfrm>
            <a:off x="6681216" y="5574580"/>
            <a:ext cx="2682240" cy="1238796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5245484B-811A-413E-B29B-08DF892C4520}"/>
              </a:ext>
            </a:extLst>
          </p:cNvPr>
          <p:cNvSpPr/>
          <p:nvPr/>
        </p:nvSpPr>
        <p:spPr>
          <a:xfrm>
            <a:off x="6803136" y="5652005"/>
            <a:ext cx="2487168" cy="10839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매우 사실적인 생성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다양한 데이터 생성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품질 우수</a:t>
            </a:r>
            <a:endParaRPr lang="en-US" sz="1200" b="1" dirty="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E478D73F-D06F-4088-89B1-0E631C8ED124}"/>
              </a:ext>
            </a:extLst>
          </p:cNvPr>
          <p:cNvSpPr/>
          <p:nvPr/>
        </p:nvSpPr>
        <p:spPr>
          <a:xfrm>
            <a:off x="9363456" y="5574580"/>
            <a:ext cx="2804160" cy="1238796"/>
          </a:xfrm>
          <a:prstGeom prst="rect">
            <a:avLst/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846D9940-6776-410C-826B-9B0496498AA5}"/>
              </a:ext>
            </a:extLst>
          </p:cNvPr>
          <p:cNvSpPr/>
          <p:nvPr/>
        </p:nvSpPr>
        <p:spPr>
          <a:xfrm>
            <a:off x="9485376" y="5652005"/>
            <a:ext cx="2609088" cy="10839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불안정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모드 붕괴 문제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평가 지표 불명확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398209267"/>
      </p:ext>
    </p:extLst>
  </p:cSld>
  <p:clrMapOvr>
    <a:masterClrMapping/>
  </p:clrMapOvr>
  <p:transition spd="slow"/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D513BED-2D9F-4988-AB91-96BE42C23924}"/>
              </a:ext>
            </a:extLst>
          </p:cNvPr>
          <p:cNvSpPr/>
          <p:nvPr/>
        </p:nvSpPr>
        <p:spPr>
          <a:xfrm>
            <a:off x="0" y="0"/>
            <a:ext cx="12192000" cy="2042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7DA2699-0DAB-4E1A-9A2A-421304E5E080}"/>
              </a:ext>
            </a:extLst>
          </p:cNvPr>
          <p:cNvSpPr/>
          <p:nvPr/>
        </p:nvSpPr>
        <p:spPr>
          <a:xfrm>
            <a:off x="609600" y="331961"/>
            <a:ext cx="10972800" cy="6639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상세 비교표 ③  —  AutoEncoder · Diffusion · ResNet · YOLO</a:t>
            </a:r>
            <a:endParaRPr lang="en-US" sz="2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458EF3D-1241-41D6-9330-347B1D9F0528}"/>
              </a:ext>
            </a:extLst>
          </p:cNvPr>
          <p:cNvSpPr/>
          <p:nvPr/>
        </p:nvSpPr>
        <p:spPr>
          <a:xfrm>
            <a:off x="609600" y="1021419"/>
            <a:ext cx="10972800" cy="38303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EE9907D-9CAF-4DD3-8889-6245F040AA62}"/>
              </a:ext>
            </a:extLst>
          </p:cNvPr>
          <p:cNvSpPr/>
          <p:nvPr/>
        </p:nvSpPr>
        <p:spPr>
          <a:xfrm>
            <a:off x="463296" y="1149097"/>
            <a:ext cx="1828800" cy="536245"/>
          </a:xfrm>
          <a:prstGeom prst="rect">
            <a:avLst/>
          </a:prstGeom>
          <a:solidFill>
            <a:srgbClr val="0F766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BD840D7-BA88-4828-82A9-405CBDA75B1D}"/>
              </a:ext>
            </a:extLst>
          </p:cNvPr>
          <p:cNvSpPr/>
          <p:nvPr/>
        </p:nvSpPr>
        <p:spPr>
          <a:xfrm>
            <a:off x="463296" y="1149097"/>
            <a:ext cx="1828800" cy="536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모델</a:t>
            </a:r>
            <a:endParaRPr lang="en-US" sz="14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FBE8261-937C-4581-93A3-95A9DD88A196}"/>
              </a:ext>
            </a:extLst>
          </p:cNvPr>
          <p:cNvSpPr/>
          <p:nvPr/>
        </p:nvSpPr>
        <p:spPr>
          <a:xfrm>
            <a:off x="2292096" y="1149097"/>
            <a:ext cx="1950720" cy="536245"/>
          </a:xfrm>
          <a:prstGeom prst="rect">
            <a:avLst/>
          </a:prstGeom>
          <a:solidFill>
            <a:srgbClr val="0F766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6DA65FC-8023-4FBD-A0C2-7461A6BCC308}"/>
              </a:ext>
            </a:extLst>
          </p:cNvPr>
          <p:cNvSpPr/>
          <p:nvPr/>
        </p:nvSpPr>
        <p:spPr>
          <a:xfrm>
            <a:off x="2292096" y="1149097"/>
            <a:ext cx="1950720" cy="536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풀네임</a:t>
            </a:r>
            <a:endParaRPr lang="en-US" sz="14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9F1F0DAE-9FDE-413C-B13A-CC6180A507F1}"/>
              </a:ext>
            </a:extLst>
          </p:cNvPr>
          <p:cNvSpPr/>
          <p:nvPr/>
        </p:nvSpPr>
        <p:spPr>
          <a:xfrm>
            <a:off x="4242816" y="1149097"/>
            <a:ext cx="2438400" cy="536245"/>
          </a:xfrm>
          <a:prstGeom prst="rect">
            <a:avLst/>
          </a:prstGeom>
          <a:solidFill>
            <a:srgbClr val="0F766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42D0095-B224-4264-9132-8809D906236C}"/>
              </a:ext>
            </a:extLst>
          </p:cNvPr>
          <p:cNvSpPr/>
          <p:nvPr/>
        </p:nvSpPr>
        <p:spPr>
          <a:xfrm>
            <a:off x="4242816" y="1149097"/>
            <a:ext cx="2438400" cy="536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주요 용도</a:t>
            </a:r>
            <a:endParaRPr lang="en-US" sz="14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5376D387-7C38-4302-8BB1-4097B2A6BDA8}"/>
              </a:ext>
            </a:extLst>
          </p:cNvPr>
          <p:cNvSpPr/>
          <p:nvPr/>
        </p:nvSpPr>
        <p:spPr>
          <a:xfrm>
            <a:off x="6681216" y="1149097"/>
            <a:ext cx="2682240" cy="536245"/>
          </a:xfrm>
          <a:prstGeom prst="rect">
            <a:avLst/>
          </a:prstGeom>
          <a:solidFill>
            <a:srgbClr val="16A3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094352E-AC0A-429D-8E65-CE32D07D74FA}"/>
              </a:ext>
            </a:extLst>
          </p:cNvPr>
          <p:cNvSpPr/>
          <p:nvPr/>
        </p:nvSpPr>
        <p:spPr>
          <a:xfrm>
            <a:off x="6681216" y="1149097"/>
            <a:ext cx="2682240" cy="536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FFFFFF"/>
                </a:solidFill>
              </a:rPr>
              <a:t>장점</a:t>
            </a:r>
            <a:endParaRPr lang="en-US" sz="14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704F239-F7D1-490D-92AD-33623C5A2D74}"/>
              </a:ext>
            </a:extLst>
          </p:cNvPr>
          <p:cNvSpPr/>
          <p:nvPr/>
        </p:nvSpPr>
        <p:spPr>
          <a:xfrm>
            <a:off x="9363456" y="1149097"/>
            <a:ext cx="2804160" cy="536245"/>
          </a:xfrm>
          <a:prstGeom prst="rect">
            <a:avLst/>
          </a:prstGeom>
          <a:solidFill>
            <a:srgbClr val="DC262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22CBA85-B004-4EFA-AAF3-22AEA4D726C9}"/>
              </a:ext>
            </a:extLst>
          </p:cNvPr>
          <p:cNvSpPr/>
          <p:nvPr/>
        </p:nvSpPr>
        <p:spPr>
          <a:xfrm>
            <a:off x="9363456" y="1149097"/>
            <a:ext cx="2804160" cy="536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FFFFFF"/>
                </a:solidFill>
              </a:rPr>
              <a:t>단점</a:t>
            </a:r>
            <a:endParaRPr lang="en-US" sz="14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92883727-2702-4F3B-817F-605FB8202B90}"/>
              </a:ext>
            </a:extLst>
          </p:cNvPr>
          <p:cNvSpPr/>
          <p:nvPr/>
        </p:nvSpPr>
        <p:spPr>
          <a:xfrm>
            <a:off x="463296" y="1685342"/>
            <a:ext cx="1828800" cy="1225703"/>
          </a:xfrm>
          <a:prstGeom prst="rect">
            <a:avLst/>
          </a:prstGeom>
          <a:solidFill>
            <a:srgbClr val="F0FDFA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57F6123-3B44-47B9-9836-378F824C367F}"/>
              </a:ext>
            </a:extLst>
          </p:cNvPr>
          <p:cNvSpPr/>
          <p:nvPr/>
        </p:nvSpPr>
        <p:spPr>
          <a:xfrm>
            <a:off x="463296" y="1685342"/>
            <a:ext cx="1828800" cy="122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Encoder</a:t>
            </a:r>
            <a:endParaRPr lang="en-US" sz="14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FB9D1902-4342-4F45-8F2E-E42D9480FEFF}"/>
              </a:ext>
            </a:extLst>
          </p:cNvPr>
          <p:cNvSpPr/>
          <p:nvPr/>
        </p:nvSpPr>
        <p:spPr>
          <a:xfrm>
            <a:off x="2292096" y="1685342"/>
            <a:ext cx="1950720" cy="122570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82EC4A6-1214-4A45-8BB1-E1728C554C2D}"/>
              </a:ext>
            </a:extLst>
          </p:cNvPr>
          <p:cNvSpPr/>
          <p:nvPr/>
        </p:nvSpPr>
        <p:spPr>
          <a:xfrm>
            <a:off x="2414016" y="1761948"/>
            <a:ext cx="175564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(VAE 포함)</a:t>
            </a:r>
            <a:endParaRPr lang="en-US" sz="1200" b="1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A324E89D-40C2-4377-99B9-087DA1D16ABC}"/>
              </a:ext>
            </a:extLst>
          </p:cNvPr>
          <p:cNvSpPr/>
          <p:nvPr/>
        </p:nvSpPr>
        <p:spPr>
          <a:xfrm>
            <a:off x="4242816" y="1685342"/>
            <a:ext cx="2438400" cy="122570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55BB274D-8322-41A0-8E0A-1017E95F4783}"/>
              </a:ext>
            </a:extLst>
          </p:cNvPr>
          <p:cNvSpPr/>
          <p:nvPr/>
        </p:nvSpPr>
        <p:spPr>
          <a:xfrm>
            <a:off x="4364736" y="1761948"/>
            <a:ext cx="224332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탐지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차원 축소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압축</a:t>
            </a:r>
            <a:endParaRPr lang="en-US" sz="1200" b="1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BAD07E19-5303-4BAF-9436-906440A4581F}"/>
              </a:ext>
            </a:extLst>
          </p:cNvPr>
          <p:cNvSpPr/>
          <p:nvPr/>
        </p:nvSpPr>
        <p:spPr>
          <a:xfrm>
            <a:off x="6681216" y="1685342"/>
            <a:ext cx="2682240" cy="1225703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E34BA91-A7FC-4D9D-ABE1-47E514738CC0}"/>
              </a:ext>
            </a:extLst>
          </p:cNvPr>
          <p:cNvSpPr/>
          <p:nvPr/>
        </p:nvSpPr>
        <p:spPr>
          <a:xfrm>
            <a:off x="6803136" y="1761948"/>
            <a:ext cx="248716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비지도 학습 가능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이상치 탐지 우수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증강 활용</a:t>
            </a:r>
            <a:endParaRPr lang="en-US" sz="1200" b="1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0EF138D4-CC79-4EEC-B41D-4C303E13AFF6}"/>
              </a:ext>
            </a:extLst>
          </p:cNvPr>
          <p:cNvSpPr/>
          <p:nvPr/>
        </p:nvSpPr>
        <p:spPr>
          <a:xfrm>
            <a:off x="9363456" y="1685342"/>
            <a:ext cx="2804160" cy="1225703"/>
          </a:xfrm>
          <a:prstGeom prst="rect">
            <a:avLst/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ED02587-B352-475C-9FB9-1F806D23ACB9}"/>
              </a:ext>
            </a:extLst>
          </p:cNvPr>
          <p:cNvSpPr/>
          <p:nvPr/>
        </p:nvSpPr>
        <p:spPr>
          <a:xfrm>
            <a:off x="9485376" y="1761948"/>
            <a:ext cx="260908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 품질 낮음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잠재 공간 해석 어려움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GAN보다 품질 낮음</a:t>
            </a:r>
            <a:endParaRPr lang="en-US" sz="1200" b="1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DCBB2008-4C23-41C9-8B74-65E4FF2D7CFB}"/>
              </a:ext>
            </a:extLst>
          </p:cNvPr>
          <p:cNvSpPr/>
          <p:nvPr/>
        </p:nvSpPr>
        <p:spPr>
          <a:xfrm>
            <a:off x="463296" y="2962116"/>
            <a:ext cx="1828800" cy="1225703"/>
          </a:xfrm>
          <a:prstGeom prst="rect">
            <a:avLst/>
          </a:prstGeom>
          <a:solidFill>
            <a:srgbClr val="EEF2FF"/>
          </a:solidFill>
          <a:ln w="19050">
            <a:solidFill>
              <a:srgbClr val="4338CA"/>
            </a:solidFill>
            <a:prstDash val="solid"/>
          </a:ln>
        </p:spPr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DE21ACC1-6E38-4491-9818-6DD4B5B86DCE}"/>
              </a:ext>
            </a:extLst>
          </p:cNvPr>
          <p:cNvSpPr/>
          <p:nvPr/>
        </p:nvSpPr>
        <p:spPr>
          <a:xfrm>
            <a:off x="463296" y="2962116"/>
            <a:ext cx="1828800" cy="122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338C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Diffusion</a:t>
            </a:r>
            <a:endParaRPr lang="en-US" sz="14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914A9DC6-635E-45AA-A2D6-2EB2DE4F8211}"/>
              </a:ext>
            </a:extLst>
          </p:cNvPr>
          <p:cNvSpPr/>
          <p:nvPr/>
        </p:nvSpPr>
        <p:spPr>
          <a:xfrm>
            <a:off x="2292096" y="2962116"/>
            <a:ext cx="1950720" cy="1225703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9E438D67-120F-4563-90DD-088341166EB9}"/>
              </a:ext>
            </a:extLst>
          </p:cNvPr>
          <p:cNvSpPr/>
          <p:nvPr/>
        </p:nvSpPr>
        <p:spPr>
          <a:xfrm>
            <a:off x="2414016" y="3038723"/>
            <a:ext cx="175564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(DDPM 등)</a:t>
            </a:r>
            <a:endParaRPr lang="en-US" sz="1200" b="1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365E8D5D-8478-409F-B0B9-E38CFFE04527}"/>
              </a:ext>
            </a:extLst>
          </p:cNvPr>
          <p:cNvSpPr/>
          <p:nvPr/>
        </p:nvSpPr>
        <p:spPr>
          <a:xfrm>
            <a:off x="4242816" y="2962116"/>
            <a:ext cx="2438400" cy="1225703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05E4916A-C0C9-479B-B5B4-0F80387E97DB}"/>
              </a:ext>
            </a:extLst>
          </p:cNvPr>
          <p:cNvSpPr/>
          <p:nvPr/>
        </p:nvSpPr>
        <p:spPr>
          <a:xfrm>
            <a:off x="4364736" y="3038723"/>
            <a:ext cx="224332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생성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영상 생성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음악 생성</a:t>
            </a:r>
            <a:endParaRPr lang="en-US" sz="1200" b="1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F6D0071-4AF6-49E3-8E22-847AA9B14288}"/>
              </a:ext>
            </a:extLst>
          </p:cNvPr>
          <p:cNvSpPr/>
          <p:nvPr/>
        </p:nvSpPr>
        <p:spPr>
          <a:xfrm>
            <a:off x="6681216" y="2962116"/>
            <a:ext cx="2682240" cy="1225703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D7062D2B-8A41-414F-9040-F2D27DEB14F3}"/>
              </a:ext>
            </a:extLst>
          </p:cNvPr>
          <p:cNvSpPr/>
          <p:nvPr/>
        </p:nvSpPr>
        <p:spPr>
          <a:xfrm>
            <a:off x="6803136" y="3038723"/>
            <a:ext cx="248716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매우 높은 생성 품질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GAN보다 안정적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다양한 modality</a:t>
            </a:r>
            <a:endParaRPr lang="en-US" sz="1200" b="1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CCE96C97-90FA-4EA9-A198-E31678BFCBE1}"/>
              </a:ext>
            </a:extLst>
          </p:cNvPr>
          <p:cNvSpPr/>
          <p:nvPr/>
        </p:nvSpPr>
        <p:spPr>
          <a:xfrm>
            <a:off x="9363456" y="2962116"/>
            <a:ext cx="2804160" cy="1225703"/>
          </a:xfrm>
          <a:prstGeom prst="rect">
            <a:avLst/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36A08575-CC57-4B07-A6B3-E3B821342208}"/>
              </a:ext>
            </a:extLst>
          </p:cNvPr>
          <p:cNvSpPr/>
          <p:nvPr/>
        </p:nvSpPr>
        <p:spPr>
          <a:xfrm>
            <a:off x="9485376" y="3038723"/>
            <a:ext cx="260908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 속도 느림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컴퓨팅 자원 많이 필요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시간 매우 김</a:t>
            </a:r>
            <a:endParaRPr lang="en-US" sz="1200" b="1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429BB440-6EE0-41FE-A24C-0FD3AEF04CEC}"/>
              </a:ext>
            </a:extLst>
          </p:cNvPr>
          <p:cNvSpPr/>
          <p:nvPr/>
        </p:nvSpPr>
        <p:spPr>
          <a:xfrm>
            <a:off x="463296" y="4238890"/>
            <a:ext cx="1828800" cy="1225703"/>
          </a:xfrm>
          <a:prstGeom prst="rect">
            <a:avLst/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CF1191D5-01FE-4581-99AF-536EEC49DD39}"/>
              </a:ext>
            </a:extLst>
          </p:cNvPr>
          <p:cNvSpPr/>
          <p:nvPr/>
        </p:nvSpPr>
        <p:spPr>
          <a:xfrm>
            <a:off x="463296" y="4238890"/>
            <a:ext cx="1828800" cy="122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ResNet</a:t>
            </a:r>
            <a:endParaRPr lang="en-US" sz="140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E277A5ED-731A-4F85-981F-330295E57C28}"/>
              </a:ext>
            </a:extLst>
          </p:cNvPr>
          <p:cNvSpPr/>
          <p:nvPr/>
        </p:nvSpPr>
        <p:spPr>
          <a:xfrm>
            <a:off x="2292096" y="4238890"/>
            <a:ext cx="1950720" cy="122570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DB18D05A-FDFF-483C-B4D8-4802B1B560C3}"/>
              </a:ext>
            </a:extLst>
          </p:cNvPr>
          <p:cNvSpPr/>
          <p:nvPr/>
        </p:nvSpPr>
        <p:spPr>
          <a:xfrm>
            <a:off x="2414016" y="4315497"/>
            <a:ext cx="175564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(잔차 네트워크)</a:t>
            </a:r>
            <a:endParaRPr lang="en-US" sz="1200" b="1" dirty="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B876057D-1A0D-4884-A811-538FBC516E69}"/>
              </a:ext>
            </a:extLst>
          </p:cNvPr>
          <p:cNvSpPr/>
          <p:nvPr/>
        </p:nvSpPr>
        <p:spPr>
          <a:xfrm>
            <a:off x="4242816" y="4238890"/>
            <a:ext cx="2438400" cy="122570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E670B630-3321-4766-B8A5-20F4847DF9C1}"/>
              </a:ext>
            </a:extLst>
          </p:cNvPr>
          <p:cNvSpPr/>
          <p:nvPr/>
        </p:nvSpPr>
        <p:spPr>
          <a:xfrm>
            <a:off x="4364736" y="4315497"/>
            <a:ext cx="224332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분류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특징 추출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전이학습 기반</a:t>
            </a:r>
            <a:endParaRPr lang="en-US" sz="1200" b="1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1C547CDD-70EC-4443-A67F-5BCF1AEE0C2D}"/>
              </a:ext>
            </a:extLst>
          </p:cNvPr>
          <p:cNvSpPr/>
          <p:nvPr/>
        </p:nvSpPr>
        <p:spPr>
          <a:xfrm>
            <a:off x="6681216" y="4238890"/>
            <a:ext cx="2682240" cy="1225703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172663AF-9953-4B8F-8DAC-DCF806E5AAE4}"/>
              </a:ext>
            </a:extLst>
          </p:cNvPr>
          <p:cNvSpPr/>
          <p:nvPr/>
        </p:nvSpPr>
        <p:spPr>
          <a:xfrm>
            <a:off x="6803136" y="4315497"/>
            <a:ext cx="248716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매우 깊은 네트워크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기울기 소실 해결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전이학습에 최적</a:t>
            </a:r>
            <a:endParaRPr lang="en-US" sz="1200" b="1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E764757F-48EE-418B-B4C4-C401AD76AEB6}"/>
              </a:ext>
            </a:extLst>
          </p:cNvPr>
          <p:cNvSpPr/>
          <p:nvPr/>
        </p:nvSpPr>
        <p:spPr>
          <a:xfrm>
            <a:off x="9363456" y="4238890"/>
            <a:ext cx="2804160" cy="1225703"/>
          </a:xfrm>
          <a:prstGeom prst="rect">
            <a:avLst/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15FA7059-569F-4EF5-BD30-8C7380D91216}"/>
              </a:ext>
            </a:extLst>
          </p:cNvPr>
          <p:cNvSpPr/>
          <p:nvPr/>
        </p:nvSpPr>
        <p:spPr>
          <a:xfrm>
            <a:off x="9485376" y="4315497"/>
            <a:ext cx="260908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크기 큼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처리 한계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경량화 필요</a:t>
            </a:r>
            <a:endParaRPr lang="en-US" sz="1200" b="1" dirty="0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3F89FE85-F33B-4975-A642-171EAEBB76E0}"/>
              </a:ext>
            </a:extLst>
          </p:cNvPr>
          <p:cNvSpPr/>
          <p:nvPr/>
        </p:nvSpPr>
        <p:spPr>
          <a:xfrm>
            <a:off x="463296" y="5515665"/>
            <a:ext cx="1828800" cy="1225703"/>
          </a:xfrm>
          <a:prstGeom prst="rect">
            <a:avLst/>
          </a:prstGeom>
          <a:solidFill>
            <a:srgbClr val="FEF2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E09CD92E-9103-47B5-A694-8D5C5EB93B3D}"/>
              </a:ext>
            </a:extLst>
          </p:cNvPr>
          <p:cNvSpPr/>
          <p:nvPr/>
        </p:nvSpPr>
        <p:spPr>
          <a:xfrm>
            <a:off x="463296" y="5515665"/>
            <a:ext cx="1828800" cy="122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</a:t>
            </a:r>
            <a:endParaRPr lang="en-US" sz="1400" dirty="0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30DE8A5C-C617-4110-8174-6CA5CE1607A7}"/>
              </a:ext>
            </a:extLst>
          </p:cNvPr>
          <p:cNvSpPr/>
          <p:nvPr/>
        </p:nvSpPr>
        <p:spPr>
          <a:xfrm>
            <a:off x="2292096" y="5515665"/>
            <a:ext cx="1950720" cy="1225703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E46D3666-6797-47EE-95D3-21F8B61776B4}"/>
              </a:ext>
            </a:extLst>
          </p:cNvPr>
          <p:cNvSpPr/>
          <p:nvPr/>
        </p:nvSpPr>
        <p:spPr>
          <a:xfrm>
            <a:off x="2414016" y="5592271"/>
            <a:ext cx="175564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Only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Once</a:t>
            </a:r>
            <a:endParaRPr lang="en-US" sz="1200" b="1" dirty="0"/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54FFB655-6576-4CFF-A7CC-6772B3E700C7}"/>
              </a:ext>
            </a:extLst>
          </p:cNvPr>
          <p:cNvSpPr/>
          <p:nvPr/>
        </p:nvSpPr>
        <p:spPr>
          <a:xfrm>
            <a:off x="4242816" y="5515665"/>
            <a:ext cx="2438400" cy="1225703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D09A4DF4-0708-4D35-B95B-EDF9A075B246}"/>
              </a:ext>
            </a:extLst>
          </p:cNvPr>
          <p:cNvSpPr/>
          <p:nvPr/>
        </p:nvSpPr>
        <p:spPr>
          <a:xfrm>
            <a:off x="4364736" y="5592271"/>
            <a:ext cx="224332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물체 탐지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자율주행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CCTV 분석</a:t>
            </a:r>
            <a:endParaRPr lang="en-US" sz="1200" b="1" dirty="0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89FBD50E-8EE1-4249-824F-D59B3CAD5AC3}"/>
              </a:ext>
            </a:extLst>
          </p:cNvPr>
          <p:cNvSpPr/>
          <p:nvPr/>
        </p:nvSpPr>
        <p:spPr>
          <a:xfrm>
            <a:off x="6681216" y="5515665"/>
            <a:ext cx="2682240" cy="1225703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B1E88C52-BBCF-4E71-8F6E-AC90CD4E14D6}"/>
              </a:ext>
            </a:extLst>
          </p:cNvPr>
          <p:cNvSpPr/>
          <p:nvPr/>
        </p:nvSpPr>
        <p:spPr>
          <a:xfrm>
            <a:off x="6803136" y="5592271"/>
            <a:ext cx="248716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매우 빠른 추론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처리 가능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 쉬움</a:t>
            </a:r>
            <a:endParaRPr lang="en-US" sz="1200" b="1" dirty="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6E9FDAC6-BF11-4B24-9A9E-590F6B4744B1}"/>
              </a:ext>
            </a:extLst>
          </p:cNvPr>
          <p:cNvSpPr/>
          <p:nvPr/>
        </p:nvSpPr>
        <p:spPr>
          <a:xfrm>
            <a:off x="9363456" y="5515665"/>
            <a:ext cx="2804160" cy="1225703"/>
          </a:xfrm>
          <a:prstGeom prst="rect">
            <a:avLst/>
          </a:prstGeom>
          <a:solidFill>
            <a:srgbClr val="FEF2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5C060A5F-2694-4607-9CEA-3F4D8BB40AE7}"/>
              </a:ext>
            </a:extLst>
          </p:cNvPr>
          <p:cNvSpPr/>
          <p:nvPr/>
        </p:nvSpPr>
        <p:spPr>
          <a:xfrm>
            <a:off x="9485376" y="5592271"/>
            <a:ext cx="2609088" cy="1072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작은 물체 탐지 약함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정밀도 다소 낮음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밀집 환경에 약함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969489739"/>
      </p:ext>
    </p:extLst>
  </p:cSld>
  <p:clrMapOvr>
    <a:masterClrMapping/>
  </p:clrMapOvr>
  <p:transition spd="slow"/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4F9AB98-93D2-4D0B-8DF7-8C54CF0AF1D9}"/>
              </a:ext>
            </a:extLst>
          </p:cNvPr>
          <p:cNvSpPr/>
          <p:nvPr/>
        </p:nvSpPr>
        <p:spPr>
          <a:xfrm>
            <a:off x="0" y="0"/>
            <a:ext cx="12192000" cy="201989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2708C7-60D2-44E1-A223-95579DBBCF97}"/>
              </a:ext>
            </a:extLst>
          </p:cNvPr>
          <p:cNvSpPr/>
          <p:nvPr/>
        </p:nvSpPr>
        <p:spPr>
          <a:xfrm>
            <a:off x="609600" y="328231"/>
            <a:ext cx="10972800" cy="6564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용도별 모델 선택 가이드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E7D1F92-49C5-4C84-BE19-04487DECE269}"/>
              </a:ext>
            </a:extLst>
          </p:cNvPr>
          <p:cNvSpPr/>
          <p:nvPr/>
        </p:nvSpPr>
        <p:spPr>
          <a:xfrm>
            <a:off x="609600" y="1009943"/>
            <a:ext cx="10972800" cy="37873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8F0301-2F58-4639-9210-4BDB6CEC370E}"/>
              </a:ext>
            </a:extLst>
          </p:cNvPr>
          <p:cNvSpPr/>
          <p:nvPr/>
        </p:nvSpPr>
        <p:spPr>
          <a:xfrm>
            <a:off x="463296" y="1237180"/>
            <a:ext cx="5608320" cy="1262428"/>
          </a:xfrm>
          <a:prstGeom prst="rect">
            <a:avLst/>
          </a:prstGeom>
          <a:solidFill>
            <a:srgbClr val="EFF6FF"/>
          </a:solidFill>
          <a:ln w="12700">
            <a:solidFill>
              <a:srgbClr val="1D6FD8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2EFD9B3-A73D-401E-9526-D3B86512CFDB}"/>
              </a:ext>
            </a:extLst>
          </p:cNvPr>
          <p:cNvSpPr/>
          <p:nvPr/>
        </p:nvSpPr>
        <p:spPr>
          <a:xfrm>
            <a:off x="463296" y="1237180"/>
            <a:ext cx="73152" cy="1262428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774E33D-D090-448D-AEAF-C910D806B3E2}"/>
              </a:ext>
            </a:extLst>
          </p:cNvPr>
          <p:cNvSpPr/>
          <p:nvPr/>
        </p:nvSpPr>
        <p:spPr>
          <a:xfrm>
            <a:off x="646176" y="1312926"/>
            <a:ext cx="5242560" cy="353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🖼️  이미지 분류·인식</a:t>
            </a:r>
            <a:endParaRPr lang="en-US" sz="1600" b="1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EFEEEA9-5069-4B99-A12F-5A132B0EE2EC}"/>
              </a:ext>
            </a:extLst>
          </p:cNvPr>
          <p:cNvSpPr/>
          <p:nvPr/>
        </p:nvSpPr>
        <p:spPr>
          <a:xfrm>
            <a:off x="646176" y="1691654"/>
            <a:ext cx="2560320" cy="302983"/>
          </a:xfrm>
          <a:prstGeom prst="round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1AA882B-3BD7-4A35-B80C-1E3EF408B34A}"/>
              </a:ext>
            </a:extLst>
          </p:cNvPr>
          <p:cNvSpPr/>
          <p:nvPr/>
        </p:nvSpPr>
        <p:spPr>
          <a:xfrm>
            <a:off x="646176" y="1691654"/>
            <a:ext cx="2560320" cy="302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CNN</a:t>
            </a:r>
            <a:endParaRPr lang="en-US" sz="1050" b="1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F7904B7-9FB1-493F-9EBA-A851A4058471}"/>
              </a:ext>
            </a:extLst>
          </p:cNvPr>
          <p:cNvSpPr/>
          <p:nvPr/>
        </p:nvSpPr>
        <p:spPr>
          <a:xfrm>
            <a:off x="3291840" y="1691654"/>
            <a:ext cx="2584704" cy="302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ResNet → EfficientNet</a:t>
            </a:r>
            <a:endParaRPr lang="en-US" sz="1050" b="1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6B904D57-7879-46E0-BD3A-817D89BC08DB}"/>
              </a:ext>
            </a:extLst>
          </p:cNvPr>
          <p:cNvSpPr/>
          <p:nvPr/>
        </p:nvSpPr>
        <p:spPr>
          <a:xfrm>
            <a:off x="646176" y="2057758"/>
            <a:ext cx="5242560" cy="353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</a:t>
            </a: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전이학습(ImageNet) 활용 권장</a:t>
            </a:r>
            <a:endParaRPr lang="en-US" sz="1050" b="1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5114A75-0E08-4B1B-89F1-CFE7C609637F}"/>
              </a:ext>
            </a:extLst>
          </p:cNvPr>
          <p:cNvSpPr/>
          <p:nvPr/>
        </p:nvSpPr>
        <p:spPr>
          <a:xfrm>
            <a:off x="6339840" y="1237180"/>
            <a:ext cx="5608320" cy="1262428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E7E43D36-147A-4C2C-B1B4-7AFFC1BC4351}"/>
              </a:ext>
            </a:extLst>
          </p:cNvPr>
          <p:cNvSpPr/>
          <p:nvPr/>
        </p:nvSpPr>
        <p:spPr>
          <a:xfrm>
            <a:off x="6339840" y="1237180"/>
            <a:ext cx="73152" cy="12624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EDB0DF8-928B-4C5F-A737-7765EFACE07A}"/>
              </a:ext>
            </a:extLst>
          </p:cNvPr>
          <p:cNvSpPr/>
          <p:nvPr/>
        </p:nvSpPr>
        <p:spPr>
          <a:xfrm>
            <a:off x="6522720" y="1312926"/>
            <a:ext cx="5242560" cy="353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실시간 물체 탐지</a:t>
            </a:r>
            <a:endParaRPr lang="en-US" sz="1600" b="1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45A730C4-DA56-4F49-AC10-0EC17E6B99E8}"/>
              </a:ext>
            </a:extLst>
          </p:cNvPr>
          <p:cNvSpPr/>
          <p:nvPr/>
        </p:nvSpPr>
        <p:spPr>
          <a:xfrm>
            <a:off x="6522720" y="1691654"/>
            <a:ext cx="2560320" cy="302983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E6B26C7-0446-45E9-AEE3-A3471894BFB5}"/>
              </a:ext>
            </a:extLst>
          </p:cNvPr>
          <p:cNvSpPr/>
          <p:nvPr/>
        </p:nvSpPr>
        <p:spPr>
          <a:xfrm>
            <a:off x="6522720" y="1691654"/>
            <a:ext cx="2560320" cy="302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YOLO</a:t>
            </a:r>
            <a:endParaRPr lang="en-US" sz="1050" b="1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78A62F6-30DF-42C8-B597-55053363C9B5}"/>
              </a:ext>
            </a:extLst>
          </p:cNvPr>
          <p:cNvSpPr/>
          <p:nvPr/>
        </p:nvSpPr>
        <p:spPr>
          <a:xfrm>
            <a:off x="9168384" y="1691654"/>
            <a:ext cx="2584704" cy="302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SSD → Faster R-CNN</a:t>
            </a:r>
            <a:endParaRPr lang="en-US" sz="1050" b="1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CD976AB-5457-4AD6-824F-A4AE202B04A9}"/>
              </a:ext>
            </a:extLst>
          </p:cNvPr>
          <p:cNvSpPr/>
          <p:nvPr/>
        </p:nvSpPr>
        <p:spPr>
          <a:xfrm>
            <a:off x="6522720" y="2057758"/>
            <a:ext cx="5242560" cy="353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속도 우선이면 YOLO, 정확도는 Faster R-CNN</a:t>
            </a:r>
            <a:endParaRPr lang="en-US" sz="1050" b="1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A6CB99F4-A7B9-4724-A26F-A92D72995623}"/>
              </a:ext>
            </a:extLst>
          </p:cNvPr>
          <p:cNvSpPr/>
          <p:nvPr/>
        </p:nvSpPr>
        <p:spPr>
          <a:xfrm>
            <a:off x="463296" y="2651100"/>
            <a:ext cx="5608320" cy="1262428"/>
          </a:xfrm>
          <a:prstGeom prst="rect">
            <a:avLst/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150B64EA-E75A-4352-A27A-FD6237E8A1AC}"/>
              </a:ext>
            </a:extLst>
          </p:cNvPr>
          <p:cNvSpPr/>
          <p:nvPr/>
        </p:nvSpPr>
        <p:spPr>
          <a:xfrm>
            <a:off x="463296" y="2651100"/>
            <a:ext cx="73152" cy="12624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AA7FF69-73B3-41F4-84BD-7C5ED8F34A2A}"/>
              </a:ext>
            </a:extLst>
          </p:cNvPr>
          <p:cNvSpPr/>
          <p:nvPr/>
        </p:nvSpPr>
        <p:spPr>
          <a:xfrm>
            <a:off x="646176" y="2726845"/>
            <a:ext cx="5242560" cy="353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텍스트 분류·감정 분석</a:t>
            </a:r>
            <a:endParaRPr lang="en-US" sz="1600" b="1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2AC65D6-503D-4DAC-B0F6-231AFAA9343F}"/>
              </a:ext>
            </a:extLst>
          </p:cNvPr>
          <p:cNvSpPr/>
          <p:nvPr/>
        </p:nvSpPr>
        <p:spPr>
          <a:xfrm>
            <a:off x="646176" y="3105574"/>
            <a:ext cx="2560320" cy="302983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B0077522-7A99-48D9-A816-CB1624572F68}"/>
              </a:ext>
            </a:extLst>
          </p:cNvPr>
          <p:cNvSpPr/>
          <p:nvPr/>
        </p:nvSpPr>
        <p:spPr>
          <a:xfrm>
            <a:off x="646176" y="3105574"/>
            <a:ext cx="2560320" cy="302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BERT</a:t>
            </a:r>
            <a:endParaRPr lang="en-US" sz="1050" b="1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C961FE30-C2AB-4804-A7E0-0CD1E194CC9D}"/>
              </a:ext>
            </a:extLst>
          </p:cNvPr>
          <p:cNvSpPr/>
          <p:nvPr/>
        </p:nvSpPr>
        <p:spPr>
          <a:xfrm>
            <a:off x="3291840" y="3105574"/>
            <a:ext cx="2584704" cy="302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RoBERTa → DistilBERT</a:t>
            </a:r>
            <a:endParaRPr lang="en-US" sz="1050" b="1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98F18E4-6A95-4D79-8021-926FE24B698E}"/>
              </a:ext>
            </a:extLst>
          </p:cNvPr>
          <p:cNvSpPr/>
          <p:nvPr/>
        </p:nvSpPr>
        <p:spPr>
          <a:xfrm>
            <a:off x="646176" y="3471678"/>
            <a:ext cx="5242560" cy="353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파인튜닝으로 소량 데이터도 가능</a:t>
            </a:r>
            <a:endParaRPr lang="en-US" sz="1050" b="1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D4CCD370-0E42-4CA9-96FB-C8C227359043}"/>
              </a:ext>
            </a:extLst>
          </p:cNvPr>
          <p:cNvSpPr/>
          <p:nvPr/>
        </p:nvSpPr>
        <p:spPr>
          <a:xfrm>
            <a:off x="6339840" y="2651100"/>
            <a:ext cx="5608320" cy="1262428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53C97F14-4CA9-4FC2-B6C3-13321C662E7E}"/>
              </a:ext>
            </a:extLst>
          </p:cNvPr>
          <p:cNvSpPr/>
          <p:nvPr/>
        </p:nvSpPr>
        <p:spPr>
          <a:xfrm>
            <a:off x="6339840" y="2651100"/>
            <a:ext cx="73152" cy="12624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39C411F5-96E4-49EA-9A90-EFE68D5328CF}"/>
              </a:ext>
            </a:extLst>
          </p:cNvPr>
          <p:cNvSpPr/>
          <p:nvPr/>
        </p:nvSpPr>
        <p:spPr>
          <a:xfrm>
            <a:off x="6522720" y="2726845"/>
            <a:ext cx="5242560" cy="353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텍스트 생성·챗봇</a:t>
            </a:r>
            <a:endParaRPr lang="en-US" sz="1600" b="1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A50D47B1-DDC2-42C3-BCE4-2C32FAD145CA}"/>
              </a:ext>
            </a:extLst>
          </p:cNvPr>
          <p:cNvSpPr/>
          <p:nvPr/>
        </p:nvSpPr>
        <p:spPr>
          <a:xfrm>
            <a:off x="6522720" y="3105574"/>
            <a:ext cx="2560320" cy="302983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7F7130EB-3C0B-436A-85E7-8B52AF542E67}"/>
              </a:ext>
            </a:extLst>
          </p:cNvPr>
          <p:cNvSpPr/>
          <p:nvPr/>
        </p:nvSpPr>
        <p:spPr>
          <a:xfrm>
            <a:off x="6522720" y="3105574"/>
            <a:ext cx="2560320" cy="302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GPT</a:t>
            </a:r>
            <a:endParaRPr lang="en-US" sz="1050" b="1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DB8BE323-3621-44A2-B2BD-906DCFB08576}"/>
              </a:ext>
            </a:extLst>
          </p:cNvPr>
          <p:cNvSpPr/>
          <p:nvPr/>
        </p:nvSpPr>
        <p:spPr>
          <a:xfrm>
            <a:off x="9168384" y="3105574"/>
            <a:ext cx="2584704" cy="302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LLaMA → Mistral</a:t>
            </a:r>
            <a:endParaRPr lang="en-US" sz="1050" b="1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7B047D43-5172-41CD-BAA3-3451801D3E95}"/>
              </a:ext>
            </a:extLst>
          </p:cNvPr>
          <p:cNvSpPr/>
          <p:nvPr/>
        </p:nvSpPr>
        <p:spPr>
          <a:xfrm>
            <a:off x="6522720" y="3471678"/>
            <a:ext cx="5242560" cy="353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API 활용 (GPT-4, Claude) 이 현실적</a:t>
            </a:r>
            <a:endParaRPr lang="en-US" sz="1050" b="1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A2B9886C-F096-486E-8E2E-28753AD6CC5B}"/>
              </a:ext>
            </a:extLst>
          </p:cNvPr>
          <p:cNvSpPr/>
          <p:nvPr/>
        </p:nvSpPr>
        <p:spPr>
          <a:xfrm>
            <a:off x="463296" y="4065020"/>
            <a:ext cx="5608320" cy="1262428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3696ED84-1F3E-4E26-80F9-7D7CFC96580B}"/>
              </a:ext>
            </a:extLst>
          </p:cNvPr>
          <p:cNvSpPr/>
          <p:nvPr/>
        </p:nvSpPr>
        <p:spPr>
          <a:xfrm>
            <a:off x="463296" y="4065020"/>
            <a:ext cx="73152" cy="126242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A0321A55-E8B5-43A6-BE59-6D2CB0A7228A}"/>
              </a:ext>
            </a:extLst>
          </p:cNvPr>
          <p:cNvSpPr/>
          <p:nvPr/>
        </p:nvSpPr>
        <p:spPr>
          <a:xfrm>
            <a:off x="646176" y="4140765"/>
            <a:ext cx="5242560" cy="353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🔊  음성 인식</a:t>
            </a:r>
            <a:endParaRPr lang="en-US" sz="1600" b="1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29FC3153-D8C7-4EA6-B4F6-3754E48DDFBB}"/>
              </a:ext>
            </a:extLst>
          </p:cNvPr>
          <p:cNvSpPr/>
          <p:nvPr/>
        </p:nvSpPr>
        <p:spPr>
          <a:xfrm>
            <a:off x="646176" y="4519494"/>
            <a:ext cx="2560320" cy="302983"/>
          </a:xfrm>
          <a:prstGeom prst="round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DCC0557F-4099-4E67-9805-6432E1127BBA}"/>
              </a:ext>
            </a:extLst>
          </p:cNvPr>
          <p:cNvSpPr/>
          <p:nvPr/>
        </p:nvSpPr>
        <p:spPr>
          <a:xfrm>
            <a:off x="646176" y="4519494"/>
            <a:ext cx="2560320" cy="302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Whisper</a:t>
            </a:r>
            <a:endParaRPr lang="en-US" sz="1050" b="1" dirty="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6697DF65-E28E-45B9-8FFC-947D9DAC23A9}"/>
              </a:ext>
            </a:extLst>
          </p:cNvPr>
          <p:cNvSpPr/>
          <p:nvPr/>
        </p:nvSpPr>
        <p:spPr>
          <a:xfrm>
            <a:off x="3291840" y="4519494"/>
            <a:ext cx="2584704" cy="302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wav2vec → DeepSpeech</a:t>
            </a:r>
            <a:endParaRPr lang="en-US" sz="1050" b="1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F122C13B-81E8-485C-8DF5-BF7067578D49}"/>
              </a:ext>
            </a:extLst>
          </p:cNvPr>
          <p:cNvSpPr/>
          <p:nvPr/>
        </p:nvSpPr>
        <p:spPr>
          <a:xfrm>
            <a:off x="646176" y="4885598"/>
            <a:ext cx="5242560" cy="353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Whisper(OpenAI) 가장 쉽고 강력</a:t>
            </a:r>
            <a:endParaRPr lang="en-US" sz="1050" b="1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4BD3F539-B628-4BAF-9075-1426A8E4BA43}"/>
              </a:ext>
            </a:extLst>
          </p:cNvPr>
          <p:cNvSpPr/>
          <p:nvPr/>
        </p:nvSpPr>
        <p:spPr>
          <a:xfrm>
            <a:off x="6339840" y="4065020"/>
            <a:ext cx="5608320" cy="1262428"/>
          </a:xfrm>
          <a:prstGeom prst="rect">
            <a:avLst/>
          </a:prstGeom>
          <a:solidFill>
            <a:srgbClr val="FDF2F8"/>
          </a:solidFill>
          <a:ln w="12700">
            <a:solidFill>
              <a:srgbClr val="DB2777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279FC3F6-2664-4B1A-B021-4ADD62A10927}"/>
              </a:ext>
            </a:extLst>
          </p:cNvPr>
          <p:cNvSpPr/>
          <p:nvPr/>
        </p:nvSpPr>
        <p:spPr>
          <a:xfrm>
            <a:off x="6339840" y="4065020"/>
            <a:ext cx="73152" cy="1262428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FB178519-E182-49CA-8724-25AF7870C237}"/>
              </a:ext>
            </a:extLst>
          </p:cNvPr>
          <p:cNvSpPr/>
          <p:nvPr/>
        </p:nvSpPr>
        <p:spPr>
          <a:xfrm>
            <a:off x="6522720" y="4140765"/>
            <a:ext cx="5242560" cy="353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 이미지 생성</a:t>
            </a:r>
            <a:endParaRPr lang="en-US" sz="1600" b="1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9757DC11-E001-427C-B92F-133AEA370CAF}"/>
              </a:ext>
            </a:extLst>
          </p:cNvPr>
          <p:cNvSpPr/>
          <p:nvPr/>
        </p:nvSpPr>
        <p:spPr>
          <a:xfrm>
            <a:off x="6522720" y="4519494"/>
            <a:ext cx="2560320" cy="302983"/>
          </a:xfrm>
          <a:prstGeom prst="round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0A2BDE46-834A-45A2-B5B7-2529C40EC498}"/>
              </a:ext>
            </a:extLst>
          </p:cNvPr>
          <p:cNvSpPr/>
          <p:nvPr/>
        </p:nvSpPr>
        <p:spPr>
          <a:xfrm>
            <a:off x="6522720" y="4519494"/>
            <a:ext cx="2560320" cy="302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Diffusion</a:t>
            </a:r>
            <a:endParaRPr lang="en-US" sz="1050" b="1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2E8B44F9-507F-4A25-B014-454E996A0812}"/>
              </a:ext>
            </a:extLst>
          </p:cNvPr>
          <p:cNvSpPr/>
          <p:nvPr/>
        </p:nvSpPr>
        <p:spPr>
          <a:xfrm>
            <a:off x="9168384" y="4519494"/>
            <a:ext cx="2584704" cy="302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GAN → VAE</a:t>
            </a:r>
            <a:endParaRPr lang="en-US" sz="1050" b="1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CC51A8C0-3A82-4AE6-B822-07555520F039}"/>
              </a:ext>
            </a:extLst>
          </p:cNvPr>
          <p:cNvSpPr/>
          <p:nvPr/>
        </p:nvSpPr>
        <p:spPr>
          <a:xfrm>
            <a:off x="6522720" y="4885598"/>
            <a:ext cx="5242560" cy="353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Stable Diffusion, DALL-E 활용 권장</a:t>
            </a:r>
            <a:endParaRPr lang="en-US" sz="1050" b="1" dirty="0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F7F11867-9322-4662-8662-ABD9ABFF2390}"/>
              </a:ext>
            </a:extLst>
          </p:cNvPr>
          <p:cNvSpPr/>
          <p:nvPr/>
        </p:nvSpPr>
        <p:spPr>
          <a:xfrm>
            <a:off x="463296" y="5478940"/>
            <a:ext cx="5608320" cy="1262428"/>
          </a:xfrm>
          <a:prstGeom prst="rect">
            <a:avLst/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963395B4-1E01-413E-9AFB-6AB79E6B7825}"/>
              </a:ext>
            </a:extLst>
          </p:cNvPr>
          <p:cNvSpPr/>
          <p:nvPr/>
        </p:nvSpPr>
        <p:spPr>
          <a:xfrm>
            <a:off x="463296" y="5478940"/>
            <a:ext cx="73152" cy="12624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3A5CE8E4-2A81-42A9-A1FA-8DD576CF19E8}"/>
              </a:ext>
            </a:extLst>
          </p:cNvPr>
          <p:cNvSpPr/>
          <p:nvPr/>
        </p:nvSpPr>
        <p:spPr>
          <a:xfrm>
            <a:off x="646176" y="5554685"/>
            <a:ext cx="5242560" cy="353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시계열·이상 탐지</a:t>
            </a:r>
            <a:endParaRPr lang="en-US" sz="1600" b="1" dirty="0"/>
          </a:p>
        </p:txBody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380A1203-37A6-45F3-A928-855A05824E6C}"/>
              </a:ext>
            </a:extLst>
          </p:cNvPr>
          <p:cNvSpPr/>
          <p:nvPr/>
        </p:nvSpPr>
        <p:spPr>
          <a:xfrm>
            <a:off x="646176" y="5933414"/>
            <a:ext cx="2560320" cy="302983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77B71B48-8E17-480A-A4F1-66F12EFABF27}"/>
              </a:ext>
            </a:extLst>
          </p:cNvPr>
          <p:cNvSpPr/>
          <p:nvPr/>
        </p:nvSpPr>
        <p:spPr>
          <a:xfrm>
            <a:off x="646176" y="5933414"/>
            <a:ext cx="2560320" cy="302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LSTM</a:t>
            </a:r>
            <a:endParaRPr lang="en-US" sz="1050" b="1" dirty="0"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2BA657F4-3DBD-498C-8C9B-234331994DAB}"/>
              </a:ext>
            </a:extLst>
          </p:cNvPr>
          <p:cNvSpPr/>
          <p:nvPr/>
        </p:nvSpPr>
        <p:spPr>
          <a:xfrm>
            <a:off x="3291840" y="5933414"/>
            <a:ext cx="2584704" cy="302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GRU → Transformer</a:t>
            </a:r>
            <a:endParaRPr lang="en-US" sz="1050" b="1" dirty="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6251FDD9-03B3-470E-986B-BE65A935B60C}"/>
              </a:ext>
            </a:extLst>
          </p:cNvPr>
          <p:cNvSpPr/>
          <p:nvPr/>
        </p:nvSpPr>
        <p:spPr>
          <a:xfrm>
            <a:off x="646176" y="6299518"/>
            <a:ext cx="5242560" cy="353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이상 탐지엔 AutoEncoder도 효과적</a:t>
            </a:r>
            <a:endParaRPr lang="en-US" sz="1050" b="1" dirty="0"/>
          </a:p>
        </p:txBody>
      </p:sp>
      <p:sp>
        <p:nvSpPr>
          <p:cNvPr id="54" name="Shape 52">
            <a:extLst>
              <a:ext uri="{FF2B5EF4-FFF2-40B4-BE49-F238E27FC236}">
                <a16:creationId xmlns:a16="http://schemas.microsoft.com/office/drawing/2014/main" id="{50197DBF-5E07-4D67-BBAB-5051E9F3CAF0}"/>
              </a:ext>
            </a:extLst>
          </p:cNvPr>
          <p:cNvSpPr/>
          <p:nvPr/>
        </p:nvSpPr>
        <p:spPr>
          <a:xfrm>
            <a:off x="6339840" y="5478940"/>
            <a:ext cx="5608320" cy="1262428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AD565BEB-8F7E-485A-B7CC-6994D935123C}"/>
              </a:ext>
            </a:extLst>
          </p:cNvPr>
          <p:cNvSpPr/>
          <p:nvPr/>
        </p:nvSpPr>
        <p:spPr>
          <a:xfrm>
            <a:off x="6339840" y="5478940"/>
            <a:ext cx="73152" cy="12624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0E2C4D36-1453-4DE9-8E6C-E97D29F05858}"/>
              </a:ext>
            </a:extLst>
          </p:cNvPr>
          <p:cNvSpPr/>
          <p:nvPr/>
        </p:nvSpPr>
        <p:spPr>
          <a:xfrm>
            <a:off x="6522720" y="5554685"/>
            <a:ext cx="5242560" cy="353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 제조 불량 탐지</a:t>
            </a:r>
            <a:endParaRPr lang="en-US" sz="1600" b="1" dirty="0"/>
          </a:p>
        </p:txBody>
      </p:sp>
      <p:sp>
        <p:nvSpPr>
          <p:cNvPr id="57" name="Shape 55">
            <a:extLst>
              <a:ext uri="{FF2B5EF4-FFF2-40B4-BE49-F238E27FC236}">
                <a16:creationId xmlns:a16="http://schemas.microsoft.com/office/drawing/2014/main" id="{22FC65C2-5156-4F2C-91EB-A772F530103E}"/>
              </a:ext>
            </a:extLst>
          </p:cNvPr>
          <p:cNvSpPr/>
          <p:nvPr/>
        </p:nvSpPr>
        <p:spPr>
          <a:xfrm>
            <a:off x="6522720" y="5933414"/>
            <a:ext cx="2560320" cy="302983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C2BA757B-44C6-4748-8C50-7BD383C3B744}"/>
              </a:ext>
            </a:extLst>
          </p:cNvPr>
          <p:cNvSpPr/>
          <p:nvPr/>
        </p:nvSpPr>
        <p:spPr>
          <a:xfrm>
            <a:off x="6522720" y="5933414"/>
            <a:ext cx="2560320" cy="302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CNN</a:t>
            </a:r>
            <a:endParaRPr lang="en-US" sz="1050" b="1" dirty="0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7D349F78-8AD0-46A3-9A9C-D7810021E750}"/>
              </a:ext>
            </a:extLst>
          </p:cNvPr>
          <p:cNvSpPr/>
          <p:nvPr/>
        </p:nvSpPr>
        <p:spPr>
          <a:xfrm>
            <a:off x="9168384" y="5933414"/>
            <a:ext cx="2584704" cy="302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ResNet → AutoEncoder</a:t>
            </a:r>
            <a:endParaRPr lang="en-US" sz="1050" b="1" dirty="0"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FBBB126D-5F0C-40AC-A5AF-D067A9251C08}"/>
              </a:ext>
            </a:extLst>
          </p:cNvPr>
          <p:cNvSpPr/>
          <p:nvPr/>
        </p:nvSpPr>
        <p:spPr>
          <a:xfrm>
            <a:off x="6522720" y="6299518"/>
            <a:ext cx="5242560" cy="353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비지도 학습 AutoEncoder로 이상 탐지</a:t>
            </a:r>
            <a:endParaRPr lang="en-US" sz="1050" b="1" dirty="0"/>
          </a:p>
        </p:txBody>
      </p:sp>
    </p:spTree>
    <p:extLst>
      <p:ext uri="{BB962C8B-B14F-4D97-AF65-F5344CB8AC3E}">
        <p14:creationId xmlns:p14="http://schemas.microsoft.com/office/powerpoint/2010/main" val="425646474"/>
      </p:ext>
    </p:extLst>
  </p:cSld>
  <p:clrMapOvr>
    <a:masterClrMapping/>
  </p:clrMapOvr>
  <p:transition spd="slow"/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7BED32B-9235-43D7-A469-767E358A4BD1}"/>
              </a:ext>
            </a:extLst>
          </p:cNvPr>
          <p:cNvSpPr/>
          <p:nvPr/>
        </p:nvSpPr>
        <p:spPr>
          <a:xfrm>
            <a:off x="0" y="0"/>
            <a:ext cx="12192000" cy="207427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03274E1-CC41-413C-B6C0-B2ED9C2897BF}"/>
              </a:ext>
            </a:extLst>
          </p:cNvPr>
          <p:cNvSpPr/>
          <p:nvPr/>
        </p:nvSpPr>
        <p:spPr>
          <a:xfrm>
            <a:off x="609600" y="337068"/>
            <a:ext cx="10972800" cy="6741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딥러닝 공부 로드맵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EAB5F6-77F2-49A6-9BC5-4B0038932793}"/>
              </a:ext>
            </a:extLst>
          </p:cNvPr>
          <p:cNvSpPr/>
          <p:nvPr/>
        </p:nvSpPr>
        <p:spPr>
          <a:xfrm>
            <a:off x="609600" y="1037134"/>
            <a:ext cx="10972800" cy="38893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EB2E070-FD81-44D4-8B6D-2DDB825CC32F}"/>
              </a:ext>
            </a:extLst>
          </p:cNvPr>
          <p:cNvSpPr/>
          <p:nvPr/>
        </p:nvSpPr>
        <p:spPr>
          <a:xfrm>
            <a:off x="2048256" y="2657655"/>
            <a:ext cx="36576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D282D51-EE88-477C-B69C-2683268E8DE6}"/>
              </a:ext>
            </a:extLst>
          </p:cNvPr>
          <p:cNvSpPr/>
          <p:nvPr/>
        </p:nvSpPr>
        <p:spPr>
          <a:xfrm>
            <a:off x="463296" y="1296417"/>
            <a:ext cx="1682496" cy="4537459"/>
          </a:xfrm>
          <a:prstGeom prst="rect">
            <a:avLst/>
          </a:prstGeom>
          <a:solidFill>
            <a:srgbClr val="FFFFFF"/>
          </a:solidFill>
          <a:ln w="19050">
            <a:solidFill>
              <a:srgbClr val="1E3A8A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4BAE556-E421-40B0-A7FD-F1C6064DF785}"/>
              </a:ext>
            </a:extLst>
          </p:cNvPr>
          <p:cNvSpPr/>
          <p:nvPr/>
        </p:nvSpPr>
        <p:spPr>
          <a:xfrm>
            <a:off x="463296" y="1296417"/>
            <a:ext cx="1682496" cy="77785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80139E6-4D4B-47B9-A9E2-9FAD40A16CB9}"/>
              </a:ext>
            </a:extLst>
          </p:cNvPr>
          <p:cNvSpPr/>
          <p:nvPr/>
        </p:nvSpPr>
        <p:spPr>
          <a:xfrm>
            <a:off x="999744" y="1451987"/>
            <a:ext cx="609600" cy="648208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B5932B-AB96-4BF9-8CF2-958CB56CB3B0}"/>
              </a:ext>
            </a:extLst>
          </p:cNvPr>
          <p:cNvSpPr/>
          <p:nvPr/>
        </p:nvSpPr>
        <p:spPr>
          <a:xfrm>
            <a:off x="999744" y="1451987"/>
            <a:ext cx="609600" cy="648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4AB9069-F5DC-4E85-811E-BD4AF7A1FD52}"/>
              </a:ext>
            </a:extLst>
          </p:cNvPr>
          <p:cNvSpPr/>
          <p:nvPr/>
        </p:nvSpPr>
        <p:spPr>
          <a:xfrm>
            <a:off x="463296" y="2177980"/>
            <a:ext cx="1682496" cy="3370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3~4주</a:t>
            </a:r>
            <a:endParaRPr lang="en-US" sz="10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DC41B8A-2178-4A68-8FFD-AF9068D3EDDC}"/>
              </a:ext>
            </a:extLst>
          </p:cNvPr>
          <p:cNvSpPr/>
          <p:nvPr/>
        </p:nvSpPr>
        <p:spPr>
          <a:xfrm>
            <a:off x="463296" y="2540977"/>
            <a:ext cx="1682496" cy="466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수학 기초</a:t>
            </a:r>
            <a:endParaRPr lang="en-US" sz="16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B905E07-FC68-413C-B8E3-55D85158380D}"/>
              </a:ext>
            </a:extLst>
          </p:cNvPr>
          <p:cNvSpPr/>
          <p:nvPr/>
        </p:nvSpPr>
        <p:spPr>
          <a:xfrm>
            <a:off x="585216" y="3085472"/>
            <a:ext cx="1438656" cy="2592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D7007739-C1E4-4472-BA6D-48CC65E0E431}"/>
              </a:ext>
            </a:extLst>
          </p:cNvPr>
          <p:cNvSpPr/>
          <p:nvPr/>
        </p:nvSpPr>
        <p:spPr>
          <a:xfrm>
            <a:off x="633984" y="3215114"/>
            <a:ext cx="146304" cy="15557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894F614-5AA4-492A-ADE7-6B63E25FBEA8}"/>
              </a:ext>
            </a:extLst>
          </p:cNvPr>
          <p:cNvSpPr/>
          <p:nvPr/>
        </p:nvSpPr>
        <p:spPr>
          <a:xfrm>
            <a:off x="829056" y="3163257"/>
            <a:ext cx="1243584" cy="36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선형대수</a:t>
            </a:r>
            <a:endParaRPr lang="en-US" sz="1400" b="1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48945AAE-ADD9-4C4C-A4D9-8A5CE48599E2}"/>
              </a:ext>
            </a:extLst>
          </p:cNvPr>
          <p:cNvSpPr/>
          <p:nvPr/>
        </p:nvSpPr>
        <p:spPr>
          <a:xfrm>
            <a:off x="633984" y="3837394"/>
            <a:ext cx="146304" cy="15557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40BB23B-D4DF-4C9C-9291-E9868D513A58}"/>
              </a:ext>
            </a:extLst>
          </p:cNvPr>
          <p:cNvSpPr/>
          <p:nvPr/>
        </p:nvSpPr>
        <p:spPr>
          <a:xfrm>
            <a:off x="829056" y="3785537"/>
            <a:ext cx="1243584" cy="36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미적분</a:t>
            </a:r>
            <a:endParaRPr lang="en-US" sz="1400" b="1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883189EE-B0A1-49C6-9A3F-301437D043BA}"/>
              </a:ext>
            </a:extLst>
          </p:cNvPr>
          <p:cNvSpPr/>
          <p:nvPr/>
        </p:nvSpPr>
        <p:spPr>
          <a:xfrm>
            <a:off x="633984" y="4459674"/>
            <a:ext cx="146304" cy="155570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457C28E0-5B9E-4FD6-BCB1-E170B1EE1497}"/>
              </a:ext>
            </a:extLst>
          </p:cNvPr>
          <p:cNvSpPr/>
          <p:nvPr/>
        </p:nvSpPr>
        <p:spPr>
          <a:xfrm>
            <a:off x="829056" y="4407818"/>
            <a:ext cx="1243584" cy="36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확률통계</a:t>
            </a:r>
            <a:endParaRPr lang="en-US" sz="1400" b="1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996DE47-4B09-4B2F-A186-208830BE78E9}"/>
              </a:ext>
            </a:extLst>
          </p:cNvPr>
          <p:cNvSpPr/>
          <p:nvPr/>
        </p:nvSpPr>
        <p:spPr>
          <a:xfrm>
            <a:off x="3998976" y="2657655"/>
            <a:ext cx="36576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28C43E0-30F1-4E68-8F94-7F68EE709C93}"/>
              </a:ext>
            </a:extLst>
          </p:cNvPr>
          <p:cNvSpPr/>
          <p:nvPr/>
        </p:nvSpPr>
        <p:spPr>
          <a:xfrm>
            <a:off x="2414016" y="1296417"/>
            <a:ext cx="1682496" cy="4537459"/>
          </a:xfrm>
          <a:prstGeom prst="rect">
            <a:avLst/>
          </a:prstGeom>
          <a:solidFill>
            <a:srgbClr val="FFFFFF"/>
          </a:solidFill>
          <a:ln w="19050">
            <a:solidFill>
              <a:srgbClr val="1D6FD8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3F2E3138-6DBD-4AC0-B77D-334A8D9D104B}"/>
              </a:ext>
            </a:extLst>
          </p:cNvPr>
          <p:cNvSpPr/>
          <p:nvPr/>
        </p:nvSpPr>
        <p:spPr>
          <a:xfrm>
            <a:off x="2414016" y="1296417"/>
            <a:ext cx="1682496" cy="77785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0188F584-B75A-434F-A3E0-8ECBF923E3BB}"/>
              </a:ext>
            </a:extLst>
          </p:cNvPr>
          <p:cNvSpPr/>
          <p:nvPr/>
        </p:nvSpPr>
        <p:spPr>
          <a:xfrm>
            <a:off x="2950464" y="1451987"/>
            <a:ext cx="609600" cy="648208"/>
          </a:xfrm>
          <a:prstGeom prst="ellipse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D09AA43-8AEC-4B6E-A8E2-C7DFD57EAF45}"/>
              </a:ext>
            </a:extLst>
          </p:cNvPr>
          <p:cNvSpPr/>
          <p:nvPr/>
        </p:nvSpPr>
        <p:spPr>
          <a:xfrm>
            <a:off x="2950464" y="1451987"/>
            <a:ext cx="609600" cy="648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E8332D39-69AA-419F-AC31-9ADCAE16FB63}"/>
              </a:ext>
            </a:extLst>
          </p:cNvPr>
          <p:cNvSpPr/>
          <p:nvPr/>
        </p:nvSpPr>
        <p:spPr>
          <a:xfrm>
            <a:off x="2414016" y="2177980"/>
            <a:ext cx="1682496" cy="3370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2~3주</a:t>
            </a:r>
            <a:endParaRPr lang="en-US" sz="105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E2B82A1-6AFB-4642-8BD5-1BE9008970D1}"/>
              </a:ext>
            </a:extLst>
          </p:cNvPr>
          <p:cNvSpPr/>
          <p:nvPr/>
        </p:nvSpPr>
        <p:spPr>
          <a:xfrm>
            <a:off x="2414016" y="2540977"/>
            <a:ext cx="1682496" cy="466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신경망 기초</a:t>
            </a:r>
            <a:endParaRPr lang="en-US" sz="16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9B7C12BF-2C41-436E-BC22-66FFD4BA78B1}"/>
              </a:ext>
            </a:extLst>
          </p:cNvPr>
          <p:cNvSpPr/>
          <p:nvPr/>
        </p:nvSpPr>
        <p:spPr>
          <a:xfrm>
            <a:off x="2535936" y="3085472"/>
            <a:ext cx="1438656" cy="2592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B8204D0F-90DF-483E-AEF8-2B1D0745DD65}"/>
              </a:ext>
            </a:extLst>
          </p:cNvPr>
          <p:cNvSpPr/>
          <p:nvPr/>
        </p:nvSpPr>
        <p:spPr>
          <a:xfrm>
            <a:off x="2584704" y="3215114"/>
            <a:ext cx="146304" cy="155570"/>
          </a:xfrm>
          <a:prstGeom prst="ellipse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5F24906E-DD78-4C62-AA46-0785756F46FE}"/>
              </a:ext>
            </a:extLst>
          </p:cNvPr>
          <p:cNvSpPr/>
          <p:nvPr/>
        </p:nvSpPr>
        <p:spPr>
          <a:xfrm>
            <a:off x="2779776" y="3163257"/>
            <a:ext cx="1243584" cy="36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퍼셉트론</a:t>
            </a:r>
            <a:endParaRPr lang="en-US" sz="1400" b="1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EE7AAEB8-BE1B-47F6-8573-E88D1015687F}"/>
              </a:ext>
            </a:extLst>
          </p:cNvPr>
          <p:cNvSpPr/>
          <p:nvPr/>
        </p:nvSpPr>
        <p:spPr>
          <a:xfrm>
            <a:off x="2584704" y="3837394"/>
            <a:ext cx="146304" cy="155570"/>
          </a:xfrm>
          <a:prstGeom prst="ellipse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34316492-F76B-4245-8BC5-D918326C9F72}"/>
              </a:ext>
            </a:extLst>
          </p:cNvPr>
          <p:cNvSpPr/>
          <p:nvPr/>
        </p:nvSpPr>
        <p:spPr>
          <a:xfrm>
            <a:off x="2779776" y="3785537"/>
            <a:ext cx="1243584" cy="36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역전파</a:t>
            </a:r>
            <a:endParaRPr lang="en-US" sz="1400" b="1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5DF9CED0-1EA2-4715-A2D9-DD6EAC13AE3A}"/>
              </a:ext>
            </a:extLst>
          </p:cNvPr>
          <p:cNvSpPr/>
          <p:nvPr/>
        </p:nvSpPr>
        <p:spPr>
          <a:xfrm>
            <a:off x="2584704" y="4459674"/>
            <a:ext cx="146304" cy="155570"/>
          </a:xfrm>
          <a:prstGeom prst="ellipse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C589B4A2-0F3F-4C1E-BF85-03945754736E}"/>
              </a:ext>
            </a:extLst>
          </p:cNvPr>
          <p:cNvSpPr/>
          <p:nvPr/>
        </p:nvSpPr>
        <p:spPr>
          <a:xfrm>
            <a:off x="2779776" y="4407818"/>
            <a:ext cx="1243584" cy="36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활성함수</a:t>
            </a:r>
            <a:endParaRPr lang="en-US" sz="1400" b="1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EC1167FE-D30B-4AF3-A69A-7CDBEE22C61D}"/>
              </a:ext>
            </a:extLst>
          </p:cNvPr>
          <p:cNvSpPr/>
          <p:nvPr/>
        </p:nvSpPr>
        <p:spPr>
          <a:xfrm>
            <a:off x="5949696" y="2657655"/>
            <a:ext cx="36576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47B3E87-8AC7-4AAD-8148-73A257AA8CE8}"/>
              </a:ext>
            </a:extLst>
          </p:cNvPr>
          <p:cNvSpPr/>
          <p:nvPr/>
        </p:nvSpPr>
        <p:spPr>
          <a:xfrm>
            <a:off x="4364736" y="1296417"/>
            <a:ext cx="1682496" cy="4537459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88CE0424-2510-48E6-A445-9EF94DB5B7B9}"/>
              </a:ext>
            </a:extLst>
          </p:cNvPr>
          <p:cNvSpPr/>
          <p:nvPr/>
        </p:nvSpPr>
        <p:spPr>
          <a:xfrm>
            <a:off x="4364736" y="1296417"/>
            <a:ext cx="1682496" cy="77785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B889C550-4A52-44DF-9D17-606EE2CBE8C9}"/>
              </a:ext>
            </a:extLst>
          </p:cNvPr>
          <p:cNvSpPr/>
          <p:nvPr/>
        </p:nvSpPr>
        <p:spPr>
          <a:xfrm>
            <a:off x="4901184" y="1451987"/>
            <a:ext cx="609600" cy="64820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A1819455-C877-4110-954B-8D262F021589}"/>
              </a:ext>
            </a:extLst>
          </p:cNvPr>
          <p:cNvSpPr/>
          <p:nvPr/>
        </p:nvSpPr>
        <p:spPr>
          <a:xfrm>
            <a:off x="4901184" y="1451987"/>
            <a:ext cx="609600" cy="648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dirty="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F544586F-959B-4D52-B281-1C1A3FEEC8BA}"/>
              </a:ext>
            </a:extLst>
          </p:cNvPr>
          <p:cNvSpPr/>
          <p:nvPr/>
        </p:nvSpPr>
        <p:spPr>
          <a:xfrm>
            <a:off x="4364736" y="2177980"/>
            <a:ext cx="1682496" cy="3370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3~4주</a:t>
            </a:r>
            <a:endParaRPr lang="en-US" sz="105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4FC83465-92CA-4419-988E-A72FB64A484D}"/>
              </a:ext>
            </a:extLst>
          </p:cNvPr>
          <p:cNvSpPr/>
          <p:nvPr/>
        </p:nvSpPr>
        <p:spPr>
          <a:xfrm>
            <a:off x="4364736" y="2540977"/>
            <a:ext cx="1682496" cy="466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</a:t>
            </a:r>
            <a:endParaRPr lang="en-US" sz="16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D6C521EE-1A2D-4F88-A895-DE3DA9508106}"/>
              </a:ext>
            </a:extLst>
          </p:cNvPr>
          <p:cNvSpPr/>
          <p:nvPr/>
        </p:nvSpPr>
        <p:spPr>
          <a:xfrm>
            <a:off x="4486656" y="3085472"/>
            <a:ext cx="1438656" cy="2592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D86BD83A-81EE-4DB8-82BE-C2612AD71B4F}"/>
              </a:ext>
            </a:extLst>
          </p:cNvPr>
          <p:cNvSpPr/>
          <p:nvPr/>
        </p:nvSpPr>
        <p:spPr>
          <a:xfrm>
            <a:off x="4535424" y="3215114"/>
            <a:ext cx="146304" cy="15557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5577D09B-8973-47E5-9620-E4BF45728054}"/>
              </a:ext>
            </a:extLst>
          </p:cNvPr>
          <p:cNvSpPr/>
          <p:nvPr/>
        </p:nvSpPr>
        <p:spPr>
          <a:xfrm>
            <a:off x="4730496" y="3163257"/>
            <a:ext cx="1243584" cy="36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분류</a:t>
            </a:r>
            <a:endParaRPr lang="en-US" sz="1400" b="1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5E944401-E338-4B0A-84A7-F2B977682C5B}"/>
              </a:ext>
            </a:extLst>
          </p:cNvPr>
          <p:cNvSpPr/>
          <p:nvPr/>
        </p:nvSpPr>
        <p:spPr>
          <a:xfrm>
            <a:off x="4535424" y="3837394"/>
            <a:ext cx="146304" cy="15557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A43492CD-530C-43E1-8EE4-0D8805230B0B}"/>
              </a:ext>
            </a:extLst>
          </p:cNvPr>
          <p:cNvSpPr/>
          <p:nvPr/>
        </p:nvSpPr>
        <p:spPr>
          <a:xfrm>
            <a:off x="4730496" y="3785537"/>
            <a:ext cx="1243584" cy="36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</a:t>
            </a:r>
            <a:endParaRPr lang="en-US" sz="1400" b="1" dirty="0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DB21F3F3-E14E-4ADF-A196-8906CBBBF724}"/>
              </a:ext>
            </a:extLst>
          </p:cNvPr>
          <p:cNvSpPr/>
          <p:nvPr/>
        </p:nvSpPr>
        <p:spPr>
          <a:xfrm>
            <a:off x="4535424" y="4459674"/>
            <a:ext cx="146304" cy="15557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FAAE0775-784F-4176-87B3-622EE8D8311F}"/>
              </a:ext>
            </a:extLst>
          </p:cNvPr>
          <p:cNvSpPr/>
          <p:nvPr/>
        </p:nvSpPr>
        <p:spPr>
          <a:xfrm>
            <a:off x="4730496" y="4407818"/>
            <a:ext cx="1243584" cy="36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전이학습</a:t>
            </a:r>
            <a:endParaRPr lang="en-US" sz="1400" b="1" dirty="0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247F0ED4-6302-46B9-B4AF-0229BA3A63F3}"/>
              </a:ext>
            </a:extLst>
          </p:cNvPr>
          <p:cNvSpPr/>
          <p:nvPr/>
        </p:nvSpPr>
        <p:spPr>
          <a:xfrm>
            <a:off x="7900416" y="2657655"/>
            <a:ext cx="36576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8BE82877-5D44-4126-BF16-209824DB1427}"/>
              </a:ext>
            </a:extLst>
          </p:cNvPr>
          <p:cNvSpPr/>
          <p:nvPr/>
        </p:nvSpPr>
        <p:spPr>
          <a:xfrm>
            <a:off x="6315456" y="1296417"/>
            <a:ext cx="1682496" cy="4537459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FF434A59-4E1B-4FAF-BE40-64A2BF45FAE8}"/>
              </a:ext>
            </a:extLst>
          </p:cNvPr>
          <p:cNvSpPr/>
          <p:nvPr/>
        </p:nvSpPr>
        <p:spPr>
          <a:xfrm>
            <a:off x="6315456" y="1296417"/>
            <a:ext cx="1682496" cy="77785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216A0100-7D23-47B5-A9CC-2536C21B6CC2}"/>
              </a:ext>
            </a:extLst>
          </p:cNvPr>
          <p:cNvSpPr/>
          <p:nvPr/>
        </p:nvSpPr>
        <p:spPr>
          <a:xfrm>
            <a:off x="6851904" y="1451987"/>
            <a:ext cx="609600" cy="64820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A4AB5639-E65F-44E0-AD14-F7389C9D5507}"/>
              </a:ext>
            </a:extLst>
          </p:cNvPr>
          <p:cNvSpPr/>
          <p:nvPr/>
        </p:nvSpPr>
        <p:spPr>
          <a:xfrm>
            <a:off x="6851904" y="1451987"/>
            <a:ext cx="609600" cy="648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dirty="0"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08265E44-BFDB-4B5A-8FF0-3F43C14E4D44}"/>
              </a:ext>
            </a:extLst>
          </p:cNvPr>
          <p:cNvSpPr/>
          <p:nvPr/>
        </p:nvSpPr>
        <p:spPr>
          <a:xfrm>
            <a:off x="6315456" y="2177980"/>
            <a:ext cx="1682496" cy="3370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3~4주</a:t>
            </a:r>
            <a:endParaRPr lang="en-US" sz="1050" dirty="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03642167-B118-4F5F-9A7C-CA9C23819B49}"/>
              </a:ext>
            </a:extLst>
          </p:cNvPr>
          <p:cNvSpPr/>
          <p:nvPr/>
        </p:nvSpPr>
        <p:spPr>
          <a:xfrm>
            <a:off x="6315456" y="2540977"/>
            <a:ext cx="1682496" cy="466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RNN/LSTM</a:t>
            </a:r>
            <a:endParaRPr lang="en-US" sz="1600" dirty="0"/>
          </a:p>
        </p:txBody>
      </p:sp>
      <p:sp>
        <p:nvSpPr>
          <p:cNvPr id="54" name="Shape 52">
            <a:extLst>
              <a:ext uri="{FF2B5EF4-FFF2-40B4-BE49-F238E27FC236}">
                <a16:creationId xmlns:a16="http://schemas.microsoft.com/office/drawing/2014/main" id="{698F99A0-8FEA-4A76-BE31-3E8FA5A95B7C}"/>
              </a:ext>
            </a:extLst>
          </p:cNvPr>
          <p:cNvSpPr/>
          <p:nvPr/>
        </p:nvSpPr>
        <p:spPr>
          <a:xfrm>
            <a:off x="6437376" y="3085472"/>
            <a:ext cx="1438656" cy="2592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EF54B16A-1A7A-4E99-B808-1F50435B6FF6}"/>
              </a:ext>
            </a:extLst>
          </p:cNvPr>
          <p:cNvSpPr/>
          <p:nvPr/>
        </p:nvSpPr>
        <p:spPr>
          <a:xfrm>
            <a:off x="6486144" y="3215114"/>
            <a:ext cx="146304" cy="15557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4B9246EB-90C2-4B57-86C8-FB14CA318DCA}"/>
              </a:ext>
            </a:extLst>
          </p:cNvPr>
          <p:cNvSpPr/>
          <p:nvPr/>
        </p:nvSpPr>
        <p:spPr>
          <a:xfrm>
            <a:off x="6681216" y="3163257"/>
            <a:ext cx="1243584" cy="36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시계열</a:t>
            </a:r>
            <a:endParaRPr lang="en-US" sz="1400" b="1" dirty="0"/>
          </a:p>
        </p:txBody>
      </p:sp>
      <p:sp>
        <p:nvSpPr>
          <p:cNvPr id="57" name="Shape 55">
            <a:extLst>
              <a:ext uri="{FF2B5EF4-FFF2-40B4-BE49-F238E27FC236}">
                <a16:creationId xmlns:a16="http://schemas.microsoft.com/office/drawing/2014/main" id="{BDED0A99-4029-444A-A57E-4419B7A7EE77}"/>
              </a:ext>
            </a:extLst>
          </p:cNvPr>
          <p:cNvSpPr/>
          <p:nvPr/>
        </p:nvSpPr>
        <p:spPr>
          <a:xfrm>
            <a:off x="6486144" y="3837394"/>
            <a:ext cx="146304" cy="15557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5281F70E-3BF8-4448-A656-44D5EF1EF063}"/>
              </a:ext>
            </a:extLst>
          </p:cNvPr>
          <p:cNvSpPr/>
          <p:nvPr/>
        </p:nvSpPr>
        <p:spPr>
          <a:xfrm>
            <a:off x="6681216" y="3785537"/>
            <a:ext cx="1243584" cy="36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텍스트</a:t>
            </a:r>
            <a:endParaRPr lang="en-US" sz="1400" b="1" dirty="0"/>
          </a:p>
        </p:txBody>
      </p:sp>
      <p:sp>
        <p:nvSpPr>
          <p:cNvPr id="59" name="Shape 57">
            <a:extLst>
              <a:ext uri="{FF2B5EF4-FFF2-40B4-BE49-F238E27FC236}">
                <a16:creationId xmlns:a16="http://schemas.microsoft.com/office/drawing/2014/main" id="{B2DBFEFB-FA64-4ACE-AC17-931F5D38A9E9}"/>
              </a:ext>
            </a:extLst>
          </p:cNvPr>
          <p:cNvSpPr/>
          <p:nvPr/>
        </p:nvSpPr>
        <p:spPr>
          <a:xfrm>
            <a:off x="6486144" y="4459674"/>
            <a:ext cx="146304" cy="15557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A3229F46-543D-43A5-BC5E-785940421EBA}"/>
              </a:ext>
            </a:extLst>
          </p:cNvPr>
          <p:cNvSpPr/>
          <p:nvPr/>
        </p:nvSpPr>
        <p:spPr>
          <a:xfrm>
            <a:off x="6681216" y="4407818"/>
            <a:ext cx="1243584" cy="36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음성</a:t>
            </a:r>
            <a:endParaRPr lang="en-US" sz="1400" b="1" dirty="0"/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DF7B6FF7-FEE5-4F6B-9101-84EED5F3E4EC}"/>
              </a:ext>
            </a:extLst>
          </p:cNvPr>
          <p:cNvSpPr/>
          <p:nvPr/>
        </p:nvSpPr>
        <p:spPr>
          <a:xfrm>
            <a:off x="9851136" y="2657655"/>
            <a:ext cx="36576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62" name="Shape 60">
            <a:extLst>
              <a:ext uri="{FF2B5EF4-FFF2-40B4-BE49-F238E27FC236}">
                <a16:creationId xmlns:a16="http://schemas.microsoft.com/office/drawing/2014/main" id="{138B3D91-B83C-424E-9BFA-08D55FB0BB75}"/>
              </a:ext>
            </a:extLst>
          </p:cNvPr>
          <p:cNvSpPr/>
          <p:nvPr/>
        </p:nvSpPr>
        <p:spPr>
          <a:xfrm>
            <a:off x="8266176" y="1296417"/>
            <a:ext cx="1682496" cy="4537459"/>
          </a:xfrm>
          <a:prstGeom prst="rect">
            <a:avLst/>
          </a:prstGeom>
          <a:solidFill>
            <a:srgbClr val="FFFFFF"/>
          </a:solidFill>
          <a:ln w="19050">
            <a:solidFill>
              <a:srgbClr val="EA580C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63" name="Shape 61">
            <a:extLst>
              <a:ext uri="{FF2B5EF4-FFF2-40B4-BE49-F238E27FC236}">
                <a16:creationId xmlns:a16="http://schemas.microsoft.com/office/drawing/2014/main" id="{CCCD64E2-7B13-4596-A8B1-A0542AD1D9EF}"/>
              </a:ext>
            </a:extLst>
          </p:cNvPr>
          <p:cNvSpPr/>
          <p:nvPr/>
        </p:nvSpPr>
        <p:spPr>
          <a:xfrm>
            <a:off x="8266176" y="1296417"/>
            <a:ext cx="1682496" cy="77785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4" name="Shape 62">
            <a:extLst>
              <a:ext uri="{FF2B5EF4-FFF2-40B4-BE49-F238E27FC236}">
                <a16:creationId xmlns:a16="http://schemas.microsoft.com/office/drawing/2014/main" id="{6ABECD3C-B00E-481C-B982-295ADBD29478}"/>
              </a:ext>
            </a:extLst>
          </p:cNvPr>
          <p:cNvSpPr/>
          <p:nvPr/>
        </p:nvSpPr>
        <p:spPr>
          <a:xfrm>
            <a:off x="8802624" y="1451987"/>
            <a:ext cx="609600" cy="64820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025056F1-69AD-4522-9727-A49741A742B2}"/>
              </a:ext>
            </a:extLst>
          </p:cNvPr>
          <p:cNvSpPr/>
          <p:nvPr/>
        </p:nvSpPr>
        <p:spPr>
          <a:xfrm>
            <a:off x="8802624" y="1451987"/>
            <a:ext cx="609600" cy="648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dirty="0"/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E780B209-051D-4DCB-B5E0-A489EF799EF7}"/>
              </a:ext>
            </a:extLst>
          </p:cNvPr>
          <p:cNvSpPr/>
          <p:nvPr/>
        </p:nvSpPr>
        <p:spPr>
          <a:xfrm>
            <a:off x="8266176" y="2177980"/>
            <a:ext cx="1682496" cy="3370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4~6주</a:t>
            </a:r>
            <a:endParaRPr lang="en-US" sz="1050" dirty="0"/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61D47807-B910-4F62-A779-2EDA808D5748}"/>
              </a:ext>
            </a:extLst>
          </p:cNvPr>
          <p:cNvSpPr/>
          <p:nvPr/>
        </p:nvSpPr>
        <p:spPr>
          <a:xfrm>
            <a:off x="8266176" y="2540977"/>
            <a:ext cx="1682496" cy="466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600" dirty="0"/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6E8A6539-443A-41AA-9DFA-5CC70C69CABB}"/>
              </a:ext>
            </a:extLst>
          </p:cNvPr>
          <p:cNvSpPr/>
          <p:nvPr/>
        </p:nvSpPr>
        <p:spPr>
          <a:xfrm>
            <a:off x="8388096" y="3085472"/>
            <a:ext cx="1438656" cy="2592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1D3A449C-4A85-4197-B9B7-4D5BB615787A}"/>
              </a:ext>
            </a:extLst>
          </p:cNvPr>
          <p:cNvSpPr/>
          <p:nvPr/>
        </p:nvSpPr>
        <p:spPr>
          <a:xfrm>
            <a:off x="8436864" y="3215114"/>
            <a:ext cx="146304" cy="15557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0" name="Text 68">
            <a:extLst>
              <a:ext uri="{FF2B5EF4-FFF2-40B4-BE49-F238E27FC236}">
                <a16:creationId xmlns:a16="http://schemas.microsoft.com/office/drawing/2014/main" id="{FC5D0B44-DEA2-4FCB-8E8A-755DC6A8BFAB}"/>
              </a:ext>
            </a:extLst>
          </p:cNvPr>
          <p:cNvSpPr/>
          <p:nvPr/>
        </p:nvSpPr>
        <p:spPr>
          <a:xfrm>
            <a:off x="8631936" y="3163257"/>
            <a:ext cx="1243584" cy="36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400" b="1" dirty="0"/>
          </a:p>
        </p:txBody>
      </p:sp>
      <p:sp>
        <p:nvSpPr>
          <p:cNvPr id="71" name="Shape 69">
            <a:extLst>
              <a:ext uri="{FF2B5EF4-FFF2-40B4-BE49-F238E27FC236}">
                <a16:creationId xmlns:a16="http://schemas.microsoft.com/office/drawing/2014/main" id="{2F6B5C09-9F5E-46F8-8FE2-38D09E07A58C}"/>
              </a:ext>
            </a:extLst>
          </p:cNvPr>
          <p:cNvSpPr/>
          <p:nvPr/>
        </p:nvSpPr>
        <p:spPr>
          <a:xfrm>
            <a:off x="8436864" y="3837394"/>
            <a:ext cx="146304" cy="15557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8C7A5CF5-0E93-4B60-B0D3-894120351B17}"/>
              </a:ext>
            </a:extLst>
          </p:cNvPr>
          <p:cNvSpPr/>
          <p:nvPr/>
        </p:nvSpPr>
        <p:spPr>
          <a:xfrm>
            <a:off x="8631936" y="3785537"/>
            <a:ext cx="1243584" cy="36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400" b="1" dirty="0"/>
          </a:p>
        </p:txBody>
      </p:sp>
      <p:sp>
        <p:nvSpPr>
          <p:cNvPr id="73" name="Shape 71">
            <a:extLst>
              <a:ext uri="{FF2B5EF4-FFF2-40B4-BE49-F238E27FC236}">
                <a16:creationId xmlns:a16="http://schemas.microsoft.com/office/drawing/2014/main" id="{739E525F-06E7-4336-9AA5-3484837A6D66}"/>
              </a:ext>
            </a:extLst>
          </p:cNvPr>
          <p:cNvSpPr/>
          <p:nvPr/>
        </p:nvSpPr>
        <p:spPr>
          <a:xfrm>
            <a:off x="8436864" y="4459674"/>
            <a:ext cx="146304" cy="15557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95FAB128-A108-4F0C-A377-2B978FE641A2}"/>
              </a:ext>
            </a:extLst>
          </p:cNvPr>
          <p:cNvSpPr/>
          <p:nvPr/>
        </p:nvSpPr>
        <p:spPr>
          <a:xfrm>
            <a:off x="8631936" y="4407818"/>
            <a:ext cx="1243584" cy="36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</a:t>
            </a:r>
            <a:endParaRPr lang="en-US" sz="1400" b="1" dirty="0"/>
          </a:p>
        </p:txBody>
      </p:sp>
      <p:sp>
        <p:nvSpPr>
          <p:cNvPr id="75" name="Shape 73">
            <a:extLst>
              <a:ext uri="{FF2B5EF4-FFF2-40B4-BE49-F238E27FC236}">
                <a16:creationId xmlns:a16="http://schemas.microsoft.com/office/drawing/2014/main" id="{6DDDE0BC-0447-4CB4-AC16-0034DD1A8B3D}"/>
              </a:ext>
            </a:extLst>
          </p:cNvPr>
          <p:cNvSpPr/>
          <p:nvPr/>
        </p:nvSpPr>
        <p:spPr>
          <a:xfrm>
            <a:off x="10216896" y="1296417"/>
            <a:ext cx="1682496" cy="4537459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  <a:prstDash val="solid"/>
          </a:ln>
          <a:effectLst>
            <a:outerShdw blurRad="76200" dist="254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76" name="Shape 74">
            <a:extLst>
              <a:ext uri="{FF2B5EF4-FFF2-40B4-BE49-F238E27FC236}">
                <a16:creationId xmlns:a16="http://schemas.microsoft.com/office/drawing/2014/main" id="{370CB546-6B7B-4527-9372-59F48AB107BF}"/>
              </a:ext>
            </a:extLst>
          </p:cNvPr>
          <p:cNvSpPr/>
          <p:nvPr/>
        </p:nvSpPr>
        <p:spPr>
          <a:xfrm>
            <a:off x="10216896" y="1296417"/>
            <a:ext cx="1682496" cy="77785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7" name="Shape 75">
            <a:extLst>
              <a:ext uri="{FF2B5EF4-FFF2-40B4-BE49-F238E27FC236}">
                <a16:creationId xmlns:a16="http://schemas.microsoft.com/office/drawing/2014/main" id="{BE5F019A-47D7-4ABD-AA2F-EE7DA1FF8C47}"/>
              </a:ext>
            </a:extLst>
          </p:cNvPr>
          <p:cNvSpPr/>
          <p:nvPr/>
        </p:nvSpPr>
        <p:spPr>
          <a:xfrm>
            <a:off x="10753344" y="1451987"/>
            <a:ext cx="609600" cy="648208"/>
          </a:xfrm>
          <a:prstGeom prst="ellipse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8" name="Text 76">
            <a:extLst>
              <a:ext uri="{FF2B5EF4-FFF2-40B4-BE49-F238E27FC236}">
                <a16:creationId xmlns:a16="http://schemas.microsoft.com/office/drawing/2014/main" id="{6B18F40F-3BC0-49A4-803B-44142B558B7C}"/>
              </a:ext>
            </a:extLst>
          </p:cNvPr>
          <p:cNvSpPr/>
          <p:nvPr/>
        </p:nvSpPr>
        <p:spPr>
          <a:xfrm>
            <a:off x="10753344" y="1451987"/>
            <a:ext cx="609600" cy="648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dirty="0"/>
          </a:p>
        </p:txBody>
      </p:sp>
      <p:sp>
        <p:nvSpPr>
          <p:cNvPr id="79" name="Text 77">
            <a:extLst>
              <a:ext uri="{FF2B5EF4-FFF2-40B4-BE49-F238E27FC236}">
                <a16:creationId xmlns:a16="http://schemas.microsoft.com/office/drawing/2014/main" id="{510C98EF-2ACC-466A-8DFC-76EDC53AD30A}"/>
              </a:ext>
            </a:extLst>
          </p:cNvPr>
          <p:cNvSpPr/>
          <p:nvPr/>
        </p:nvSpPr>
        <p:spPr>
          <a:xfrm>
            <a:off x="10216896" y="2177980"/>
            <a:ext cx="1682496" cy="3370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4~6주</a:t>
            </a:r>
            <a:endParaRPr lang="en-US" sz="1050" dirty="0"/>
          </a:p>
        </p:txBody>
      </p:sp>
      <p:sp>
        <p:nvSpPr>
          <p:cNvPr id="80" name="Text 78">
            <a:extLst>
              <a:ext uri="{FF2B5EF4-FFF2-40B4-BE49-F238E27FC236}">
                <a16:creationId xmlns:a16="http://schemas.microsoft.com/office/drawing/2014/main" id="{1640738B-490D-485C-9A9D-70778D40D2CB}"/>
              </a:ext>
            </a:extLst>
          </p:cNvPr>
          <p:cNvSpPr/>
          <p:nvPr/>
        </p:nvSpPr>
        <p:spPr>
          <a:xfrm>
            <a:off x="10216896" y="2540977"/>
            <a:ext cx="1682496" cy="466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 모델</a:t>
            </a:r>
            <a:endParaRPr lang="en-US" sz="1600" dirty="0"/>
          </a:p>
        </p:txBody>
      </p:sp>
      <p:sp>
        <p:nvSpPr>
          <p:cNvPr id="81" name="Shape 79">
            <a:extLst>
              <a:ext uri="{FF2B5EF4-FFF2-40B4-BE49-F238E27FC236}">
                <a16:creationId xmlns:a16="http://schemas.microsoft.com/office/drawing/2014/main" id="{55D741CB-33C5-4987-BBB1-09F8FD18998D}"/>
              </a:ext>
            </a:extLst>
          </p:cNvPr>
          <p:cNvSpPr/>
          <p:nvPr/>
        </p:nvSpPr>
        <p:spPr>
          <a:xfrm>
            <a:off x="10338816" y="3085472"/>
            <a:ext cx="1438656" cy="2592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2" name="Shape 80">
            <a:extLst>
              <a:ext uri="{FF2B5EF4-FFF2-40B4-BE49-F238E27FC236}">
                <a16:creationId xmlns:a16="http://schemas.microsoft.com/office/drawing/2014/main" id="{A87C7593-2686-43CD-99D2-ED1F5AD90C88}"/>
              </a:ext>
            </a:extLst>
          </p:cNvPr>
          <p:cNvSpPr/>
          <p:nvPr/>
        </p:nvSpPr>
        <p:spPr>
          <a:xfrm>
            <a:off x="10387584" y="3215114"/>
            <a:ext cx="146304" cy="15557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83" name="Text 81">
            <a:extLst>
              <a:ext uri="{FF2B5EF4-FFF2-40B4-BE49-F238E27FC236}">
                <a16:creationId xmlns:a16="http://schemas.microsoft.com/office/drawing/2014/main" id="{2239C7A7-2923-4287-B4B3-DAFA7D76DEAD}"/>
              </a:ext>
            </a:extLst>
          </p:cNvPr>
          <p:cNvSpPr/>
          <p:nvPr/>
        </p:nvSpPr>
        <p:spPr>
          <a:xfrm>
            <a:off x="10582656" y="3163257"/>
            <a:ext cx="1243584" cy="36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</a:t>
            </a:r>
            <a:endParaRPr lang="en-US" sz="1400" b="1" dirty="0"/>
          </a:p>
        </p:txBody>
      </p:sp>
      <p:sp>
        <p:nvSpPr>
          <p:cNvPr id="84" name="Shape 82">
            <a:extLst>
              <a:ext uri="{FF2B5EF4-FFF2-40B4-BE49-F238E27FC236}">
                <a16:creationId xmlns:a16="http://schemas.microsoft.com/office/drawing/2014/main" id="{7F573E5C-7DB4-4733-8866-1CC76BB2E9C2}"/>
              </a:ext>
            </a:extLst>
          </p:cNvPr>
          <p:cNvSpPr/>
          <p:nvPr/>
        </p:nvSpPr>
        <p:spPr>
          <a:xfrm>
            <a:off x="10387584" y="3837394"/>
            <a:ext cx="146304" cy="15557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85" name="Text 83">
            <a:extLst>
              <a:ext uri="{FF2B5EF4-FFF2-40B4-BE49-F238E27FC236}">
                <a16:creationId xmlns:a16="http://schemas.microsoft.com/office/drawing/2014/main" id="{113A22CC-B46A-4C4F-955C-F1AAC5E6FAE7}"/>
              </a:ext>
            </a:extLst>
          </p:cNvPr>
          <p:cNvSpPr/>
          <p:nvPr/>
        </p:nvSpPr>
        <p:spPr>
          <a:xfrm>
            <a:off x="10582656" y="3785537"/>
            <a:ext cx="1243584" cy="36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</a:t>
            </a:r>
            <a:endParaRPr lang="en-US" sz="1400" b="1" dirty="0"/>
          </a:p>
        </p:txBody>
      </p:sp>
      <p:sp>
        <p:nvSpPr>
          <p:cNvPr id="86" name="Shape 84">
            <a:extLst>
              <a:ext uri="{FF2B5EF4-FFF2-40B4-BE49-F238E27FC236}">
                <a16:creationId xmlns:a16="http://schemas.microsoft.com/office/drawing/2014/main" id="{E7B84C81-0EFC-4AD1-9758-FC54ACE8F273}"/>
              </a:ext>
            </a:extLst>
          </p:cNvPr>
          <p:cNvSpPr/>
          <p:nvPr/>
        </p:nvSpPr>
        <p:spPr>
          <a:xfrm>
            <a:off x="10387584" y="4459674"/>
            <a:ext cx="146304" cy="15557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87" name="Text 85">
            <a:extLst>
              <a:ext uri="{FF2B5EF4-FFF2-40B4-BE49-F238E27FC236}">
                <a16:creationId xmlns:a16="http://schemas.microsoft.com/office/drawing/2014/main" id="{95EDD41A-74D8-434B-B811-2C645F166E43}"/>
              </a:ext>
            </a:extLst>
          </p:cNvPr>
          <p:cNvSpPr/>
          <p:nvPr/>
        </p:nvSpPr>
        <p:spPr>
          <a:xfrm>
            <a:off x="10582656" y="4407818"/>
            <a:ext cx="1243584" cy="36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</a:t>
            </a:r>
            <a:endParaRPr lang="en-US" sz="1400" b="1" dirty="0"/>
          </a:p>
        </p:txBody>
      </p:sp>
      <p:sp>
        <p:nvSpPr>
          <p:cNvPr id="88" name="Shape 86">
            <a:extLst>
              <a:ext uri="{FF2B5EF4-FFF2-40B4-BE49-F238E27FC236}">
                <a16:creationId xmlns:a16="http://schemas.microsoft.com/office/drawing/2014/main" id="{5F923344-4C10-407E-B6DA-C20C9C224C39}"/>
              </a:ext>
            </a:extLst>
          </p:cNvPr>
          <p:cNvSpPr/>
          <p:nvPr/>
        </p:nvSpPr>
        <p:spPr>
          <a:xfrm>
            <a:off x="463296" y="5989446"/>
            <a:ext cx="11265408" cy="751922"/>
          </a:xfrm>
          <a:prstGeom prst="rect">
            <a:avLst/>
          </a:prstGeom>
          <a:solidFill>
            <a:srgbClr val="EFF6FF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89" name="Text 87">
            <a:extLst>
              <a:ext uri="{FF2B5EF4-FFF2-40B4-BE49-F238E27FC236}">
                <a16:creationId xmlns:a16="http://schemas.microsoft.com/office/drawing/2014/main" id="{7C4D9230-3561-44F1-B259-651C7106E53C}"/>
              </a:ext>
            </a:extLst>
          </p:cNvPr>
          <p:cNvSpPr/>
          <p:nvPr/>
        </p:nvSpPr>
        <p:spPr>
          <a:xfrm>
            <a:off x="731520" y="6067231"/>
            <a:ext cx="3048000" cy="3370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6FD8"/>
                </a:solidFill>
              </a:rPr>
              <a:t>🛠️  추천 프레임워크</a:t>
            </a:r>
            <a:endParaRPr lang="en-US" sz="1400" dirty="0"/>
          </a:p>
        </p:txBody>
      </p:sp>
      <p:sp>
        <p:nvSpPr>
          <p:cNvPr id="90" name="Shape 88">
            <a:extLst>
              <a:ext uri="{FF2B5EF4-FFF2-40B4-BE49-F238E27FC236}">
                <a16:creationId xmlns:a16="http://schemas.microsoft.com/office/drawing/2014/main" id="{AECD0548-B3B4-4D0B-9A2C-E66427A052A3}"/>
              </a:ext>
            </a:extLst>
          </p:cNvPr>
          <p:cNvSpPr/>
          <p:nvPr/>
        </p:nvSpPr>
        <p:spPr>
          <a:xfrm>
            <a:off x="3779520" y="6119088"/>
            <a:ext cx="1463040" cy="466710"/>
          </a:xfrm>
          <a:prstGeom prst="roundRect">
            <a:avLst/>
          </a:prstGeom>
          <a:solidFill>
            <a:srgbClr val="EA580C">
              <a:alpha val="85000"/>
            </a:srgbClr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91" name="Text 89">
            <a:extLst>
              <a:ext uri="{FF2B5EF4-FFF2-40B4-BE49-F238E27FC236}">
                <a16:creationId xmlns:a16="http://schemas.microsoft.com/office/drawing/2014/main" id="{E6F75D37-01B2-4C0B-9300-5666AB9E5AF0}"/>
              </a:ext>
            </a:extLst>
          </p:cNvPr>
          <p:cNvSpPr/>
          <p:nvPr/>
        </p:nvSpPr>
        <p:spPr>
          <a:xfrm>
            <a:off x="3779520" y="6119088"/>
            <a:ext cx="1463040" cy="466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연구·학습용 1위</a:t>
            </a:r>
            <a:endParaRPr lang="en-US" sz="1100" dirty="0"/>
          </a:p>
        </p:txBody>
      </p:sp>
      <p:sp>
        <p:nvSpPr>
          <p:cNvPr id="92" name="Shape 90">
            <a:extLst>
              <a:ext uri="{FF2B5EF4-FFF2-40B4-BE49-F238E27FC236}">
                <a16:creationId xmlns:a16="http://schemas.microsoft.com/office/drawing/2014/main" id="{B3002415-2BFC-457A-9EB5-9F0DA8041B7E}"/>
              </a:ext>
            </a:extLst>
          </p:cNvPr>
          <p:cNvSpPr/>
          <p:nvPr/>
        </p:nvSpPr>
        <p:spPr>
          <a:xfrm>
            <a:off x="5364480" y="6119088"/>
            <a:ext cx="1463040" cy="466710"/>
          </a:xfrm>
          <a:prstGeom prst="roundRect">
            <a:avLst/>
          </a:prstGeom>
          <a:solidFill>
            <a:srgbClr val="DC2626">
              <a:alpha val="85000"/>
            </a:srgbClr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3" name="Text 91">
            <a:extLst>
              <a:ext uri="{FF2B5EF4-FFF2-40B4-BE49-F238E27FC236}">
                <a16:creationId xmlns:a16="http://schemas.microsoft.com/office/drawing/2014/main" id="{91231711-F455-4635-BD49-326E222A3A98}"/>
              </a:ext>
            </a:extLst>
          </p:cNvPr>
          <p:cNvSpPr/>
          <p:nvPr/>
        </p:nvSpPr>
        <p:spPr>
          <a:xfrm>
            <a:off x="5364480" y="6119088"/>
            <a:ext cx="1463040" cy="466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산업 표준</a:t>
            </a:r>
            <a:endParaRPr lang="en-US" sz="1100" dirty="0"/>
          </a:p>
        </p:txBody>
      </p:sp>
      <p:sp>
        <p:nvSpPr>
          <p:cNvPr id="94" name="Shape 92">
            <a:extLst>
              <a:ext uri="{FF2B5EF4-FFF2-40B4-BE49-F238E27FC236}">
                <a16:creationId xmlns:a16="http://schemas.microsoft.com/office/drawing/2014/main" id="{21271A8E-121A-490E-B89C-88CFCF333C26}"/>
              </a:ext>
            </a:extLst>
          </p:cNvPr>
          <p:cNvSpPr/>
          <p:nvPr/>
        </p:nvSpPr>
        <p:spPr>
          <a:xfrm>
            <a:off x="6949440" y="6119088"/>
            <a:ext cx="1463040" cy="466710"/>
          </a:xfrm>
          <a:prstGeom prst="roundRect">
            <a:avLst/>
          </a:prstGeom>
          <a:solidFill>
            <a:srgbClr val="1D6FD8">
              <a:alpha val="85000"/>
            </a:srgbClr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010D8A21-EC43-4079-938F-91C4752CCB4C}"/>
              </a:ext>
            </a:extLst>
          </p:cNvPr>
          <p:cNvSpPr/>
          <p:nvPr/>
        </p:nvSpPr>
        <p:spPr>
          <a:xfrm>
            <a:off x="6949440" y="6119088"/>
            <a:ext cx="1463040" cy="466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초보자 친화</a:t>
            </a:r>
            <a:endParaRPr lang="en-US" sz="1100" dirty="0"/>
          </a:p>
        </p:txBody>
      </p:sp>
      <p:sp>
        <p:nvSpPr>
          <p:cNvPr id="96" name="Shape 94">
            <a:extLst>
              <a:ext uri="{FF2B5EF4-FFF2-40B4-BE49-F238E27FC236}">
                <a16:creationId xmlns:a16="http://schemas.microsoft.com/office/drawing/2014/main" id="{F59EF270-446B-4139-8594-D75F8E117955}"/>
              </a:ext>
            </a:extLst>
          </p:cNvPr>
          <p:cNvSpPr/>
          <p:nvPr/>
        </p:nvSpPr>
        <p:spPr>
          <a:xfrm>
            <a:off x="8534400" y="6119088"/>
            <a:ext cx="1463040" cy="466710"/>
          </a:xfrm>
          <a:prstGeom prst="roundRect">
            <a:avLst/>
          </a:prstGeom>
          <a:solidFill>
            <a:srgbClr val="D97706">
              <a:alpha val="8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Text 95">
            <a:extLst>
              <a:ext uri="{FF2B5EF4-FFF2-40B4-BE49-F238E27FC236}">
                <a16:creationId xmlns:a16="http://schemas.microsoft.com/office/drawing/2014/main" id="{4E85625D-1561-4CAE-BB5A-4330EB8CD3E0}"/>
              </a:ext>
            </a:extLst>
          </p:cNvPr>
          <p:cNvSpPr/>
          <p:nvPr/>
        </p:nvSpPr>
        <p:spPr>
          <a:xfrm>
            <a:off x="8534400" y="6119088"/>
            <a:ext cx="1463040" cy="466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생태계</a:t>
            </a:r>
            <a:endParaRPr lang="en-US" sz="1100" dirty="0"/>
          </a:p>
        </p:txBody>
      </p:sp>
      <p:sp>
        <p:nvSpPr>
          <p:cNvPr id="98" name="Shape 96">
            <a:extLst>
              <a:ext uri="{FF2B5EF4-FFF2-40B4-BE49-F238E27FC236}">
                <a16:creationId xmlns:a16="http://schemas.microsoft.com/office/drawing/2014/main" id="{74CFAC23-4BDA-4C4F-B8FB-AC3AECEA6996}"/>
              </a:ext>
            </a:extLst>
          </p:cNvPr>
          <p:cNvSpPr/>
          <p:nvPr/>
        </p:nvSpPr>
        <p:spPr>
          <a:xfrm>
            <a:off x="10119360" y="6119088"/>
            <a:ext cx="1463040" cy="466710"/>
          </a:xfrm>
          <a:prstGeom prst="roundRect">
            <a:avLst/>
          </a:prstGeom>
          <a:solidFill>
            <a:srgbClr val="16A34A">
              <a:alpha val="85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9" name="Text 97">
            <a:extLst>
              <a:ext uri="{FF2B5EF4-FFF2-40B4-BE49-F238E27FC236}">
                <a16:creationId xmlns:a16="http://schemas.microsoft.com/office/drawing/2014/main" id="{CCDDEFA6-F7B0-48FF-A3F2-3B25A7FEE5B2}"/>
              </a:ext>
            </a:extLst>
          </p:cNvPr>
          <p:cNvSpPr/>
          <p:nvPr/>
        </p:nvSpPr>
        <p:spPr>
          <a:xfrm>
            <a:off x="10119360" y="6119088"/>
            <a:ext cx="1463040" cy="466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FastAI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빠른 실습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63370626"/>
      </p:ext>
    </p:extLst>
  </p:cSld>
  <p:clrMapOvr>
    <a:masterClrMapping/>
  </p:clrMapOvr>
  <p:transition spd="slow"/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73E968B-FE40-4D98-95DD-283E57867E25}"/>
              </a:ext>
            </a:extLst>
          </p:cNvPr>
          <p:cNvSpPr/>
          <p:nvPr/>
        </p:nvSpPr>
        <p:spPr>
          <a:xfrm>
            <a:off x="0" y="0"/>
            <a:ext cx="12192000" cy="4141599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85939C66-CED4-443A-AEFB-9AEE11592D6A}"/>
              </a:ext>
            </a:extLst>
          </p:cNvPr>
          <p:cNvSpPr/>
          <p:nvPr/>
        </p:nvSpPr>
        <p:spPr>
          <a:xfrm>
            <a:off x="4267200" y="511609"/>
            <a:ext cx="3657600" cy="414160"/>
          </a:xfrm>
          <a:prstGeom prst="roundRect">
            <a:avLst/>
          </a:prstGeom>
          <a:solidFill>
            <a:srgbClr val="3B82F6">
              <a:alpha val="70000"/>
            </a:srgbClr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B9C6B24D-9949-46B3-AAF6-8F53E2842A5E}"/>
              </a:ext>
            </a:extLst>
          </p:cNvPr>
          <p:cNvSpPr/>
          <p:nvPr/>
        </p:nvSpPr>
        <p:spPr>
          <a:xfrm>
            <a:off x="4267200" y="511609"/>
            <a:ext cx="3657600" cy="41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딥러닝 현장 1위 모델</a:t>
            </a:r>
            <a:endParaRPr lang="en-US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92473376-CBF9-4170-B7A0-45EBCB9D4AD6}"/>
              </a:ext>
            </a:extLst>
          </p:cNvPr>
          <p:cNvSpPr/>
          <p:nvPr/>
        </p:nvSpPr>
        <p:spPr>
          <a:xfrm>
            <a:off x="975360" y="1071943"/>
            <a:ext cx="10241280" cy="13399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CNN</a:t>
            </a:r>
            <a:endParaRPr lang="en-US" sz="8000" dirty="0"/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D25D9032-DC26-4050-A6AD-DDD615526E8F}"/>
              </a:ext>
            </a:extLst>
          </p:cNvPr>
          <p:cNvSpPr/>
          <p:nvPr/>
        </p:nvSpPr>
        <p:spPr>
          <a:xfrm>
            <a:off x="975360" y="2436234"/>
            <a:ext cx="10241280" cy="4872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Convolutional Neural Network</a:t>
            </a:r>
            <a:endParaRPr lang="en-US" sz="2400" b="1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D05FDDA4-D377-46F2-B511-F21D5A6355C6}"/>
              </a:ext>
            </a:extLst>
          </p:cNvPr>
          <p:cNvSpPr/>
          <p:nvPr/>
        </p:nvSpPr>
        <p:spPr>
          <a:xfrm>
            <a:off x="975360" y="2947844"/>
            <a:ext cx="10241280" cy="4385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합성곱 신경망 — 이미지 인식의 핵심 기술</a:t>
            </a:r>
            <a:endParaRPr lang="en-US" b="1" dirty="0"/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4AD3F40-0EEC-4C1C-971A-BD0AB241BAAE}"/>
              </a:ext>
            </a:extLst>
          </p:cNvPr>
          <p:cNvSpPr/>
          <p:nvPr/>
        </p:nvSpPr>
        <p:spPr>
          <a:xfrm>
            <a:off x="512064" y="4263410"/>
            <a:ext cx="2097024" cy="19733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0C65245-D5DF-4298-8382-7DC807A7B7F0}"/>
              </a:ext>
            </a:extLst>
          </p:cNvPr>
          <p:cNvSpPr/>
          <p:nvPr/>
        </p:nvSpPr>
        <p:spPr>
          <a:xfrm>
            <a:off x="512064" y="4263410"/>
            <a:ext cx="2097024" cy="6090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A8AB2D54-2C29-4103-88C6-AEEA876477CD}"/>
              </a:ext>
            </a:extLst>
          </p:cNvPr>
          <p:cNvSpPr/>
          <p:nvPr/>
        </p:nvSpPr>
        <p:spPr>
          <a:xfrm>
            <a:off x="512064" y="4336497"/>
            <a:ext cx="2097024" cy="17540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분류</a:t>
            </a:r>
            <a:endParaRPr lang="en-US" sz="2000" dirty="0"/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9CA76477-776E-4723-A0FF-C45D83B3F5E5}"/>
              </a:ext>
            </a:extLst>
          </p:cNvPr>
          <p:cNvSpPr/>
          <p:nvPr/>
        </p:nvSpPr>
        <p:spPr>
          <a:xfrm>
            <a:off x="2804160" y="4263410"/>
            <a:ext cx="2097024" cy="19733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4AB546EC-25FB-406D-BF9D-95CCACD4002E}"/>
              </a:ext>
            </a:extLst>
          </p:cNvPr>
          <p:cNvSpPr/>
          <p:nvPr/>
        </p:nvSpPr>
        <p:spPr>
          <a:xfrm>
            <a:off x="2804160" y="4263410"/>
            <a:ext cx="2097024" cy="6090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AB45E8AA-16D2-4EE2-8EC6-7D4F753A5134}"/>
              </a:ext>
            </a:extLst>
          </p:cNvPr>
          <p:cNvSpPr/>
          <p:nvPr/>
        </p:nvSpPr>
        <p:spPr>
          <a:xfrm>
            <a:off x="2804160" y="4336497"/>
            <a:ext cx="2097024" cy="17540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 err="1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물체</a:t>
            </a:r>
            <a:r>
              <a:rPr lang="en-US" sz="2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b="1" dirty="0" err="1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</a:t>
            </a:r>
            <a:endParaRPr lang="en-US" sz="2000" dirty="0"/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B422723D-9F4D-4122-B265-859FC46D6539}"/>
              </a:ext>
            </a:extLst>
          </p:cNvPr>
          <p:cNvSpPr/>
          <p:nvPr/>
        </p:nvSpPr>
        <p:spPr>
          <a:xfrm>
            <a:off x="5096256" y="4263410"/>
            <a:ext cx="2097024" cy="19733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874E3897-43D8-4740-9B07-D23A2AC5FA80}"/>
              </a:ext>
            </a:extLst>
          </p:cNvPr>
          <p:cNvSpPr/>
          <p:nvPr/>
        </p:nvSpPr>
        <p:spPr>
          <a:xfrm>
            <a:off x="5096256" y="4263410"/>
            <a:ext cx="2097024" cy="6090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FEDEDCE1-AFEE-4B99-B59A-8B5DEFAB9A3E}"/>
              </a:ext>
            </a:extLst>
          </p:cNvPr>
          <p:cNvSpPr/>
          <p:nvPr/>
        </p:nvSpPr>
        <p:spPr>
          <a:xfrm>
            <a:off x="5096256" y="4336497"/>
            <a:ext cx="2097024" cy="17540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의료</a:t>
            </a: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영상</a:t>
            </a:r>
            <a:endParaRPr lang="en-US" sz="2000" dirty="0"/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7CA9FAA8-2B37-4E79-9700-22E8D84297ED}"/>
              </a:ext>
            </a:extLst>
          </p:cNvPr>
          <p:cNvSpPr/>
          <p:nvPr/>
        </p:nvSpPr>
        <p:spPr>
          <a:xfrm>
            <a:off x="7388352" y="4263410"/>
            <a:ext cx="2097024" cy="19733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64CF3BB6-8D36-4E00-831A-D5458E8AEE3E}"/>
              </a:ext>
            </a:extLst>
          </p:cNvPr>
          <p:cNvSpPr/>
          <p:nvPr/>
        </p:nvSpPr>
        <p:spPr>
          <a:xfrm>
            <a:off x="7388352" y="4263410"/>
            <a:ext cx="2097024" cy="6090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9">
            <a:extLst>
              <a:ext uri="{FF2B5EF4-FFF2-40B4-BE49-F238E27FC236}">
                <a16:creationId xmlns:a16="http://schemas.microsoft.com/office/drawing/2014/main" id="{31CB8C0A-DEF5-4044-9D7A-6DBADF825C62}"/>
              </a:ext>
            </a:extLst>
          </p:cNvPr>
          <p:cNvSpPr/>
          <p:nvPr/>
        </p:nvSpPr>
        <p:spPr>
          <a:xfrm>
            <a:off x="7388352" y="4336497"/>
            <a:ext cx="2097024" cy="17540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 err="1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불량</a:t>
            </a:r>
            <a:r>
              <a:rPr lang="en-US" sz="2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b="1" dirty="0" err="1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</a:t>
            </a:r>
            <a:endParaRPr lang="en-US" sz="2000" dirty="0"/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CBAA389D-729F-4753-AE26-58AA080D7256}"/>
              </a:ext>
            </a:extLst>
          </p:cNvPr>
          <p:cNvSpPr/>
          <p:nvPr/>
        </p:nvSpPr>
        <p:spPr>
          <a:xfrm>
            <a:off x="9680448" y="4263410"/>
            <a:ext cx="2097024" cy="19733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1E7E6090-B6C4-4F0F-BC70-4A449A5BCFDA}"/>
              </a:ext>
            </a:extLst>
          </p:cNvPr>
          <p:cNvSpPr/>
          <p:nvPr/>
        </p:nvSpPr>
        <p:spPr>
          <a:xfrm>
            <a:off x="9680448" y="4263410"/>
            <a:ext cx="2097024" cy="60906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Text 22">
            <a:extLst>
              <a:ext uri="{FF2B5EF4-FFF2-40B4-BE49-F238E27FC236}">
                <a16:creationId xmlns:a16="http://schemas.microsoft.com/office/drawing/2014/main" id="{DB6F03AB-12B2-415B-B862-A38AC490B3DE}"/>
              </a:ext>
            </a:extLst>
          </p:cNvPr>
          <p:cNvSpPr/>
          <p:nvPr/>
        </p:nvSpPr>
        <p:spPr>
          <a:xfrm>
            <a:off x="9680448" y="4336497"/>
            <a:ext cx="2097024" cy="17540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 err="1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자율</a:t>
            </a:r>
            <a:r>
              <a:rPr lang="en-US" sz="20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b="1" dirty="0" err="1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주행</a:t>
            </a:r>
            <a:endParaRPr lang="en-US" sz="2000" dirty="0"/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3D5AE3D4-8A35-4983-B2EB-CC46A8C9F0C1}"/>
              </a:ext>
            </a:extLst>
          </p:cNvPr>
          <p:cNvSpPr/>
          <p:nvPr/>
        </p:nvSpPr>
        <p:spPr>
          <a:xfrm>
            <a:off x="0" y="6456021"/>
            <a:ext cx="12192000" cy="401979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4">
            <a:extLst>
              <a:ext uri="{FF2B5EF4-FFF2-40B4-BE49-F238E27FC236}">
                <a16:creationId xmlns:a16="http://schemas.microsoft.com/office/drawing/2014/main" id="{4C6B6B2E-53D2-426D-91F4-AFA3D146F390}"/>
              </a:ext>
            </a:extLst>
          </p:cNvPr>
          <p:cNvSpPr/>
          <p:nvPr/>
        </p:nvSpPr>
        <p:spPr>
          <a:xfrm>
            <a:off x="0" y="6456021"/>
            <a:ext cx="12192000" cy="401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</a:rPr>
              <a:t>실습 환경: Google Colab  |  데이터: MNIST 손글씨 숫자 (28×28 이미지)  |  프레임워크: TensorFlow / Keras</a:t>
            </a:r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201715126"/>
      </p:ext>
    </p:extLst>
  </p:cSld>
  <p:clrMapOvr>
    <a:masterClrMapping/>
  </p:clrMapOvr>
  <p:transition spd="slow"/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53539DF-4592-4285-A1FE-7C921C0B809C}"/>
              </a:ext>
            </a:extLst>
          </p:cNvPr>
          <p:cNvSpPr/>
          <p:nvPr/>
        </p:nvSpPr>
        <p:spPr>
          <a:xfrm>
            <a:off x="0" y="0"/>
            <a:ext cx="12192000" cy="197708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C900B82-EF9D-41E9-BC2F-518DE1D4B868}"/>
              </a:ext>
            </a:extLst>
          </p:cNvPr>
          <p:cNvSpPr/>
          <p:nvPr/>
        </p:nvSpPr>
        <p:spPr>
          <a:xfrm>
            <a:off x="548640" y="321276"/>
            <a:ext cx="11094720" cy="6425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CNN 이란? — 핵심 개념 3가지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264B504-96E0-4D91-B5F6-086D25575A12}"/>
              </a:ext>
            </a:extLst>
          </p:cNvPr>
          <p:cNvSpPr/>
          <p:nvPr/>
        </p:nvSpPr>
        <p:spPr>
          <a:xfrm>
            <a:off x="548640" y="963827"/>
            <a:ext cx="11094720" cy="271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사람이 눈으로 보는 방식을 컴퓨터로 구현한 신경망</a:t>
            </a:r>
            <a:endParaRPr lang="en-US" sz="1400" b="1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E0F3646-37F9-4545-8392-A14F340411C4}"/>
              </a:ext>
            </a:extLst>
          </p:cNvPr>
          <p:cNvSpPr/>
          <p:nvPr/>
        </p:nvSpPr>
        <p:spPr>
          <a:xfrm>
            <a:off x="548640" y="1235676"/>
            <a:ext cx="11094720" cy="2471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C669C9A-E303-48E6-BF93-DC2C0BC1A2AB}"/>
              </a:ext>
            </a:extLst>
          </p:cNvPr>
          <p:cNvSpPr/>
          <p:nvPr/>
        </p:nvSpPr>
        <p:spPr>
          <a:xfrm>
            <a:off x="512064" y="1359243"/>
            <a:ext cx="11570208" cy="827903"/>
          </a:xfrm>
          <a:prstGeom prst="rect">
            <a:avLst/>
          </a:prstGeom>
          <a:solidFill>
            <a:srgbClr val="EFF6FF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4F42FC7-1A36-4A1B-93AF-FB14FB915D72}"/>
              </a:ext>
            </a:extLst>
          </p:cNvPr>
          <p:cNvSpPr/>
          <p:nvPr/>
        </p:nvSpPr>
        <p:spPr>
          <a:xfrm>
            <a:off x="694944" y="1458097"/>
            <a:ext cx="11253216" cy="642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CNN은 이미지에서 특징을 자동으로 찾아내는 </a:t>
            </a:r>
            <a:r>
              <a:rPr lang="en-US" sz="1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딥러닝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</a:t>
            </a:r>
            <a:r>
              <a:rPr lang="ko-KR" alt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다. 사람이 고양이 사진을 볼 때 귀·눈·수염을 자동으로 인식하듯,</a:t>
            </a:r>
            <a:b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CNN도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이미지를 층층이 분석하며 점점 복잡한 특징을 학습합니다.</a:t>
            </a:r>
            <a:endParaRPr lang="en-US" sz="1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3934534-4D89-4663-831B-69CC59571D6A}"/>
              </a:ext>
            </a:extLst>
          </p:cNvPr>
          <p:cNvSpPr/>
          <p:nvPr/>
        </p:nvSpPr>
        <p:spPr>
          <a:xfrm>
            <a:off x="512064" y="2329189"/>
            <a:ext cx="3718560" cy="3188043"/>
          </a:xfrm>
          <a:prstGeom prst="rect">
            <a:avLst/>
          </a:prstGeom>
          <a:solidFill>
            <a:srgbClr val="FFFFFF"/>
          </a:solidFill>
          <a:ln w="19050">
            <a:solidFill>
              <a:srgbClr val="1D6FD8"/>
            </a:solidFill>
            <a:prstDash val="solid"/>
          </a:ln>
          <a:effectLst>
            <a:outerShdw blurRad="889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403DD8D-0842-4D25-B775-F0B8F1B7D673}"/>
              </a:ext>
            </a:extLst>
          </p:cNvPr>
          <p:cNvSpPr/>
          <p:nvPr/>
        </p:nvSpPr>
        <p:spPr>
          <a:xfrm>
            <a:off x="512064" y="2329189"/>
            <a:ext cx="3718560" cy="74141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BE8592F-E8C0-4F79-8295-8D1232299068}"/>
              </a:ext>
            </a:extLst>
          </p:cNvPr>
          <p:cNvSpPr/>
          <p:nvPr/>
        </p:nvSpPr>
        <p:spPr>
          <a:xfrm>
            <a:off x="1999488" y="2452756"/>
            <a:ext cx="731520" cy="741405"/>
          </a:xfrm>
          <a:prstGeom prst="ellipse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EDB70C9-05E3-4159-A8A0-958E3340BD36}"/>
              </a:ext>
            </a:extLst>
          </p:cNvPr>
          <p:cNvSpPr/>
          <p:nvPr/>
        </p:nvSpPr>
        <p:spPr>
          <a:xfrm>
            <a:off x="1999488" y="2452756"/>
            <a:ext cx="731520" cy="7414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072EE60-FDA4-4658-8852-E21AF5711BCC}"/>
              </a:ext>
            </a:extLst>
          </p:cNvPr>
          <p:cNvSpPr/>
          <p:nvPr/>
        </p:nvSpPr>
        <p:spPr>
          <a:xfrm>
            <a:off x="512064" y="3280659"/>
            <a:ext cx="3718560" cy="444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🔲</a:t>
            </a:r>
            <a:endParaRPr lang="en-US" sz="24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DFB1F1A-156D-436A-B2F1-23D05435C235}"/>
              </a:ext>
            </a:extLst>
          </p:cNvPr>
          <p:cNvSpPr/>
          <p:nvPr/>
        </p:nvSpPr>
        <p:spPr>
          <a:xfrm>
            <a:off x="512064" y="3737859"/>
            <a:ext cx="3718560" cy="5684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합성곱 층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(Convolution)</a:t>
            </a:r>
            <a:endParaRPr lang="en-US" sz="16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D7D384C8-9621-4B57-98B6-5A458586217E}"/>
              </a:ext>
            </a:extLst>
          </p:cNvPr>
          <p:cNvSpPr/>
          <p:nvPr/>
        </p:nvSpPr>
        <p:spPr>
          <a:xfrm>
            <a:off x="658368" y="4330983"/>
            <a:ext cx="3438144" cy="2471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9ED8CB2-FBA9-4656-8496-1E652B06E804}"/>
              </a:ext>
            </a:extLst>
          </p:cNvPr>
          <p:cNvSpPr/>
          <p:nvPr/>
        </p:nvSpPr>
        <p:spPr>
          <a:xfrm>
            <a:off x="658368" y="4405124"/>
            <a:ext cx="3438144" cy="10132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작은 필터(커널)가 이미지를</a:t>
            </a:r>
            <a:endParaRPr lang="en-US" sz="1400" b="1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훑으며 특징 추출</a:t>
            </a:r>
            <a:endParaRPr lang="en-US" sz="1400" b="1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엣지, 곡선, 패턴 감지</a:t>
            </a:r>
            <a:endParaRPr lang="en-US" sz="1400" b="1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37660AB5-F06F-4D03-B02E-36E828DF2269}"/>
              </a:ext>
            </a:extLst>
          </p:cNvPr>
          <p:cNvSpPr/>
          <p:nvPr/>
        </p:nvSpPr>
        <p:spPr>
          <a:xfrm>
            <a:off x="4437888" y="2329189"/>
            <a:ext cx="3718560" cy="3188043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889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5AFF10E1-7061-479C-9901-A9E400377313}"/>
              </a:ext>
            </a:extLst>
          </p:cNvPr>
          <p:cNvSpPr/>
          <p:nvPr/>
        </p:nvSpPr>
        <p:spPr>
          <a:xfrm>
            <a:off x="4437888" y="2329189"/>
            <a:ext cx="3718560" cy="74141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9C79069-7FA3-4584-8315-A8AF7E953CA4}"/>
              </a:ext>
            </a:extLst>
          </p:cNvPr>
          <p:cNvSpPr/>
          <p:nvPr/>
        </p:nvSpPr>
        <p:spPr>
          <a:xfrm>
            <a:off x="5925312" y="2452756"/>
            <a:ext cx="731520" cy="741405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6ECE917-CB30-4250-AFAA-B20699B6A54F}"/>
              </a:ext>
            </a:extLst>
          </p:cNvPr>
          <p:cNvSpPr/>
          <p:nvPr/>
        </p:nvSpPr>
        <p:spPr>
          <a:xfrm>
            <a:off x="5925312" y="2452756"/>
            <a:ext cx="731520" cy="7414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88DAED48-E03D-4033-84B4-6A564111D98E}"/>
              </a:ext>
            </a:extLst>
          </p:cNvPr>
          <p:cNvSpPr/>
          <p:nvPr/>
        </p:nvSpPr>
        <p:spPr>
          <a:xfrm>
            <a:off x="4437888" y="3280659"/>
            <a:ext cx="3718560" cy="444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⬇️</a:t>
            </a:r>
            <a:endParaRPr lang="en-US" sz="24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2DBD98E-42A5-478B-BBF4-041FE5853C40}"/>
              </a:ext>
            </a:extLst>
          </p:cNvPr>
          <p:cNvSpPr/>
          <p:nvPr/>
        </p:nvSpPr>
        <p:spPr>
          <a:xfrm>
            <a:off x="4437888" y="3737859"/>
            <a:ext cx="3718560" cy="5684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풀링 층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(Pooling)</a:t>
            </a:r>
            <a:endParaRPr lang="en-US" sz="160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863E5466-015D-43E9-AAFA-3641A77491AB}"/>
              </a:ext>
            </a:extLst>
          </p:cNvPr>
          <p:cNvSpPr/>
          <p:nvPr/>
        </p:nvSpPr>
        <p:spPr>
          <a:xfrm>
            <a:off x="4584192" y="4330983"/>
            <a:ext cx="3438144" cy="2471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92A02C50-0F73-40C3-8D01-039EB7725C80}"/>
              </a:ext>
            </a:extLst>
          </p:cNvPr>
          <p:cNvSpPr/>
          <p:nvPr/>
        </p:nvSpPr>
        <p:spPr>
          <a:xfrm>
            <a:off x="4584192" y="4405124"/>
            <a:ext cx="3438144" cy="10132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크기를 줄여</a:t>
            </a:r>
            <a:endParaRPr lang="en-US" sz="1400" b="1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중요한 정보만 유지</a:t>
            </a:r>
            <a:endParaRPr lang="en-US" sz="1400" b="1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계산량 감소, 과적합 방지</a:t>
            </a:r>
            <a:endParaRPr lang="en-US" sz="1400" b="1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1C3D36B-5DA0-41C8-A8AF-4967F1E41E36}"/>
              </a:ext>
            </a:extLst>
          </p:cNvPr>
          <p:cNvSpPr/>
          <p:nvPr/>
        </p:nvSpPr>
        <p:spPr>
          <a:xfrm>
            <a:off x="8363712" y="2329189"/>
            <a:ext cx="3718560" cy="3188043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  <a:effectLst>
            <a:outerShdw blurRad="889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CE032ED6-F6C1-459F-BF06-1CCC96478710}"/>
              </a:ext>
            </a:extLst>
          </p:cNvPr>
          <p:cNvSpPr/>
          <p:nvPr/>
        </p:nvSpPr>
        <p:spPr>
          <a:xfrm>
            <a:off x="8363712" y="2329189"/>
            <a:ext cx="3718560" cy="74141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11404E61-A83C-4348-AAA8-BD2312FCD32A}"/>
              </a:ext>
            </a:extLst>
          </p:cNvPr>
          <p:cNvSpPr/>
          <p:nvPr/>
        </p:nvSpPr>
        <p:spPr>
          <a:xfrm>
            <a:off x="9851136" y="2452756"/>
            <a:ext cx="731520" cy="741405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98E21813-0E83-4779-B7B5-85319BC244BE}"/>
              </a:ext>
            </a:extLst>
          </p:cNvPr>
          <p:cNvSpPr/>
          <p:nvPr/>
        </p:nvSpPr>
        <p:spPr>
          <a:xfrm>
            <a:off x="9851136" y="2452756"/>
            <a:ext cx="731520" cy="7414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C5CF98F-370E-472F-89EC-8C5B5D415B07}"/>
              </a:ext>
            </a:extLst>
          </p:cNvPr>
          <p:cNvSpPr/>
          <p:nvPr/>
        </p:nvSpPr>
        <p:spPr>
          <a:xfrm>
            <a:off x="8363712" y="3280659"/>
            <a:ext cx="3718560" cy="4448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🔗</a:t>
            </a:r>
            <a:endParaRPr lang="en-US" sz="24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67708E25-9906-4507-8FC8-1F643948F67D}"/>
              </a:ext>
            </a:extLst>
          </p:cNvPr>
          <p:cNvSpPr/>
          <p:nvPr/>
        </p:nvSpPr>
        <p:spPr>
          <a:xfrm>
            <a:off x="8363712" y="3737859"/>
            <a:ext cx="3718560" cy="5684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완전연결 층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(FC Layer)</a:t>
            </a:r>
            <a:endParaRPr lang="en-US" sz="160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9C653DD8-C20A-4BB3-B6EE-0CEED5AC870F}"/>
              </a:ext>
            </a:extLst>
          </p:cNvPr>
          <p:cNvSpPr/>
          <p:nvPr/>
        </p:nvSpPr>
        <p:spPr>
          <a:xfrm>
            <a:off x="8510016" y="4330983"/>
            <a:ext cx="3438144" cy="2471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FEC2DBD6-9546-476F-80AD-F39CDE563844}"/>
              </a:ext>
            </a:extLst>
          </p:cNvPr>
          <p:cNvSpPr/>
          <p:nvPr/>
        </p:nvSpPr>
        <p:spPr>
          <a:xfrm>
            <a:off x="8510016" y="4405124"/>
            <a:ext cx="3438144" cy="10132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추출된 특징을 바탕으로</a:t>
            </a:r>
            <a:endParaRPr lang="en-US" sz="1400" b="1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분류 결정</a:t>
            </a:r>
            <a:endParaRPr lang="en-US" sz="1400" b="1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클래스 확률 출력</a:t>
            </a:r>
            <a:endParaRPr lang="en-US" sz="1400" b="1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14F936D7-AE38-45A7-9518-07AB93431EDC}"/>
              </a:ext>
            </a:extLst>
          </p:cNvPr>
          <p:cNvSpPr/>
          <p:nvPr/>
        </p:nvSpPr>
        <p:spPr>
          <a:xfrm>
            <a:off x="512064" y="5745892"/>
            <a:ext cx="11192256" cy="111210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8CC7F2B0-10DE-4FD6-8C73-8C2C4AE2EEB1}"/>
              </a:ext>
            </a:extLst>
          </p:cNvPr>
          <p:cNvSpPr/>
          <p:nvPr/>
        </p:nvSpPr>
        <p:spPr>
          <a:xfrm>
            <a:off x="731520" y="5807676"/>
            <a:ext cx="2438400" cy="3459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8A"/>
                </a:solidFill>
              </a:rPr>
              <a:t>CNN 동작 흐름</a:t>
            </a:r>
            <a:endParaRPr lang="en-US" sz="14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3F593ECB-4EB6-4D14-ACFF-4CE56BD00B22}"/>
              </a:ext>
            </a:extLst>
          </p:cNvPr>
          <p:cNvSpPr/>
          <p:nvPr/>
        </p:nvSpPr>
        <p:spPr>
          <a:xfrm>
            <a:off x="731520" y="6178378"/>
            <a:ext cx="1645920" cy="518984"/>
          </a:xfrm>
          <a:prstGeom prst="rect">
            <a:avLst/>
          </a:prstGeom>
          <a:solidFill>
            <a:srgbClr val="EFF6FF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036D4B8A-F752-4075-8E67-E40E3AE867C4}"/>
              </a:ext>
            </a:extLst>
          </p:cNvPr>
          <p:cNvSpPr/>
          <p:nvPr/>
        </p:nvSpPr>
        <p:spPr>
          <a:xfrm>
            <a:off x="731520" y="6178378"/>
            <a:ext cx="1645920" cy="518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이미지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(28×28)</a:t>
            </a:r>
            <a:endParaRPr lang="en-US" sz="14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31847D27-3072-4467-B238-3310FA586DB6}"/>
              </a:ext>
            </a:extLst>
          </p:cNvPr>
          <p:cNvSpPr/>
          <p:nvPr/>
        </p:nvSpPr>
        <p:spPr>
          <a:xfrm>
            <a:off x="2377440" y="6178378"/>
            <a:ext cx="207264" cy="518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59291E22-4F4C-4308-99EB-B977397B1F88}"/>
              </a:ext>
            </a:extLst>
          </p:cNvPr>
          <p:cNvSpPr/>
          <p:nvPr/>
        </p:nvSpPr>
        <p:spPr>
          <a:xfrm>
            <a:off x="2584704" y="6178378"/>
            <a:ext cx="1645920" cy="518984"/>
          </a:xfrm>
          <a:prstGeom prst="rect">
            <a:avLst/>
          </a:prstGeom>
          <a:solidFill>
            <a:srgbClr val="EFF6FF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44CED335-8C6A-4480-8977-3B4A660D01E3}"/>
              </a:ext>
            </a:extLst>
          </p:cNvPr>
          <p:cNvSpPr/>
          <p:nvPr/>
        </p:nvSpPr>
        <p:spPr>
          <a:xfrm>
            <a:off x="2584704" y="6178378"/>
            <a:ext cx="1645920" cy="518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합성곱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특징 추출</a:t>
            </a:r>
            <a:endParaRPr lang="en-US" sz="14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49B489CB-5736-47C9-9255-F8F0F494A8A0}"/>
              </a:ext>
            </a:extLst>
          </p:cNvPr>
          <p:cNvSpPr/>
          <p:nvPr/>
        </p:nvSpPr>
        <p:spPr>
          <a:xfrm>
            <a:off x="4230624" y="6178378"/>
            <a:ext cx="207264" cy="518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54AFDC90-8D94-4AB8-934A-B1B9C4AE8B57}"/>
              </a:ext>
            </a:extLst>
          </p:cNvPr>
          <p:cNvSpPr/>
          <p:nvPr/>
        </p:nvSpPr>
        <p:spPr>
          <a:xfrm>
            <a:off x="4437888" y="6178378"/>
            <a:ext cx="1645920" cy="518984"/>
          </a:xfrm>
          <a:prstGeom prst="rect">
            <a:avLst/>
          </a:prstGeom>
          <a:solidFill>
            <a:srgbClr val="EFF6FF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1A73897F-DF7D-4DFA-B8C2-97ACF22594B1}"/>
              </a:ext>
            </a:extLst>
          </p:cNvPr>
          <p:cNvSpPr/>
          <p:nvPr/>
        </p:nvSpPr>
        <p:spPr>
          <a:xfrm>
            <a:off x="4437888" y="6178378"/>
            <a:ext cx="1645920" cy="518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풀링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크기 축소</a:t>
            </a:r>
            <a:endParaRPr lang="en-US" sz="1400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22539113-7E03-4BFF-BA64-76675AA8EA91}"/>
              </a:ext>
            </a:extLst>
          </p:cNvPr>
          <p:cNvSpPr/>
          <p:nvPr/>
        </p:nvSpPr>
        <p:spPr>
          <a:xfrm>
            <a:off x="6083808" y="6178378"/>
            <a:ext cx="207264" cy="518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63A55CCC-C8F5-44BC-80AE-38A616B8A45A}"/>
              </a:ext>
            </a:extLst>
          </p:cNvPr>
          <p:cNvSpPr/>
          <p:nvPr/>
        </p:nvSpPr>
        <p:spPr>
          <a:xfrm>
            <a:off x="6291072" y="6178378"/>
            <a:ext cx="1645920" cy="518984"/>
          </a:xfrm>
          <a:prstGeom prst="rect">
            <a:avLst/>
          </a:prstGeom>
          <a:solidFill>
            <a:srgbClr val="EFF6FF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D21B97A4-0CF7-40ED-AEAE-6D6783EA0D4A}"/>
              </a:ext>
            </a:extLst>
          </p:cNvPr>
          <p:cNvSpPr/>
          <p:nvPr/>
        </p:nvSpPr>
        <p:spPr>
          <a:xfrm>
            <a:off x="6291072" y="6178378"/>
            <a:ext cx="1645920" cy="518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합성곱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심화 특징</a:t>
            </a:r>
            <a:endParaRPr lang="en-US" sz="14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F162F3C7-03FD-472C-8342-687421501C99}"/>
              </a:ext>
            </a:extLst>
          </p:cNvPr>
          <p:cNvSpPr/>
          <p:nvPr/>
        </p:nvSpPr>
        <p:spPr>
          <a:xfrm>
            <a:off x="7936992" y="6178378"/>
            <a:ext cx="207264" cy="518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A8BB8A32-EA65-434B-812E-FC9F78BBC0FF}"/>
              </a:ext>
            </a:extLst>
          </p:cNvPr>
          <p:cNvSpPr/>
          <p:nvPr/>
        </p:nvSpPr>
        <p:spPr>
          <a:xfrm>
            <a:off x="8144256" y="6178378"/>
            <a:ext cx="1645920" cy="518984"/>
          </a:xfrm>
          <a:prstGeom prst="rect">
            <a:avLst/>
          </a:prstGeom>
          <a:solidFill>
            <a:srgbClr val="EFF6FF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F63FAC61-8608-451B-8AD6-8F34A7C88148}"/>
              </a:ext>
            </a:extLst>
          </p:cNvPr>
          <p:cNvSpPr/>
          <p:nvPr/>
        </p:nvSpPr>
        <p:spPr>
          <a:xfrm>
            <a:off x="8144256" y="6178378"/>
            <a:ext cx="1645920" cy="518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평탄화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(Flatten)</a:t>
            </a:r>
            <a:endParaRPr lang="en-US" sz="1400" dirty="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CA2228FC-89E6-4801-8634-6C5A91E87D0F}"/>
              </a:ext>
            </a:extLst>
          </p:cNvPr>
          <p:cNvSpPr/>
          <p:nvPr/>
        </p:nvSpPr>
        <p:spPr>
          <a:xfrm>
            <a:off x="9790176" y="6178378"/>
            <a:ext cx="207264" cy="518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F70B3836-B10F-4504-BA4E-46AE5176EA8C}"/>
              </a:ext>
            </a:extLst>
          </p:cNvPr>
          <p:cNvSpPr/>
          <p:nvPr/>
        </p:nvSpPr>
        <p:spPr>
          <a:xfrm>
            <a:off x="9997440" y="6178378"/>
            <a:ext cx="1645920" cy="518984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ADC14452-EDBF-4830-A0AD-D15B1F88EC85}"/>
              </a:ext>
            </a:extLst>
          </p:cNvPr>
          <p:cNvSpPr/>
          <p:nvPr/>
        </p:nvSpPr>
        <p:spPr>
          <a:xfrm>
            <a:off x="9997440" y="6178378"/>
            <a:ext cx="1645920" cy="518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완전연결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분류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980307540"/>
      </p:ext>
    </p:extLst>
  </p:cSld>
  <p:clrMapOvr>
    <a:masterClrMapping/>
  </p:clrMapOvr>
  <p:transition spd="slow"/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3B9328C-EC78-4C72-B6D2-1C613D055561}"/>
              </a:ext>
            </a:extLst>
          </p:cNvPr>
          <p:cNvSpPr/>
          <p:nvPr/>
        </p:nvSpPr>
        <p:spPr>
          <a:xfrm>
            <a:off x="0" y="0"/>
            <a:ext cx="12192000" cy="1977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7742100-845C-4B70-8CA0-C95D72123612}"/>
              </a:ext>
            </a:extLst>
          </p:cNvPr>
          <p:cNvSpPr/>
          <p:nvPr/>
        </p:nvSpPr>
        <p:spPr>
          <a:xfrm>
            <a:off x="548640" y="321276"/>
            <a:ext cx="11094720" cy="6425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1단계 — 환경 설정 &amp; 데이터 준비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1621653-2D37-4FF4-8EF8-E3CDE66019D6}"/>
              </a:ext>
            </a:extLst>
          </p:cNvPr>
          <p:cNvSpPr/>
          <p:nvPr/>
        </p:nvSpPr>
        <p:spPr>
          <a:xfrm>
            <a:off x="548640" y="963827"/>
            <a:ext cx="11094720" cy="271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MNIST 데이터셋: 0~9 손글씨 숫자 이미지 70,000장 (훈련 60,000 + 테스트 10,000)</a:t>
            </a:r>
            <a:endParaRPr lang="en-US" sz="1400" b="1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8CCC13B-8875-4082-A88E-8ECFBAF278DE}"/>
              </a:ext>
            </a:extLst>
          </p:cNvPr>
          <p:cNvSpPr/>
          <p:nvPr/>
        </p:nvSpPr>
        <p:spPr>
          <a:xfrm>
            <a:off x="548640" y="1235676"/>
            <a:ext cx="11094720" cy="2471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A0C4FEE-0B7D-4744-AB7F-1132D73C129F}"/>
              </a:ext>
            </a:extLst>
          </p:cNvPr>
          <p:cNvSpPr/>
          <p:nvPr/>
        </p:nvSpPr>
        <p:spPr>
          <a:xfrm>
            <a:off x="512064" y="1359243"/>
            <a:ext cx="609600" cy="39541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8786C6B-FAA7-41DC-98CE-9E9FE467B3AE}"/>
              </a:ext>
            </a:extLst>
          </p:cNvPr>
          <p:cNvSpPr/>
          <p:nvPr/>
        </p:nvSpPr>
        <p:spPr>
          <a:xfrm>
            <a:off x="512064" y="1359243"/>
            <a:ext cx="609600" cy="395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C1163B4-C37D-437F-B910-6368CF674209}"/>
              </a:ext>
            </a:extLst>
          </p:cNvPr>
          <p:cNvSpPr/>
          <p:nvPr/>
        </p:nvSpPr>
        <p:spPr>
          <a:xfrm>
            <a:off x="1243584" y="1359243"/>
            <a:ext cx="10485120" cy="395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</a:rPr>
              <a:t>라이브러리 임포트</a:t>
            </a:r>
            <a:endParaRPr lang="en-US" sz="16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6932B9C-F9D1-4866-9A3F-30D3F8C07849}"/>
              </a:ext>
            </a:extLst>
          </p:cNvPr>
          <p:cNvSpPr/>
          <p:nvPr/>
        </p:nvSpPr>
        <p:spPr>
          <a:xfrm>
            <a:off x="512064" y="1828800"/>
            <a:ext cx="11192256" cy="157548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3CFD809-CCEE-462F-8396-5C93A58D3E56}"/>
              </a:ext>
            </a:extLst>
          </p:cNvPr>
          <p:cNvSpPr/>
          <p:nvPr/>
        </p:nvSpPr>
        <p:spPr>
          <a:xfrm>
            <a:off x="512064" y="1828800"/>
            <a:ext cx="73152" cy="1575486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FAC3A2C-7F6D-4754-9A56-A1724390D901}"/>
              </a:ext>
            </a:extLst>
          </p:cNvPr>
          <p:cNvSpPr/>
          <p:nvPr/>
        </p:nvSpPr>
        <p:spPr>
          <a:xfrm>
            <a:off x="694944" y="1927654"/>
            <a:ext cx="5545072" cy="1476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tensorflow as tf</a:t>
            </a:r>
            <a:endParaRPr lang="en-US" sz="1400" b="1" dirty="0">
              <a:solidFill>
                <a:schemeClr val="accent6">
                  <a:lumMod val="50000"/>
                </a:schemeClr>
              </a:solidFill>
            </a:endParaRPr>
          </a:p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tensorflow import keras</a:t>
            </a:r>
            <a:endParaRPr lang="en-US" sz="1400" b="1" dirty="0">
              <a:solidFill>
                <a:schemeClr val="accent6">
                  <a:lumMod val="50000"/>
                </a:schemeClr>
              </a:solidFill>
            </a:endParaRPr>
          </a:p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tensorflow.keras import layers</a:t>
            </a:r>
            <a:endParaRPr lang="en-US" sz="14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numpy as np</a:t>
            </a:r>
            <a:endParaRPr lang="en-US" sz="14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matplotlib.pyplot as plt</a:t>
            </a:r>
            <a:endParaRPr lang="en-US" sz="1400" b="1" dirty="0"/>
          </a:p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print("TensorFlow 버전:", tf.__version__)</a:t>
            </a:r>
            <a:endParaRPr lang="en-US" sz="14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3ABC9B-9E76-4B23-AD27-C0B9AB4CE0F2}"/>
              </a:ext>
            </a:extLst>
          </p:cNvPr>
          <p:cNvSpPr txBox="1"/>
          <p:nvPr/>
        </p:nvSpPr>
        <p:spPr>
          <a:xfrm>
            <a:off x="507910" y="3717032"/>
            <a:ext cx="4434818" cy="2732351"/>
          </a:xfrm>
          <a:prstGeom prst="rect">
            <a:avLst/>
          </a:prstGeom>
          <a:solidFill>
            <a:schemeClr val="accent3">
              <a:lumMod val="20000"/>
              <a:lumOff val="80000"/>
              <a:alpha val="48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lang="ko-KR" altLang="en-US" sz="1200" dirty="0"/>
              <a:t>2015년: </a:t>
            </a:r>
            <a:r>
              <a:rPr lang="ko-KR" altLang="en-US" sz="1200" dirty="0" err="1"/>
              <a:t>François</a:t>
            </a:r>
            <a:r>
              <a:rPr lang="ko-KR" altLang="en-US" sz="1200" dirty="0"/>
              <a:t> </a:t>
            </a:r>
            <a:r>
              <a:rPr lang="ko-KR" altLang="en-US" sz="1200" dirty="0" err="1"/>
              <a:t>Chollet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프랑수아</a:t>
            </a:r>
            <a:r>
              <a:rPr lang="ko-KR" altLang="en-US" sz="1200" dirty="0"/>
              <a:t> </a:t>
            </a:r>
            <a:r>
              <a:rPr lang="ko-KR" altLang="en-US" sz="1200" dirty="0" err="1"/>
              <a:t>숄레</a:t>
            </a:r>
            <a:r>
              <a:rPr lang="ko-KR" altLang="en-US" sz="1200" dirty="0"/>
              <a:t>)</a:t>
            </a:r>
          </a:p>
          <a:p>
            <a:pPr>
              <a:lnSpc>
                <a:spcPts val="1900"/>
              </a:lnSpc>
              <a:spcAft>
                <a:spcPts val="600"/>
              </a:spcAft>
            </a:pPr>
            <a:r>
              <a:rPr lang="ko-KR" altLang="en-US" sz="1200" dirty="0"/>
              <a:t>        개인 프로젝트로 </a:t>
            </a:r>
            <a:r>
              <a:rPr lang="ko-KR" altLang="en-US" sz="1200" dirty="0" err="1"/>
              <a:t>Keras</a:t>
            </a:r>
            <a:r>
              <a:rPr lang="ko-KR" altLang="en-US" sz="1200" dirty="0"/>
              <a:t> 개발 · 오픈소스 공개</a:t>
            </a:r>
          </a:p>
          <a:p>
            <a:pPr>
              <a:lnSpc>
                <a:spcPts val="1900"/>
              </a:lnSpc>
            </a:pPr>
            <a:r>
              <a:rPr lang="ko-KR" altLang="en-US" sz="1200" dirty="0"/>
              <a:t>2015년: Google이 </a:t>
            </a:r>
            <a:r>
              <a:rPr lang="ko-KR" altLang="en-US" sz="1200" dirty="0" err="1"/>
              <a:t>Chollet을</a:t>
            </a:r>
            <a:r>
              <a:rPr lang="ko-KR" altLang="en-US" sz="1200" dirty="0"/>
              <a:t> 직원으로 채용</a:t>
            </a:r>
          </a:p>
          <a:p>
            <a:pPr>
              <a:lnSpc>
                <a:spcPts val="1900"/>
              </a:lnSpc>
              <a:spcAft>
                <a:spcPts val="600"/>
              </a:spcAft>
            </a:pPr>
            <a:r>
              <a:rPr lang="ko-KR" altLang="en-US" sz="1200" dirty="0"/>
              <a:t>        → </a:t>
            </a:r>
            <a:r>
              <a:rPr lang="ko-KR" altLang="en-US" sz="1200" dirty="0" err="1"/>
              <a:t>Keras</a:t>
            </a:r>
            <a:r>
              <a:rPr lang="ko-KR" altLang="en-US" sz="1200" dirty="0"/>
              <a:t> 자체를 산 게 아니라 만든 사람을 고용</a:t>
            </a:r>
          </a:p>
          <a:p>
            <a:pPr>
              <a:lnSpc>
                <a:spcPts val="1900"/>
              </a:lnSpc>
            </a:pPr>
            <a:r>
              <a:rPr lang="ko-KR" altLang="en-US" sz="1200" dirty="0"/>
              <a:t>2019년: </a:t>
            </a:r>
            <a:r>
              <a:rPr lang="ko-KR" altLang="en-US" sz="1200" dirty="0" err="1"/>
              <a:t>TensorFlow</a:t>
            </a:r>
            <a:r>
              <a:rPr lang="ko-KR" altLang="en-US" sz="1200" dirty="0"/>
              <a:t> 2.0 출시 때</a:t>
            </a:r>
          </a:p>
          <a:p>
            <a:pPr>
              <a:lnSpc>
                <a:spcPts val="1900"/>
              </a:lnSpc>
            </a:pPr>
            <a:r>
              <a:rPr lang="ko-KR" altLang="en-US" sz="1200" dirty="0"/>
              <a:t>        → </a:t>
            </a:r>
            <a:r>
              <a:rPr lang="ko-KR" altLang="en-US" sz="1200" dirty="0" err="1"/>
              <a:t>Keras를</a:t>
            </a:r>
            <a:r>
              <a:rPr lang="ko-KR" altLang="en-US" sz="1200" dirty="0"/>
              <a:t> </a:t>
            </a:r>
            <a:r>
              <a:rPr lang="ko-KR" altLang="en-US" sz="1200" dirty="0" err="1"/>
              <a:t>TensorFlow</a:t>
            </a:r>
            <a:r>
              <a:rPr lang="ko-KR" altLang="en-US" sz="1200" dirty="0"/>
              <a:t> 공식 고수준 </a:t>
            </a:r>
            <a:r>
              <a:rPr lang="ko-KR" altLang="en-US" sz="1200" dirty="0" err="1"/>
              <a:t>API로</a:t>
            </a:r>
            <a:r>
              <a:rPr lang="ko-KR" altLang="en-US" sz="1200" dirty="0"/>
              <a:t> 채택</a:t>
            </a:r>
          </a:p>
          <a:p>
            <a:pPr>
              <a:lnSpc>
                <a:spcPts val="1900"/>
              </a:lnSpc>
              <a:spcAft>
                <a:spcPts val="600"/>
              </a:spcAft>
            </a:pPr>
            <a:r>
              <a:rPr lang="ko-KR" altLang="en-US" sz="1200" dirty="0"/>
              <a:t>        → </a:t>
            </a:r>
            <a:r>
              <a:rPr lang="ko-KR" altLang="en-US" sz="1200" dirty="0" err="1"/>
              <a:t>tf.keras</a:t>
            </a:r>
            <a:r>
              <a:rPr lang="ko-KR" altLang="en-US" sz="1200" dirty="0"/>
              <a:t> 로 통합</a:t>
            </a:r>
          </a:p>
          <a:p>
            <a:pPr>
              <a:lnSpc>
                <a:spcPts val="1900"/>
              </a:lnSpc>
            </a:pPr>
            <a:r>
              <a:rPr lang="ko-KR" altLang="en-US" sz="1200" dirty="0"/>
              <a:t>현재:   </a:t>
            </a:r>
            <a:r>
              <a:rPr lang="ko-KR" altLang="en-US" sz="1200" dirty="0" err="1"/>
              <a:t>Keras는</a:t>
            </a:r>
            <a:r>
              <a:rPr lang="ko-KR" altLang="en-US" sz="1200" dirty="0"/>
              <a:t> 여전히 오픈소스</a:t>
            </a:r>
          </a:p>
          <a:p>
            <a:pPr>
              <a:lnSpc>
                <a:spcPts val="1900"/>
              </a:lnSpc>
            </a:pPr>
            <a:r>
              <a:rPr lang="ko-KR" altLang="en-US" sz="1200" dirty="0"/>
              <a:t>        </a:t>
            </a:r>
            <a:r>
              <a:rPr lang="ko-KR" altLang="en-US" sz="1200" dirty="0" err="1"/>
              <a:t>Chollet은</a:t>
            </a:r>
            <a:r>
              <a:rPr lang="ko-KR" altLang="en-US" sz="1200" dirty="0"/>
              <a:t> </a:t>
            </a:r>
            <a:r>
              <a:rPr lang="en-US" altLang="ko-KR" sz="1200" dirty="0"/>
              <a:t>2024</a:t>
            </a:r>
            <a:r>
              <a:rPr lang="ko-KR" altLang="en-US" sz="1200" dirty="0"/>
              <a:t>년 </a:t>
            </a:r>
            <a:r>
              <a:rPr lang="en-US" altLang="ko-KR" sz="1200" dirty="0"/>
              <a:t>11</a:t>
            </a:r>
            <a:r>
              <a:rPr lang="ko-KR" altLang="en-US" sz="1200" dirty="0"/>
              <a:t>월 Google 퇴사</a:t>
            </a:r>
            <a:br>
              <a:rPr lang="en-US" altLang="ko-KR" sz="1200" dirty="0"/>
            </a:br>
            <a:r>
              <a:rPr lang="en-US" altLang="ko-KR" sz="1200" dirty="0"/>
              <a:t>        </a:t>
            </a:r>
            <a:r>
              <a:rPr lang="ko-KR" altLang="en-US" sz="1200" dirty="0"/>
              <a:t>범용 인공지능 개발하는 새 스타트업 창업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4573781-5BAD-4D73-BB84-399A3F4F5673}"/>
              </a:ext>
            </a:extLst>
          </p:cNvPr>
          <p:cNvSpPr txBox="1"/>
          <p:nvPr/>
        </p:nvSpPr>
        <p:spPr>
          <a:xfrm>
            <a:off x="5087888" y="5622324"/>
            <a:ext cx="6408712" cy="580352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lang="en-US" altLang="ko-KR" sz="1400" dirty="0">
                <a:latin typeface="+mn-ea"/>
              </a:rPr>
              <a:t>Google</a:t>
            </a:r>
            <a:r>
              <a:rPr lang="ko-KR" altLang="en-US" sz="1400" dirty="0">
                <a:latin typeface="+mn-ea"/>
              </a:rPr>
              <a:t>이 </a:t>
            </a:r>
            <a:r>
              <a:rPr lang="en-US" altLang="ko-KR" sz="1400" dirty="0" err="1">
                <a:latin typeface="+mn-ea"/>
              </a:rPr>
              <a:t>Keras</a:t>
            </a:r>
            <a:r>
              <a:rPr lang="ko-KR" altLang="en-US" sz="1400" dirty="0">
                <a:latin typeface="+mn-ea"/>
              </a:rPr>
              <a:t>를 인수한 게 아니라</a:t>
            </a:r>
            <a:r>
              <a:rPr lang="en-US" altLang="ko-KR" sz="1400" dirty="0">
                <a:latin typeface="+mn-ea"/>
              </a:rPr>
              <a:t>, </a:t>
            </a:r>
            <a:r>
              <a:rPr lang="en-US" altLang="ko-KR" sz="1400" dirty="0" err="1">
                <a:latin typeface="+mn-ea"/>
              </a:rPr>
              <a:t>Keras</a:t>
            </a:r>
            <a:r>
              <a:rPr lang="ko-KR" altLang="en-US" sz="1400" dirty="0">
                <a:latin typeface="+mn-ea"/>
              </a:rPr>
              <a:t>를 만든 사람</a:t>
            </a:r>
            <a:r>
              <a:rPr lang="en-US" altLang="ko-KR" sz="1400" dirty="0">
                <a:latin typeface="+mn-ea"/>
              </a:rPr>
              <a:t>(Chollet)</a:t>
            </a:r>
            <a:r>
              <a:rPr lang="ko-KR" altLang="en-US" sz="1400" dirty="0">
                <a:latin typeface="+mn-ea"/>
              </a:rPr>
              <a:t>을 고용했고</a:t>
            </a:r>
            <a:r>
              <a:rPr lang="en-US" altLang="ko-KR" sz="1400" dirty="0">
                <a:latin typeface="+mn-ea"/>
              </a:rPr>
              <a:t>, </a:t>
            </a:r>
            <a:r>
              <a:rPr lang="en-US" altLang="ko-KR" sz="1400" dirty="0" err="1">
                <a:latin typeface="+mn-ea"/>
              </a:rPr>
              <a:t>Keras</a:t>
            </a:r>
            <a:r>
              <a:rPr lang="en-US" altLang="ko-KR" sz="1400" dirty="0">
                <a:latin typeface="+mn-ea"/>
              </a:rPr>
              <a:t> </a:t>
            </a:r>
            <a:r>
              <a:rPr lang="ko-KR" altLang="en-US" sz="1400" dirty="0">
                <a:latin typeface="+mn-ea"/>
              </a:rPr>
              <a:t>자체는 지금도 오픈소스로 누구나 사용 가능</a:t>
            </a:r>
          </a:p>
        </p:txBody>
      </p:sp>
    </p:spTree>
    <p:extLst>
      <p:ext uri="{BB962C8B-B14F-4D97-AF65-F5344CB8AC3E}">
        <p14:creationId xmlns:p14="http://schemas.microsoft.com/office/powerpoint/2010/main" val="3685274533"/>
      </p:ext>
    </p:extLst>
  </p:cSld>
  <p:clrMapOvr>
    <a:masterClrMapping/>
  </p:clrMapOvr>
  <p:transition spd="slow"/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3B9328C-EC78-4C72-B6D2-1C613D055561}"/>
              </a:ext>
            </a:extLst>
          </p:cNvPr>
          <p:cNvSpPr/>
          <p:nvPr/>
        </p:nvSpPr>
        <p:spPr>
          <a:xfrm>
            <a:off x="0" y="0"/>
            <a:ext cx="12192000" cy="1977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7742100-845C-4B70-8CA0-C95D72123612}"/>
              </a:ext>
            </a:extLst>
          </p:cNvPr>
          <p:cNvSpPr/>
          <p:nvPr/>
        </p:nvSpPr>
        <p:spPr>
          <a:xfrm>
            <a:off x="548640" y="321276"/>
            <a:ext cx="11094720" cy="6425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1단계 — 환경 설정 &amp; 데이터 준비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1621653-2D37-4FF4-8EF8-E3CDE66019D6}"/>
              </a:ext>
            </a:extLst>
          </p:cNvPr>
          <p:cNvSpPr/>
          <p:nvPr/>
        </p:nvSpPr>
        <p:spPr>
          <a:xfrm>
            <a:off x="548640" y="963827"/>
            <a:ext cx="11094720" cy="271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MNIST 데이터셋: 0~9 손글씨 숫자 이미지 70,000장 (훈련 60,000 + 테스트 10,000)</a:t>
            </a:r>
            <a:endParaRPr lang="en-US" sz="1400" b="1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8CCC13B-8875-4082-A88E-8ECFBAF278DE}"/>
              </a:ext>
            </a:extLst>
          </p:cNvPr>
          <p:cNvSpPr/>
          <p:nvPr/>
        </p:nvSpPr>
        <p:spPr>
          <a:xfrm>
            <a:off x="548640" y="1235676"/>
            <a:ext cx="11094720" cy="2471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B52C654-74F9-4213-B56C-DA137387FF26}"/>
              </a:ext>
            </a:extLst>
          </p:cNvPr>
          <p:cNvSpPr/>
          <p:nvPr/>
        </p:nvSpPr>
        <p:spPr>
          <a:xfrm>
            <a:off x="512064" y="1340768"/>
            <a:ext cx="609600" cy="39541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A19D711-75FC-4BA6-A567-A39258F6D396}"/>
              </a:ext>
            </a:extLst>
          </p:cNvPr>
          <p:cNvSpPr/>
          <p:nvPr/>
        </p:nvSpPr>
        <p:spPr>
          <a:xfrm>
            <a:off x="512064" y="1340768"/>
            <a:ext cx="609600" cy="395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8A161CA-33DB-4BED-8F02-B4EAE4CC6D5D}"/>
              </a:ext>
            </a:extLst>
          </p:cNvPr>
          <p:cNvSpPr/>
          <p:nvPr/>
        </p:nvSpPr>
        <p:spPr>
          <a:xfrm>
            <a:off x="1243584" y="1340768"/>
            <a:ext cx="10485120" cy="395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</a:rPr>
              <a:t>MNIST 데이터 로드 &amp; 전처리</a:t>
            </a:r>
            <a:endParaRPr lang="en-US" sz="16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BE90DDCE-178E-47FA-9F7E-CADF15480744}"/>
              </a:ext>
            </a:extLst>
          </p:cNvPr>
          <p:cNvSpPr/>
          <p:nvPr/>
        </p:nvSpPr>
        <p:spPr>
          <a:xfrm>
            <a:off x="512064" y="1810325"/>
            <a:ext cx="11192256" cy="331149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31017D11-842E-4EB9-B98C-1A71639167F2}"/>
              </a:ext>
            </a:extLst>
          </p:cNvPr>
          <p:cNvSpPr/>
          <p:nvPr/>
        </p:nvSpPr>
        <p:spPr>
          <a:xfrm>
            <a:off x="512064" y="1810325"/>
            <a:ext cx="60960" cy="3311492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2B120B1D-A2AD-4C13-8F86-BE6DD9E32FB6}"/>
              </a:ext>
            </a:extLst>
          </p:cNvPr>
          <p:cNvSpPr/>
          <p:nvPr/>
        </p:nvSpPr>
        <p:spPr>
          <a:xfrm>
            <a:off x="694944" y="1909179"/>
            <a:ext cx="10924032" cy="32126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데이터 로드 (자동 다운로드)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(X_train, y_train), (X_test, y_test) = </a:t>
            </a:r>
            <a:r>
              <a:rPr lang="en-US" sz="14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keras.datasets.mnist.load_data</a:t>
            </a: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400" b="1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정규화: 픽셀값 0~255 → 0.0~1.0 (학습 안정화)</a:t>
            </a:r>
            <a:endParaRPr lang="en-US" sz="14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X_train = X_train.astype('float32') / 255.0</a:t>
            </a:r>
            <a:endParaRPr lang="en-US" sz="1400" b="1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X_test  = X_test.astype('float32')  / 255.0</a:t>
            </a:r>
            <a:endParaRPr lang="en-US" sz="1400" b="1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CNN 입력 형태로 변환: (샘플수, 28, 28) → (샘플수, 28, 28, 1)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마지막 1 = 채널 수 (흑백=1, 컬러=3)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X_train = X_train.reshape(-1, 28, 28, 1)</a:t>
            </a:r>
            <a:endParaRPr lang="en-US" sz="1400" b="1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X_test  = X_test.reshape(-1, 28, 28, 1)</a:t>
            </a:r>
            <a:endParaRPr lang="en-US" sz="1400" b="1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print(f"훈련 데이터: {X_train.shape},  정답: {y_train.shape}")</a:t>
            </a:r>
            <a:endParaRPr lang="en-US" sz="1400" b="1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print(f"테스트 데이터: {X_test.shape},  정답: {y_test.shape}")</a:t>
            </a:r>
            <a:endParaRPr lang="en-US" sz="14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5CCA57-D0F0-4AD0-833C-968306D1FCAC}"/>
              </a:ext>
            </a:extLst>
          </p:cNvPr>
          <p:cNvSpPr txBox="1"/>
          <p:nvPr/>
        </p:nvSpPr>
        <p:spPr>
          <a:xfrm>
            <a:off x="512064" y="5367173"/>
            <a:ext cx="3471899" cy="1169551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ko-KR" altLang="en-US" sz="1400" b="1" dirty="0"/>
              <a:t>MNIST 데이터셋:</a:t>
            </a:r>
          </a:p>
          <a:p>
            <a:r>
              <a:rPr lang="ko-KR" altLang="en-US" sz="1400" dirty="0"/>
              <a:t> - 숫자 0~9, 총 10개 클래스</a:t>
            </a:r>
          </a:p>
          <a:p>
            <a:r>
              <a:rPr lang="ko-KR" altLang="en-US" sz="1400" dirty="0"/>
              <a:t> - 훈련용: 60,000장</a:t>
            </a:r>
          </a:p>
          <a:p>
            <a:r>
              <a:rPr lang="ko-KR" altLang="en-US" sz="1400" dirty="0"/>
              <a:t> - 테스트용: 10,000장</a:t>
            </a:r>
          </a:p>
          <a:p>
            <a:r>
              <a:rPr lang="ko-KR" altLang="en-US" sz="1400" dirty="0"/>
              <a:t> - 이미지 크기: 28×28 픽셀, 흑백(1채널)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109EBF-9CC3-40DD-B835-4CCA8BF0FF75}"/>
              </a:ext>
            </a:extLst>
          </p:cNvPr>
          <p:cNvSpPr txBox="1"/>
          <p:nvPr/>
        </p:nvSpPr>
        <p:spPr>
          <a:xfrm>
            <a:off x="4295800" y="5367173"/>
            <a:ext cx="6103088" cy="1384995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ko-KR" altLang="en-US" sz="1400" dirty="0"/>
              <a:t>MNIST = </a:t>
            </a:r>
            <a:r>
              <a:rPr lang="ko-KR" altLang="en-US" sz="1400" dirty="0" err="1"/>
              <a:t>Modified</a:t>
            </a:r>
            <a:r>
              <a:rPr lang="ko-KR" altLang="en-US" sz="1400" dirty="0"/>
              <a:t> National </a:t>
            </a:r>
            <a:r>
              <a:rPr lang="ko-KR" altLang="en-US" sz="1400" dirty="0" err="1"/>
              <a:t>Institute</a:t>
            </a:r>
            <a:r>
              <a:rPr lang="ko-KR" altLang="en-US" sz="1400" dirty="0"/>
              <a:t> of </a:t>
            </a:r>
            <a:r>
              <a:rPr lang="ko-KR" altLang="en-US" sz="1400" dirty="0" err="1"/>
              <a:t>Standards</a:t>
            </a:r>
            <a:r>
              <a:rPr lang="ko-KR" altLang="en-US" sz="1400" dirty="0"/>
              <a:t> and Technology</a:t>
            </a:r>
          </a:p>
          <a:p>
            <a:endParaRPr lang="ko-KR" altLang="en-US" sz="1400" dirty="0"/>
          </a:p>
          <a:p>
            <a:r>
              <a:rPr lang="ko-KR" altLang="en-US" sz="1400" dirty="0" err="1"/>
              <a:t>M</a:t>
            </a:r>
            <a:r>
              <a:rPr lang="ko-KR" altLang="en-US" sz="1400" dirty="0"/>
              <a:t>     = </a:t>
            </a:r>
            <a:r>
              <a:rPr lang="ko-KR" altLang="en-US" sz="1400" dirty="0" err="1"/>
              <a:t>Modified</a:t>
            </a:r>
            <a:r>
              <a:rPr lang="ko-KR" altLang="en-US" sz="1400" dirty="0"/>
              <a:t> (수정된)</a:t>
            </a:r>
          </a:p>
          <a:p>
            <a:r>
              <a:rPr lang="ko-KR" altLang="en-US" sz="1400" dirty="0"/>
              <a:t>NIST  = 미국 국립표준기술연구소</a:t>
            </a:r>
          </a:p>
          <a:p>
            <a:r>
              <a:rPr lang="ko-KR" altLang="en-US" sz="1400" dirty="0"/>
              <a:t>        → 원래 </a:t>
            </a:r>
            <a:r>
              <a:rPr lang="ko-KR" altLang="en-US" sz="1400" dirty="0" err="1"/>
              <a:t>NIST가</a:t>
            </a:r>
            <a:r>
              <a:rPr lang="ko-KR" altLang="en-US" sz="1400" dirty="0"/>
              <a:t> 수집한 데이터를</a:t>
            </a:r>
          </a:p>
          <a:p>
            <a:r>
              <a:rPr lang="ko-KR" altLang="en-US" sz="1400" dirty="0"/>
              <a:t>          </a:t>
            </a:r>
            <a:r>
              <a:rPr lang="ko-KR" altLang="en-US" sz="1400" dirty="0" err="1"/>
              <a:t>머신러닝용으로</a:t>
            </a:r>
            <a:r>
              <a:rPr lang="ko-KR" altLang="en-US" sz="1400" dirty="0"/>
              <a:t> 수정(</a:t>
            </a:r>
            <a:r>
              <a:rPr lang="ko-KR" altLang="en-US" sz="1400" dirty="0" err="1"/>
              <a:t>Modified</a:t>
            </a:r>
            <a:r>
              <a:rPr lang="ko-KR" altLang="en-US" sz="1400" dirty="0"/>
              <a:t>)했다는 뜻</a:t>
            </a:r>
          </a:p>
        </p:txBody>
      </p:sp>
    </p:spTree>
    <p:extLst>
      <p:ext uri="{BB962C8B-B14F-4D97-AF65-F5344CB8AC3E}">
        <p14:creationId xmlns:p14="http://schemas.microsoft.com/office/powerpoint/2010/main" val="3527215257"/>
      </p:ext>
    </p:extLst>
  </p:cSld>
  <p:clrMapOvr>
    <a:masterClrMapping/>
  </p:clrMapOvr>
  <p:transition spd="slow"/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3B9328C-EC78-4C72-B6D2-1C613D055561}"/>
              </a:ext>
            </a:extLst>
          </p:cNvPr>
          <p:cNvSpPr/>
          <p:nvPr/>
        </p:nvSpPr>
        <p:spPr>
          <a:xfrm>
            <a:off x="0" y="0"/>
            <a:ext cx="12192000" cy="1977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7742100-845C-4B70-8CA0-C95D72123612}"/>
              </a:ext>
            </a:extLst>
          </p:cNvPr>
          <p:cNvSpPr/>
          <p:nvPr/>
        </p:nvSpPr>
        <p:spPr>
          <a:xfrm>
            <a:off x="548640" y="321276"/>
            <a:ext cx="11094720" cy="6425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1단계 — 환경 설정 &amp; 데이터 준비</a:t>
            </a:r>
            <a:endParaRPr lang="en-US" sz="26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8CCC13B-8875-4082-A88E-8ECFBAF278DE}"/>
              </a:ext>
            </a:extLst>
          </p:cNvPr>
          <p:cNvSpPr/>
          <p:nvPr/>
        </p:nvSpPr>
        <p:spPr>
          <a:xfrm>
            <a:off x="548640" y="1235676"/>
            <a:ext cx="11094720" cy="2471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36AC750-F7CF-4C25-9889-EF1B8ACB84DB}"/>
              </a:ext>
            </a:extLst>
          </p:cNvPr>
          <p:cNvSpPr/>
          <p:nvPr/>
        </p:nvSpPr>
        <p:spPr>
          <a:xfrm>
            <a:off x="567807" y="1593735"/>
            <a:ext cx="609600" cy="39541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9F198A1-D156-4507-9EAE-F64EA0CCBB3E}"/>
              </a:ext>
            </a:extLst>
          </p:cNvPr>
          <p:cNvSpPr/>
          <p:nvPr/>
        </p:nvSpPr>
        <p:spPr>
          <a:xfrm>
            <a:off x="567807" y="1593735"/>
            <a:ext cx="609600" cy="395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6B971E9-F6B5-4D94-A12D-FEC39E70F9FB}"/>
              </a:ext>
            </a:extLst>
          </p:cNvPr>
          <p:cNvSpPr/>
          <p:nvPr/>
        </p:nvSpPr>
        <p:spPr>
          <a:xfrm>
            <a:off x="1299327" y="1593735"/>
            <a:ext cx="10485120" cy="395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데이터 시각화 확인</a:t>
            </a:r>
            <a:endParaRPr lang="en-US" sz="14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0985DB0E-FD54-4735-9D7F-BB5E959C1B29}"/>
              </a:ext>
            </a:extLst>
          </p:cNvPr>
          <p:cNvSpPr/>
          <p:nvPr/>
        </p:nvSpPr>
        <p:spPr>
          <a:xfrm>
            <a:off x="567807" y="2063292"/>
            <a:ext cx="11192256" cy="158173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3AB2DD82-ECE9-4002-920F-8580E15F0C59}"/>
              </a:ext>
            </a:extLst>
          </p:cNvPr>
          <p:cNvSpPr/>
          <p:nvPr/>
        </p:nvSpPr>
        <p:spPr>
          <a:xfrm>
            <a:off x="567807" y="2063292"/>
            <a:ext cx="97536" cy="1581732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E81E7F8-9A12-43F6-BD03-58F167DDA156}"/>
              </a:ext>
            </a:extLst>
          </p:cNvPr>
          <p:cNvSpPr/>
          <p:nvPr/>
        </p:nvSpPr>
        <p:spPr>
          <a:xfrm>
            <a:off x="750687" y="2162146"/>
            <a:ext cx="10924032" cy="66726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fig, axes = plt.subplots(2, 10, figsize=(15, 3))</a:t>
            </a:r>
            <a:endParaRPr lang="en-US" sz="1400" b="1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i, ax in enumerate(axes.flat):</a:t>
            </a:r>
            <a:endParaRPr lang="en-US" sz="1400" b="1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ax.imshow(X_train[i].reshape(28, 28), cmap='gray')</a:t>
            </a:r>
            <a:endParaRPr lang="en-US" sz="1400" b="1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ax.set_title(f"정답: {y_train[i]}",  fontsize=8);  ax.axis('off')</a:t>
            </a:r>
            <a:endParaRPr lang="en-US" sz="1400" b="1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plt.suptitle("MNIST 샘플 이미지");  plt.tight_layout();  plt.show()</a:t>
            </a:r>
            <a:endParaRPr lang="en-US" sz="1400" b="1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7F67F51C-340F-4A3A-A294-8B7CEC95F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376" y="4005064"/>
            <a:ext cx="9326277" cy="1962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771115"/>
      </p:ext>
    </p:extLst>
  </p:cSld>
  <p:clrMapOvr>
    <a:masterClrMapping/>
  </p:clrMapOvr>
  <p:transition spd="slow"/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6A9BEB2-B731-4C69-BB8B-57E8BB17FC05}"/>
              </a:ext>
            </a:extLst>
          </p:cNvPr>
          <p:cNvSpPr/>
          <p:nvPr/>
        </p:nvSpPr>
        <p:spPr>
          <a:xfrm>
            <a:off x="0" y="1"/>
            <a:ext cx="12192000" cy="191253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68CEB4B-2590-4211-87E8-8B2C9074F76A}"/>
              </a:ext>
            </a:extLst>
          </p:cNvPr>
          <p:cNvSpPr/>
          <p:nvPr/>
        </p:nvSpPr>
        <p:spPr>
          <a:xfrm>
            <a:off x="548640" y="188640"/>
            <a:ext cx="11094720" cy="6215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2단계 — CNN 모델 설계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D1243AF-86D6-4205-9126-B37078871517}"/>
              </a:ext>
            </a:extLst>
          </p:cNvPr>
          <p:cNvSpPr/>
          <p:nvPr/>
        </p:nvSpPr>
        <p:spPr>
          <a:xfrm>
            <a:off x="548640" y="692696"/>
            <a:ext cx="11094720" cy="262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층을 쌓아 올리는 방식으로 모델을 정의합니다 (Sequential API)</a:t>
            </a:r>
            <a:endParaRPr lang="en-US" sz="1200" b="1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BAB4837-485E-4430-9040-DA322787B8C5}"/>
              </a:ext>
            </a:extLst>
          </p:cNvPr>
          <p:cNvSpPr/>
          <p:nvPr/>
        </p:nvSpPr>
        <p:spPr>
          <a:xfrm>
            <a:off x="548640" y="980728"/>
            <a:ext cx="11094720" cy="23907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35CB603-2384-4DF5-A76C-3D9674D08AF4}"/>
              </a:ext>
            </a:extLst>
          </p:cNvPr>
          <p:cNvSpPr/>
          <p:nvPr/>
        </p:nvSpPr>
        <p:spPr>
          <a:xfrm>
            <a:off x="512064" y="1052736"/>
            <a:ext cx="609600" cy="382505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0D7953A-C8A7-4549-B8B9-27411D5F4DC1}"/>
              </a:ext>
            </a:extLst>
          </p:cNvPr>
          <p:cNvSpPr/>
          <p:nvPr/>
        </p:nvSpPr>
        <p:spPr>
          <a:xfrm>
            <a:off x="512064" y="1052736"/>
            <a:ext cx="609600" cy="382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A26C56-9AEF-4961-A7FF-A81F3F357D4A}"/>
              </a:ext>
            </a:extLst>
          </p:cNvPr>
          <p:cNvSpPr/>
          <p:nvPr/>
        </p:nvSpPr>
        <p:spPr>
          <a:xfrm>
            <a:off x="1243584" y="1052736"/>
            <a:ext cx="10485120" cy="3825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</a:rPr>
              <a:t>CNN 모델 정의</a:t>
            </a:r>
            <a:endParaRPr lang="en-US" sz="125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863DF1E-8522-40CE-BAE1-9AFC9D56CE7E}"/>
              </a:ext>
            </a:extLst>
          </p:cNvPr>
          <p:cNvSpPr/>
          <p:nvPr/>
        </p:nvSpPr>
        <p:spPr>
          <a:xfrm>
            <a:off x="512064" y="1506959"/>
            <a:ext cx="11192256" cy="5351039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EBC39DD-980D-4406-8D64-26B9482DF986}"/>
              </a:ext>
            </a:extLst>
          </p:cNvPr>
          <p:cNvSpPr/>
          <p:nvPr/>
        </p:nvSpPr>
        <p:spPr>
          <a:xfrm>
            <a:off x="512064" y="1506960"/>
            <a:ext cx="45719" cy="5162399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9F78B55-A604-4675-9C9E-09BB2A6C52E0}"/>
              </a:ext>
            </a:extLst>
          </p:cNvPr>
          <p:cNvSpPr/>
          <p:nvPr/>
        </p:nvSpPr>
        <p:spPr>
          <a:xfrm>
            <a:off x="694944" y="1484784"/>
            <a:ext cx="10984992" cy="5162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</a:t>
            </a:r>
            <a:r>
              <a:rPr lang="en-US" sz="14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keras.Sequential</a:t>
            </a: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     # </a:t>
            </a:r>
            <a:r>
              <a:rPr lang="ko-KR" alt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레고 블록처럼 층을 위에서 아래로 순서대로 쌓는 모델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── 1번째 합성곱 </a:t>
            </a:r>
            <a:r>
              <a:rPr lang="en-US" sz="1200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블록</a:t>
            </a: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──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layers.Conv2D(32, (3,3), activation='relu', input_shape=(28,28,1)),    #relu</a:t>
            </a:r>
            <a:r>
              <a:rPr lang="ko-KR" alt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ko-KR" alt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Rectified</a:t>
            </a:r>
            <a:r>
              <a:rPr lang="ko-KR" alt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Linear</a:t>
            </a:r>
            <a:r>
              <a:rPr lang="ko-KR" alt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Unit(</a:t>
            </a:r>
            <a:r>
              <a:rPr lang="ko-KR" alt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음수 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sym typeface="Wingdings" panose="05000000000000000000" pitchFamily="2" charset="2"/>
              </a:rPr>
              <a:t> 0</a:t>
            </a:r>
            <a:r>
              <a:rPr lang="ko-KR" alt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sym typeface="Wingdings" panose="05000000000000000000" pitchFamily="2" charset="2"/>
              </a:rPr>
              <a:t>으로</a:t>
            </a:r>
            <a:r>
              <a:rPr lang="en-US" altLang="ko-KR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sym typeface="Wingdings" panose="05000000000000000000" pitchFamily="2" charset="2"/>
              </a:rPr>
              <a:t>)</a:t>
            </a:r>
            <a:endParaRPr lang="en-US" sz="12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Conv2D: 32개 필터, 3×3 </a:t>
            </a:r>
            <a:r>
              <a:rPr lang="ko-KR" alt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돋보기 </a:t>
            </a:r>
            <a:r>
              <a:rPr lang="en-US" sz="1200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크기</a:t>
            </a: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relu 활성함수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layers.MaxPooling2D((2,2)),</a:t>
            </a:r>
            <a:endParaRPr lang="en-US" sz="12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MaxPooling: 2×2 영역에서 최댓값 선택 → 이미지 </a:t>
            </a:r>
            <a:r>
              <a:rPr lang="en-US" sz="1200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절반으로</a:t>
            </a: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축소</a:t>
            </a: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(28x28 </a:t>
            </a: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sym typeface="Wingdings" panose="05000000000000000000" pitchFamily="2" charset="2"/>
              </a:rPr>
              <a:t> 14 x 14)</a:t>
            </a:r>
            <a:endParaRPr lang="en-US" sz="12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── 2번째 합성곱 블록 ─────────────────────────────────────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layers.Conv2D(64, (3,3), activation='relu'),</a:t>
            </a:r>
            <a:endParaRPr lang="en-US" sz="12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필터 수 64로 증가 → 더 복잡한 특징 학습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layers.MaxPooling2D((2,2)),</a:t>
            </a:r>
            <a:endParaRPr lang="en-US" sz="12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── 분류 블록 ─────────────────────────────────────────────</a:t>
            </a:r>
            <a:endParaRPr lang="en-US" sz="12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layers.Flatten(),</a:t>
            </a:r>
            <a:endParaRPr lang="en-US" sz="12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Flatten: 2D 특징맵 → 1D 벡터로 변환 (완전연결층 입력 준비)</a:t>
            </a:r>
            <a:endParaRPr lang="en-US" sz="12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layers.Dense(128, activation='relu'),</a:t>
            </a:r>
            <a:endParaRPr lang="en-US" sz="12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Dense: 128개 뉴런, relu 활성함수</a:t>
            </a:r>
            <a:endParaRPr lang="en-US" sz="12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layers.Dropout(0.3),</a:t>
            </a:r>
            <a:endParaRPr lang="en-US" sz="12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Dropout: 30% 뉴런 무작위 꺼서 과적합 방지</a:t>
            </a:r>
            <a:endParaRPr lang="en-US" sz="12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layers.Dense(10, activation='softmax')</a:t>
            </a:r>
            <a:endParaRPr lang="en-US" sz="12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출력층: 10개 클래스 (0~9), softmax → 확률 합계 = 1</a:t>
            </a:r>
            <a:endParaRPr lang="en-US" sz="12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endParaRPr lang="en-US" sz="12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model.summary()   # 모델 구조 출력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942423505"/>
      </p:ext>
    </p:extLst>
  </p:cSld>
  <p:clrMapOvr>
    <a:masterClrMapping/>
  </p:clrMapOvr>
  <p:transition spd="slow"/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6A9BEB2-B731-4C69-BB8B-57E8BB17FC05}"/>
              </a:ext>
            </a:extLst>
          </p:cNvPr>
          <p:cNvSpPr/>
          <p:nvPr/>
        </p:nvSpPr>
        <p:spPr>
          <a:xfrm>
            <a:off x="0" y="1"/>
            <a:ext cx="12192000" cy="191253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68CEB4B-2590-4211-87E8-8B2C9074F76A}"/>
              </a:ext>
            </a:extLst>
          </p:cNvPr>
          <p:cNvSpPr/>
          <p:nvPr/>
        </p:nvSpPr>
        <p:spPr>
          <a:xfrm>
            <a:off x="548640" y="188640"/>
            <a:ext cx="11094720" cy="6215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2단계 — CNN </a:t>
            </a:r>
            <a:r>
              <a:rPr lang="en-US" sz="2600" b="1" dirty="0" err="1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모델</a:t>
            </a: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설계 </a:t>
            </a: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  <a:sym typeface="Wingdings" panose="05000000000000000000" pitchFamily="2" charset="2"/>
              </a:rPr>
              <a:t> </a:t>
            </a:r>
            <a:r>
              <a:rPr lang="en-US" sz="2600" b="1" dirty="0" err="1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  <a:sym typeface="Wingdings" panose="05000000000000000000" pitchFamily="2" charset="2"/>
              </a:rPr>
              <a:t>colab</a:t>
            </a:r>
            <a:r>
              <a:rPr lang="ko-KR" alt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  <a:sym typeface="Wingdings" panose="05000000000000000000" pitchFamily="2" charset="2"/>
              </a:rPr>
              <a:t> 출력</a:t>
            </a:r>
            <a:endParaRPr lang="en-US" sz="26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BAB4837-485E-4430-9040-DA322787B8C5}"/>
              </a:ext>
            </a:extLst>
          </p:cNvPr>
          <p:cNvSpPr/>
          <p:nvPr/>
        </p:nvSpPr>
        <p:spPr>
          <a:xfrm>
            <a:off x="548640" y="764704"/>
            <a:ext cx="11094720" cy="23907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0D7953A-C8A7-4549-B8B9-27411D5F4DC1}"/>
              </a:ext>
            </a:extLst>
          </p:cNvPr>
          <p:cNvSpPr/>
          <p:nvPr/>
        </p:nvSpPr>
        <p:spPr>
          <a:xfrm>
            <a:off x="512064" y="1052736"/>
            <a:ext cx="609600" cy="382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4D263CD-7AB7-46EB-A832-8C4D63D42D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075327"/>
            <a:ext cx="6725589" cy="3962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045218"/>
      </p:ext>
    </p:extLst>
  </p:cSld>
  <p:clrMapOvr>
    <a:masterClrMapping/>
  </p:clrMapOvr>
  <p:transition spd="slow"/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6A9BEB2-B731-4C69-BB8B-57E8BB17FC05}"/>
              </a:ext>
            </a:extLst>
          </p:cNvPr>
          <p:cNvSpPr/>
          <p:nvPr/>
        </p:nvSpPr>
        <p:spPr>
          <a:xfrm>
            <a:off x="0" y="1"/>
            <a:ext cx="12192000" cy="191253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68CEB4B-2590-4211-87E8-8B2C9074F76A}"/>
              </a:ext>
            </a:extLst>
          </p:cNvPr>
          <p:cNvSpPr/>
          <p:nvPr/>
        </p:nvSpPr>
        <p:spPr>
          <a:xfrm>
            <a:off x="548640" y="188640"/>
            <a:ext cx="11094720" cy="6215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2단계 — CNN 모델 설계</a:t>
            </a:r>
            <a:endParaRPr lang="en-US" sz="26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BAB4837-485E-4430-9040-DA322787B8C5}"/>
              </a:ext>
            </a:extLst>
          </p:cNvPr>
          <p:cNvSpPr/>
          <p:nvPr/>
        </p:nvSpPr>
        <p:spPr>
          <a:xfrm>
            <a:off x="548640" y="764704"/>
            <a:ext cx="11094720" cy="23907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0D7953A-C8A7-4549-B8B9-27411D5F4DC1}"/>
              </a:ext>
            </a:extLst>
          </p:cNvPr>
          <p:cNvSpPr/>
          <p:nvPr/>
        </p:nvSpPr>
        <p:spPr>
          <a:xfrm>
            <a:off x="512064" y="1052736"/>
            <a:ext cx="609600" cy="382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8493B7F1-E2C7-4E31-9406-C330D076C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980345"/>
            <a:ext cx="7955782" cy="5905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344164"/>
      </p:ext>
    </p:extLst>
  </p:cSld>
  <p:clrMapOvr>
    <a:masterClrMapping/>
  </p:clrMapOvr>
  <p:transition spd="slow"/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6A9BEB2-B731-4C69-BB8B-57E8BB17FC05}"/>
              </a:ext>
            </a:extLst>
          </p:cNvPr>
          <p:cNvSpPr/>
          <p:nvPr/>
        </p:nvSpPr>
        <p:spPr>
          <a:xfrm>
            <a:off x="0" y="1"/>
            <a:ext cx="12192000" cy="191253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68CEB4B-2590-4211-87E8-8B2C9074F76A}"/>
              </a:ext>
            </a:extLst>
          </p:cNvPr>
          <p:cNvSpPr/>
          <p:nvPr/>
        </p:nvSpPr>
        <p:spPr>
          <a:xfrm>
            <a:off x="548640" y="188640"/>
            <a:ext cx="11094720" cy="6215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2단계 — CNN 모델 설계</a:t>
            </a:r>
            <a:endParaRPr lang="en-US" sz="26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BAB4837-485E-4430-9040-DA322787B8C5}"/>
              </a:ext>
            </a:extLst>
          </p:cNvPr>
          <p:cNvSpPr/>
          <p:nvPr/>
        </p:nvSpPr>
        <p:spPr>
          <a:xfrm>
            <a:off x="548640" y="764704"/>
            <a:ext cx="11094720" cy="23907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0D7953A-C8A7-4549-B8B9-27411D5F4DC1}"/>
              </a:ext>
            </a:extLst>
          </p:cNvPr>
          <p:cNvSpPr/>
          <p:nvPr/>
        </p:nvSpPr>
        <p:spPr>
          <a:xfrm>
            <a:off x="512064" y="1052736"/>
            <a:ext cx="609600" cy="382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F71DC9B-D0D4-4594-9821-79FFF6725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605" y="889965"/>
            <a:ext cx="8870835" cy="5851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69747"/>
      </p:ext>
    </p:extLst>
  </p:cSld>
  <p:clrMapOvr>
    <a:masterClrMapping/>
  </p:clrMapOvr>
  <p:transition spd="slow"/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DC349E0-F7F0-4A1F-AE48-C1979B52FEA4}"/>
              </a:ext>
            </a:extLst>
          </p:cNvPr>
          <p:cNvSpPr/>
          <p:nvPr/>
        </p:nvSpPr>
        <p:spPr>
          <a:xfrm>
            <a:off x="0" y="0"/>
            <a:ext cx="12192000" cy="180976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AA402EA-7AA4-4E76-BCEF-1CA23250F407}"/>
              </a:ext>
            </a:extLst>
          </p:cNvPr>
          <p:cNvSpPr/>
          <p:nvPr/>
        </p:nvSpPr>
        <p:spPr>
          <a:xfrm>
            <a:off x="548640" y="294087"/>
            <a:ext cx="11094720" cy="5881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3단계 — 컴파일 &amp; 학습</a:t>
            </a:r>
            <a:endParaRPr lang="en-US" sz="26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76E6192-5AA2-4904-BC56-E144EE2CB9D3}"/>
              </a:ext>
            </a:extLst>
          </p:cNvPr>
          <p:cNvSpPr/>
          <p:nvPr/>
        </p:nvSpPr>
        <p:spPr>
          <a:xfrm>
            <a:off x="548640" y="836712"/>
            <a:ext cx="11094720" cy="2262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CD02ADA-D6A1-46CC-A154-7C6EC2460E9A}"/>
              </a:ext>
            </a:extLst>
          </p:cNvPr>
          <p:cNvSpPr/>
          <p:nvPr/>
        </p:nvSpPr>
        <p:spPr>
          <a:xfrm>
            <a:off x="512064" y="949822"/>
            <a:ext cx="609600" cy="361953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2EC915A-37BB-42EB-BFCD-F6AAF85D7FDB}"/>
              </a:ext>
            </a:extLst>
          </p:cNvPr>
          <p:cNvSpPr/>
          <p:nvPr/>
        </p:nvSpPr>
        <p:spPr>
          <a:xfrm>
            <a:off x="512064" y="949822"/>
            <a:ext cx="609600" cy="361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3C202A0-7D63-4513-A979-D1C654E0291E}"/>
              </a:ext>
            </a:extLst>
          </p:cNvPr>
          <p:cNvSpPr/>
          <p:nvPr/>
        </p:nvSpPr>
        <p:spPr>
          <a:xfrm>
            <a:off x="1243584" y="949822"/>
            <a:ext cx="10485120" cy="3619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</a:rPr>
              <a:t>모델 컴파일</a:t>
            </a:r>
            <a:endParaRPr lang="en-US" sz="125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9E67B4D5-F72F-456F-A9D8-49548E5349C3}"/>
              </a:ext>
            </a:extLst>
          </p:cNvPr>
          <p:cNvSpPr/>
          <p:nvPr/>
        </p:nvSpPr>
        <p:spPr>
          <a:xfrm>
            <a:off x="512064" y="1379641"/>
            <a:ext cx="11192256" cy="99537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0B666A8-DBF9-46C5-9518-DB04D00D68FA}"/>
              </a:ext>
            </a:extLst>
          </p:cNvPr>
          <p:cNvSpPr/>
          <p:nvPr/>
        </p:nvSpPr>
        <p:spPr>
          <a:xfrm>
            <a:off x="512064" y="1379641"/>
            <a:ext cx="73152" cy="995370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8DD8FA-39DA-446F-BCC6-E50B23F62066}"/>
              </a:ext>
            </a:extLst>
          </p:cNvPr>
          <p:cNvSpPr/>
          <p:nvPr/>
        </p:nvSpPr>
        <p:spPr>
          <a:xfrm>
            <a:off x="694944" y="1367849"/>
            <a:ext cx="10924032" cy="8370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model.compile(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optimizer='adam',          # 최적화 알고리즘: adam이 가장 많이 쓰임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loss='sparse_categorical_crossentropy',  # 손실함수: 다중 분류용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metrics=['accuracy']       # 평가 지표: 정확도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b="1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2051C9B0-395C-448A-B14A-8F3E9D90298F}"/>
              </a:ext>
            </a:extLst>
          </p:cNvPr>
          <p:cNvSpPr/>
          <p:nvPr/>
        </p:nvSpPr>
        <p:spPr>
          <a:xfrm>
            <a:off x="512064" y="2488121"/>
            <a:ext cx="609600" cy="361953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375825D-1273-48C4-8245-C2C2B1481423}"/>
              </a:ext>
            </a:extLst>
          </p:cNvPr>
          <p:cNvSpPr/>
          <p:nvPr/>
        </p:nvSpPr>
        <p:spPr>
          <a:xfrm>
            <a:off x="512064" y="2488121"/>
            <a:ext cx="609600" cy="361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C083BC3-1397-4BEC-AE70-E55661E8BC64}"/>
              </a:ext>
            </a:extLst>
          </p:cNvPr>
          <p:cNvSpPr/>
          <p:nvPr/>
        </p:nvSpPr>
        <p:spPr>
          <a:xfrm>
            <a:off x="1243584" y="2488121"/>
            <a:ext cx="10485120" cy="3619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</a:rPr>
              <a:t>모델 학습</a:t>
            </a:r>
            <a:endParaRPr lang="en-US" sz="125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303F078B-183B-4DC1-A2F3-44EB7CE9A67F}"/>
              </a:ext>
            </a:extLst>
          </p:cNvPr>
          <p:cNvSpPr/>
          <p:nvPr/>
        </p:nvSpPr>
        <p:spPr>
          <a:xfrm>
            <a:off x="512064" y="2917939"/>
            <a:ext cx="11192256" cy="1410837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943A8BBD-2E06-414B-9F10-7BC4C7F0AE1F}"/>
              </a:ext>
            </a:extLst>
          </p:cNvPr>
          <p:cNvSpPr/>
          <p:nvPr/>
        </p:nvSpPr>
        <p:spPr>
          <a:xfrm>
            <a:off x="512064" y="2917940"/>
            <a:ext cx="60960" cy="1410836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6A31D18-E86E-4353-B65A-61883F31FEF9}"/>
              </a:ext>
            </a:extLst>
          </p:cNvPr>
          <p:cNvSpPr/>
          <p:nvPr/>
        </p:nvSpPr>
        <p:spPr>
          <a:xfrm>
            <a:off x="694944" y="2924944"/>
            <a:ext cx="10924032" cy="10858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history = model.fit(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X_train, y_train,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epochs=10,                 # 전체 데이터를 10번 반복 학습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batch_size=128,            # 한 번에 128개씩 학습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validation_split=0.1,      # 훈련 데이터의 10%를 검증용으로 사용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verbose=1                  # 학습 진행 상황 출력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b="1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8217EE4-7E90-43A6-A9AA-E49121C235FE}"/>
              </a:ext>
            </a:extLst>
          </p:cNvPr>
          <p:cNvSpPr/>
          <p:nvPr/>
        </p:nvSpPr>
        <p:spPr>
          <a:xfrm>
            <a:off x="512064" y="4396643"/>
            <a:ext cx="609600" cy="361953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E3A74C9F-AA1F-4065-B1D4-EC4068A6EE80}"/>
              </a:ext>
            </a:extLst>
          </p:cNvPr>
          <p:cNvSpPr/>
          <p:nvPr/>
        </p:nvSpPr>
        <p:spPr>
          <a:xfrm>
            <a:off x="512064" y="4396643"/>
            <a:ext cx="609600" cy="3619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07</a:t>
            </a:r>
            <a:endParaRPr lang="en-US" sz="11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DBBADA00-A2F9-4852-A39F-D292F351E035}"/>
              </a:ext>
            </a:extLst>
          </p:cNvPr>
          <p:cNvSpPr/>
          <p:nvPr/>
        </p:nvSpPr>
        <p:spPr>
          <a:xfrm>
            <a:off x="1243584" y="4396643"/>
            <a:ext cx="10485120" cy="3619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</a:rPr>
              <a:t>학습 결과 시각화</a:t>
            </a:r>
            <a:endParaRPr lang="en-US" sz="125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00253436-7928-4CBB-9199-DD032050DB2C}"/>
              </a:ext>
            </a:extLst>
          </p:cNvPr>
          <p:cNvSpPr/>
          <p:nvPr/>
        </p:nvSpPr>
        <p:spPr>
          <a:xfrm>
            <a:off x="512064" y="4826462"/>
            <a:ext cx="11192256" cy="191490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CCF64165-9CCE-4EE4-8E0C-21DC3BF9DB80}"/>
              </a:ext>
            </a:extLst>
          </p:cNvPr>
          <p:cNvSpPr/>
          <p:nvPr/>
        </p:nvSpPr>
        <p:spPr>
          <a:xfrm>
            <a:off x="512064" y="4826462"/>
            <a:ext cx="73152" cy="1914906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E0F9FFF-9720-4D95-8E92-7E787961FC6C}"/>
              </a:ext>
            </a:extLst>
          </p:cNvPr>
          <p:cNvSpPr/>
          <p:nvPr/>
        </p:nvSpPr>
        <p:spPr>
          <a:xfrm>
            <a:off x="694944" y="4916950"/>
            <a:ext cx="10924032" cy="1108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fig, (ax1, ax2) = plt.subplots(1, 2, figsize=(12, 4))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ax1.plot(history.history['accuracy'],     label='훈련 정확도')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ax1.plot(history.history['val_accuracy'], label='검증 정확도')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ax1.set_title('정확도 변화');  ax1.set_xlabel('Epoch');  ax1.legend()</a:t>
            </a:r>
            <a:endParaRPr lang="en-US" sz="1200" b="1" dirty="0"/>
          </a:p>
          <a:p>
            <a:pPr marL="0" indent="0">
              <a:buNone/>
            </a:pP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ax2.plot(history.history['loss'],     label='훈련 손실')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ax2.plot(history.history['val_loss'], label='검증 손실')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ax2.set_title('손실 변화');  ax2.set_xlabel('Epoch');  ax2.legend()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plt.tight_layout();  plt.show()</a:t>
            </a:r>
            <a:endParaRPr lang="en-US" sz="980" b="1" dirty="0"/>
          </a:p>
        </p:txBody>
      </p:sp>
    </p:spTree>
    <p:extLst>
      <p:ext uri="{BB962C8B-B14F-4D97-AF65-F5344CB8AC3E}">
        <p14:creationId xmlns:p14="http://schemas.microsoft.com/office/powerpoint/2010/main" val="573999208"/>
      </p:ext>
    </p:extLst>
  </p:cSld>
  <p:clrMapOvr>
    <a:masterClrMapping/>
  </p:clrMapOvr>
  <p:transition spd="slow"/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9C1A57E-3052-4723-818A-465D70B8BF44}"/>
              </a:ext>
            </a:extLst>
          </p:cNvPr>
          <p:cNvSpPr/>
          <p:nvPr/>
        </p:nvSpPr>
        <p:spPr>
          <a:xfrm>
            <a:off x="0" y="0"/>
            <a:ext cx="12192000" cy="188419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5F7B6A-0805-4A3B-BD9A-74146448988D}"/>
              </a:ext>
            </a:extLst>
          </p:cNvPr>
          <p:cNvSpPr/>
          <p:nvPr/>
        </p:nvSpPr>
        <p:spPr>
          <a:xfrm>
            <a:off x="548640" y="306180"/>
            <a:ext cx="11094720" cy="612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4단계 — 평가 &amp; 예측 시각화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45B68E4-AADE-4922-B0AD-0C3A8484F539}"/>
              </a:ext>
            </a:extLst>
          </p:cNvPr>
          <p:cNvSpPr/>
          <p:nvPr/>
        </p:nvSpPr>
        <p:spPr>
          <a:xfrm>
            <a:off x="548640" y="918541"/>
            <a:ext cx="11094720" cy="2590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데이터로 최종 성능 확인 + 실제 예측 결과 시각화</a:t>
            </a:r>
            <a:endParaRPr lang="en-US" sz="1200" b="1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C4083FA-4FBA-4C2C-812F-20BBB2D2F88B}"/>
              </a:ext>
            </a:extLst>
          </p:cNvPr>
          <p:cNvSpPr/>
          <p:nvPr/>
        </p:nvSpPr>
        <p:spPr>
          <a:xfrm>
            <a:off x="548640" y="1177616"/>
            <a:ext cx="11094720" cy="2355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A5FBEC1-5F2F-4888-97C3-6176CB16E433}"/>
              </a:ext>
            </a:extLst>
          </p:cNvPr>
          <p:cNvSpPr/>
          <p:nvPr/>
        </p:nvSpPr>
        <p:spPr>
          <a:xfrm>
            <a:off x="512064" y="1295378"/>
            <a:ext cx="609600" cy="376837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858142F-EE56-4477-873D-DD8067332D11}"/>
              </a:ext>
            </a:extLst>
          </p:cNvPr>
          <p:cNvSpPr/>
          <p:nvPr/>
        </p:nvSpPr>
        <p:spPr>
          <a:xfrm>
            <a:off x="512064" y="1295378"/>
            <a:ext cx="609600" cy="37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08</a:t>
            </a:r>
            <a:endParaRPr lang="en-US" sz="1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CF3B463-F630-49AE-801F-AD6A23CC5BA6}"/>
              </a:ext>
            </a:extLst>
          </p:cNvPr>
          <p:cNvSpPr/>
          <p:nvPr/>
        </p:nvSpPr>
        <p:spPr>
          <a:xfrm>
            <a:off x="1243584" y="1295378"/>
            <a:ext cx="10485120" cy="3768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모델 평가</a:t>
            </a:r>
            <a:endParaRPr lang="en-US" sz="14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DC4A0EF-E351-4500-9E01-C3617FCE69E9}"/>
              </a:ext>
            </a:extLst>
          </p:cNvPr>
          <p:cNvSpPr/>
          <p:nvPr/>
        </p:nvSpPr>
        <p:spPr>
          <a:xfrm>
            <a:off x="512064" y="1742872"/>
            <a:ext cx="11192256" cy="6123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C73290CC-95AB-41E7-8CB5-44C8FA3C9B2A}"/>
              </a:ext>
            </a:extLst>
          </p:cNvPr>
          <p:cNvSpPr/>
          <p:nvPr/>
        </p:nvSpPr>
        <p:spPr>
          <a:xfrm>
            <a:off x="512064" y="1742872"/>
            <a:ext cx="73152" cy="612360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EAFDA62-CE34-48A8-9809-C5062437652D}"/>
              </a:ext>
            </a:extLst>
          </p:cNvPr>
          <p:cNvSpPr/>
          <p:nvPr/>
        </p:nvSpPr>
        <p:spPr>
          <a:xfrm>
            <a:off x="694944" y="1837081"/>
            <a:ext cx="10924032" cy="4474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test_loss, test_acc = model.evaluate(X_test, y_test, verbose=0)</a:t>
            </a:r>
            <a:endParaRPr lang="en-US" sz="1400" b="1" dirty="0"/>
          </a:p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print(f"테스트 정확도: {test_acc:.4f} ({test_acc*100:.2f}%)")</a:t>
            </a:r>
            <a:endParaRPr lang="en-US" sz="1400" b="1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DEAFE02-CEE9-4EF2-8AC5-183A05E9F3E8}"/>
              </a:ext>
            </a:extLst>
          </p:cNvPr>
          <p:cNvSpPr/>
          <p:nvPr/>
        </p:nvSpPr>
        <p:spPr>
          <a:xfrm>
            <a:off x="512064" y="2686901"/>
            <a:ext cx="609600" cy="376837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EB82519-EB29-4C0F-8625-85D542DB37EF}"/>
              </a:ext>
            </a:extLst>
          </p:cNvPr>
          <p:cNvSpPr/>
          <p:nvPr/>
        </p:nvSpPr>
        <p:spPr>
          <a:xfrm>
            <a:off x="512064" y="2686901"/>
            <a:ext cx="609600" cy="37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09</a:t>
            </a:r>
            <a:endParaRPr lang="en-US" sz="12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E927307-9DF9-400D-AECD-C8A81E678ABE}"/>
              </a:ext>
            </a:extLst>
          </p:cNvPr>
          <p:cNvSpPr/>
          <p:nvPr/>
        </p:nvSpPr>
        <p:spPr>
          <a:xfrm>
            <a:off x="1243584" y="2686901"/>
            <a:ext cx="2404144" cy="3768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예측 결과 시각화</a:t>
            </a:r>
            <a:endParaRPr lang="en-US" sz="14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A8C945C0-FE5A-4ADD-9994-FC997BCFDCD7}"/>
              </a:ext>
            </a:extLst>
          </p:cNvPr>
          <p:cNvSpPr/>
          <p:nvPr/>
        </p:nvSpPr>
        <p:spPr>
          <a:xfrm>
            <a:off x="512064" y="3134395"/>
            <a:ext cx="11192256" cy="2958901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E793DE1-EF29-4B93-B4AC-5439C302C863}"/>
              </a:ext>
            </a:extLst>
          </p:cNvPr>
          <p:cNvSpPr/>
          <p:nvPr/>
        </p:nvSpPr>
        <p:spPr>
          <a:xfrm>
            <a:off x="512064" y="3134395"/>
            <a:ext cx="60960" cy="2958901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B463BFA0-8111-4CE0-9547-A2977B2E85E3}"/>
              </a:ext>
            </a:extLst>
          </p:cNvPr>
          <p:cNvSpPr/>
          <p:nvPr/>
        </p:nvSpPr>
        <p:spPr>
          <a:xfrm>
            <a:off x="694944" y="3228604"/>
            <a:ext cx="10924032" cy="15073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y_pred = model.predict(X_test)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y_pred_classes = np.argmax(y_pred, axis=1)  # 확률 → 클래스 번호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fig, axes = plt.subplots(3, 10, figsize=(15, 5))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i, ax in enumerate(axes.flat):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ax.imshow(X_test[i].reshape(28, 28), cmap='gray')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color = 'green' if y_pred_classes[i]==y_test[i] else 'red'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ax.set_title(f"예측:{y_pred_classes[</a:t>
            </a:r>
            <a:r>
              <a:rPr lang="en-US" sz="14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]} </a:t>
            </a:r>
            <a:r>
              <a:rPr lang="en-US" sz="1400" b="1" dirty="0" err="1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정답</a:t>
            </a: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:{y_test[i]}", color=color, fontsize=7)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ax.axis('off')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plt.suptitle("예측 결과 (초록=정답, 빨강=오답)");  plt.tight_layout();  plt.show()</a:t>
            </a:r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542914864"/>
      </p:ext>
    </p:extLst>
  </p:cSld>
  <p:clrMapOvr>
    <a:masterClrMapping/>
  </p:clrMapOvr>
  <p:transition spd="slow"/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9C1A57E-3052-4723-818A-465D70B8BF44}"/>
              </a:ext>
            </a:extLst>
          </p:cNvPr>
          <p:cNvSpPr/>
          <p:nvPr/>
        </p:nvSpPr>
        <p:spPr>
          <a:xfrm>
            <a:off x="0" y="0"/>
            <a:ext cx="12192000" cy="188419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5F7B6A-0805-4A3B-BD9A-74146448988D}"/>
              </a:ext>
            </a:extLst>
          </p:cNvPr>
          <p:cNvSpPr/>
          <p:nvPr/>
        </p:nvSpPr>
        <p:spPr>
          <a:xfrm>
            <a:off x="548640" y="306180"/>
            <a:ext cx="11094720" cy="612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4단계 — 평가 &amp; 예측 시각화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45B68E4-AADE-4922-B0AD-0C3A8484F539}"/>
              </a:ext>
            </a:extLst>
          </p:cNvPr>
          <p:cNvSpPr/>
          <p:nvPr/>
        </p:nvSpPr>
        <p:spPr>
          <a:xfrm>
            <a:off x="548640" y="918541"/>
            <a:ext cx="11094720" cy="2590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데이터로 최종 성능 확인 + 실제 예측 결과 시각화</a:t>
            </a:r>
            <a:endParaRPr lang="en-US" sz="1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C4083FA-4FBA-4C2C-812F-20BBB2D2F88B}"/>
              </a:ext>
            </a:extLst>
          </p:cNvPr>
          <p:cNvSpPr/>
          <p:nvPr/>
        </p:nvSpPr>
        <p:spPr>
          <a:xfrm>
            <a:off x="548640" y="1177616"/>
            <a:ext cx="11094720" cy="2355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28B67FFE-1CBE-444D-B69B-832A76C0838A}"/>
              </a:ext>
            </a:extLst>
          </p:cNvPr>
          <p:cNvSpPr/>
          <p:nvPr/>
        </p:nvSpPr>
        <p:spPr>
          <a:xfrm>
            <a:off x="548640" y="1469338"/>
            <a:ext cx="609600" cy="376837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B372CE8-73EE-42B1-BC1F-0B90693B2F79}"/>
              </a:ext>
            </a:extLst>
          </p:cNvPr>
          <p:cNvSpPr/>
          <p:nvPr/>
        </p:nvSpPr>
        <p:spPr>
          <a:xfrm>
            <a:off x="548640" y="1469338"/>
            <a:ext cx="609600" cy="37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438C4A6-709F-4095-BFBE-8590D70BF8B9}"/>
              </a:ext>
            </a:extLst>
          </p:cNvPr>
          <p:cNvSpPr/>
          <p:nvPr/>
        </p:nvSpPr>
        <p:spPr>
          <a:xfrm>
            <a:off x="1280160" y="1469338"/>
            <a:ext cx="2202208" cy="3768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Confusion Matrix</a:t>
            </a:r>
            <a:endParaRPr lang="en-US" sz="14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742FBD43-69E0-419F-9449-735F9C588CCF}"/>
              </a:ext>
            </a:extLst>
          </p:cNvPr>
          <p:cNvSpPr/>
          <p:nvPr/>
        </p:nvSpPr>
        <p:spPr>
          <a:xfrm>
            <a:off x="548640" y="1916832"/>
            <a:ext cx="11192256" cy="266097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38ACB02-F5EB-4F72-9B48-D205FD2A4A9E}"/>
              </a:ext>
            </a:extLst>
          </p:cNvPr>
          <p:cNvSpPr/>
          <p:nvPr/>
        </p:nvSpPr>
        <p:spPr>
          <a:xfrm>
            <a:off x="548640" y="1916831"/>
            <a:ext cx="45719" cy="2660973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182A599-613F-4338-A250-D1A62433EF37}"/>
              </a:ext>
            </a:extLst>
          </p:cNvPr>
          <p:cNvSpPr/>
          <p:nvPr/>
        </p:nvSpPr>
        <p:spPr>
          <a:xfrm>
            <a:off x="731520" y="2011042"/>
            <a:ext cx="8761048" cy="113051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sklearn.metrics import confusion_matrix, classification_report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seaborn as sns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 = confusion_matrix(y_test, y_pred_classes)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plt.figure(figsize=(10, 8))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sns.heatmap(cm, annot=True, fmt='d', cmap='Blues',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xticklabels=range(10), yticklabels=range(10))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plt.xlabel('예측 숫자');  plt.ylabel('실제 숫자')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plt.title('CNN — MNIST Confusion Matrix');  plt.show()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print(classification_report(y_test, y_pred_classes))</a:t>
            </a:r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876822628"/>
      </p:ext>
    </p:extLst>
  </p:cSld>
  <p:clrMapOvr>
    <a:masterClrMapping/>
  </p:clrMapOvr>
  <p:transition spd="slow"/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9C1A57E-3052-4723-818A-465D70B8BF44}"/>
              </a:ext>
            </a:extLst>
          </p:cNvPr>
          <p:cNvSpPr/>
          <p:nvPr/>
        </p:nvSpPr>
        <p:spPr>
          <a:xfrm>
            <a:off x="0" y="0"/>
            <a:ext cx="12192000" cy="188419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5F7B6A-0805-4A3B-BD9A-74146448988D}"/>
              </a:ext>
            </a:extLst>
          </p:cNvPr>
          <p:cNvSpPr/>
          <p:nvPr/>
        </p:nvSpPr>
        <p:spPr>
          <a:xfrm>
            <a:off x="548640" y="306180"/>
            <a:ext cx="11094720" cy="612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4단계 — 평가 &amp; </a:t>
            </a:r>
            <a:r>
              <a:rPr lang="en-US" sz="2600" b="1" dirty="0" err="1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예측</a:t>
            </a: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600" b="1" dirty="0" err="1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시각화</a:t>
            </a: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  <a:sym typeface="Wingdings" panose="05000000000000000000" pitchFamily="2" charset="2"/>
              </a:rPr>
              <a:t> Confusion Matrix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45B68E4-AADE-4922-B0AD-0C3A8484F539}"/>
              </a:ext>
            </a:extLst>
          </p:cNvPr>
          <p:cNvSpPr/>
          <p:nvPr/>
        </p:nvSpPr>
        <p:spPr>
          <a:xfrm>
            <a:off x="548640" y="918541"/>
            <a:ext cx="11094720" cy="2590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데이터로 최종 성능 확인 + 실제 예측 결과 시각화</a:t>
            </a:r>
            <a:endParaRPr lang="en-US" sz="1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C4083FA-4FBA-4C2C-812F-20BBB2D2F88B}"/>
              </a:ext>
            </a:extLst>
          </p:cNvPr>
          <p:cNvSpPr/>
          <p:nvPr/>
        </p:nvSpPr>
        <p:spPr>
          <a:xfrm>
            <a:off x="548640" y="1177616"/>
            <a:ext cx="11094720" cy="2355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F8DA50B-AD6A-4A40-820D-0BE464DCF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693" y="1301164"/>
            <a:ext cx="5364307" cy="5250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07349"/>
      </p:ext>
    </p:extLst>
  </p:cSld>
  <p:clrMapOvr>
    <a:masterClrMapping/>
  </p:clrMapOvr>
  <p:transition spd="slow"/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DC363F1-2909-4289-887C-4B2FF892171A}"/>
              </a:ext>
            </a:extLst>
          </p:cNvPr>
          <p:cNvSpPr/>
          <p:nvPr/>
        </p:nvSpPr>
        <p:spPr>
          <a:xfrm>
            <a:off x="0" y="0"/>
            <a:ext cx="12192000" cy="181563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15ED5F2-41C7-4DEE-961D-A8985C92F27A}"/>
              </a:ext>
            </a:extLst>
          </p:cNvPr>
          <p:cNvSpPr/>
          <p:nvPr/>
        </p:nvSpPr>
        <p:spPr>
          <a:xfrm>
            <a:off x="548640" y="295040"/>
            <a:ext cx="11094720" cy="59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5단계 — 저장 &amp; 새 이미지 예측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A6856B2-A856-49E9-81F5-8959D1794DCC}"/>
              </a:ext>
            </a:extLst>
          </p:cNvPr>
          <p:cNvSpPr/>
          <p:nvPr/>
        </p:nvSpPr>
        <p:spPr>
          <a:xfrm>
            <a:off x="548640" y="885120"/>
            <a:ext cx="11094720" cy="249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학습된 모델 저장 후 실제 새 이미지에 적용하기</a:t>
            </a:r>
            <a:endParaRPr lang="en-US" sz="1200" b="1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66D3995-8BC0-4EF6-A149-3F800691AA0E}"/>
              </a:ext>
            </a:extLst>
          </p:cNvPr>
          <p:cNvSpPr/>
          <p:nvPr/>
        </p:nvSpPr>
        <p:spPr>
          <a:xfrm>
            <a:off x="548640" y="1134770"/>
            <a:ext cx="11094720" cy="22695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1E41FBB-0287-471A-A97C-78AA1B4E08F5}"/>
              </a:ext>
            </a:extLst>
          </p:cNvPr>
          <p:cNvSpPr/>
          <p:nvPr/>
        </p:nvSpPr>
        <p:spPr>
          <a:xfrm>
            <a:off x="512064" y="1248247"/>
            <a:ext cx="609600" cy="36312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CA21F5F-39E2-4B83-B90F-A4F1ABB94F4F}"/>
              </a:ext>
            </a:extLst>
          </p:cNvPr>
          <p:cNvSpPr/>
          <p:nvPr/>
        </p:nvSpPr>
        <p:spPr>
          <a:xfrm>
            <a:off x="512064" y="1248247"/>
            <a:ext cx="609600" cy="363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11</a:t>
            </a:r>
            <a:endParaRPr lang="en-US" sz="1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42A1063-4E1D-49C3-A603-D6AF66FED74A}"/>
              </a:ext>
            </a:extLst>
          </p:cNvPr>
          <p:cNvSpPr/>
          <p:nvPr/>
        </p:nvSpPr>
        <p:spPr>
          <a:xfrm>
            <a:off x="1243584" y="1248247"/>
            <a:ext cx="2548160" cy="3631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모델 저장 &amp; 다운로드</a:t>
            </a:r>
            <a:endParaRPr lang="en-US" sz="14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960F5BED-0E35-4D62-81EA-C3BB25BC567E}"/>
              </a:ext>
            </a:extLst>
          </p:cNvPr>
          <p:cNvSpPr/>
          <p:nvPr/>
        </p:nvSpPr>
        <p:spPr>
          <a:xfrm>
            <a:off x="512064" y="1679458"/>
            <a:ext cx="11192256" cy="1428975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B4A0F16D-19A8-4E87-B215-3DFD68BCFE5B}"/>
              </a:ext>
            </a:extLst>
          </p:cNvPr>
          <p:cNvSpPr/>
          <p:nvPr/>
        </p:nvSpPr>
        <p:spPr>
          <a:xfrm>
            <a:off x="512064" y="1679459"/>
            <a:ext cx="73152" cy="1428974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61A72F7D-DCC8-4675-B99E-2AA498806F5F}"/>
              </a:ext>
            </a:extLst>
          </p:cNvPr>
          <p:cNvSpPr/>
          <p:nvPr/>
        </p:nvSpPr>
        <p:spPr>
          <a:xfrm>
            <a:off x="694944" y="1770241"/>
            <a:ext cx="6697200" cy="1338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model.save('cnn_mnist.h5')        # HDF5 포맷으로 저장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또는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model.save('cnn_mnist.keras')      # Keras 포맷 (권장)</a:t>
            </a:r>
            <a:endParaRPr lang="en-US" sz="1200" b="1" dirty="0"/>
          </a:p>
          <a:p>
            <a:pPr marL="0" indent="0">
              <a:buNone/>
            </a:pP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google.colab import files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files.download('cnn_mnist.keras')  # 로컬 PC로 다운로드</a:t>
            </a:r>
            <a:endParaRPr lang="en-US" sz="1200" b="1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C1161F30-015D-477C-AA56-D7A001938987}"/>
              </a:ext>
            </a:extLst>
          </p:cNvPr>
          <p:cNvSpPr/>
          <p:nvPr/>
        </p:nvSpPr>
        <p:spPr>
          <a:xfrm>
            <a:off x="512064" y="3212976"/>
            <a:ext cx="609600" cy="36312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A2AAA9F-597F-474D-9362-1301AE2AD8C9}"/>
              </a:ext>
            </a:extLst>
          </p:cNvPr>
          <p:cNvSpPr/>
          <p:nvPr/>
        </p:nvSpPr>
        <p:spPr>
          <a:xfrm>
            <a:off x="512064" y="3212976"/>
            <a:ext cx="609600" cy="363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12</a:t>
            </a:r>
            <a:endParaRPr lang="en-US" sz="11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4858DF3-769C-4AEE-9FDD-BFBAB5AAC7FD}"/>
              </a:ext>
            </a:extLst>
          </p:cNvPr>
          <p:cNvSpPr/>
          <p:nvPr/>
        </p:nvSpPr>
        <p:spPr>
          <a:xfrm>
            <a:off x="1243584" y="3212976"/>
            <a:ext cx="10485120" cy="3631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</a:rPr>
              <a:t>새 이미지 예측 (직접 그린 숫자)</a:t>
            </a:r>
            <a:endParaRPr lang="en-US" sz="125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23E5B64-DACA-4306-8173-D8899E8F39E6}"/>
              </a:ext>
            </a:extLst>
          </p:cNvPr>
          <p:cNvSpPr/>
          <p:nvPr/>
        </p:nvSpPr>
        <p:spPr>
          <a:xfrm>
            <a:off x="512064" y="3644188"/>
            <a:ext cx="11192256" cy="30971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8D3F1981-B1B5-4046-8211-E72C4B9078D0}"/>
              </a:ext>
            </a:extLst>
          </p:cNvPr>
          <p:cNvSpPr/>
          <p:nvPr/>
        </p:nvSpPr>
        <p:spPr>
          <a:xfrm>
            <a:off x="512064" y="3644188"/>
            <a:ext cx="73152" cy="3097180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F621F0C-2653-43DF-B6DD-9B9525D6D215}"/>
              </a:ext>
            </a:extLst>
          </p:cNvPr>
          <p:cNvSpPr/>
          <p:nvPr/>
        </p:nvSpPr>
        <p:spPr>
          <a:xfrm>
            <a:off x="694944" y="3717032"/>
            <a:ext cx="7560152" cy="1792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테스트 이미지 1장 선택해서 예측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 = 42   # 원하는 인덱스 번호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 = X_test[idx]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 = model.predict(img.reshape(1, 28, 28, 1))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pred_class = np.argmax(pred)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confidence = np.max(pred) * 100</a:t>
            </a:r>
            <a:endParaRPr lang="en-US" sz="1200" b="1" dirty="0"/>
          </a:p>
          <a:p>
            <a:pPr marL="0" indent="0">
              <a:buNone/>
            </a:pP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plt.figure(figsize=(4, 4))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plt.imshow(img.reshape(28, 28), cmap='gray')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plt.title(f"예측: {pred_class}  (확신도: {confidence:.1f}%)", fontsize=14)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plt.axis('off');  plt.show()</a:t>
            </a:r>
            <a:endParaRPr lang="en-US" sz="1200" b="1" dirty="0"/>
          </a:p>
          <a:p>
            <a:pPr marL="0" indent="0">
              <a:buNone/>
            </a:pP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각 클래스별 확률 출력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i, p in enumerate(pred[0]):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bar = '█' * int(p * 30)</a:t>
            </a:r>
            <a:endParaRPr lang="en-US" sz="1200" b="1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print(f"숫자 {i}: {bar} {p*100:.1f}%")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619343908"/>
      </p:ext>
    </p:extLst>
  </p:cSld>
  <p:clrMapOvr>
    <a:masterClrMapping/>
  </p:clrMapOvr>
  <p:transition spd="slow"/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DC363F1-2909-4289-887C-4B2FF892171A}"/>
              </a:ext>
            </a:extLst>
          </p:cNvPr>
          <p:cNvSpPr/>
          <p:nvPr/>
        </p:nvSpPr>
        <p:spPr>
          <a:xfrm>
            <a:off x="0" y="0"/>
            <a:ext cx="12192000" cy="181563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15ED5F2-41C7-4DEE-961D-A8985C92F27A}"/>
              </a:ext>
            </a:extLst>
          </p:cNvPr>
          <p:cNvSpPr/>
          <p:nvPr/>
        </p:nvSpPr>
        <p:spPr>
          <a:xfrm>
            <a:off x="548640" y="295040"/>
            <a:ext cx="11094720" cy="59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Colab 실습  5단계 — 저장 &amp; 새 이미지 예측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A6856B2-A856-49E9-81F5-8959D1794DCC}"/>
              </a:ext>
            </a:extLst>
          </p:cNvPr>
          <p:cNvSpPr/>
          <p:nvPr/>
        </p:nvSpPr>
        <p:spPr>
          <a:xfrm>
            <a:off x="548640" y="885120"/>
            <a:ext cx="11094720" cy="249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학습된 모델 저장 후 실제 새 이미지에 적용하기</a:t>
            </a:r>
            <a:endParaRPr lang="en-US" sz="1200" b="1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66D3995-8BC0-4EF6-A149-3F800691AA0E}"/>
              </a:ext>
            </a:extLst>
          </p:cNvPr>
          <p:cNvSpPr/>
          <p:nvPr/>
        </p:nvSpPr>
        <p:spPr>
          <a:xfrm>
            <a:off x="548640" y="1134770"/>
            <a:ext cx="11094720" cy="22695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67FE5B6-88BC-4952-A3DB-D5B321969814}"/>
              </a:ext>
            </a:extLst>
          </p:cNvPr>
          <p:cNvSpPr/>
          <p:nvPr/>
        </p:nvSpPr>
        <p:spPr>
          <a:xfrm>
            <a:off x="395357" y="1543286"/>
            <a:ext cx="609600" cy="36312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0506255-98A9-43F8-8436-353A69486584}"/>
              </a:ext>
            </a:extLst>
          </p:cNvPr>
          <p:cNvSpPr/>
          <p:nvPr/>
        </p:nvSpPr>
        <p:spPr>
          <a:xfrm>
            <a:off x="395357" y="1543286"/>
            <a:ext cx="609600" cy="363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13</a:t>
            </a:r>
            <a:endParaRPr lang="en-US" sz="12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DD27D1A-0684-430F-915F-272D7AB31FD4}"/>
              </a:ext>
            </a:extLst>
          </p:cNvPr>
          <p:cNvSpPr/>
          <p:nvPr/>
        </p:nvSpPr>
        <p:spPr>
          <a:xfrm>
            <a:off x="1126877" y="1543286"/>
            <a:ext cx="10485120" cy="3631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모델 다시 불러오기</a:t>
            </a:r>
            <a:endParaRPr lang="en-US" sz="14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313B3545-877B-4234-B9F2-A0B327B1C2C1}"/>
              </a:ext>
            </a:extLst>
          </p:cNvPr>
          <p:cNvSpPr/>
          <p:nvPr/>
        </p:nvSpPr>
        <p:spPr>
          <a:xfrm>
            <a:off x="395357" y="1974499"/>
            <a:ext cx="11192256" cy="1886549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77303541-4AAA-4725-9336-F12F6BB547F5}"/>
              </a:ext>
            </a:extLst>
          </p:cNvPr>
          <p:cNvSpPr/>
          <p:nvPr/>
        </p:nvSpPr>
        <p:spPr>
          <a:xfrm>
            <a:off x="395357" y="1974499"/>
            <a:ext cx="153283" cy="1886549"/>
          </a:xfrm>
          <a:prstGeom prst="rect">
            <a:avLst/>
          </a:prstGeom>
          <a:solidFill>
            <a:srgbClr val="1D6FD8"/>
          </a:solidFill>
          <a:ln w="12700">
            <a:solidFill>
              <a:srgbClr val="1D6FD8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A07423CD-67B3-4BA8-BEF1-5B6246F5A78A}"/>
              </a:ext>
            </a:extLst>
          </p:cNvPr>
          <p:cNvSpPr/>
          <p:nvPr/>
        </p:nvSpPr>
        <p:spPr>
          <a:xfrm>
            <a:off x="650245" y="2065279"/>
            <a:ext cx="6957923" cy="18638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저장된 모델 로드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loaded_model = keras.models.load_model('cnn_mnist.keras')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바로 예측 가능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 = loaded_model.predict(X_test[:5])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print("예측 결과:", np.argmax(pred, axis=1))</a:t>
            </a:r>
            <a:endParaRPr lang="en-US" sz="1400" b="1" dirty="0"/>
          </a:p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print("실제 정답:", y_test[:5])</a:t>
            </a:r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137695461"/>
      </p:ext>
    </p:extLst>
  </p:cSld>
  <p:clrMapOvr>
    <a:masterClrMapping/>
  </p:clrMapOvr>
  <p:transition spd="slow"/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68E9E-1722-A24E-FD69-0294FD9B8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48EC924-8A46-430F-BA70-B433F9D466B6}"/>
              </a:ext>
            </a:extLst>
          </p:cNvPr>
          <p:cNvSpPr/>
          <p:nvPr/>
        </p:nvSpPr>
        <p:spPr>
          <a:xfrm>
            <a:off x="0" y="0"/>
            <a:ext cx="12192000" cy="18097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BF49C7D-48D4-4BEE-A183-50574A72DAB0}"/>
              </a:ext>
            </a:extLst>
          </p:cNvPr>
          <p:cNvSpPr/>
          <p:nvPr/>
        </p:nvSpPr>
        <p:spPr>
          <a:xfrm>
            <a:off x="548640" y="294087"/>
            <a:ext cx="11094720" cy="5881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CNN 핵심 파라미터 &amp; 실전 튜닝 팁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6625E11-C343-40F5-8889-C2E800D62D91}"/>
              </a:ext>
            </a:extLst>
          </p:cNvPr>
          <p:cNvSpPr/>
          <p:nvPr/>
        </p:nvSpPr>
        <p:spPr>
          <a:xfrm>
            <a:off x="548640" y="882260"/>
            <a:ext cx="11094720" cy="248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성능을 높이기 위한 조정 가이드</a:t>
            </a:r>
            <a:endParaRPr lang="en-US" sz="1400" b="1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9C170D2-3FE2-4422-B35B-5D1DBC6D2DE1}"/>
              </a:ext>
            </a:extLst>
          </p:cNvPr>
          <p:cNvSpPr/>
          <p:nvPr/>
        </p:nvSpPr>
        <p:spPr>
          <a:xfrm>
            <a:off x="548640" y="1131102"/>
            <a:ext cx="11094720" cy="2262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C79E918-E0CA-4EA8-901D-796BB68A47FB}"/>
              </a:ext>
            </a:extLst>
          </p:cNvPr>
          <p:cNvSpPr/>
          <p:nvPr/>
        </p:nvSpPr>
        <p:spPr>
          <a:xfrm>
            <a:off x="512064" y="1244212"/>
            <a:ext cx="2194560" cy="429819"/>
          </a:xfrm>
          <a:prstGeom prst="rect">
            <a:avLst/>
          </a:prstGeom>
          <a:solidFill>
            <a:srgbClr val="1E3A8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1EE6B26-EAA3-47CB-B9E2-AFEEAE110765}"/>
              </a:ext>
            </a:extLst>
          </p:cNvPr>
          <p:cNvSpPr/>
          <p:nvPr/>
        </p:nvSpPr>
        <p:spPr>
          <a:xfrm>
            <a:off x="512064" y="1244212"/>
            <a:ext cx="2194560" cy="429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파라미터</a:t>
            </a:r>
            <a:endParaRPr lang="en-US" sz="1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6130547-723A-43F7-9C3A-6A01465B8EE5}"/>
              </a:ext>
            </a:extLst>
          </p:cNvPr>
          <p:cNvSpPr/>
          <p:nvPr/>
        </p:nvSpPr>
        <p:spPr>
          <a:xfrm>
            <a:off x="2706624" y="1244212"/>
            <a:ext cx="1341120" cy="429819"/>
          </a:xfrm>
          <a:prstGeom prst="rect">
            <a:avLst/>
          </a:prstGeom>
          <a:solidFill>
            <a:srgbClr val="1E3A8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2E5178F-0FCB-478C-B2C8-72F4BC8BA3F4}"/>
              </a:ext>
            </a:extLst>
          </p:cNvPr>
          <p:cNvSpPr/>
          <p:nvPr/>
        </p:nvSpPr>
        <p:spPr>
          <a:xfrm>
            <a:off x="2706624" y="1244212"/>
            <a:ext cx="1341120" cy="429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기본값</a:t>
            </a:r>
            <a:endParaRPr lang="en-US" sz="14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B37DA8F-299E-4AEF-9B4D-E0D8B97BC42A}"/>
              </a:ext>
            </a:extLst>
          </p:cNvPr>
          <p:cNvSpPr/>
          <p:nvPr/>
        </p:nvSpPr>
        <p:spPr>
          <a:xfrm>
            <a:off x="4047744" y="1244212"/>
            <a:ext cx="2804160" cy="429819"/>
          </a:xfrm>
          <a:prstGeom prst="rect">
            <a:avLst/>
          </a:prstGeom>
          <a:solidFill>
            <a:srgbClr val="1E3A8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EC7F63F-D6C8-4D7E-92AE-06383E816E7D}"/>
              </a:ext>
            </a:extLst>
          </p:cNvPr>
          <p:cNvSpPr/>
          <p:nvPr/>
        </p:nvSpPr>
        <p:spPr>
          <a:xfrm>
            <a:off x="4047744" y="1244212"/>
            <a:ext cx="2804160" cy="429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의미</a:t>
            </a:r>
            <a:endParaRPr lang="en-US" sz="14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4FBC34A9-CAFC-4130-A263-443C676288E1}"/>
              </a:ext>
            </a:extLst>
          </p:cNvPr>
          <p:cNvSpPr/>
          <p:nvPr/>
        </p:nvSpPr>
        <p:spPr>
          <a:xfrm>
            <a:off x="6851904" y="1244212"/>
            <a:ext cx="4389120" cy="429819"/>
          </a:xfrm>
          <a:prstGeom prst="rect">
            <a:avLst/>
          </a:prstGeom>
          <a:solidFill>
            <a:srgbClr val="1E3A8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5C69D1E-8997-4C75-A4D3-B754945F4B8E}"/>
              </a:ext>
            </a:extLst>
          </p:cNvPr>
          <p:cNvSpPr/>
          <p:nvPr/>
        </p:nvSpPr>
        <p:spPr>
          <a:xfrm>
            <a:off x="6851904" y="1244212"/>
            <a:ext cx="4389120" cy="429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조정 가이드</a:t>
            </a:r>
            <a:endParaRPr lang="en-US" sz="14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1773ACA0-7FAC-4B79-A3BB-88FDCED2C3D0}"/>
              </a:ext>
            </a:extLst>
          </p:cNvPr>
          <p:cNvSpPr/>
          <p:nvPr/>
        </p:nvSpPr>
        <p:spPr>
          <a:xfrm>
            <a:off x="512064" y="1674031"/>
            <a:ext cx="2194560" cy="55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3CD914B-C3DA-480B-A0A3-76BC8BCEC198}"/>
              </a:ext>
            </a:extLst>
          </p:cNvPr>
          <p:cNvSpPr/>
          <p:nvPr/>
        </p:nvSpPr>
        <p:spPr>
          <a:xfrm>
            <a:off x="585216" y="1674031"/>
            <a:ext cx="207264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endParaRPr lang="en-US" sz="1400" b="1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D6FED38C-002C-475B-8173-DCC7CC748B77}"/>
              </a:ext>
            </a:extLst>
          </p:cNvPr>
          <p:cNvSpPr/>
          <p:nvPr/>
        </p:nvSpPr>
        <p:spPr>
          <a:xfrm>
            <a:off x="2706624" y="1674031"/>
            <a:ext cx="1341120" cy="55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11AF80F-4A38-424A-833A-8B2B313C4FFD}"/>
              </a:ext>
            </a:extLst>
          </p:cNvPr>
          <p:cNvSpPr/>
          <p:nvPr/>
        </p:nvSpPr>
        <p:spPr>
          <a:xfrm>
            <a:off x="2779776" y="1674031"/>
            <a:ext cx="121920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32/64</a:t>
            </a:r>
            <a:endParaRPr lang="en-US" sz="1400" b="1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656599D-6BB1-4B3F-BF8F-7748693B1AB4}"/>
              </a:ext>
            </a:extLst>
          </p:cNvPr>
          <p:cNvSpPr/>
          <p:nvPr/>
        </p:nvSpPr>
        <p:spPr>
          <a:xfrm>
            <a:off x="4047744" y="1674031"/>
            <a:ext cx="2804160" cy="55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B1859C2-880E-44B2-9DB6-B3D74104C0D4}"/>
              </a:ext>
            </a:extLst>
          </p:cNvPr>
          <p:cNvSpPr/>
          <p:nvPr/>
        </p:nvSpPr>
        <p:spPr>
          <a:xfrm>
            <a:off x="4120896" y="1674031"/>
            <a:ext cx="268224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필터(특징 감지기) 수</a:t>
            </a:r>
            <a:endParaRPr lang="en-US" sz="1200" b="1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BFD339C3-18F3-4EFE-977E-F1F33B5CCCAE}"/>
              </a:ext>
            </a:extLst>
          </p:cNvPr>
          <p:cNvSpPr/>
          <p:nvPr/>
        </p:nvSpPr>
        <p:spPr>
          <a:xfrm>
            <a:off x="6851904" y="1674031"/>
            <a:ext cx="4389120" cy="55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9DFAEE9-5395-4556-B932-9FB262080FE5}"/>
              </a:ext>
            </a:extLst>
          </p:cNvPr>
          <p:cNvSpPr/>
          <p:nvPr/>
        </p:nvSpPr>
        <p:spPr>
          <a:xfrm>
            <a:off x="6925056" y="1674031"/>
            <a:ext cx="426720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작을수록 빠름, 클수록 정확</a:t>
            </a:r>
            <a:endParaRPr lang="en-US" sz="1200" b="1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32→64→128 순서로 증가 권장</a:t>
            </a:r>
            <a:endParaRPr lang="en-US" sz="1200" b="1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54FFF81-459C-4842-A23D-1377794F6038}"/>
              </a:ext>
            </a:extLst>
          </p:cNvPr>
          <p:cNvSpPr/>
          <p:nvPr/>
        </p:nvSpPr>
        <p:spPr>
          <a:xfrm>
            <a:off x="512064" y="2239582"/>
            <a:ext cx="2194560" cy="554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94D6DAB3-CEDC-4EAA-A84F-C9068E4BBF7F}"/>
              </a:ext>
            </a:extLst>
          </p:cNvPr>
          <p:cNvSpPr/>
          <p:nvPr/>
        </p:nvSpPr>
        <p:spPr>
          <a:xfrm>
            <a:off x="585216" y="2239582"/>
            <a:ext cx="207264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kernel_size</a:t>
            </a:r>
            <a:endParaRPr lang="en-US" sz="1400" b="1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E5F037F6-5A80-423D-A980-487C7D5D0400}"/>
              </a:ext>
            </a:extLst>
          </p:cNvPr>
          <p:cNvSpPr/>
          <p:nvPr/>
        </p:nvSpPr>
        <p:spPr>
          <a:xfrm>
            <a:off x="2706624" y="2239582"/>
            <a:ext cx="1341120" cy="554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1FEA98CE-D48B-4ADF-98F0-396F7D86AFEC}"/>
              </a:ext>
            </a:extLst>
          </p:cNvPr>
          <p:cNvSpPr/>
          <p:nvPr/>
        </p:nvSpPr>
        <p:spPr>
          <a:xfrm>
            <a:off x="2779776" y="2239582"/>
            <a:ext cx="121920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(3,3)</a:t>
            </a:r>
            <a:endParaRPr lang="en-US" sz="1400" b="1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F15EB9FB-156B-4421-83CA-A7EE6A6FB339}"/>
              </a:ext>
            </a:extLst>
          </p:cNvPr>
          <p:cNvSpPr/>
          <p:nvPr/>
        </p:nvSpPr>
        <p:spPr>
          <a:xfrm>
            <a:off x="4047744" y="2239582"/>
            <a:ext cx="2804160" cy="554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784A6C7-2222-4FC5-A20B-A4517C441084}"/>
              </a:ext>
            </a:extLst>
          </p:cNvPr>
          <p:cNvSpPr/>
          <p:nvPr/>
        </p:nvSpPr>
        <p:spPr>
          <a:xfrm>
            <a:off x="4120896" y="2239582"/>
            <a:ext cx="268224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필터 크기</a:t>
            </a:r>
            <a:endParaRPr lang="en-US" sz="1200" b="1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3A426161-C93D-4B65-8C75-DE1D1816D457}"/>
              </a:ext>
            </a:extLst>
          </p:cNvPr>
          <p:cNvSpPr/>
          <p:nvPr/>
        </p:nvSpPr>
        <p:spPr>
          <a:xfrm>
            <a:off x="6851904" y="2239582"/>
            <a:ext cx="4389120" cy="554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21F9BF7B-0663-436D-86C2-E614AFA6CB42}"/>
              </a:ext>
            </a:extLst>
          </p:cNvPr>
          <p:cNvSpPr/>
          <p:nvPr/>
        </p:nvSpPr>
        <p:spPr>
          <a:xfrm>
            <a:off x="6925056" y="2239582"/>
            <a:ext cx="426720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3×3이 대부분 최적</a:t>
            </a:r>
            <a:endParaRPr lang="en-US" sz="1200" b="1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큰 이미지엔 5×5도 가능</a:t>
            </a:r>
            <a:endParaRPr lang="en-US" sz="1200" b="1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D21B1DF9-3B24-4697-9990-4EA89F356486}"/>
              </a:ext>
            </a:extLst>
          </p:cNvPr>
          <p:cNvSpPr/>
          <p:nvPr/>
        </p:nvSpPr>
        <p:spPr>
          <a:xfrm>
            <a:off x="512064" y="2805133"/>
            <a:ext cx="2194560" cy="55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A96E3264-600D-4431-BC61-FCA2D12F0011}"/>
              </a:ext>
            </a:extLst>
          </p:cNvPr>
          <p:cNvSpPr/>
          <p:nvPr/>
        </p:nvSpPr>
        <p:spPr>
          <a:xfrm>
            <a:off x="585216" y="2805133"/>
            <a:ext cx="207264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activation</a:t>
            </a:r>
            <a:endParaRPr lang="en-US" sz="1400" b="1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19719850-864A-417A-99A9-D44287AF2CFA}"/>
              </a:ext>
            </a:extLst>
          </p:cNvPr>
          <p:cNvSpPr/>
          <p:nvPr/>
        </p:nvSpPr>
        <p:spPr>
          <a:xfrm>
            <a:off x="2706624" y="2805133"/>
            <a:ext cx="1341120" cy="55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E06F4439-3ABA-4240-8484-B433266BEFB6}"/>
              </a:ext>
            </a:extLst>
          </p:cNvPr>
          <p:cNvSpPr/>
          <p:nvPr/>
        </p:nvSpPr>
        <p:spPr>
          <a:xfrm>
            <a:off x="2779776" y="2805133"/>
            <a:ext cx="121920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</a:t>
            </a:r>
            <a:endParaRPr lang="en-US" sz="1400" b="1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63F0530A-8ADB-490D-8966-E9A91EF1F321}"/>
              </a:ext>
            </a:extLst>
          </p:cNvPr>
          <p:cNvSpPr/>
          <p:nvPr/>
        </p:nvSpPr>
        <p:spPr>
          <a:xfrm>
            <a:off x="4047744" y="2805133"/>
            <a:ext cx="2804160" cy="55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0F3DB2D5-2C90-4DFE-BAC9-046D1C1C8880}"/>
              </a:ext>
            </a:extLst>
          </p:cNvPr>
          <p:cNvSpPr/>
          <p:nvPr/>
        </p:nvSpPr>
        <p:spPr>
          <a:xfrm>
            <a:off x="4120896" y="2805133"/>
            <a:ext cx="268224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활성 함수</a:t>
            </a:r>
            <a:endParaRPr lang="en-US" sz="1200" b="1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C78486A-A476-4814-8B03-31E8211EDD05}"/>
              </a:ext>
            </a:extLst>
          </p:cNvPr>
          <p:cNvSpPr/>
          <p:nvPr/>
        </p:nvSpPr>
        <p:spPr>
          <a:xfrm>
            <a:off x="6851904" y="2805133"/>
            <a:ext cx="4389120" cy="55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D25C759F-33C9-4EA5-892B-0F930037A81F}"/>
              </a:ext>
            </a:extLst>
          </p:cNvPr>
          <p:cNvSpPr/>
          <p:nvPr/>
        </p:nvSpPr>
        <p:spPr>
          <a:xfrm>
            <a:off x="6925056" y="2805133"/>
            <a:ext cx="426720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은닉층: relu / 출력층: softmax</a:t>
            </a:r>
            <a:endParaRPr lang="en-US" sz="1200" b="1" dirty="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3951EAEB-045E-4BFC-925F-B3422D8B14BE}"/>
              </a:ext>
            </a:extLst>
          </p:cNvPr>
          <p:cNvSpPr/>
          <p:nvPr/>
        </p:nvSpPr>
        <p:spPr>
          <a:xfrm>
            <a:off x="512064" y="3370684"/>
            <a:ext cx="2194560" cy="554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43B7FC8A-E8F5-4175-A910-6F8ECE03CE37}"/>
              </a:ext>
            </a:extLst>
          </p:cNvPr>
          <p:cNvSpPr/>
          <p:nvPr/>
        </p:nvSpPr>
        <p:spPr>
          <a:xfrm>
            <a:off x="585216" y="3370684"/>
            <a:ext cx="207264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epochs</a:t>
            </a:r>
            <a:endParaRPr lang="en-US" sz="1400" b="1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380680DC-18A3-44A5-8A6C-F0CB45BD6F28}"/>
              </a:ext>
            </a:extLst>
          </p:cNvPr>
          <p:cNvSpPr/>
          <p:nvPr/>
        </p:nvSpPr>
        <p:spPr>
          <a:xfrm>
            <a:off x="2706624" y="3370684"/>
            <a:ext cx="1341120" cy="554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D40A5209-002B-4C19-8297-BB935700166A}"/>
              </a:ext>
            </a:extLst>
          </p:cNvPr>
          <p:cNvSpPr/>
          <p:nvPr/>
        </p:nvSpPr>
        <p:spPr>
          <a:xfrm>
            <a:off x="2779776" y="3370684"/>
            <a:ext cx="121920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b="1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AC7E5072-6596-4343-8FA4-1A6749B2D0AC}"/>
              </a:ext>
            </a:extLst>
          </p:cNvPr>
          <p:cNvSpPr/>
          <p:nvPr/>
        </p:nvSpPr>
        <p:spPr>
          <a:xfrm>
            <a:off x="4047744" y="3370684"/>
            <a:ext cx="2804160" cy="554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7F6076D-BD38-4686-8D8D-226608B0D66B}"/>
              </a:ext>
            </a:extLst>
          </p:cNvPr>
          <p:cNvSpPr/>
          <p:nvPr/>
        </p:nvSpPr>
        <p:spPr>
          <a:xfrm>
            <a:off x="4120896" y="3370684"/>
            <a:ext cx="268224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반복 횟수</a:t>
            </a:r>
            <a:endParaRPr lang="en-US" sz="1200" b="1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11F0CB2C-8C76-4A9D-A13C-6C390C3E7D83}"/>
              </a:ext>
            </a:extLst>
          </p:cNvPr>
          <p:cNvSpPr/>
          <p:nvPr/>
        </p:nvSpPr>
        <p:spPr>
          <a:xfrm>
            <a:off x="6851904" y="3370684"/>
            <a:ext cx="4389120" cy="554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9FA2A28B-24F3-4C85-8577-67314E9603E3}"/>
              </a:ext>
            </a:extLst>
          </p:cNvPr>
          <p:cNvSpPr/>
          <p:nvPr/>
        </p:nvSpPr>
        <p:spPr>
          <a:xfrm>
            <a:off x="6925056" y="3370684"/>
            <a:ext cx="426720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너무 많으면 과적합</a:t>
            </a:r>
            <a:endParaRPr lang="en-US" sz="1200" b="1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early stopping 함께 사용</a:t>
            </a:r>
            <a:endParaRPr lang="en-US" sz="1200" b="1" dirty="0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AEDB9943-FB4B-412A-BF00-52AAADDC2D98}"/>
              </a:ext>
            </a:extLst>
          </p:cNvPr>
          <p:cNvSpPr/>
          <p:nvPr/>
        </p:nvSpPr>
        <p:spPr>
          <a:xfrm>
            <a:off x="512064" y="3936235"/>
            <a:ext cx="2194560" cy="55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68121D51-FD39-45D6-85FC-B97A0A0330C4}"/>
              </a:ext>
            </a:extLst>
          </p:cNvPr>
          <p:cNvSpPr/>
          <p:nvPr/>
        </p:nvSpPr>
        <p:spPr>
          <a:xfrm>
            <a:off x="585216" y="3936235"/>
            <a:ext cx="207264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batch_size</a:t>
            </a:r>
            <a:endParaRPr lang="en-US" sz="1400" b="1" dirty="0"/>
          </a:p>
        </p:txBody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F99A32B1-6922-4889-B6C3-DD9773CC2E5C}"/>
              </a:ext>
            </a:extLst>
          </p:cNvPr>
          <p:cNvSpPr/>
          <p:nvPr/>
        </p:nvSpPr>
        <p:spPr>
          <a:xfrm>
            <a:off x="2706624" y="3936235"/>
            <a:ext cx="1341120" cy="55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B87A6582-2273-4B6D-8A25-30C49FE41523}"/>
              </a:ext>
            </a:extLst>
          </p:cNvPr>
          <p:cNvSpPr/>
          <p:nvPr/>
        </p:nvSpPr>
        <p:spPr>
          <a:xfrm>
            <a:off x="2779776" y="3936235"/>
            <a:ext cx="121920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32~128</a:t>
            </a:r>
            <a:endParaRPr lang="en-US" sz="1400" b="1" dirty="0"/>
          </a:p>
        </p:txBody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B055A2C5-8B80-45DD-8023-132F50B096DB}"/>
              </a:ext>
            </a:extLst>
          </p:cNvPr>
          <p:cNvSpPr/>
          <p:nvPr/>
        </p:nvSpPr>
        <p:spPr>
          <a:xfrm>
            <a:off x="4047744" y="3936235"/>
            <a:ext cx="2804160" cy="55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ADF3523C-71EF-4FBB-A4F9-A3F063411F70}"/>
              </a:ext>
            </a:extLst>
          </p:cNvPr>
          <p:cNvSpPr/>
          <p:nvPr/>
        </p:nvSpPr>
        <p:spPr>
          <a:xfrm>
            <a:off x="4120896" y="3936235"/>
            <a:ext cx="268224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번에 처리 수</a:t>
            </a:r>
            <a:endParaRPr lang="en-US" sz="1200" b="1" dirty="0"/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0539759D-48A3-47FD-A71D-2FA189E8A4F0}"/>
              </a:ext>
            </a:extLst>
          </p:cNvPr>
          <p:cNvSpPr/>
          <p:nvPr/>
        </p:nvSpPr>
        <p:spPr>
          <a:xfrm>
            <a:off x="6851904" y="3936235"/>
            <a:ext cx="4389120" cy="55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011C6287-496C-48A4-95B1-3F8BC2443765}"/>
              </a:ext>
            </a:extLst>
          </p:cNvPr>
          <p:cNvSpPr/>
          <p:nvPr/>
        </p:nvSpPr>
        <p:spPr>
          <a:xfrm>
            <a:off x="6925056" y="3936235"/>
            <a:ext cx="426720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클수록 빠름, 작을수록 안정</a:t>
            </a:r>
            <a:endParaRPr lang="en-US" sz="1200" b="1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GPU 메모리에 따라 조정</a:t>
            </a:r>
            <a:endParaRPr lang="en-US" sz="1200" b="1" dirty="0"/>
          </a:p>
        </p:txBody>
      </p:sp>
      <p:sp>
        <p:nvSpPr>
          <p:cNvPr id="54" name="Shape 52">
            <a:extLst>
              <a:ext uri="{FF2B5EF4-FFF2-40B4-BE49-F238E27FC236}">
                <a16:creationId xmlns:a16="http://schemas.microsoft.com/office/drawing/2014/main" id="{7843C708-1039-416A-97AD-C40F5BAB2B77}"/>
              </a:ext>
            </a:extLst>
          </p:cNvPr>
          <p:cNvSpPr/>
          <p:nvPr/>
        </p:nvSpPr>
        <p:spPr>
          <a:xfrm>
            <a:off x="512064" y="4501786"/>
            <a:ext cx="2194560" cy="554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200A9674-4AEC-4054-BF7E-7974B73609F2}"/>
              </a:ext>
            </a:extLst>
          </p:cNvPr>
          <p:cNvSpPr/>
          <p:nvPr/>
        </p:nvSpPr>
        <p:spPr>
          <a:xfrm>
            <a:off x="585216" y="4501786"/>
            <a:ext cx="207264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Dropout</a:t>
            </a:r>
            <a:endParaRPr lang="en-US" sz="1400" b="1" dirty="0"/>
          </a:p>
        </p:txBody>
      </p:sp>
      <p:sp>
        <p:nvSpPr>
          <p:cNvPr id="56" name="Shape 54">
            <a:extLst>
              <a:ext uri="{FF2B5EF4-FFF2-40B4-BE49-F238E27FC236}">
                <a16:creationId xmlns:a16="http://schemas.microsoft.com/office/drawing/2014/main" id="{CC9A7FF0-1280-4EFE-B925-AE74C44616AD}"/>
              </a:ext>
            </a:extLst>
          </p:cNvPr>
          <p:cNvSpPr/>
          <p:nvPr/>
        </p:nvSpPr>
        <p:spPr>
          <a:xfrm>
            <a:off x="2706624" y="4501786"/>
            <a:ext cx="1341120" cy="554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8F536259-A8B4-4491-A07B-11B6D9F0C0C1}"/>
              </a:ext>
            </a:extLst>
          </p:cNvPr>
          <p:cNvSpPr/>
          <p:nvPr/>
        </p:nvSpPr>
        <p:spPr>
          <a:xfrm>
            <a:off x="2779776" y="4501786"/>
            <a:ext cx="121920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0.3~0.5</a:t>
            </a:r>
            <a:endParaRPr lang="en-US" sz="1400" b="1" dirty="0"/>
          </a:p>
        </p:txBody>
      </p:sp>
      <p:sp>
        <p:nvSpPr>
          <p:cNvPr id="58" name="Shape 56">
            <a:extLst>
              <a:ext uri="{FF2B5EF4-FFF2-40B4-BE49-F238E27FC236}">
                <a16:creationId xmlns:a16="http://schemas.microsoft.com/office/drawing/2014/main" id="{BC43B1FF-4A5D-40EA-9CC1-21740BD95740}"/>
              </a:ext>
            </a:extLst>
          </p:cNvPr>
          <p:cNvSpPr/>
          <p:nvPr/>
        </p:nvSpPr>
        <p:spPr>
          <a:xfrm>
            <a:off x="4047744" y="4501786"/>
            <a:ext cx="2804160" cy="554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4DE3C981-E63D-4F5E-923C-03F2FCE3DBF5}"/>
              </a:ext>
            </a:extLst>
          </p:cNvPr>
          <p:cNvSpPr/>
          <p:nvPr/>
        </p:nvSpPr>
        <p:spPr>
          <a:xfrm>
            <a:off x="4120896" y="4501786"/>
            <a:ext cx="268224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과적합 방지율</a:t>
            </a:r>
            <a:endParaRPr lang="en-US" sz="1200" b="1" dirty="0"/>
          </a:p>
        </p:txBody>
      </p:sp>
      <p:sp>
        <p:nvSpPr>
          <p:cNvPr id="60" name="Shape 58">
            <a:extLst>
              <a:ext uri="{FF2B5EF4-FFF2-40B4-BE49-F238E27FC236}">
                <a16:creationId xmlns:a16="http://schemas.microsoft.com/office/drawing/2014/main" id="{75B04FD6-5425-4D86-A233-7A45D17E2424}"/>
              </a:ext>
            </a:extLst>
          </p:cNvPr>
          <p:cNvSpPr/>
          <p:nvPr/>
        </p:nvSpPr>
        <p:spPr>
          <a:xfrm>
            <a:off x="6851904" y="4501786"/>
            <a:ext cx="4389120" cy="554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3E7E6E55-E8F1-4FD2-A3E6-534A8826296A}"/>
              </a:ext>
            </a:extLst>
          </p:cNvPr>
          <p:cNvSpPr/>
          <p:nvPr/>
        </p:nvSpPr>
        <p:spPr>
          <a:xfrm>
            <a:off x="6925056" y="4501786"/>
            <a:ext cx="426720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정확도가 낮으면 높이기</a:t>
            </a:r>
            <a:endParaRPr lang="en-US" sz="1200" b="1" dirty="0"/>
          </a:p>
        </p:txBody>
      </p:sp>
      <p:sp>
        <p:nvSpPr>
          <p:cNvPr id="62" name="Shape 60">
            <a:extLst>
              <a:ext uri="{FF2B5EF4-FFF2-40B4-BE49-F238E27FC236}">
                <a16:creationId xmlns:a16="http://schemas.microsoft.com/office/drawing/2014/main" id="{18EDABCE-E706-42A5-AA6B-1E64CBAF79A3}"/>
              </a:ext>
            </a:extLst>
          </p:cNvPr>
          <p:cNvSpPr/>
          <p:nvPr/>
        </p:nvSpPr>
        <p:spPr>
          <a:xfrm>
            <a:off x="512064" y="5067337"/>
            <a:ext cx="2194560" cy="55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B76EFE81-8516-4DC7-96BD-4CDED19BD592}"/>
              </a:ext>
            </a:extLst>
          </p:cNvPr>
          <p:cNvSpPr/>
          <p:nvPr/>
        </p:nvSpPr>
        <p:spPr>
          <a:xfrm>
            <a:off x="585216" y="5067337"/>
            <a:ext cx="207264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optimizer</a:t>
            </a:r>
            <a:endParaRPr lang="en-US" sz="1400" b="1" dirty="0"/>
          </a:p>
        </p:txBody>
      </p:sp>
      <p:sp>
        <p:nvSpPr>
          <p:cNvPr id="64" name="Shape 62">
            <a:extLst>
              <a:ext uri="{FF2B5EF4-FFF2-40B4-BE49-F238E27FC236}">
                <a16:creationId xmlns:a16="http://schemas.microsoft.com/office/drawing/2014/main" id="{0FFDC151-D34B-486D-A8C8-610CCD00A8FB}"/>
              </a:ext>
            </a:extLst>
          </p:cNvPr>
          <p:cNvSpPr/>
          <p:nvPr/>
        </p:nvSpPr>
        <p:spPr>
          <a:xfrm>
            <a:off x="2706624" y="5067337"/>
            <a:ext cx="1341120" cy="55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C7731AE4-5C1F-4FBD-8CCC-E11D8B729F4B}"/>
              </a:ext>
            </a:extLst>
          </p:cNvPr>
          <p:cNvSpPr/>
          <p:nvPr/>
        </p:nvSpPr>
        <p:spPr>
          <a:xfrm>
            <a:off x="2779776" y="5067337"/>
            <a:ext cx="121920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</a:t>
            </a:r>
            <a:endParaRPr lang="en-US" sz="1400" b="1" dirty="0"/>
          </a:p>
        </p:txBody>
      </p:sp>
      <p:sp>
        <p:nvSpPr>
          <p:cNvPr id="66" name="Shape 64">
            <a:extLst>
              <a:ext uri="{FF2B5EF4-FFF2-40B4-BE49-F238E27FC236}">
                <a16:creationId xmlns:a16="http://schemas.microsoft.com/office/drawing/2014/main" id="{20BE220F-7AB0-43CC-83A1-939270318011}"/>
              </a:ext>
            </a:extLst>
          </p:cNvPr>
          <p:cNvSpPr/>
          <p:nvPr/>
        </p:nvSpPr>
        <p:spPr>
          <a:xfrm>
            <a:off x="4047744" y="5067337"/>
            <a:ext cx="2804160" cy="55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D60C7F95-16CA-4EF7-9DFB-234F58F859B5}"/>
              </a:ext>
            </a:extLst>
          </p:cNvPr>
          <p:cNvSpPr/>
          <p:nvPr/>
        </p:nvSpPr>
        <p:spPr>
          <a:xfrm>
            <a:off x="4120896" y="5067337"/>
            <a:ext cx="268224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최적화 알고리즘</a:t>
            </a:r>
            <a:endParaRPr lang="en-US" sz="1200" b="1" dirty="0"/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E7A8B51C-909D-4058-BE5B-3B118E18491D}"/>
              </a:ext>
            </a:extLst>
          </p:cNvPr>
          <p:cNvSpPr/>
          <p:nvPr/>
        </p:nvSpPr>
        <p:spPr>
          <a:xfrm>
            <a:off x="6851904" y="5067337"/>
            <a:ext cx="4389120" cy="55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>
            <a:extLst>
              <a:ext uri="{FF2B5EF4-FFF2-40B4-BE49-F238E27FC236}">
                <a16:creationId xmlns:a16="http://schemas.microsoft.com/office/drawing/2014/main" id="{9400E8A5-1186-4C1A-812F-0A1EFBCC5623}"/>
              </a:ext>
            </a:extLst>
          </p:cNvPr>
          <p:cNvSpPr/>
          <p:nvPr/>
        </p:nvSpPr>
        <p:spPr>
          <a:xfrm>
            <a:off x="6925056" y="5067337"/>
            <a:ext cx="426720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대부분 adam으로 시작 권장</a:t>
            </a:r>
            <a:endParaRPr lang="en-US" sz="1200" b="1" dirty="0"/>
          </a:p>
        </p:txBody>
      </p:sp>
      <p:sp>
        <p:nvSpPr>
          <p:cNvPr id="70" name="Shape 68">
            <a:extLst>
              <a:ext uri="{FF2B5EF4-FFF2-40B4-BE49-F238E27FC236}">
                <a16:creationId xmlns:a16="http://schemas.microsoft.com/office/drawing/2014/main" id="{362D80AD-F0B2-4503-A5D6-280D986041BF}"/>
              </a:ext>
            </a:extLst>
          </p:cNvPr>
          <p:cNvSpPr/>
          <p:nvPr/>
        </p:nvSpPr>
        <p:spPr>
          <a:xfrm>
            <a:off x="512064" y="5632888"/>
            <a:ext cx="2194560" cy="554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A3CAF5BB-0F01-45A1-9834-5B7F6A0B7942}"/>
              </a:ext>
            </a:extLst>
          </p:cNvPr>
          <p:cNvSpPr/>
          <p:nvPr/>
        </p:nvSpPr>
        <p:spPr>
          <a:xfrm>
            <a:off x="585216" y="5632888"/>
            <a:ext cx="207264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learning_rate</a:t>
            </a:r>
            <a:endParaRPr lang="en-US" sz="1400" b="1" dirty="0"/>
          </a:p>
        </p:txBody>
      </p:sp>
      <p:sp>
        <p:nvSpPr>
          <p:cNvPr id="72" name="Shape 70">
            <a:extLst>
              <a:ext uri="{FF2B5EF4-FFF2-40B4-BE49-F238E27FC236}">
                <a16:creationId xmlns:a16="http://schemas.microsoft.com/office/drawing/2014/main" id="{39E17BFA-57F0-4008-9587-BF26287E9ABF}"/>
              </a:ext>
            </a:extLst>
          </p:cNvPr>
          <p:cNvSpPr/>
          <p:nvPr/>
        </p:nvSpPr>
        <p:spPr>
          <a:xfrm>
            <a:off x="2706624" y="5632888"/>
            <a:ext cx="1341120" cy="554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>
            <a:extLst>
              <a:ext uri="{FF2B5EF4-FFF2-40B4-BE49-F238E27FC236}">
                <a16:creationId xmlns:a16="http://schemas.microsoft.com/office/drawing/2014/main" id="{AC95207C-6ADB-41F5-9744-B91431F9080C}"/>
              </a:ext>
            </a:extLst>
          </p:cNvPr>
          <p:cNvSpPr/>
          <p:nvPr/>
        </p:nvSpPr>
        <p:spPr>
          <a:xfrm>
            <a:off x="2779776" y="5632888"/>
            <a:ext cx="121920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</a:t>
            </a:r>
            <a:endParaRPr lang="en-US" sz="1400" b="1" dirty="0"/>
          </a:p>
        </p:txBody>
      </p:sp>
      <p:sp>
        <p:nvSpPr>
          <p:cNvPr id="74" name="Shape 72">
            <a:extLst>
              <a:ext uri="{FF2B5EF4-FFF2-40B4-BE49-F238E27FC236}">
                <a16:creationId xmlns:a16="http://schemas.microsoft.com/office/drawing/2014/main" id="{6BE7E570-D06A-4A45-9DFD-C79104FB7E9E}"/>
              </a:ext>
            </a:extLst>
          </p:cNvPr>
          <p:cNvSpPr/>
          <p:nvPr/>
        </p:nvSpPr>
        <p:spPr>
          <a:xfrm>
            <a:off x="4047744" y="5632888"/>
            <a:ext cx="2804160" cy="554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BD25C71A-7D26-4CBC-90E9-FB46F19BFC73}"/>
              </a:ext>
            </a:extLst>
          </p:cNvPr>
          <p:cNvSpPr/>
          <p:nvPr/>
        </p:nvSpPr>
        <p:spPr>
          <a:xfrm>
            <a:off x="4120896" y="5632888"/>
            <a:ext cx="268224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속도</a:t>
            </a:r>
            <a:endParaRPr lang="en-US" sz="1200" b="1" dirty="0"/>
          </a:p>
        </p:txBody>
      </p:sp>
      <p:sp>
        <p:nvSpPr>
          <p:cNvPr id="76" name="Shape 74">
            <a:extLst>
              <a:ext uri="{FF2B5EF4-FFF2-40B4-BE49-F238E27FC236}">
                <a16:creationId xmlns:a16="http://schemas.microsoft.com/office/drawing/2014/main" id="{ABAC9227-D65A-45E6-8019-F0E5961C5D51}"/>
              </a:ext>
            </a:extLst>
          </p:cNvPr>
          <p:cNvSpPr/>
          <p:nvPr/>
        </p:nvSpPr>
        <p:spPr>
          <a:xfrm>
            <a:off x="6851904" y="5632888"/>
            <a:ext cx="4389120" cy="554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>
            <a:extLst>
              <a:ext uri="{FF2B5EF4-FFF2-40B4-BE49-F238E27FC236}">
                <a16:creationId xmlns:a16="http://schemas.microsoft.com/office/drawing/2014/main" id="{ADA10E86-DD51-4342-BE35-8E9BC1D17926}"/>
              </a:ext>
            </a:extLst>
          </p:cNvPr>
          <p:cNvSpPr/>
          <p:nvPr/>
        </p:nvSpPr>
        <p:spPr>
          <a:xfrm>
            <a:off x="6925056" y="5632888"/>
            <a:ext cx="4267200" cy="55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너무 크면 발산, 작으면 느림</a:t>
            </a:r>
            <a:endParaRPr lang="en-US" sz="1200" b="1" dirty="0"/>
          </a:p>
        </p:txBody>
      </p:sp>
      <p:sp>
        <p:nvSpPr>
          <p:cNvPr id="78" name="Shape 76">
            <a:extLst>
              <a:ext uri="{FF2B5EF4-FFF2-40B4-BE49-F238E27FC236}">
                <a16:creationId xmlns:a16="http://schemas.microsoft.com/office/drawing/2014/main" id="{7D7C2F00-BEBE-41A7-9989-03255A60EDBA}"/>
              </a:ext>
            </a:extLst>
          </p:cNvPr>
          <p:cNvSpPr/>
          <p:nvPr/>
        </p:nvSpPr>
        <p:spPr>
          <a:xfrm>
            <a:off x="512064" y="6334171"/>
            <a:ext cx="11192256" cy="407197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9" name="Text 77">
            <a:extLst>
              <a:ext uri="{FF2B5EF4-FFF2-40B4-BE49-F238E27FC236}">
                <a16:creationId xmlns:a16="http://schemas.microsoft.com/office/drawing/2014/main" id="{939B68B8-6E7F-419C-9A89-7904A385631D}"/>
              </a:ext>
            </a:extLst>
          </p:cNvPr>
          <p:cNvSpPr/>
          <p:nvPr/>
        </p:nvSpPr>
        <p:spPr>
          <a:xfrm>
            <a:off x="707136" y="6334171"/>
            <a:ext cx="10972800" cy="4071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성능 향상 팁: 데이터 증강(회전·뒤집기·이동) → BatchNormalization 추가 → Learning Rate Scheduler → 더 깊은 네트워크 (ResNet 등)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139801022"/>
      </p:ext>
    </p:extLst>
  </p:cSld>
  <p:clrMapOvr>
    <a:masterClrMapping/>
  </p:clrMapOvr>
  <p:transition spd="slow"/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shade val="8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B890FF-6EFF-7B4B-25D0-B4632CB63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만화 영화, 스크린샷, 3D 모델링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5B0B74-445C-E2C9-E6F3-47BB9DA1DD6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7F9F9"/>
              </a:clrFrom>
              <a:clrTo>
                <a:srgbClr val="F7F9F9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08777" y="2733099"/>
            <a:ext cx="8583223" cy="412490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557278A-92DE-D55C-62A4-F174F4A3E557}"/>
              </a:ext>
            </a:extLst>
          </p:cNvPr>
          <p:cNvSpPr txBox="1"/>
          <p:nvPr/>
        </p:nvSpPr>
        <p:spPr>
          <a:xfrm>
            <a:off x="1136950" y="1625103"/>
            <a:ext cx="991810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600" dirty="0">
                <a:solidFill>
                  <a:schemeClr val="accent5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스마트 공장 </a:t>
            </a:r>
            <a:r>
              <a:rPr lang="en-US" altLang="ko-KR" sz="6600" dirty="0">
                <a:solidFill>
                  <a:schemeClr val="accent5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AI </a:t>
            </a:r>
            <a:r>
              <a:rPr lang="ko-KR" altLang="en-US" sz="6600" dirty="0">
                <a:solidFill>
                  <a:schemeClr val="accent5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예지 보전</a:t>
            </a:r>
          </a:p>
        </p:txBody>
      </p:sp>
    </p:spTree>
    <p:extLst>
      <p:ext uri="{BB962C8B-B14F-4D97-AF65-F5344CB8AC3E}">
        <p14:creationId xmlns:p14="http://schemas.microsoft.com/office/powerpoint/2010/main" val="3212448582"/>
      </p:ext>
    </p:extLst>
  </p:cSld>
  <p:clrMapOvr>
    <a:masterClrMapping/>
  </p:clrMapOvr>
  <p:transition spd="slow"/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shade val="8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3816EB-8983-998C-1DF3-3FFBF0953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412089F6-FCAD-BDD2-8034-D84B78FD0CCF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D939F8-1B5D-9C35-A6CE-B85986FCEB82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BAAA8D40-03EF-97C9-BBEC-5B3197D8DB23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9984A7C-9781-660D-838F-033C63CB9AF6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F09EA216-279C-04E4-7CD3-2542F4C43254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479E47D1-7413-1C1A-8498-8A6CDD496BD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6222B369-FEA9-A39F-AC86-E6304788C22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F4209330-4D1E-F23D-D1D4-7161002E302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ABCB76D-565E-8D02-276F-BB6C13D14FD2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7" indent="-342900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tx1"/>
                </a:solidFill>
              </a:rPr>
              <a:t>학습 목표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B91FBF3-75E1-5F78-775F-1061C0C25A1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1. AI </a:t>
            </a:r>
            <a:r>
              <a:rPr lang="ko-KR" altLang="en-US" sz="2000" b="1" dirty="0"/>
              <a:t>예지 보전</a:t>
            </a:r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2EAAFBB8-F924-9285-B09A-EFC599AF83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344" y="980728"/>
            <a:ext cx="11259942" cy="28305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R="0" lvl="0" indent="176213" algn="l" defTabSz="914400" rtl="0" eaLnBrk="0" fontAlgn="base" latinLnBrk="0" hangingPunct="0">
              <a:lnSpc>
                <a:spcPts val="44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예지보전에서 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시계열·다채널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센서 데이터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가 어떻게 생기는지 이해한다.</a:t>
            </a:r>
          </a:p>
          <a:p>
            <a:pPr marR="0" lvl="0" indent="176213" algn="l" defTabSz="914400" rtl="0" eaLnBrk="0" fontAlgn="base" latinLnBrk="0" hangingPunct="0">
              <a:lnSpc>
                <a:spcPts val="44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RNN, GRU, 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BiGRU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1D-CNN, 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Attention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의 기본 개념을 설명할 수 있다.</a:t>
            </a:r>
          </a:p>
          <a:p>
            <a:pPr marR="0" lvl="0" indent="176213" algn="l" defTabSz="914400" rtl="0" eaLnBrk="0" fontAlgn="base" latinLnBrk="0" hangingPunct="0">
              <a:lnSpc>
                <a:spcPts val="44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AM-CNN-</a:t>
            </a: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BiGRU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구조를 그림으로 설명하고, 각 블록의 역할을 말할 수 있다.</a:t>
            </a:r>
          </a:p>
          <a:p>
            <a:pPr marR="0" lvl="0" indent="176213" algn="l" defTabSz="914400" rtl="0" eaLnBrk="0" fontAlgn="base" latinLnBrk="0" hangingPunct="0">
              <a:lnSpc>
                <a:spcPts val="44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Colab에서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간단한 AM-CNN-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BiGRU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모델을 직접 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구현·학습</a:t>
            </a: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해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보고, 다른 모델과 성능을 비교한다.</a:t>
            </a:r>
          </a:p>
          <a:p>
            <a:pPr marR="0" lvl="0" indent="176213" algn="l" defTabSz="914400" rtl="0" eaLnBrk="0" fontAlgn="base" latinLnBrk="0" hangingPunct="0">
              <a:lnSpc>
                <a:spcPts val="44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예지보전 프로젝트에 어떤 </a:t>
            </a:r>
            <a:r>
              <a:rPr kumimoji="0" lang="ko-KR" altLang="ko-K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센서·데이터에서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이 모델을 쓸 수 있을지 토의한다.</a:t>
            </a:r>
          </a:p>
        </p:txBody>
      </p:sp>
    </p:spTree>
    <p:extLst>
      <p:ext uri="{BB962C8B-B14F-4D97-AF65-F5344CB8AC3E}">
        <p14:creationId xmlns:p14="http://schemas.microsoft.com/office/powerpoint/2010/main" val="3160853946"/>
      </p:ext>
    </p:extLst>
  </p:cSld>
  <p:clrMapOvr>
    <a:masterClrMapping/>
  </p:clrMapOvr>
  <p:transition spd="slow"/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shade val="8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148C6A-E4F2-3730-3DED-6F87950AF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DAA54BED-F108-FEA5-2B65-17B537F150F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8C3DA7-1A77-6484-8743-DDADBA59E840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911AAED2-CF47-8CC5-B356-1057CAC5AC1B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9312C31-98DF-A067-8DC8-31897E013FE7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FEE3ECC4-7F64-47AF-0B0E-3AA8C97B85B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6CD1FCE-F91D-4128-BDAA-A0A32FB2E4A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3B5ACB8E-7195-B9B3-DB40-6E6DE510A619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D7621BFB-7238-60FF-F202-DAA2C09BA89C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6DABDAA-08C4-BEC4-2F8B-236B692450A2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7" indent="-342900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tx1"/>
                </a:solidFill>
              </a:rPr>
              <a:t>예지 보전이란</a:t>
            </a:r>
            <a:r>
              <a:rPr lang="en-US" altLang="ko-KR" sz="2000" b="1" dirty="0">
                <a:solidFill>
                  <a:schemeClr val="tx1"/>
                </a:solidFill>
              </a:rPr>
              <a:t>?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4AFBB0E-8E73-20D9-E397-2688EA1C66C9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1. AI </a:t>
            </a:r>
            <a:r>
              <a:rPr lang="ko-KR" altLang="en-US" sz="2000" b="1" dirty="0"/>
              <a:t>예지 보전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8333DB-872D-DB34-EC76-4B8F6B83E36C}"/>
              </a:ext>
            </a:extLst>
          </p:cNvPr>
          <p:cNvSpPr txBox="1"/>
          <p:nvPr/>
        </p:nvSpPr>
        <p:spPr>
          <a:xfrm>
            <a:off x="191344" y="795386"/>
            <a:ext cx="9361040" cy="5214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600"/>
              </a:lnSpc>
              <a:buNone/>
            </a:pPr>
            <a:r>
              <a:rPr lang="en-US" altLang="ko-KR" b="1" dirty="0">
                <a:latin typeface="+mn-ea"/>
              </a:rPr>
              <a:t>(1) </a:t>
            </a:r>
            <a:r>
              <a:rPr lang="ko-KR" altLang="en-US" b="1" dirty="0">
                <a:latin typeface="+mn-ea"/>
              </a:rPr>
              <a:t>예지보전</a:t>
            </a:r>
            <a:r>
              <a:rPr lang="en-US" altLang="ko-KR" b="1" dirty="0">
                <a:latin typeface="+mn-ea"/>
              </a:rPr>
              <a:t>(</a:t>
            </a:r>
            <a:r>
              <a:rPr lang="en-US" altLang="ko-KR" b="1" dirty="0" err="1">
                <a:latin typeface="+mn-ea"/>
              </a:rPr>
              <a:t>PdM</a:t>
            </a:r>
            <a:r>
              <a:rPr lang="en-US" altLang="ko-KR" b="1" dirty="0">
                <a:latin typeface="+mn-ea"/>
              </a:rPr>
              <a:t>)</a:t>
            </a:r>
            <a:r>
              <a:rPr lang="ko-KR" altLang="en-US" b="1" dirty="0">
                <a:latin typeface="+mn-ea"/>
              </a:rPr>
              <a:t>의 목적</a:t>
            </a:r>
            <a:endParaRPr lang="ko-KR" altLang="en-US" dirty="0">
              <a:latin typeface="+mn-ea"/>
            </a:endParaRPr>
          </a:p>
          <a:p>
            <a:pPr marL="176213" indent="187325">
              <a:lnSpc>
                <a:spcPts val="26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고장이 나기 전에 </a:t>
            </a:r>
            <a:r>
              <a:rPr lang="ko-KR" altLang="en-US" b="1" dirty="0">
                <a:latin typeface="+mn-ea"/>
              </a:rPr>
              <a:t>상태를 예측</a:t>
            </a:r>
            <a:r>
              <a:rPr lang="ko-KR" altLang="en-US" dirty="0">
                <a:latin typeface="+mn-ea"/>
              </a:rPr>
              <a:t>해서</a:t>
            </a:r>
          </a:p>
          <a:p>
            <a:pPr lvl="1">
              <a:lnSpc>
                <a:spcPts val="2600"/>
              </a:lnSpc>
              <a:spcAft>
                <a:spcPts val="600"/>
              </a:spcAft>
            </a:pP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계획 정비</a:t>
            </a:r>
            <a:r>
              <a:rPr lang="en-US" altLang="ko-KR" dirty="0">
                <a:latin typeface="+mn-ea"/>
              </a:rPr>
              <a:t>(Planed Maintenance),  </a:t>
            </a:r>
            <a:r>
              <a:rPr lang="ko-KR" altLang="en-US" dirty="0">
                <a:latin typeface="+mn-ea"/>
              </a:rPr>
              <a:t>다운타임 최소화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부품 수명 최적 사용</a:t>
            </a:r>
          </a:p>
          <a:p>
            <a:pPr>
              <a:lnSpc>
                <a:spcPts val="2600"/>
              </a:lnSpc>
              <a:buNone/>
            </a:pPr>
            <a:r>
              <a:rPr lang="en-US" altLang="ko-KR" b="1" dirty="0">
                <a:latin typeface="+mn-ea"/>
              </a:rPr>
              <a:t>(2) </a:t>
            </a:r>
            <a:r>
              <a:rPr lang="ko-KR" altLang="en-US" b="1" dirty="0">
                <a:latin typeface="+mn-ea"/>
              </a:rPr>
              <a:t>예지보전 데이터의 특징</a:t>
            </a:r>
            <a:endParaRPr lang="ko-KR" altLang="en-US" dirty="0">
              <a:latin typeface="+mn-ea"/>
            </a:endParaRPr>
          </a:p>
          <a:p>
            <a:pPr marL="363538" indent="-187325">
              <a:lnSpc>
                <a:spcPts val="26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시계열</a:t>
            </a:r>
            <a:r>
              <a:rPr lang="en-US" altLang="ko-KR" dirty="0">
                <a:latin typeface="+mn-ea"/>
              </a:rPr>
              <a:t>(Time-series)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: </a:t>
            </a:r>
            <a:r>
              <a:rPr lang="ko-KR" altLang="en-US" dirty="0">
                <a:latin typeface="+mn-ea"/>
              </a:rPr>
              <a:t>센서가 계속 값을 찍는다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176213" indent="187325">
              <a:lnSpc>
                <a:spcPts val="26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다채널</a:t>
            </a:r>
            <a:r>
              <a:rPr lang="en-US" altLang="ko-KR" dirty="0">
                <a:latin typeface="+mn-ea"/>
              </a:rPr>
              <a:t>(Multi-sensor)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: </a:t>
            </a:r>
            <a:r>
              <a:rPr lang="ko-KR" altLang="en-US" dirty="0">
                <a:latin typeface="+mn-ea"/>
              </a:rPr>
              <a:t>진동 </a:t>
            </a:r>
            <a:r>
              <a:rPr lang="en-US" altLang="ko-KR" dirty="0">
                <a:latin typeface="+mn-ea"/>
              </a:rPr>
              <a:t>x/y/z + </a:t>
            </a:r>
            <a:r>
              <a:rPr lang="ko-KR" altLang="en-US" dirty="0">
                <a:latin typeface="+mn-ea"/>
              </a:rPr>
              <a:t>모터 전류 </a:t>
            </a:r>
            <a:r>
              <a:rPr lang="en-US" altLang="ko-KR" dirty="0">
                <a:latin typeface="+mn-ea"/>
              </a:rPr>
              <a:t>+ </a:t>
            </a:r>
            <a:r>
              <a:rPr lang="ko-KR" altLang="en-US" dirty="0">
                <a:latin typeface="+mn-ea"/>
              </a:rPr>
              <a:t>토크 </a:t>
            </a:r>
            <a:r>
              <a:rPr lang="en-US" altLang="ko-KR" dirty="0">
                <a:latin typeface="+mn-ea"/>
              </a:rPr>
              <a:t>+ </a:t>
            </a:r>
            <a:r>
              <a:rPr lang="ko-KR" altLang="en-US" dirty="0">
                <a:latin typeface="+mn-ea"/>
              </a:rPr>
              <a:t>온도 </a:t>
            </a:r>
            <a:r>
              <a:rPr lang="en-US" altLang="ko-KR" dirty="0">
                <a:latin typeface="+mn-ea"/>
              </a:rPr>
              <a:t>…</a:t>
            </a:r>
          </a:p>
          <a:p>
            <a:pPr marL="176213" indent="187325">
              <a:lnSpc>
                <a:spcPts val="26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목표</a:t>
            </a:r>
            <a:r>
              <a:rPr lang="en-US" altLang="ko-KR" dirty="0">
                <a:latin typeface="+mn-ea"/>
              </a:rPr>
              <a:t>:</a:t>
            </a:r>
          </a:p>
          <a:p>
            <a:pPr lvl="1">
              <a:lnSpc>
                <a:spcPts val="2600"/>
              </a:lnSpc>
            </a:pP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일정 시간 구간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윈도우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을 보고 고장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정상 분류 또는</a:t>
            </a:r>
          </a:p>
          <a:p>
            <a:pPr lvl="1">
              <a:lnSpc>
                <a:spcPts val="2600"/>
              </a:lnSpc>
              <a:spcAft>
                <a:spcPts val="600"/>
              </a:spcAft>
            </a:pP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남은 수명</a:t>
            </a:r>
            <a:r>
              <a:rPr lang="en-US" altLang="ko-KR" dirty="0">
                <a:latin typeface="+mn-ea"/>
              </a:rPr>
              <a:t>(RUL)</a:t>
            </a:r>
            <a:r>
              <a:rPr lang="ko-KR" altLang="en-US" dirty="0">
                <a:latin typeface="+mn-ea"/>
              </a:rPr>
              <a:t> 회귀</a:t>
            </a:r>
          </a:p>
          <a:p>
            <a:pPr>
              <a:lnSpc>
                <a:spcPts val="2600"/>
              </a:lnSpc>
              <a:buNone/>
            </a:pPr>
            <a:r>
              <a:rPr lang="en-US" altLang="ko-KR" b="1" dirty="0">
                <a:latin typeface="+mn-ea"/>
              </a:rPr>
              <a:t>(3) </a:t>
            </a:r>
            <a:r>
              <a:rPr lang="ko-KR" altLang="en-US" b="1" dirty="0">
                <a:latin typeface="+mn-ea"/>
              </a:rPr>
              <a:t>단순 모델의 한계</a:t>
            </a:r>
            <a:endParaRPr lang="ko-KR" altLang="en-US" dirty="0">
              <a:latin typeface="+mn-ea"/>
            </a:endParaRPr>
          </a:p>
          <a:p>
            <a:pPr marL="176213" indent="187325">
              <a:lnSpc>
                <a:spcPts val="26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전통 </a:t>
            </a:r>
            <a:r>
              <a:rPr lang="en-US" altLang="ko-KR" dirty="0">
                <a:latin typeface="+mn-ea"/>
              </a:rPr>
              <a:t>ML (Random Forest, SVM </a:t>
            </a:r>
            <a:r>
              <a:rPr lang="ko-KR" altLang="en-US" dirty="0">
                <a:latin typeface="+mn-ea"/>
              </a:rPr>
              <a:t>등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은</a:t>
            </a:r>
          </a:p>
          <a:p>
            <a:pPr lvl="1">
              <a:lnSpc>
                <a:spcPts val="2600"/>
              </a:lnSpc>
            </a:pPr>
            <a:r>
              <a:rPr lang="en-US" altLang="ko-KR" dirty="0">
                <a:latin typeface="+mn-ea"/>
              </a:rPr>
              <a:t>-  </a:t>
            </a:r>
            <a:r>
              <a:rPr lang="ko-KR" altLang="en-US" dirty="0">
                <a:latin typeface="+mn-ea"/>
              </a:rPr>
              <a:t>요약된 특징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평균</a:t>
            </a:r>
            <a:r>
              <a:rPr lang="en-US" altLang="ko-KR" dirty="0">
                <a:latin typeface="+mn-ea"/>
              </a:rPr>
              <a:t>, RMS, </a:t>
            </a:r>
            <a:r>
              <a:rPr lang="ko-KR" altLang="en-US" dirty="0">
                <a:latin typeface="+mn-ea"/>
              </a:rPr>
              <a:t>피크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주파수 피크 등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을 넣어 학습</a:t>
            </a:r>
          </a:p>
          <a:p>
            <a:pPr lvl="1">
              <a:lnSpc>
                <a:spcPts val="2600"/>
              </a:lnSpc>
            </a:pPr>
            <a:r>
              <a:rPr lang="en-US" altLang="ko-KR" dirty="0">
                <a:latin typeface="+mn-ea"/>
              </a:rPr>
              <a:t>-  </a:t>
            </a:r>
            <a:r>
              <a:rPr lang="ko-KR" altLang="en-US" dirty="0">
                <a:latin typeface="+mn-ea"/>
              </a:rPr>
              <a:t>시계열의 </a:t>
            </a:r>
            <a:r>
              <a:rPr lang="ko-KR" altLang="en-US" b="1" dirty="0">
                <a:latin typeface="+mn-ea"/>
              </a:rPr>
              <a:t>세밀한 패턴</a:t>
            </a:r>
            <a:r>
              <a:rPr lang="en-US" altLang="ko-KR" b="1" dirty="0">
                <a:latin typeface="+mn-ea"/>
              </a:rPr>
              <a:t>(</a:t>
            </a:r>
            <a:r>
              <a:rPr lang="ko-KR" altLang="en-US" b="1" dirty="0">
                <a:latin typeface="+mn-ea"/>
              </a:rPr>
              <a:t>국소 패턴 </a:t>
            </a:r>
            <a:r>
              <a:rPr lang="en-US" altLang="ko-KR" b="1" dirty="0">
                <a:latin typeface="+mn-ea"/>
              </a:rPr>
              <a:t>+ </a:t>
            </a:r>
            <a:r>
              <a:rPr lang="ko-KR" altLang="en-US" b="1" dirty="0">
                <a:latin typeface="+mn-ea"/>
              </a:rPr>
              <a:t>장기 의존</a:t>
            </a:r>
            <a:r>
              <a:rPr lang="en-US" altLang="ko-KR" b="1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을 충분히 활용하지 못할 수 있다</a:t>
            </a:r>
            <a:r>
              <a:rPr lang="en-US" altLang="ko-KR" dirty="0">
                <a:latin typeface="+mn-ea"/>
              </a:rPr>
              <a:t>.</a:t>
            </a:r>
          </a:p>
          <a:p>
            <a:pPr>
              <a:lnSpc>
                <a:spcPts val="2600"/>
              </a:lnSpc>
              <a:buFont typeface="Arial" panose="020B0604020202020204" pitchFamily="34" charset="0"/>
              <a:buChar char="•"/>
            </a:pPr>
            <a:endParaRPr lang="en-US" altLang="ko-KR" dirty="0">
              <a:latin typeface="+mn-ea"/>
            </a:endParaRPr>
          </a:p>
          <a:p>
            <a:pPr>
              <a:lnSpc>
                <a:spcPts val="2600"/>
              </a:lnSpc>
            </a:pPr>
            <a:r>
              <a:rPr lang="en-US" altLang="ko-KR" dirty="0">
                <a:latin typeface="+mn-ea"/>
              </a:rPr>
              <a:t>     </a:t>
            </a:r>
            <a:r>
              <a:rPr lang="ko-KR" altLang="en-US" dirty="0">
                <a:latin typeface="+mn-ea"/>
              </a:rPr>
              <a:t>그래서 나온 것이 </a:t>
            </a:r>
            <a:r>
              <a:rPr lang="en-US" altLang="ko-KR" b="1" dirty="0">
                <a:latin typeface="+mn-ea"/>
              </a:rPr>
              <a:t>CNN·RNN </a:t>
            </a:r>
            <a:r>
              <a:rPr lang="ko-KR" altLang="en-US" b="1" dirty="0">
                <a:latin typeface="+mn-ea"/>
              </a:rPr>
              <a:t>계열 딥러닝</a:t>
            </a:r>
            <a:r>
              <a:rPr lang="en-US" altLang="ko-KR" dirty="0"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68190666"/>
      </p:ext>
    </p:extLst>
  </p:cSld>
  <p:clrMapOvr>
    <a:masterClrMapping/>
  </p:clrMapOvr>
  <p:transition spd="slow"/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shade val="8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BED2E6-A34E-BB41-BA9E-C826E308D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5EFC970A-BC7E-7F69-064B-2CF3CC68DDC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9561E0-9D88-9BC8-A99A-DCF0BFD78AA4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68F741A-AC73-B8B7-DC2F-00AC87B8FF6D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5C22F61-D233-66C2-1650-5C166E2F4585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C79A0F1D-E258-B7A3-481D-0D71EAA0ACA9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63F7115-F5F6-5A81-C4E6-A8724128376E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B0535165-7192-2063-82CF-D4B89D834A31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249AEA8F-DE0E-84E4-A056-6F74E00AD8A9}"/>
              </a:ext>
            </a:extLst>
          </p:cNvPr>
          <p:cNvSpPr>
            <a:spLocks noChangeArrowheads="1"/>
          </p:cNvSpPr>
          <p:nvPr/>
        </p:nvSpPr>
        <p:spPr>
          <a:xfrm>
            <a:off x="1524001" y="43934"/>
            <a:ext cx="184731" cy="369332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  <a:spAutoFit/>
          </a:bodyPr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9097F79-8028-5532-7622-4C739971AF9A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7" indent="-342900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tx1"/>
                </a:solidFill>
              </a:rPr>
              <a:t>사례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3A1BAD3-10EC-F1E1-1B0F-7F19D1A0E8A0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/>
            <a:r>
              <a:rPr lang="en-US" altLang="ko-KR" sz="2000" b="1" dirty="0"/>
              <a:t>1. AI </a:t>
            </a:r>
            <a:r>
              <a:rPr lang="ko-KR" altLang="en-US" sz="2000" b="1" dirty="0"/>
              <a:t>예지 보전</a:t>
            </a: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8F6CA836-985A-433B-E625-F04939326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7718159"/>
              </p:ext>
            </p:extLst>
          </p:nvPr>
        </p:nvGraphicFramePr>
        <p:xfrm>
          <a:off x="371364" y="836712"/>
          <a:ext cx="11449272" cy="5760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32048">
                  <a:extLst>
                    <a:ext uri="{9D8B030D-6E8A-4147-A177-3AD203B41FA5}">
                      <a16:colId xmlns:a16="http://schemas.microsoft.com/office/drawing/2014/main" val="1359520214"/>
                    </a:ext>
                  </a:extLst>
                </a:gridCol>
                <a:gridCol w="1476164">
                  <a:extLst>
                    <a:ext uri="{9D8B030D-6E8A-4147-A177-3AD203B41FA5}">
                      <a16:colId xmlns:a16="http://schemas.microsoft.com/office/drawing/2014/main" val="1761340566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134955245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316664304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3512144146"/>
                    </a:ext>
                  </a:extLst>
                </a:gridCol>
                <a:gridCol w="3924436">
                  <a:extLst>
                    <a:ext uri="{9D8B030D-6E8A-4147-A177-3AD203B41FA5}">
                      <a16:colId xmlns:a16="http://schemas.microsoft.com/office/drawing/2014/main" val="97707406"/>
                    </a:ext>
                  </a:extLst>
                </a:gridCol>
              </a:tblGrid>
              <a:tr h="2983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17275" marR="17275" marT="8637" marB="8637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설비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공정</a:t>
                      </a:r>
                    </a:p>
                  </a:txBody>
                  <a:tcPr marL="17275" marR="17275" marT="8637" marB="8637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센서 종류</a:t>
                      </a:r>
                    </a:p>
                  </a:txBody>
                  <a:tcPr marL="17275" marR="17275" marT="8637" marB="8637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분석하는 특성</a:t>
                      </a:r>
                    </a:p>
                  </a:txBody>
                  <a:tcPr marL="17275" marR="17275" marT="8637" marB="8637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사용 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AI/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알고리즘</a:t>
                      </a:r>
                    </a:p>
                  </a:txBody>
                  <a:tcPr marL="17275" marR="17275" marT="8637" marB="8637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출처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요약</a:t>
                      </a:r>
                    </a:p>
                  </a:txBody>
                  <a:tcPr marL="17275" marR="17275" marT="8637" marB="8637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1396984"/>
                  </a:ext>
                </a:extLst>
              </a:tr>
              <a:tr h="9133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CNC </a:t>
                      </a:r>
                      <a:r>
                        <a:rPr lang="ko-KR" altLang="en-US" sz="1400" dirty="0" err="1">
                          <a:latin typeface="+mn-ea"/>
                          <a:ea typeface="+mn-ea"/>
                        </a:rPr>
                        <a:t>머시닝센터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 err="1">
                          <a:latin typeface="+mn-ea"/>
                          <a:ea typeface="+mn-ea"/>
                        </a:rPr>
                        <a:t>밀링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머신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스핀들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공구 상태 감시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진동 센서</a:t>
                      </a:r>
                      <a:endParaRPr lang="en-US" altLang="ko-KR" sz="1400" dirty="0">
                        <a:latin typeface="+mn-ea"/>
                        <a:ea typeface="+mn-ea"/>
                      </a:endParaRPr>
                    </a:p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가속도 센서 등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스핀들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공구에서 나오는 진동 시계열 → 채터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(chatter),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공구 마모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이상 가공 상태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latin typeface="+mn-ea"/>
                          <a:ea typeface="+mn-ea"/>
                        </a:rPr>
                        <a:t>RoughLSTM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(rough set + LSTM),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기존 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LSTM, CNN-LSTM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등 딥러닝 기반 이상 탐지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실제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CNC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밀링 머신의 진동 데이터를 수집해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RoughLSTM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으로 이상 탐지를 수행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, 94%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대 정확도로 스마트공장 가공라인의 예지보전에 활용 가능함을 보임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altLang="ko-KR" sz="1400">
                          <a:latin typeface="+mn-ea"/>
                          <a:ea typeface="+mn-ea"/>
                          <a:hlinkClick r:id="rId2" tooltip="Deep Learning for Anomaly Detection in CNC Machine Vibration Data: A RoughLSTM-Based Approach | MDPI"/>
                        </a:rPr>
                        <a:t>MDPI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17275" marR="17275" marT="8637" marB="8637" anchor="ctr"/>
                </a:tc>
                <a:extLst>
                  <a:ext uri="{0D108BD9-81ED-4DB2-BD59-A6C34878D82A}">
                    <a16:rowId xmlns:a16="http://schemas.microsoft.com/office/drawing/2014/main" val="1771563554"/>
                  </a:ext>
                </a:extLst>
              </a:tr>
              <a:tr h="9133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조인트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감속기 예지보전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진동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3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상 전류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</a:p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토크 신호</a:t>
                      </a:r>
                      <a:endParaRPr lang="en-US" altLang="ko-KR" sz="1400" dirty="0">
                        <a:latin typeface="+mn-ea"/>
                        <a:ea typeface="+mn-ea"/>
                      </a:endParaRPr>
                    </a:p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(PLC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통해 취득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각 로봇 관절의 진동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전류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토크 시계열 → 조인트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감속기 상태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백래시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하모닉 드라이브 이상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AM-CNN-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BiGRU</a:t>
                      </a:r>
                      <a:endParaRPr lang="en-US" sz="1400" dirty="0">
                        <a:latin typeface="+mn-ea"/>
                        <a:ea typeface="+mn-ea"/>
                      </a:endParaRP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실제 자동차 조립 스마트라인의 로봇 조인트에서 진동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전류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토크를 수집해 결함을 예측하는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PdM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프레임워크 제안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다센서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멀티소스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융합이 핵심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altLang="ko-KR" sz="1400">
                          <a:latin typeface="+mn-ea"/>
                          <a:ea typeface="+mn-ea"/>
                          <a:hlinkClick r:id="rId3" tooltip="An AM-CNN-BiGRU network with spatiotemporal feature fusion for industrial robot predictive maintenance | Scientific Reports"/>
                        </a:rPr>
                        <a:t>Nature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17275" marR="17275" marT="8637" marB="8637" anchor="ctr"/>
                </a:tc>
                <a:extLst>
                  <a:ext uri="{0D108BD9-81ED-4DB2-BD59-A6C34878D82A}">
                    <a16:rowId xmlns:a16="http://schemas.microsoft.com/office/drawing/2014/main" val="2154853262"/>
                  </a:ext>
                </a:extLst>
              </a:tr>
              <a:tr h="11372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공장 내 소형 모터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팬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펌프 등 회전기기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6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축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IMU 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가속도계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+ </a:t>
                      </a:r>
                      <a:r>
                        <a:rPr lang="ko-KR" altLang="en-US" sz="1400" dirty="0" err="1">
                          <a:latin typeface="+mn-ea"/>
                          <a:ea typeface="+mn-ea"/>
                        </a:rPr>
                        <a:t>자이로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), g-force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모터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펌프의 진동 패턴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시간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주파수 영역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 →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밸런스 이상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베어링 초기 결함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Isolation Forest(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비지도 이상 탐지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),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특징 추출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+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간단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ML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저가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IoT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노드에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IMU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를 붙여 소형 산업용 모터를 모니터링하고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정상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이상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바퀴 일부 막음으로 불균형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데이터를 기반으로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Isolation Forest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로 이상 상태를 판정하는 예지보전 아키텍처 제안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altLang="ko-KR" sz="1400" dirty="0">
                          <a:latin typeface="+mn-ea"/>
                          <a:ea typeface="+mn-ea"/>
                          <a:hlinkClick r:id="rId4" tooltip="&#10;            Low-Cost IoT-Based Predictive Maintenance Using Vibration - PMC&#10;        "/>
                        </a:rPr>
                        <a:t>PMC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17275" marR="17275" marT="8637" marB="8637" anchor="ctr"/>
                </a:tc>
                <a:extLst>
                  <a:ext uri="{0D108BD9-81ED-4DB2-BD59-A6C34878D82A}">
                    <a16:rowId xmlns:a16="http://schemas.microsoft.com/office/drawing/2014/main" val="2688520237"/>
                  </a:ext>
                </a:extLst>
              </a:tr>
              <a:tr h="11372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금속가공 공장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압연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절삭 등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생산설비 전체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다양한 공정 센서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온도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압력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전류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진동 등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생산 자산에서 나오는 다변량 시계열 → 상태 변화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파라미터 간 상호 영향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남은 수명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(RUL)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LSTM-Autoencoder + Transformer Encoder</a:t>
                      </a:r>
                    </a:p>
                    <a:p>
                      <a:pPr algn="ctr"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 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시계열 예측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이상 탐지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실제 금속 가공 제조 공장의 시계열 데이터를 사용해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LSTM-AE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와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Transformer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를 결합한 예지보전 모델을 만들고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자산의 상태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고장 시점을 예측하는 연구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스마트공장 전체 설비의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PdM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프레임워크 사례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altLang="ko-KR" sz="1400">
                          <a:latin typeface="+mn-ea"/>
                          <a:ea typeface="+mn-ea"/>
                          <a:hlinkClick r:id="rId5" tooltip="Condition Monitoring and Predictive Maintenance of Assets in Manufacturing Using LSTM-Autoencoders and Transformer Encoders"/>
                        </a:rPr>
                        <a:t>MDPI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17275" marR="17275" marT="8637" marB="8637" anchor="ctr"/>
                </a:tc>
                <a:extLst>
                  <a:ext uri="{0D108BD9-81ED-4DB2-BD59-A6C34878D82A}">
                    <a16:rowId xmlns:a16="http://schemas.microsoft.com/office/drawing/2014/main" val="2331331792"/>
                  </a:ext>
                </a:extLst>
              </a:tr>
              <a:tr h="136103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제조라인의 전동기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컨베이어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펌프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dirty="0" err="1">
                          <a:latin typeface="+mn-ea"/>
                          <a:ea typeface="+mn-ea"/>
                        </a:rPr>
                        <a:t>제너레이터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등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기계 진동 센서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전동기 전류 센서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모터 </a:t>
                      </a:r>
                      <a:r>
                        <a:rPr lang="ko-KR" altLang="en-US" sz="1400" dirty="0" err="1">
                          <a:latin typeface="+mn-ea"/>
                          <a:ea typeface="+mn-ea"/>
                        </a:rPr>
                        <a:t>외함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온도 센서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모터의 진동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전류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온도 → 베어링 손상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언밸런스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과부하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과열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KNN, ANN 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분류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17275" marR="17275" marT="8637" marB="863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Smart Maintenance System(SMAT)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로 불리는 시스템에서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dirty="0" err="1">
                          <a:latin typeface="+mn-ea"/>
                          <a:ea typeface="+mn-ea"/>
                        </a:rPr>
                        <a:t>라즈베리파이로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센서 데이터를 수집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전송하고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KNN/ANN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으로 정상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고장 상태를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92~96%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정확도로 분류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제조 공장의 다양한 모터에 적용하는 예지보전 사례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altLang="ko-KR" sz="1400" dirty="0">
                          <a:latin typeface="+mn-ea"/>
                          <a:ea typeface="+mn-ea"/>
                          <a:hlinkClick r:id="rId6" tooltip="(PDF) Smart Maintenance System (SMAT): Predictive Maintenance of Electrical Motor Applications"/>
                        </a:rPr>
                        <a:t>ResearchGate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17275" marR="17275" marT="8637" marB="8637" anchor="ctr"/>
                </a:tc>
                <a:extLst>
                  <a:ext uri="{0D108BD9-81ED-4DB2-BD59-A6C34878D82A}">
                    <a16:rowId xmlns:a16="http://schemas.microsoft.com/office/drawing/2014/main" val="4136292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5453938"/>
      </p:ext>
    </p:extLst>
  </p:cSld>
  <p:clrMapOvr>
    <a:masterClrMapping/>
  </p:clrMapOvr>
  <p:transition spd="slow"/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shade val="8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C654EF-4AD8-5985-7154-2C098E915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7EBD2A54-7407-0D91-AA84-CC34AAB54E36}"/>
              </a:ext>
            </a:extLst>
          </p:cNvPr>
          <p:cNvSpPr txBox="1"/>
          <p:nvPr/>
        </p:nvSpPr>
        <p:spPr>
          <a:xfrm>
            <a:off x="335360" y="188640"/>
            <a:ext cx="5827236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600">
                <a:solidFill>
                  <a:schemeClr val="accent5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관련 논문 분석</a:t>
            </a:r>
            <a:endParaRPr lang="ko-KR" altLang="en-US" sz="6600" dirty="0">
              <a:solidFill>
                <a:schemeClr val="accent5">
                  <a:lumMod val="50000"/>
                </a:scheme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68848993"/>
      </p:ext>
    </p:extLst>
  </p:cSld>
  <p:clrMapOvr>
    <a:masterClrMapping/>
  </p:clrMapOvr>
  <p:transition spd="slow"/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6FDB0-25C8-BF46-E0C9-C45C4CF99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734D0C6-0585-51DE-6C0E-07641834F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8567734"/>
              </p:ext>
            </p:extLst>
          </p:nvPr>
        </p:nvGraphicFramePr>
        <p:xfrm>
          <a:off x="695400" y="476672"/>
          <a:ext cx="10972800" cy="524246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3062131312"/>
                    </a:ext>
                  </a:extLst>
                </a:gridCol>
                <a:gridCol w="9100592">
                  <a:extLst>
                    <a:ext uri="{9D8B030D-6E8A-4147-A177-3AD203B41FA5}">
                      <a16:colId xmlns:a16="http://schemas.microsoft.com/office/drawing/2014/main" val="1050003440"/>
                    </a:ext>
                  </a:extLst>
                </a:gridCol>
              </a:tblGrid>
              <a:tr h="4831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항목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877905"/>
                  </a:ext>
                </a:extLst>
              </a:tr>
              <a:tr h="8455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논문 제목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+mn-ea"/>
                          <a:ea typeface="+mn-ea"/>
                        </a:rPr>
                        <a:t>50% reduction in energy consumption in an actual cold storage facility using a deep reinforcement learning-based control algorithm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5679096"/>
                  </a:ext>
                </a:extLst>
              </a:tr>
              <a:tr h="4831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저자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+mn-ea"/>
                          <a:ea typeface="+mn-ea"/>
                        </a:rPr>
                        <a:t>Jong-Whi Park, Young-Min Ju, You-Gwon Kim, Hak-Sung Kim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1090189"/>
                  </a:ext>
                </a:extLst>
              </a:tr>
              <a:tr h="4831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>
                          <a:latin typeface="+mn-ea"/>
                          <a:ea typeface="+mn-ea"/>
                        </a:rPr>
                        <a:t>발표처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저널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+mn-ea"/>
                          <a:ea typeface="+mn-ea"/>
                        </a:rPr>
                        <a:t>Applied Energy (Elsevier)</a:t>
                      </a:r>
                      <a:r>
                        <a:rPr lang="en-US" sz="1600" dirty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9658928"/>
                  </a:ext>
                </a:extLst>
              </a:tr>
              <a:tr h="4831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게재일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+mn-ea"/>
                          <a:ea typeface="+mn-ea"/>
                        </a:rPr>
                        <a:t>2023-12-15</a:t>
                      </a:r>
                      <a:r>
                        <a:rPr lang="en-US" sz="1600" dirty="0">
                          <a:latin typeface="+mn-ea"/>
                          <a:ea typeface="+mn-ea"/>
                        </a:rPr>
                        <a:t> (Vol. 352)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3014124"/>
                  </a:ext>
                </a:extLst>
              </a:tr>
              <a:tr h="4831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latin typeface="+mn-ea"/>
                          <a:ea typeface="+mn-ea"/>
                        </a:rPr>
                        <a:t>DOI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+mn-ea"/>
                          <a:ea typeface="+mn-ea"/>
                        </a:rPr>
                        <a:t>10.1016/j.apenergy.2023.121996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50475519"/>
                  </a:ext>
                </a:extLst>
              </a:tr>
              <a:tr h="24157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링크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+mn-ea"/>
                          <a:ea typeface="+mn-ea"/>
                        </a:rPr>
                        <a:t>ScienceDirect: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사용자가 제공한 링크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동일 논문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 (</a:t>
                      </a:r>
                      <a:r>
                        <a:rPr lang="en-US" sz="1600" dirty="0">
                          <a:latin typeface="+mn-ea"/>
                          <a:ea typeface="+mn-ea"/>
                          <a:hlinkClick r:id="rId2" tooltip="50% reduction in energy consumption in an actual cold storage facility using a deep reinforcement learning-based control algorithm - ScienceDirect"/>
                        </a:rPr>
                        <a:t>ScienceDirect</a:t>
                      </a:r>
                      <a:r>
                        <a:rPr lang="en-US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766847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연구 배경과 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문제 정의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실제 냉동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냉장 저장시설은 </a:t>
                      </a: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문 개폐</a:t>
                      </a:r>
                      <a:r>
                        <a:rPr lang="en-US" altLang="ko-KR" sz="1600" b="1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제상</a:t>
                      </a:r>
                      <a:r>
                        <a:rPr lang="en-US" altLang="ko-KR" sz="1600" b="1" dirty="0">
                          <a:latin typeface="+mn-ea"/>
                          <a:ea typeface="+mn-ea"/>
                        </a:rPr>
                        <a:t>(defrost), </a:t>
                      </a: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외기 변화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등으로 조건이 계속 바뀌어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PID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같은 고정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전통 제어는 </a:t>
                      </a:r>
                      <a:r>
                        <a:rPr lang="ko-KR" altLang="en-US" sz="1600" b="1" dirty="0" err="1">
                          <a:latin typeface="+mn-ea"/>
                          <a:ea typeface="+mn-ea"/>
                        </a:rPr>
                        <a:t>재튜닝</a:t>
                      </a: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 부담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과 성능 한계가 큼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.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기존 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DRL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연구는 시뮬레이터 기반 검증이 많아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실시설비 적용 가능성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이 불확실 </a:t>
                      </a:r>
                      <a:br>
                        <a:rPr lang="en-US" altLang="ko-KR" sz="1600" dirty="0">
                          <a:latin typeface="+mn-ea"/>
                          <a:ea typeface="+mn-ea"/>
                        </a:rPr>
                      </a:b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→ 본 논문은 </a:t>
                      </a: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실제 소규모</a:t>
                      </a:r>
                      <a:r>
                        <a:rPr lang="en-US" altLang="ko-KR" sz="16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저장고에 </a:t>
                      </a:r>
                      <a:r>
                        <a:rPr lang="en-US" altLang="ko-KR" sz="1600" b="1" dirty="0">
                          <a:latin typeface="+mn-ea"/>
                          <a:ea typeface="+mn-ea"/>
                        </a:rPr>
                        <a:t>DRL </a:t>
                      </a: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제어를 직접 적용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2915799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핵심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/>
                        <a:t>목표 온도 범위 </a:t>
                      </a:r>
                      <a:r>
                        <a:rPr lang="ko-KR" altLang="en-US" sz="1600" b="1" dirty="0"/>
                        <a:t>−</a:t>
                      </a:r>
                      <a:r>
                        <a:rPr lang="en-US" altLang="ko-KR" sz="1600" b="1" dirty="0"/>
                        <a:t>8°C ~ −12°C</a:t>
                      </a:r>
                      <a:r>
                        <a:rPr lang="ko-KR" altLang="en-US" sz="1600" dirty="0"/>
                        <a:t>를 유지하면서</a:t>
                      </a:r>
                      <a:r>
                        <a:rPr lang="en-US" altLang="ko-KR" sz="1600" dirty="0"/>
                        <a:t>,</a:t>
                      </a:r>
                    </a:p>
                    <a:p>
                      <a:r>
                        <a:rPr lang="ko-KR" altLang="en-US" sz="1600" dirty="0"/>
                        <a:t>냉동설비의 </a:t>
                      </a:r>
                      <a:r>
                        <a:rPr lang="ko-KR" altLang="en-US" sz="1600" b="1" dirty="0"/>
                        <a:t>전력</a:t>
                      </a:r>
                      <a:r>
                        <a:rPr lang="en-US" altLang="ko-KR" sz="1600" b="1" dirty="0"/>
                        <a:t>(</a:t>
                      </a:r>
                      <a:r>
                        <a:rPr lang="ko-KR" altLang="en-US" sz="1600" b="1" dirty="0"/>
                        <a:t>에너지</a:t>
                      </a:r>
                      <a:r>
                        <a:rPr lang="en-US" altLang="ko-KR" sz="1600" b="1" dirty="0"/>
                        <a:t>) </a:t>
                      </a:r>
                      <a:r>
                        <a:rPr lang="ko-KR" altLang="en-US" sz="1600" b="1" dirty="0"/>
                        <a:t>소비를 최소화</a:t>
                      </a:r>
                      <a:r>
                        <a:rPr lang="ko-KR" altLang="en-US" sz="1600" dirty="0"/>
                        <a:t>하는 제어 알고리즘 개발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4883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0794578"/>
      </p:ext>
    </p:extLst>
  </p:cSld>
  <p:clrMapOvr>
    <a:masterClrMapping/>
  </p:clrMapOvr>
  <p:transition spd="slow"/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7D50-BC13-E41D-D9D9-E2E16BD3F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595B9E1B-1FA5-F8B7-37F3-ED316749D9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801264"/>
              </p:ext>
            </p:extLst>
          </p:nvPr>
        </p:nvGraphicFramePr>
        <p:xfrm>
          <a:off x="695400" y="476672"/>
          <a:ext cx="10972800" cy="593473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296144">
                  <a:extLst>
                    <a:ext uri="{9D8B030D-6E8A-4147-A177-3AD203B41FA5}">
                      <a16:colId xmlns:a16="http://schemas.microsoft.com/office/drawing/2014/main" val="3062131312"/>
                    </a:ext>
                  </a:extLst>
                </a:gridCol>
                <a:gridCol w="9676656">
                  <a:extLst>
                    <a:ext uri="{9D8B030D-6E8A-4147-A177-3AD203B41FA5}">
                      <a16:colId xmlns:a16="http://schemas.microsoft.com/office/drawing/2014/main" val="1050003440"/>
                    </a:ext>
                  </a:extLst>
                </a:gridCol>
              </a:tblGrid>
              <a:tr h="4831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항목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877905"/>
                  </a:ext>
                </a:extLst>
              </a:tr>
              <a:tr h="8455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방법론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(1)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제어 접근</a:t>
                      </a:r>
                      <a:endParaRPr lang="ko-KR" altLang="en-US" sz="1400" dirty="0">
                        <a:latin typeface="+mn-ea"/>
                        <a:ea typeface="+mn-ea"/>
                      </a:endParaRPr>
                    </a:p>
                    <a:p>
                      <a:pPr marL="363538" indent="-187325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Deep Reinforcement Learning(DRL)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기반 온도 제어</a:t>
                      </a:r>
                      <a:endParaRPr lang="en-US" altLang="ko-KR" sz="1400" dirty="0">
                        <a:latin typeface="+mn-ea"/>
                        <a:ea typeface="+mn-ea"/>
                      </a:endParaRPr>
                    </a:p>
                    <a:p>
                      <a:pPr marL="363538" indent="-187325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알고리즘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DDPG (Deep Deterministic Policy Gradient)</a:t>
                      </a:r>
                      <a:endParaRPr lang="ko-KR" altLang="en-US" sz="1400" dirty="0">
                        <a:latin typeface="+mn-ea"/>
                        <a:ea typeface="+mn-ea"/>
                      </a:endParaRPr>
                    </a:p>
                    <a:p>
                      <a:pPr lvl="1"/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연속 제어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(continuous action)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에 강점이 있어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온도 설정값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(setpoint)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을 연속적으로 조정하는 문제에 적합 </a:t>
                      </a:r>
                    </a:p>
                    <a:p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(2)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실제 시스템 구성</a:t>
                      </a:r>
                      <a:endParaRPr lang="ko-KR" altLang="en-US" sz="1400" dirty="0">
                        <a:latin typeface="+mn-ea"/>
                        <a:ea typeface="+mn-ea"/>
                      </a:endParaRPr>
                    </a:p>
                    <a:p>
                      <a:pPr marL="363538" indent="-187325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면적 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2.8 m²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규모의 실제 냉동 저장공간 구성 </a:t>
                      </a:r>
                    </a:p>
                    <a:p>
                      <a:pPr marL="363538" indent="-187325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센서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열전대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(thermocouples)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전력량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altLang="ko-KR" sz="1400" b="1" dirty="0" err="1">
                          <a:latin typeface="+mn-ea"/>
                          <a:ea typeface="+mn-ea"/>
                        </a:rPr>
                        <a:t>Wh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계측기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로 온도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전력 데이터를 실시간 수집 </a:t>
                      </a:r>
                    </a:p>
                    <a:p>
                      <a:pPr marL="363538" indent="-187325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수집 데이터는 딥러닝 연산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제어 시스템으로 전송되어 학습 및 제어에 사용 </a:t>
                      </a:r>
                    </a:p>
                    <a:p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(3)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실사용 적용을 위한 “현장형” 개선 포인트</a:t>
                      </a:r>
                      <a:endParaRPr lang="ko-KR" altLang="en-US" sz="1400" dirty="0">
                        <a:latin typeface="+mn-ea"/>
                        <a:ea typeface="+mn-ea"/>
                      </a:endParaRPr>
                    </a:p>
                    <a:p>
                      <a:pPr marL="363538" indent="-187325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학습 성능에 큰 영향을 주는 </a:t>
                      </a:r>
                      <a:r>
                        <a:rPr lang="ko-KR" altLang="en-US" sz="1400" b="1" dirty="0" err="1">
                          <a:latin typeface="+mn-ea"/>
                          <a:ea typeface="+mn-ea"/>
                        </a:rPr>
                        <a:t>하이퍼파라미터를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 최적화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</a:t>
                      </a:r>
                    </a:p>
                    <a:p>
                      <a:pPr marL="363538" indent="-187325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실제 운영에서 발생하는 복합 상황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예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문 열림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을 </a:t>
                      </a:r>
                      <a:r>
                        <a:rPr lang="ko-KR" altLang="en-US" sz="1400" dirty="0" err="1">
                          <a:latin typeface="+mn-ea"/>
                          <a:ea typeface="+mn-ea"/>
                        </a:rPr>
                        <a:t>경험시키며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학습 → 현장 적응성 강화 </a:t>
                      </a:r>
                    </a:p>
                    <a:p>
                      <a:pPr marL="363538" indent="-187325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데이터가 방대하므로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측정값 변화가 있을 때만 데이터 누적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로그 효율화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 </a:t>
                      </a:r>
                    </a:p>
                    <a:p>
                      <a:pPr marL="363538" indent="-187325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실제 적용을 위해 알고리즘을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훈련 파트 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의사결정 파트로 분리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해 운영 중 학습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제어 동시 수행을 지향 </a:t>
                      </a:r>
                      <a:endParaRPr lang="en-US" sz="14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5679096"/>
                  </a:ext>
                </a:extLst>
              </a:tr>
              <a:tr h="4831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실험 결과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목표 온도 범위를 유지하면서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에너지 소비를 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47.64%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절감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(PID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대비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1090189"/>
                  </a:ext>
                </a:extLst>
              </a:tr>
              <a:tr h="4831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논문의 기여</a:t>
                      </a:r>
                      <a:endParaRPr lang="en-US" altLang="ko-KR" sz="16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63538" indent="-187325">
                        <a:lnSpc>
                          <a:spcPts val="2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시뮬레이션이 아니라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실제 냉동 저장시설에 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DRL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을 적용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해 에너지 절감 효과를 보임 </a:t>
                      </a:r>
                    </a:p>
                    <a:p>
                      <a:pPr marL="363538" indent="-187325">
                        <a:lnSpc>
                          <a:spcPts val="2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냉동 저장고처럼 </a:t>
                      </a:r>
                      <a:r>
                        <a:rPr lang="ko-KR" altLang="en-US" sz="1400" dirty="0" err="1">
                          <a:latin typeface="+mn-ea"/>
                          <a:ea typeface="+mn-ea"/>
                        </a:rPr>
                        <a:t>외란이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크고 비선형성이 강한 환경에서 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DDPG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기반 제어의 실용성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을 제시 </a:t>
                      </a:r>
                    </a:p>
                    <a:p>
                      <a:pPr marL="363538" indent="-187325">
                        <a:lnSpc>
                          <a:spcPts val="2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“현장 </a:t>
                      </a:r>
                      <a:r>
                        <a:rPr lang="ko-KR" altLang="en-US" sz="1400" dirty="0" err="1">
                          <a:latin typeface="+mn-ea"/>
                          <a:ea typeface="+mn-ea"/>
                        </a:rPr>
                        <a:t>적용”에서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자주 막히는 데이터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운영 이슈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로그 폭증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학습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제어 분리 등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를 실무적으로 다룸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9658928"/>
                  </a:ext>
                </a:extLst>
              </a:tr>
              <a:tr h="4831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한계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63538" indent="-187325">
                        <a:lnSpc>
                          <a:spcPts val="24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실증이 “</a:t>
                      </a:r>
                      <a:r>
                        <a:rPr lang="ko-KR" altLang="en-US" sz="1400" dirty="0" err="1">
                          <a:latin typeface="+mn-ea"/>
                          <a:ea typeface="+mn-ea"/>
                        </a:rPr>
                        <a:t>실제”이긴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하지만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규모는 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2.8 m²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로 비교적 작음 </a:t>
                      </a:r>
                      <a:br>
                        <a:rPr lang="en-US" altLang="ko-KR" sz="1400" dirty="0">
                          <a:latin typeface="+mn-ea"/>
                          <a:ea typeface="+mn-ea"/>
                        </a:rPr>
                      </a:b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→ 대형 물류창고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수백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~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수천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m²)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확장 시 동일 성능이 보장되는지 추가 검증 필요 </a:t>
                      </a:r>
                    </a:p>
                    <a:p>
                      <a:pPr marL="363538" indent="-187325">
                        <a:lnSpc>
                          <a:spcPts val="24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결과는 특정 실험 조건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환경에서 도출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외기 조건 통제 등 언급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 </a:t>
                      </a:r>
                      <a:br>
                        <a:rPr lang="en-US" altLang="ko-KR" sz="1400" dirty="0">
                          <a:latin typeface="+mn-ea"/>
                          <a:ea typeface="+mn-ea"/>
                        </a:rPr>
                      </a:b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→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다양한 계절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부하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출입 패턴에서의 일반화가 중요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30141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683693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24748</TotalTime>
  <Words>22263</Words>
  <Application>Microsoft Office PowerPoint</Application>
  <PresentationFormat>와이드스크린</PresentationFormat>
  <Paragraphs>3122</Paragraphs>
  <Slides>173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16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173</vt:i4>
      </vt:variant>
    </vt:vector>
  </HeadingPairs>
  <TitlesOfParts>
    <vt:vector size="190" baseType="lpstr">
      <vt:lpstr>Arial Unicode MS</vt:lpstr>
      <vt:lpstr>HY견고딕</vt:lpstr>
      <vt:lpstr>HY목각파임B</vt:lpstr>
      <vt:lpstr>LG Smart UI SemiBold</vt:lpstr>
      <vt:lpstr>맑은 고딕</vt:lpstr>
      <vt:lpstr>한양신명조</vt:lpstr>
      <vt:lpstr>휴먼명조</vt:lpstr>
      <vt:lpstr>Arial</vt:lpstr>
      <vt:lpstr>Arial Black</vt:lpstr>
      <vt:lpstr>Calibri</vt:lpstr>
      <vt:lpstr>Cambria Math</vt:lpstr>
      <vt:lpstr>Consolas</vt:lpstr>
      <vt:lpstr>Courier New</vt:lpstr>
      <vt:lpstr>Mongolian Baiti</vt:lpstr>
      <vt:lpstr>Times New Roman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PoDIT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mr.son</dc:creator>
  <cp:lastModifiedBy>Dev DW</cp:lastModifiedBy>
  <cp:revision>1657</cp:revision>
  <dcterms:created xsi:type="dcterms:W3CDTF">2012-11-28T13:05:29Z</dcterms:created>
  <dcterms:modified xsi:type="dcterms:W3CDTF">2026-05-31T15:44:43Z</dcterms:modified>
</cp:coreProperties>
</file>