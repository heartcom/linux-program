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4"/>
  </p:notesMasterIdLst>
  <p:sldIdLst>
    <p:sldId id="365" r:id="rId2"/>
    <p:sldId id="1065" r:id="rId3"/>
    <p:sldId id="1180" r:id="rId4"/>
    <p:sldId id="1179" r:id="rId5"/>
    <p:sldId id="1066" r:id="rId6"/>
    <p:sldId id="1068" r:id="rId7"/>
    <p:sldId id="1069" r:id="rId8"/>
    <p:sldId id="1070" r:id="rId9"/>
    <p:sldId id="1071" r:id="rId10"/>
    <p:sldId id="1072" r:id="rId11"/>
    <p:sldId id="1073" r:id="rId12"/>
    <p:sldId id="1074" r:id="rId13"/>
    <p:sldId id="1185" r:id="rId14"/>
    <p:sldId id="1192" r:id="rId15"/>
    <p:sldId id="1193" r:id="rId16"/>
    <p:sldId id="1186" r:id="rId17"/>
    <p:sldId id="1187" r:id="rId18"/>
    <p:sldId id="1188" r:id="rId19"/>
    <p:sldId id="1189" r:id="rId20"/>
    <p:sldId id="1190" r:id="rId21"/>
    <p:sldId id="1191" r:id="rId22"/>
    <p:sldId id="1111" r:id="rId23"/>
    <p:sldId id="1112" r:id="rId24"/>
    <p:sldId id="1114" r:id="rId25"/>
    <p:sldId id="1113" r:id="rId26"/>
    <p:sldId id="1107" r:id="rId27"/>
    <p:sldId id="776" r:id="rId28"/>
    <p:sldId id="1116" r:id="rId29"/>
    <p:sldId id="1117" r:id="rId30"/>
    <p:sldId id="1115" r:id="rId31"/>
    <p:sldId id="1118" r:id="rId32"/>
    <p:sldId id="1119" r:id="rId33"/>
    <p:sldId id="1120" r:id="rId34"/>
    <p:sldId id="1121" r:id="rId35"/>
    <p:sldId id="1122" r:id="rId36"/>
    <p:sldId id="1123" r:id="rId37"/>
    <p:sldId id="1132" r:id="rId38"/>
    <p:sldId id="1124" r:id="rId39"/>
    <p:sldId id="1133" r:id="rId40"/>
    <p:sldId id="808" r:id="rId41"/>
    <p:sldId id="1134" r:id="rId42"/>
    <p:sldId id="1125" r:id="rId43"/>
    <p:sldId id="1126" r:id="rId44"/>
    <p:sldId id="1135" r:id="rId45"/>
    <p:sldId id="1127" r:id="rId46"/>
    <p:sldId id="1128" r:id="rId47"/>
    <p:sldId id="1136" r:id="rId48"/>
    <p:sldId id="1137" r:id="rId49"/>
    <p:sldId id="1138" r:id="rId50"/>
    <p:sldId id="1139" r:id="rId51"/>
    <p:sldId id="1184" r:id="rId52"/>
    <p:sldId id="1140" r:id="rId53"/>
    <p:sldId id="1142" r:id="rId54"/>
    <p:sldId id="1143" r:id="rId55"/>
    <p:sldId id="1144" r:id="rId56"/>
    <p:sldId id="1145" r:id="rId57"/>
    <p:sldId id="1146" r:id="rId58"/>
    <p:sldId id="1194" r:id="rId59"/>
    <p:sldId id="1195" r:id="rId60"/>
    <p:sldId id="1141" r:id="rId61"/>
    <p:sldId id="1147" r:id="rId62"/>
    <p:sldId id="1148" r:id="rId63"/>
    <p:sldId id="1149" r:id="rId64"/>
    <p:sldId id="1151" r:id="rId65"/>
    <p:sldId id="1152" r:id="rId66"/>
    <p:sldId id="1150" r:id="rId67"/>
    <p:sldId id="1153" r:id="rId68"/>
    <p:sldId id="1155" r:id="rId69"/>
    <p:sldId id="1196" r:id="rId70"/>
    <p:sldId id="1197" r:id="rId71"/>
    <p:sldId id="1198" r:id="rId72"/>
    <p:sldId id="1154" r:id="rId73"/>
    <p:sldId id="1199" r:id="rId74"/>
    <p:sldId id="1158" r:id="rId75"/>
    <p:sldId id="1159" r:id="rId76"/>
    <p:sldId id="1157" r:id="rId77"/>
    <p:sldId id="1200" r:id="rId78"/>
    <p:sldId id="1160" r:id="rId79"/>
    <p:sldId id="1165" r:id="rId80"/>
    <p:sldId id="1161" r:id="rId81"/>
    <p:sldId id="1162" r:id="rId82"/>
    <p:sldId id="1163" r:id="rId83"/>
    <p:sldId id="1164" r:id="rId84"/>
    <p:sldId id="1201" r:id="rId85"/>
    <p:sldId id="1166" r:id="rId86"/>
    <p:sldId id="1168" r:id="rId87"/>
    <p:sldId id="1167" r:id="rId88"/>
    <p:sldId id="1171" r:id="rId89"/>
    <p:sldId id="1172" r:id="rId90"/>
    <p:sldId id="1173" r:id="rId91"/>
    <p:sldId id="1169" r:id="rId92"/>
    <p:sldId id="1170" r:id="rId93"/>
    <p:sldId id="1202" r:id="rId94"/>
    <p:sldId id="1203" r:id="rId95"/>
    <p:sldId id="1204" r:id="rId96"/>
    <p:sldId id="1205" r:id="rId97"/>
    <p:sldId id="1206" r:id="rId98"/>
    <p:sldId id="1207" r:id="rId99"/>
    <p:sldId id="1208" r:id="rId100"/>
    <p:sldId id="1209" r:id="rId101"/>
    <p:sldId id="1210" r:id="rId102"/>
    <p:sldId id="1211" r:id="rId103"/>
    <p:sldId id="1219" r:id="rId104"/>
    <p:sldId id="1212" r:id="rId105"/>
    <p:sldId id="1213" r:id="rId106"/>
    <p:sldId id="1214" r:id="rId107"/>
    <p:sldId id="1215" r:id="rId108"/>
    <p:sldId id="1216" r:id="rId109"/>
    <p:sldId id="1217" r:id="rId110"/>
    <p:sldId id="1218" r:id="rId111"/>
    <p:sldId id="1220" r:id="rId112"/>
    <p:sldId id="1221" r:id="rId113"/>
    <p:sldId id="1222" r:id="rId114"/>
    <p:sldId id="1223" r:id="rId115"/>
    <p:sldId id="1224" r:id="rId116"/>
    <p:sldId id="1181" r:id="rId117"/>
    <p:sldId id="1176" r:id="rId118"/>
    <p:sldId id="1178" r:id="rId119"/>
    <p:sldId id="1177" r:id="rId120"/>
    <p:sldId id="1175" r:id="rId121"/>
    <p:sldId id="1182" r:id="rId122"/>
    <p:sldId id="1183" r:id="rId1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9999FF"/>
    <a:srgbClr val="0000FF"/>
    <a:srgbClr val="FFFFCC"/>
    <a:srgbClr val="000099"/>
    <a:srgbClr val="003300"/>
    <a:srgbClr val="E16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8" autoAdjust="0"/>
    <p:restoredTop sz="94660"/>
  </p:normalViewPr>
  <p:slideViewPr>
    <p:cSldViewPr>
      <p:cViewPr varScale="1">
        <p:scale>
          <a:sx n="94" d="100"/>
          <a:sy n="94" d="100"/>
        </p:scale>
        <p:origin x="108" y="2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9127A-2FEC-483A-9A25-93A5680C1D1C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65BE3-6672-47C3-837C-9B67EB7D3F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75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65BE3-6672-47C3-837C-9B67EB7D3F9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103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65BE3-6672-47C3-837C-9B67EB7D3F94}" type="slidenum">
              <a:rPr lang="ko-KR" altLang="en-US" smtClean="0"/>
              <a:pPr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36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65BE3-6672-47C3-837C-9B67EB7D3F94}" type="slidenum">
              <a:rPr lang="ko-KR" altLang="en-US" smtClean="0"/>
              <a:pPr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909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65BE3-6672-47C3-837C-9B67EB7D3F94}" type="slidenum">
              <a:rPr lang="ko-KR" altLang="en-US" smtClean="0"/>
              <a:pPr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089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0406-8570-488D-9475-34FB49CAFBEB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80309" y="6525345"/>
            <a:ext cx="2844800" cy="22110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FB8B-C522-47CA-8A47-EA13B1607ED0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399FB-3FA1-4FA0-810F-9F5737179751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77C98-00C8-4BEB-98ED-5C904CC21F87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54C-79A3-4690-8127-426EE1BF24D2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50A9-F298-40E6-98DA-8BF9E5238EAC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8EBD-59A7-4E38-9833-808878FD20BC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715B-EC6D-43CB-B925-777D67FE10E8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E33E-E863-4F76-814A-E96D83952104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943-4D1E-4FE7-B14A-A9DC6A279879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FD6E-BB69-4DCE-9C01-59016305D7D5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BBAB4-4A25-4C86-83DF-8F988B006229}" type="datetime1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80309" y="6525345"/>
            <a:ext cx="2844800" cy="22110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eartcom/Linux-Progra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scikit-learn.org/stable/modules/tree.html" TargetMode="Externa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5-29255-0" TargetMode="External"/><Relationship Id="rId2" Type="http://schemas.openxmlformats.org/officeDocument/2006/relationships/hyperlink" Target="https://www.mdpi.com/2076-3417/15/6/3179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searchgate.net/publication/392270035_Smart_Maintenance_System_SMAT_Predictive_Maintenance_of_Electrical_Motor_Applications" TargetMode="External"/><Relationship Id="rId5" Type="http://schemas.openxmlformats.org/officeDocument/2006/relationships/hyperlink" Target="https://www.mdpi.com/1424-8220/24/10/3215" TargetMode="External"/><Relationship Id="rId4" Type="http://schemas.openxmlformats.org/officeDocument/2006/relationships/hyperlink" Target="https://pmc.ncbi.nlm.nih.gov/articles/PMC12609400/" TargetMode="Externa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abs/pii/S0306261923013600" TargetMode="Externa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DABE579-D520-4352-A200-3D56A4123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1641872"/>
            <a:ext cx="7824192" cy="52161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1CCB6A-D179-4D01-86E6-70A2A832F69C}"/>
              </a:ext>
            </a:extLst>
          </p:cNvPr>
          <p:cNvSpPr txBox="1"/>
          <p:nvPr/>
        </p:nvSpPr>
        <p:spPr>
          <a:xfrm>
            <a:off x="479376" y="764704"/>
            <a:ext cx="10932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Arial Black" panose="020B0A04020102020204" pitchFamily="34" charset="0"/>
              </a:rPr>
              <a:t>IoT </a:t>
            </a:r>
            <a:r>
              <a:rPr lang="ko-KR" altLang="en-US" sz="4000" dirty="0">
                <a:latin typeface="Arial Black" panose="020B0A04020102020204" pitchFamily="34" charset="0"/>
              </a:rPr>
              <a:t>센서와 머신러닝을 활용한 </a:t>
            </a:r>
            <a:r>
              <a:rPr lang="en-US" altLang="ko-KR" sz="4000" dirty="0">
                <a:latin typeface="Arial Black" panose="020B0A04020102020204" pitchFamily="34" charset="0"/>
              </a:rPr>
              <a:t>AI </a:t>
            </a:r>
            <a:r>
              <a:rPr lang="ko-KR" altLang="en-US" sz="4000" dirty="0">
                <a:latin typeface="Arial Black" panose="020B0A04020102020204" pitchFamily="34" charset="0"/>
              </a:rPr>
              <a:t>예측 모델링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44357-F621-422B-AFAA-DD25F94FB233}"/>
              </a:ext>
            </a:extLst>
          </p:cNvPr>
          <p:cNvSpPr txBox="1"/>
          <p:nvPr/>
        </p:nvSpPr>
        <p:spPr>
          <a:xfrm flipH="1">
            <a:off x="1559496" y="6126367"/>
            <a:ext cx="1754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2026</a:t>
            </a:r>
            <a:r>
              <a:rPr lang="ko-KR" altLang="en-US" sz="2000" b="1" dirty="0"/>
              <a:t>년도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50E34-FED0-466F-8336-D20AE4E3D0D3}"/>
              </a:ext>
            </a:extLst>
          </p:cNvPr>
          <p:cNvSpPr txBox="1"/>
          <p:nvPr/>
        </p:nvSpPr>
        <p:spPr>
          <a:xfrm>
            <a:off x="265977" y="54877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4"/>
              </a:rPr>
              <a:t>https://github.com/heartcom/Linux-Program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82770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743AB4-0626-1536-D055-E7C29DD2644E}"/>
              </a:ext>
            </a:extLst>
          </p:cNvPr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수업 목표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B8BC32-9547-D572-16DD-72C7B8B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980728"/>
            <a:ext cx="10240945" cy="4123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AI/ML/DL 차이와 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기존 프로그램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머신러닝 흐름을 설명할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임베디드에서 나온 센서 데이터를 CSV(또는 DB)로 수집/저장하고 </a:t>
            </a:r>
            <a:b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</a:b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품질 좋은 데이터셋으로 </a:t>
            </a:r>
            <a:r>
              <a:rPr kumimoji="0" lang="ko-KR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전처리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할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Colab에서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EDA(분포/상관/이상치)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를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수행하고 OK/NOK 라벨 분포를 해석할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지도학습 분류 모델(Logistic/Tree/RF/KNN/SVM 등)을 학습하고, </a:t>
            </a:r>
            <a:b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</a:b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Accuracy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/Precision/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Recall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/F1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-</a:t>
            </a:r>
            <a:r>
              <a:rPr lang="en-US" altLang="ko-KR" sz="2000" dirty="0">
                <a:latin typeface="+mn-ea"/>
              </a:rPr>
              <a:t>score</a:t>
            </a:r>
            <a:r>
              <a:rPr lang="ko-KR" altLang="en-US" sz="2000" dirty="0">
                <a:latin typeface="+mn-ea"/>
              </a:rPr>
              <a:t>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로 비교 평가할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예지보전 관점에서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시계열·다채널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센서 데이터를 이해하고 </a:t>
            </a:r>
            <a:b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</a:b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CNN/RNN/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Attention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계열 모델 개념을 설명할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31215025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D03A7-E77A-9C2F-0797-37A5DB99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4C94BE0-5D47-6076-8A96-0D875894CDE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E560539-601E-E9CD-DCEB-413AC5F191B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B0A1C6A-0031-C859-ED70-8A16B2061BB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24E09163-1960-0243-4E43-A1C0C9788EE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36BCC3-D6BB-144A-A4E0-430D9F8E9E91}"/>
              </a:ext>
            </a:extLst>
          </p:cNvPr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수업 내용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F3D55F-054C-696A-B1D8-8286E9768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67261"/>
              </p:ext>
            </p:extLst>
          </p:nvPr>
        </p:nvGraphicFramePr>
        <p:xfrm>
          <a:off x="551384" y="908720"/>
          <a:ext cx="11233245" cy="56166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179847134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020265699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250029630"/>
                    </a:ext>
                  </a:extLst>
                </a:gridCol>
                <a:gridCol w="2793908">
                  <a:extLst>
                    <a:ext uri="{9D8B030D-6E8A-4147-A177-3AD203B41FA5}">
                      <a16:colId xmlns:a16="http://schemas.microsoft.com/office/drawing/2014/main" val="1949772580"/>
                    </a:ext>
                  </a:extLst>
                </a:gridCol>
                <a:gridCol w="2246649">
                  <a:extLst>
                    <a:ext uri="{9D8B030D-6E8A-4147-A177-3AD203B41FA5}">
                      <a16:colId xmlns:a16="http://schemas.microsoft.com/office/drawing/2014/main" val="83894152"/>
                    </a:ext>
                  </a:extLst>
                </a:gridCol>
              </a:tblGrid>
              <a:tr h="41054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+mn-ea"/>
                          <a:ea typeface="+mn-ea"/>
                        </a:rPr>
                        <a:t>ch.</a:t>
                      </a:r>
                      <a:endParaRPr lang="en-US" sz="1600" b="1" dirty="0">
                        <a:latin typeface="+mn-ea"/>
                        <a:ea typeface="+mn-ea"/>
                      </a:endParaRP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핵심 내용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이론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실습</a:t>
                      </a:r>
                      <a:endParaRPr lang="en-US" sz="1600" b="1" dirty="0">
                        <a:latin typeface="+mn-ea"/>
                        <a:ea typeface="+mn-ea"/>
                      </a:endParaRP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산출물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결과물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648174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AI/ML/DL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핵심 개념 정리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latin typeface="+mn-ea"/>
                          <a:ea typeface="+mn-ea"/>
                        </a:rPr>
                        <a:t>AI·ML·DL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정의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차이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지도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비지도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강화학습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분류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회귀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군집 개요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간단 사례로 문제유형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회귀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구분 연습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개념 요약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페이지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노트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퀴즈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702923419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임베디드 센서 데이터 수집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(ESP32/STM32/RPi)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센서 읽기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데이터 포맷 설계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Serial/WiFi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전송 구조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초 주기 송신 →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수신 →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CSV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누적 저장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sensor_log.csv</a:t>
                      </a:r>
                    </a:p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(timestamp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포함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2444826933"/>
                  </a:ext>
                </a:extLst>
              </a:tr>
              <a:tr h="10962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더미 데이터로 빅데이터 실습 시작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데이터 부족 시 더미 생성 전략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라벨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(OK/NOK)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생성 규칙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품질 기준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습도 랜덤 생성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규칙 기반 라벨링으로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만건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CSV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생성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TH_quality_10000.csv 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라벨 규칙 문서 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3601124738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Colab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기반 데이터 분석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(EDA)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latin typeface="+mn-ea"/>
                          <a:ea typeface="+mn-ea"/>
                        </a:rPr>
                        <a:t>describe/info,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라벨 분포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히스토그램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박스플롯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산점도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상관계수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Colab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그래프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4~6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개 생성 및 해석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리포트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그래프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결론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2302553435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ML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 모델 학습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&amp;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성능 비교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ea"/>
                          <a:ea typeface="+mn-ea"/>
                        </a:rPr>
                        <a:t>Train/Test split,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스케일링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지표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Accuracy/Precision/Recall/F1)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ea"/>
                          <a:ea typeface="+mn-ea"/>
                        </a:rPr>
                        <a:t>Logistic/Tree/RF/KNN/SVM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학습 후 성능 표 비교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모델 비교표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최종 모델 선택 사유 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3107000443"/>
                  </a:ext>
                </a:extLst>
              </a:tr>
              <a:tr h="10962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예지보전 시계열 딥러닝 입문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시계열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다채널 특성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윈도우링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라벨링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CNN/GRU/BiGRU/Attention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개념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간단 윈도우링 후 모델 구조 맛보기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데모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+mn-ea"/>
                          <a:ea typeface="+mn-ea"/>
                        </a:rPr>
                        <a:t>PdM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프로젝트 설계서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센서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윈도우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모델 후보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1638808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97977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266F-94A3-B83D-8CB3-9C49B633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A4EC0030-28DE-2AEE-EBA3-48F893C34E0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9248E07-D77C-1918-179E-E24716BCC56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43E366B-607B-751B-F20D-4D54D611F43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99A4F6F1-9433-27BD-48BA-71A2BFE4CEA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45A2FD-FA93-6F6B-CB32-2F953A74E486}"/>
              </a:ext>
            </a:extLst>
          </p:cNvPr>
          <p:cNvSpPr/>
          <p:nvPr/>
        </p:nvSpPr>
        <p:spPr>
          <a:xfrm>
            <a:off x="12948" y="-34627"/>
            <a:ext cx="12179052" cy="238350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82562" algn="ctr">
              <a:defRPr/>
            </a:pPr>
            <a:r>
              <a:rPr lang="ko-KR" altLang="en-US" sz="4800" b="1" dirty="0">
                <a:solidFill>
                  <a:schemeClr val="bg1"/>
                </a:solidFill>
                <a:latin typeface="+mn-ea"/>
              </a:rPr>
              <a:t>인공지능</a:t>
            </a:r>
            <a:r>
              <a:rPr lang="en-US" altLang="ko-KR" sz="48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+mn-ea"/>
              </a:rPr>
              <a:t>머신러닝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47089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인공지능의 구성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5152706-E4FD-EE0E-2F37-0199AF1A33C1}"/>
              </a:ext>
            </a:extLst>
          </p:cNvPr>
          <p:cNvSpPr/>
          <p:nvPr/>
        </p:nvSpPr>
        <p:spPr>
          <a:xfrm>
            <a:off x="1414464" y="1071563"/>
            <a:ext cx="8858250" cy="36575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3E51761-69F6-1033-4081-DDA4D614F7F6}"/>
              </a:ext>
            </a:extLst>
          </p:cNvPr>
          <p:cNvSpPr/>
          <p:nvPr/>
        </p:nvSpPr>
        <p:spPr>
          <a:xfrm>
            <a:off x="4200522" y="1357313"/>
            <a:ext cx="5915028" cy="32432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4EBD33-6319-7868-3422-531551584918}"/>
              </a:ext>
            </a:extLst>
          </p:cNvPr>
          <p:cNvSpPr/>
          <p:nvPr/>
        </p:nvSpPr>
        <p:spPr>
          <a:xfrm>
            <a:off x="6972300" y="1685925"/>
            <a:ext cx="3018367" cy="276789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E68FB8C7-8055-9FDB-9758-DB938ED444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14548" y="2978944"/>
            <a:ext cx="1428749" cy="153917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D902D327-6352-B58F-147B-343F1A8BFB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79518" y="3181791"/>
            <a:ext cx="1847851" cy="113347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E1EDD62-80F5-D957-643E-29B852C142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1026" y="3067491"/>
            <a:ext cx="2033587" cy="124777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9EC3992-E4F4-F556-D868-6663C3E450EF}"/>
              </a:ext>
            </a:extLst>
          </p:cNvPr>
          <p:cNvSpPr txBox="1"/>
          <p:nvPr/>
        </p:nvSpPr>
        <p:spPr>
          <a:xfrm>
            <a:off x="1647821" y="1357313"/>
            <a:ext cx="255270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</a:rPr>
              <a:t>인공지능</a:t>
            </a:r>
            <a:endParaRPr lang="en-US" altLang="ko-KR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인간이 가진 지적 능력을 컴퓨터를 통해 구현하는 기술</a:t>
            </a:r>
            <a:endParaRPr lang="en-US" altLang="ko-KR" sz="16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ko-KR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3698BF-1198-F53F-9FDB-E1283ED27D24}"/>
              </a:ext>
            </a:extLst>
          </p:cNvPr>
          <p:cNvSpPr txBox="1"/>
          <p:nvPr/>
        </p:nvSpPr>
        <p:spPr>
          <a:xfrm>
            <a:off x="4333869" y="1435790"/>
            <a:ext cx="2652711" cy="1687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머신러닝</a:t>
            </a:r>
            <a:endParaRPr lang="en-US" altLang="ko-KR" sz="32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컴퓨터가 인간의 지적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능력을 갖도록 훈련시키는 기술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42DC4D-5E6A-6C6C-F8BD-249628D8D0C5}"/>
              </a:ext>
            </a:extLst>
          </p:cNvPr>
          <p:cNvSpPr txBox="1"/>
          <p:nvPr/>
        </p:nvSpPr>
        <p:spPr>
          <a:xfrm>
            <a:off x="7119927" y="1763874"/>
            <a:ext cx="2767023" cy="13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4">
                    <a:lumMod val="50000"/>
                  </a:schemeClr>
                </a:solidFill>
              </a:rPr>
              <a:t>딥러닝</a:t>
            </a:r>
            <a:endParaRPr lang="en-US" altLang="ko-KR" sz="32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4">
                    <a:lumMod val="50000"/>
                  </a:schemeClr>
                </a:solidFill>
              </a:rPr>
              <a:t>컴퓨터가 스스로 학습하도록 훈련시키는 기술</a:t>
            </a:r>
            <a:endParaRPr lang="ko-KR" alt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06030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기존 프로그램과 </a:t>
            </a:r>
            <a:r>
              <a:rPr lang="ko-KR" altLang="en-US" b="1" dirty="0" err="1"/>
              <a:t>머신러닝의</a:t>
            </a:r>
            <a:r>
              <a:rPr lang="ko-KR" altLang="en-US" b="1" dirty="0"/>
              <a:t> 차이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B56C10-95EF-D104-4E67-DBBBE438D06E}"/>
              </a:ext>
            </a:extLst>
          </p:cNvPr>
          <p:cNvSpPr/>
          <p:nvPr/>
        </p:nvSpPr>
        <p:spPr>
          <a:xfrm>
            <a:off x="5663952" y="1268760"/>
            <a:ext cx="2779776" cy="3150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3" name="모서리가 둥근 직사각형 13">
            <a:extLst>
              <a:ext uri="{FF2B5EF4-FFF2-40B4-BE49-F238E27FC236}">
                <a16:creationId xmlns:a16="http://schemas.microsoft.com/office/drawing/2014/main" id="{6604EF84-C97F-44AA-9D49-2989E8569861}"/>
              </a:ext>
            </a:extLst>
          </p:cNvPr>
          <p:cNvSpPr/>
          <p:nvPr/>
        </p:nvSpPr>
        <p:spPr>
          <a:xfrm>
            <a:off x="5663952" y="1188690"/>
            <a:ext cx="2779776" cy="3942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머신 러닝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C7E1F6-897B-2EB3-94E9-F809D82483F7}"/>
              </a:ext>
            </a:extLst>
          </p:cNvPr>
          <p:cNvSpPr/>
          <p:nvPr/>
        </p:nvSpPr>
        <p:spPr>
          <a:xfrm>
            <a:off x="2658624" y="1268760"/>
            <a:ext cx="2779776" cy="3150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5" name="모서리가 둥근 직사각형 15">
            <a:extLst>
              <a:ext uri="{FF2B5EF4-FFF2-40B4-BE49-F238E27FC236}">
                <a16:creationId xmlns:a16="http://schemas.microsoft.com/office/drawing/2014/main" id="{EC0606A1-1B33-E568-9943-9310A194CD82}"/>
              </a:ext>
            </a:extLst>
          </p:cNvPr>
          <p:cNvSpPr/>
          <p:nvPr/>
        </p:nvSpPr>
        <p:spPr>
          <a:xfrm>
            <a:off x="2658624" y="1188690"/>
            <a:ext cx="2779776" cy="3942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기존 프로그램</a:t>
            </a:r>
          </a:p>
        </p:txBody>
      </p:sp>
      <p:sp>
        <p:nvSpPr>
          <p:cNvPr id="6" name="위쪽 화살표 설명선 6">
            <a:extLst>
              <a:ext uri="{FF2B5EF4-FFF2-40B4-BE49-F238E27FC236}">
                <a16:creationId xmlns:a16="http://schemas.microsoft.com/office/drawing/2014/main" id="{33656287-0D48-2C7E-3ADA-77F28859C6AD}"/>
              </a:ext>
            </a:extLst>
          </p:cNvPr>
          <p:cNvSpPr/>
          <p:nvPr/>
        </p:nvSpPr>
        <p:spPr>
          <a:xfrm flipV="1">
            <a:off x="3094749" y="2459337"/>
            <a:ext cx="1943333" cy="1372653"/>
          </a:xfrm>
          <a:prstGeom prst="upArrow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" name="사다리꼴 6">
            <a:extLst>
              <a:ext uri="{FF2B5EF4-FFF2-40B4-BE49-F238E27FC236}">
                <a16:creationId xmlns:a16="http://schemas.microsoft.com/office/drawing/2014/main" id="{80B43B66-9193-208D-7259-6C8F3D29A011}"/>
              </a:ext>
            </a:extLst>
          </p:cNvPr>
          <p:cNvSpPr/>
          <p:nvPr/>
        </p:nvSpPr>
        <p:spPr>
          <a:xfrm flipV="1">
            <a:off x="4274102" y="2099043"/>
            <a:ext cx="772886" cy="371181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" name="사다리꼴 7">
            <a:extLst>
              <a:ext uri="{FF2B5EF4-FFF2-40B4-BE49-F238E27FC236}">
                <a16:creationId xmlns:a16="http://schemas.microsoft.com/office/drawing/2014/main" id="{C604E71B-C2A3-9C1A-F37A-9AD7D31E1DAE}"/>
              </a:ext>
            </a:extLst>
          </p:cNvPr>
          <p:cNvSpPr/>
          <p:nvPr/>
        </p:nvSpPr>
        <p:spPr>
          <a:xfrm flipV="1">
            <a:off x="3109865" y="2099043"/>
            <a:ext cx="772886" cy="371182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6A57EAC-A89C-C4BA-A277-CD7D56CB2D24}"/>
              </a:ext>
            </a:extLst>
          </p:cNvPr>
          <p:cNvSpPr/>
          <p:nvPr/>
        </p:nvSpPr>
        <p:spPr>
          <a:xfrm>
            <a:off x="3516642" y="3933907"/>
            <a:ext cx="1099545" cy="3825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 력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2ED129B-6BA9-B118-348F-17CA49D66A9D}"/>
              </a:ext>
            </a:extLst>
          </p:cNvPr>
          <p:cNvSpPr/>
          <p:nvPr/>
        </p:nvSpPr>
        <p:spPr>
          <a:xfrm>
            <a:off x="2930749" y="1749658"/>
            <a:ext cx="1099545" cy="2945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입 력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35EE3A7-21CA-A64F-76AE-6DDB5CB56ACF}"/>
              </a:ext>
            </a:extLst>
          </p:cNvPr>
          <p:cNvSpPr/>
          <p:nvPr/>
        </p:nvSpPr>
        <p:spPr>
          <a:xfrm>
            <a:off x="4121046" y="1749658"/>
            <a:ext cx="1099545" cy="2945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알고리즘</a:t>
            </a:r>
          </a:p>
        </p:txBody>
      </p:sp>
      <p:sp>
        <p:nvSpPr>
          <p:cNvPr id="13" name="위쪽 화살표 설명선 16">
            <a:extLst>
              <a:ext uri="{FF2B5EF4-FFF2-40B4-BE49-F238E27FC236}">
                <a16:creationId xmlns:a16="http://schemas.microsoft.com/office/drawing/2014/main" id="{8D91F21B-73FF-5F60-9BEC-8B50F1E25298}"/>
              </a:ext>
            </a:extLst>
          </p:cNvPr>
          <p:cNvSpPr/>
          <p:nvPr/>
        </p:nvSpPr>
        <p:spPr>
          <a:xfrm flipV="1">
            <a:off x="5993751" y="2425539"/>
            <a:ext cx="1943333" cy="1406452"/>
          </a:xfrm>
          <a:prstGeom prst="upArrow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4" name="사다리꼴 13">
            <a:extLst>
              <a:ext uri="{FF2B5EF4-FFF2-40B4-BE49-F238E27FC236}">
                <a16:creationId xmlns:a16="http://schemas.microsoft.com/office/drawing/2014/main" id="{A747457F-0AAD-C6B1-6EDE-51D7C8D0FD14}"/>
              </a:ext>
            </a:extLst>
          </p:cNvPr>
          <p:cNvSpPr/>
          <p:nvPr/>
        </p:nvSpPr>
        <p:spPr>
          <a:xfrm flipV="1">
            <a:off x="7173104" y="2099044"/>
            <a:ext cx="772886" cy="337382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5" name="사다리꼴 14">
            <a:extLst>
              <a:ext uri="{FF2B5EF4-FFF2-40B4-BE49-F238E27FC236}">
                <a16:creationId xmlns:a16="http://schemas.microsoft.com/office/drawing/2014/main" id="{B0C3E28E-2AE3-48A2-F96C-A1A7C4DE27AA}"/>
              </a:ext>
            </a:extLst>
          </p:cNvPr>
          <p:cNvSpPr/>
          <p:nvPr/>
        </p:nvSpPr>
        <p:spPr>
          <a:xfrm flipV="1">
            <a:off x="6008867" y="2099044"/>
            <a:ext cx="772886" cy="337381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6" name="모서리가 둥근 직사각형 19">
            <a:extLst>
              <a:ext uri="{FF2B5EF4-FFF2-40B4-BE49-F238E27FC236}">
                <a16:creationId xmlns:a16="http://schemas.microsoft.com/office/drawing/2014/main" id="{9323CDBF-ED33-7CCE-5D65-94A3D93E7FD1}"/>
              </a:ext>
            </a:extLst>
          </p:cNvPr>
          <p:cNvSpPr/>
          <p:nvPr/>
        </p:nvSpPr>
        <p:spPr>
          <a:xfrm>
            <a:off x="6415644" y="3920580"/>
            <a:ext cx="1099545" cy="3825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알고리즘</a:t>
            </a: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9B6AA76E-124C-807A-DB02-E1D9EA5822EA}"/>
              </a:ext>
            </a:extLst>
          </p:cNvPr>
          <p:cNvSpPr/>
          <p:nvPr/>
        </p:nvSpPr>
        <p:spPr>
          <a:xfrm>
            <a:off x="5829751" y="1715859"/>
            <a:ext cx="1099545" cy="2945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입 력</a:t>
            </a:r>
          </a:p>
        </p:txBody>
      </p:sp>
      <p:sp>
        <p:nvSpPr>
          <p:cNvPr id="18" name="모서리가 둥근 직사각형 21">
            <a:extLst>
              <a:ext uri="{FF2B5EF4-FFF2-40B4-BE49-F238E27FC236}">
                <a16:creationId xmlns:a16="http://schemas.microsoft.com/office/drawing/2014/main" id="{82A7C2AE-1BDF-5719-AFB8-9D3E2906BAF2}"/>
              </a:ext>
            </a:extLst>
          </p:cNvPr>
          <p:cNvSpPr/>
          <p:nvPr/>
        </p:nvSpPr>
        <p:spPr>
          <a:xfrm>
            <a:off x="7020048" y="1715859"/>
            <a:ext cx="1099545" cy="2945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 력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6BC5099-0264-84B8-BDB1-09D4E94B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67397" y="2512120"/>
            <a:ext cx="772886" cy="83261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C59D154-ECEF-9CCA-F1C6-8000D9745E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61601" y="2513742"/>
            <a:ext cx="809625" cy="81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5223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 러닝 학습 단계</a:t>
            </a:r>
          </a:p>
        </p:txBody>
      </p:sp>
      <p:pic>
        <p:nvPicPr>
          <p:cNvPr id="21" name="_x793485200">
            <a:extLst>
              <a:ext uri="{FF2B5EF4-FFF2-40B4-BE49-F238E27FC236}">
                <a16:creationId xmlns:a16="http://schemas.microsoft.com/office/drawing/2014/main" id="{3BCEB8CF-CC78-3560-9744-1E8F97836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56" y="1066800"/>
            <a:ext cx="9157392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84771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종류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F2CFEFB-D9F5-DB64-CC39-39EF2362BE0B}"/>
              </a:ext>
            </a:extLst>
          </p:cNvPr>
          <p:cNvSpPr/>
          <p:nvPr/>
        </p:nvSpPr>
        <p:spPr>
          <a:xfrm>
            <a:off x="4889072" y="850409"/>
            <a:ext cx="2223083" cy="5229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</a:rPr>
              <a:t>머신 러닝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140A12-5CE4-8904-EF0B-97FFE00C6EFE}"/>
              </a:ext>
            </a:extLst>
          </p:cNvPr>
          <p:cNvSpPr/>
          <p:nvPr/>
        </p:nvSpPr>
        <p:spPr>
          <a:xfrm>
            <a:off x="4615032" y="2276872"/>
            <a:ext cx="2779776" cy="3230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정답을 알려주지 않고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r>
              <a:rPr lang="ko-KR" altLang="en-US" sz="1600">
                <a:solidFill>
                  <a:schemeClr val="tx1"/>
                </a:solidFill>
              </a:rPr>
              <a:t>학습시키는 방법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B8EFEA28-0C26-6BCD-14BF-34D2225EB276}"/>
              </a:ext>
            </a:extLst>
          </p:cNvPr>
          <p:cNvSpPr/>
          <p:nvPr/>
        </p:nvSpPr>
        <p:spPr>
          <a:xfrm>
            <a:off x="4615032" y="2122011"/>
            <a:ext cx="2779776" cy="6669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비지도 학습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(Unsupervised Learning)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7B92A0-DCAE-05F3-556D-BC29DBF506A5}"/>
              </a:ext>
            </a:extLst>
          </p:cNvPr>
          <p:cNvSpPr/>
          <p:nvPr/>
        </p:nvSpPr>
        <p:spPr>
          <a:xfrm>
            <a:off x="1609704" y="2276872"/>
            <a:ext cx="2779776" cy="3230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문제와 정답을 모두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r>
              <a:rPr lang="ko-KR" altLang="en-US" sz="1600">
                <a:solidFill>
                  <a:schemeClr val="tx1"/>
                </a:solidFill>
              </a:rPr>
              <a:t>알려주고 학습시키는 방법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67971A84-6FF7-C258-EB08-2307F9D9310D}"/>
              </a:ext>
            </a:extLst>
          </p:cNvPr>
          <p:cNvSpPr/>
          <p:nvPr/>
        </p:nvSpPr>
        <p:spPr>
          <a:xfrm>
            <a:off x="1609704" y="2122011"/>
            <a:ext cx="2779776" cy="6669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지도 학습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(Supervised Learning)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B819B8-050E-E178-BB2F-8BF34C704A78}"/>
              </a:ext>
            </a:extLst>
          </p:cNvPr>
          <p:cNvSpPr/>
          <p:nvPr/>
        </p:nvSpPr>
        <p:spPr>
          <a:xfrm>
            <a:off x="7608168" y="2276872"/>
            <a:ext cx="2779776" cy="3230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보상을 최대화하는 행동을 선택하도록 학습시키는 방법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8" name="모서리가 둥근 직사각형 9">
            <a:extLst>
              <a:ext uri="{FF2B5EF4-FFF2-40B4-BE49-F238E27FC236}">
                <a16:creationId xmlns:a16="http://schemas.microsoft.com/office/drawing/2014/main" id="{83E49D30-6930-2B4D-525E-14385076C801}"/>
              </a:ext>
            </a:extLst>
          </p:cNvPr>
          <p:cNvSpPr/>
          <p:nvPr/>
        </p:nvSpPr>
        <p:spPr>
          <a:xfrm>
            <a:off x="7608168" y="2122011"/>
            <a:ext cx="2779776" cy="6669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강화 학습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(Renforcement Learning)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꺾인 연결선 11">
            <a:extLst>
              <a:ext uri="{FF2B5EF4-FFF2-40B4-BE49-F238E27FC236}">
                <a16:creationId xmlns:a16="http://schemas.microsoft.com/office/drawing/2014/main" id="{005C94C7-1794-7036-D52B-94954463FC4C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5400000">
            <a:off x="4125759" y="247156"/>
            <a:ext cx="748688" cy="3001022"/>
          </a:xfrm>
          <a:prstGeom prst="bentConnector3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2">
            <a:extLst>
              <a:ext uri="{FF2B5EF4-FFF2-40B4-BE49-F238E27FC236}">
                <a16:creationId xmlns:a16="http://schemas.microsoft.com/office/drawing/2014/main" id="{D2DF412D-5162-7ABD-0FBF-CD1A7E87F1F5}"/>
              </a:ext>
            </a:extLst>
          </p:cNvPr>
          <p:cNvCxnSpPr>
            <a:stCxn id="2" idx="2"/>
            <a:endCxn id="8" idx="0"/>
          </p:cNvCxnSpPr>
          <p:nvPr/>
        </p:nvCxnSpPr>
        <p:spPr>
          <a:xfrm rot="16200000" flipH="1">
            <a:off x="7124991" y="248946"/>
            <a:ext cx="748688" cy="299744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5">
            <a:extLst>
              <a:ext uri="{FF2B5EF4-FFF2-40B4-BE49-F238E27FC236}">
                <a16:creationId xmlns:a16="http://schemas.microsoft.com/office/drawing/2014/main" id="{8872DEC4-C2CD-8DA6-34BB-165CD1C736C3}"/>
              </a:ext>
            </a:extLst>
          </p:cNvPr>
          <p:cNvCxnSpPr>
            <a:stCxn id="2" idx="2"/>
            <a:endCxn id="4" idx="0"/>
          </p:cNvCxnSpPr>
          <p:nvPr/>
        </p:nvCxnSpPr>
        <p:spPr>
          <a:xfrm rot="16200000" flipH="1">
            <a:off x="5628423" y="1745514"/>
            <a:ext cx="748688" cy="43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9F88B6D-3075-2520-F967-E2234EED0C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8F9FB"/>
              </a:clrFrom>
              <a:clrTo>
                <a:srgbClr val="F8F9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682" y="3351669"/>
            <a:ext cx="1426305" cy="21394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EB9FC7-2B96-E7D0-175E-1F179EED62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07" y="3537624"/>
            <a:ext cx="2412937" cy="1970128"/>
          </a:xfrm>
          <a:prstGeom prst="rect">
            <a:avLst/>
          </a:prstGeom>
        </p:spPr>
      </p:pic>
      <p:sp>
        <p:nvSpPr>
          <p:cNvPr id="15" name="모서리가 둥근 사각형 설명선 23">
            <a:extLst>
              <a:ext uri="{FF2B5EF4-FFF2-40B4-BE49-F238E27FC236}">
                <a16:creationId xmlns:a16="http://schemas.microsoft.com/office/drawing/2014/main" id="{A8C4FE7D-9699-C004-596B-7D59B662907F}"/>
              </a:ext>
            </a:extLst>
          </p:cNvPr>
          <p:cNvSpPr/>
          <p:nvPr/>
        </p:nvSpPr>
        <p:spPr>
          <a:xfrm>
            <a:off x="2207917" y="3465052"/>
            <a:ext cx="680720" cy="354688"/>
          </a:xfrm>
          <a:prstGeom prst="wedgeRoundRectCallout">
            <a:avLst>
              <a:gd name="adj1" fmla="val -31494"/>
              <a:gd name="adj2" fmla="val 8500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개</a:t>
            </a:r>
          </a:p>
        </p:txBody>
      </p:sp>
      <p:sp>
        <p:nvSpPr>
          <p:cNvPr id="16" name="모서리가 둥근 사각형 설명선 24">
            <a:extLst>
              <a:ext uri="{FF2B5EF4-FFF2-40B4-BE49-F238E27FC236}">
                <a16:creationId xmlns:a16="http://schemas.microsoft.com/office/drawing/2014/main" id="{70ECE601-C30E-4BB2-E412-9BAEED9AF3E2}"/>
              </a:ext>
            </a:extLst>
          </p:cNvPr>
          <p:cNvSpPr/>
          <p:nvPr/>
        </p:nvSpPr>
        <p:spPr>
          <a:xfrm>
            <a:off x="3069967" y="3465052"/>
            <a:ext cx="680720" cy="354688"/>
          </a:xfrm>
          <a:prstGeom prst="wedgeRoundRectCallout">
            <a:avLst>
              <a:gd name="adj1" fmla="val 26075"/>
              <a:gd name="adj2" fmla="val 80915"/>
              <a:gd name="adj3" fmla="val 16667"/>
            </a:avLst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고양이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D84559-355D-2661-41FF-31563C595130}"/>
              </a:ext>
            </a:extLst>
          </p:cNvPr>
          <p:cNvSpPr/>
          <p:nvPr/>
        </p:nvSpPr>
        <p:spPr>
          <a:xfrm>
            <a:off x="4788346" y="3639707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3FCBD3E-F13F-0AB7-010E-248DF30070F1}"/>
              </a:ext>
            </a:extLst>
          </p:cNvPr>
          <p:cNvSpPr/>
          <p:nvPr/>
        </p:nvSpPr>
        <p:spPr>
          <a:xfrm>
            <a:off x="5110791" y="4375452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30EBED2-DFFF-BAD5-07DB-7F1CFDFE0918}"/>
              </a:ext>
            </a:extLst>
          </p:cNvPr>
          <p:cNvSpPr/>
          <p:nvPr/>
        </p:nvSpPr>
        <p:spPr>
          <a:xfrm>
            <a:off x="5200472" y="4756931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3EC790-61FE-CAFD-CBB8-B918CA24A7D7}"/>
              </a:ext>
            </a:extLst>
          </p:cNvPr>
          <p:cNvSpPr/>
          <p:nvPr/>
        </p:nvSpPr>
        <p:spPr>
          <a:xfrm>
            <a:off x="5191043" y="3706389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FCE826-8F75-A7AC-8C15-23642D7ECAFD}"/>
              </a:ext>
            </a:extLst>
          </p:cNvPr>
          <p:cNvSpPr/>
          <p:nvPr/>
        </p:nvSpPr>
        <p:spPr>
          <a:xfrm>
            <a:off x="4918044" y="4689521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DC6C09-0B14-A9A3-0FB2-A60636D87747}"/>
              </a:ext>
            </a:extLst>
          </p:cNvPr>
          <p:cNvSpPr/>
          <p:nvPr/>
        </p:nvSpPr>
        <p:spPr>
          <a:xfrm>
            <a:off x="4932312" y="4002350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B81896E-3824-D320-3011-F3DA82576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123" y="3819740"/>
            <a:ext cx="495313" cy="511642"/>
          </a:xfrm>
          <a:prstGeom prst="rect">
            <a:avLst/>
          </a:prstGeom>
        </p:spPr>
      </p:pic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C7D9F8FC-175D-A63A-2CEA-847C9BD3C40D}"/>
              </a:ext>
            </a:extLst>
          </p:cNvPr>
          <p:cNvSpPr/>
          <p:nvPr/>
        </p:nvSpPr>
        <p:spPr>
          <a:xfrm>
            <a:off x="4812070" y="4374937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32BA298C-1C2D-DE9A-8BA8-F6967E738AED}"/>
              </a:ext>
            </a:extLst>
          </p:cNvPr>
          <p:cNvSpPr/>
          <p:nvPr/>
        </p:nvSpPr>
        <p:spPr>
          <a:xfrm>
            <a:off x="5230438" y="3975922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3CF5A476-8C35-91CB-2F26-E26A0552412A}"/>
              </a:ext>
            </a:extLst>
          </p:cNvPr>
          <p:cNvSpPr/>
          <p:nvPr/>
        </p:nvSpPr>
        <p:spPr>
          <a:xfrm>
            <a:off x="5330037" y="4337246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4305990-8BC7-A021-94AC-4145C3716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294" y="4310113"/>
            <a:ext cx="1040488" cy="19789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720F6454-2D6A-5ED5-BF51-2F260E8CA79F}"/>
              </a:ext>
            </a:extLst>
          </p:cNvPr>
          <p:cNvSpPr/>
          <p:nvPr/>
        </p:nvSpPr>
        <p:spPr>
          <a:xfrm>
            <a:off x="6618746" y="3717726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A2AE05-F2D0-C3F8-548C-499312D047D1}"/>
              </a:ext>
            </a:extLst>
          </p:cNvPr>
          <p:cNvSpPr/>
          <p:nvPr/>
        </p:nvSpPr>
        <p:spPr>
          <a:xfrm>
            <a:off x="6962359" y="3713158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DA944393-DC79-9629-181F-30BE4744A89F}"/>
              </a:ext>
            </a:extLst>
          </p:cNvPr>
          <p:cNvSpPr/>
          <p:nvPr/>
        </p:nvSpPr>
        <p:spPr>
          <a:xfrm>
            <a:off x="6598904" y="4188639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F4778002-90E9-226B-6349-B07DFDDF7C9A}"/>
              </a:ext>
            </a:extLst>
          </p:cNvPr>
          <p:cNvSpPr/>
          <p:nvPr/>
        </p:nvSpPr>
        <p:spPr>
          <a:xfrm>
            <a:off x="6954061" y="4164724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6984B5B-E3EF-A9EE-649C-82E5DCF6F4B1}"/>
              </a:ext>
            </a:extLst>
          </p:cNvPr>
          <p:cNvSpPr/>
          <p:nvPr/>
        </p:nvSpPr>
        <p:spPr>
          <a:xfrm>
            <a:off x="6618785" y="4669500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71CC667-B188-B6FF-94FF-B91172C23E5F}"/>
              </a:ext>
            </a:extLst>
          </p:cNvPr>
          <p:cNvSpPr/>
          <p:nvPr/>
        </p:nvSpPr>
        <p:spPr>
          <a:xfrm>
            <a:off x="6990838" y="4669500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46">
            <a:extLst>
              <a:ext uri="{FF2B5EF4-FFF2-40B4-BE49-F238E27FC236}">
                <a16:creationId xmlns:a16="http://schemas.microsoft.com/office/drawing/2014/main" id="{F0E9048A-E746-7FED-84F5-5A321AEDD71B}"/>
              </a:ext>
            </a:extLst>
          </p:cNvPr>
          <p:cNvSpPr/>
          <p:nvPr/>
        </p:nvSpPr>
        <p:spPr>
          <a:xfrm>
            <a:off x="1609705" y="5850040"/>
            <a:ext cx="1091396" cy="4882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36" name="모서리가 둥근 직사각형 48">
            <a:extLst>
              <a:ext uri="{FF2B5EF4-FFF2-40B4-BE49-F238E27FC236}">
                <a16:creationId xmlns:a16="http://schemas.microsoft.com/office/drawing/2014/main" id="{F56A185D-6350-682E-3FD9-7E52E52E2364}"/>
              </a:ext>
            </a:extLst>
          </p:cNvPr>
          <p:cNvSpPr/>
          <p:nvPr/>
        </p:nvSpPr>
        <p:spPr>
          <a:xfrm>
            <a:off x="3277820" y="5852563"/>
            <a:ext cx="1095189" cy="4882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회귀</a:t>
            </a:r>
          </a:p>
        </p:txBody>
      </p:sp>
      <p:cxnSp>
        <p:nvCxnSpPr>
          <p:cNvPr id="37" name="꺾인 연결선 51">
            <a:extLst>
              <a:ext uri="{FF2B5EF4-FFF2-40B4-BE49-F238E27FC236}">
                <a16:creationId xmlns:a16="http://schemas.microsoft.com/office/drawing/2014/main" id="{9C4AB335-4FF4-4B51-16C5-B41DD263F82A}"/>
              </a:ext>
            </a:extLst>
          </p:cNvPr>
          <p:cNvCxnSpPr>
            <a:stCxn id="5" idx="2"/>
            <a:endCxn id="35" idx="0"/>
          </p:cNvCxnSpPr>
          <p:nvPr/>
        </p:nvCxnSpPr>
        <p:spPr>
          <a:xfrm rot="5400000">
            <a:off x="2406354" y="5256802"/>
            <a:ext cx="342288" cy="844189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57">
            <a:extLst>
              <a:ext uri="{FF2B5EF4-FFF2-40B4-BE49-F238E27FC236}">
                <a16:creationId xmlns:a16="http://schemas.microsoft.com/office/drawing/2014/main" id="{EBB8420C-B814-EF5A-6F53-6EBEF696FCF7}"/>
              </a:ext>
            </a:extLst>
          </p:cNvPr>
          <p:cNvCxnSpPr>
            <a:stCxn id="5" idx="2"/>
            <a:endCxn id="36" idx="0"/>
          </p:cNvCxnSpPr>
          <p:nvPr/>
        </p:nvCxnSpPr>
        <p:spPr>
          <a:xfrm rot="16200000" flipH="1">
            <a:off x="3240098" y="5267245"/>
            <a:ext cx="344811" cy="825823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60">
            <a:extLst>
              <a:ext uri="{FF2B5EF4-FFF2-40B4-BE49-F238E27FC236}">
                <a16:creationId xmlns:a16="http://schemas.microsoft.com/office/drawing/2014/main" id="{B4D7B33D-054A-6EDA-1979-0D5D4C29072F}"/>
              </a:ext>
            </a:extLst>
          </p:cNvPr>
          <p:cNvSpPr/>
          <p:nvPr/>
        </p:nvSpPr>
        <p:spPr>
          <a:xfrm>
            <a:off x="4655463" y="5850040"/>
            <a:ext cx="1107623" cy="4882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군집화</a:t>
            </a: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F576FEC3-167C-FF4F-B35C-491BF8943DDE}"/>
              </a:ext>
            </a:extLst>
          </p:cNvPr>
          <p:cNvSpPr/>
          <p:nvPr/>
        </p:nvSpPr>
        <p:spPr>
          <a:xfrm>
            <a:off x="6265418" y="5850040"/>
            <a:ext cx="1137279" cy="4882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연관</a:t>
            </a:r>
          </a:p>
        </p:txBody>
      </p:sp>
      <p:cxnSp>
        <p:nvCxnSpPr>
          <p:cNvPr id="41" name="꺾인 연결선 64">
            <a:extLst>
              <a:ext uri="{FF2B5EF4-FFF2-40B4-BE49-F238E27FC236}">
                <a16:creationId xmlns:a16="http://schemas.microsoft.com/office/drawing/2014/main" id="{08E0DCA1-D569-C44E-F161-1E67072DD1D8}"/>
              </a:ext>
            </a:extLst>
          </p:cNvPr>
          <p:cNvCxnSpPr/>
          <p:nvPr/>
        </p:nvCxnSpPr>
        <p:spPr>
          <a:xfrm rot="5400000">
            <a:off x="5417435" y="5249821"/>
            <a:ext cx="342288" cy="844189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65">
            <a:extLst>
              <a:ext uri="{FF2B5EF4-FFF2-40B4-BE49-F238E27FC236}">
                <a16:creationId xmlns:a16="http://schemas.microsoft.com/office/drawing/2014/main" id="{A2D5B4D6-486F-4254-17BD-8E283C27F0D2}"/>
              </a:ext>
            </a:extLst>
          </p:cNvPr>
          <p:cNvCxnSpPr/>
          <p:nvPr/>
        </p:nvCxnSpPr>
        <p:spPr>
          <a:xfrm rot="16200000" flipH="1">
            <a:off x="6251179" y="5260264"/>
            <a:ext cx="344811" cy="825823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F8F2FE81-ABA7-0E5E-2AEB-1FFDF889F2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662" y="3537624"/>
            <a:ext cx="1563686" cy="1900063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70FBCF8D-0B5B-DC0F-A876-B5FDBCD65E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020" y="4276065"/>
            <a:ext cx="1605940" cy="1338444"/>
          </a:xfrm>
          <a:prstGeom prst="rect">
            <a:avLst/>
          </a:prstGeom>
        </p:spPr>
      </p:pic>
      <p:sp>
        <p:nvSpPr>
          <p:cNvPr id="45" name="자유형 68">
            <a:extLst>
              <a:ext uri="{FF2B5EF4-FFF2-40B4-BE49-F238E27FC236}">
                <a16:creationId xmlns:a16="http://schemas.microsoft.com/office/drawing/2014/main" id="{6B136D89-217E-444E-B5D1-4D5E562A6F24}"/>
              </a:ext>
            </a:extLst>
          </p:cNvPr>
          <p:cNvSpPr/>
          <p:nvPr/>
        </p:nvSpPr>
        <p:spPr>
          <a:xfrm>
            <a:off x="8210140" y="4164723"/>
            <a:ext cx="1163179" cy="288651"/>
          </a:xfrm>
          <a:custGeom>
            <a:avLst/>
            <a:gdLst>
              <a:gd name="connsiteX0" fmla="*/ 0 w 1022466"/>
              <a:gd name="connsiteY0" fmla="*/ 355392 h 355392"/>
              <a:gd name="connsiteX1" fmla="*/ 332509 w 1022466"/>
              <a:gd name="connsiteY1" fmla="*/ 31196 h 355392"/>
              <a:gd name="connsiteX2" fmla="*/ 1022466 w 1022466"/>
              <a:gd name="connsiteY2" fmla="*/ 31196 h 355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466" h="355392">
                <a:moveTo>
                  <a:pt x="0" y="355392"/>
                </a:moveTo>
                <a:cubicBezTo>
                  <a:pt x="81049" y="220310"/>
                  <a:pt x="162098" y="85229"/>
                  <a:pt x="332509" y="31196"/>
                </a:cubicBezTo>
                <a:cubicBezTo>
                  <a:pt x="502920" y="-22837"/>
                  <a:pt x="762693" y="4179"/>
                  <a:pt x="1022466" y="31196"/>
                </a:cubicBezTo>
              </a:path>
            </a:pathLst>
          </a:custGeom>
          <a:noFill/>
          <a:ln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03771A-7BB5-4E62-3E01-EE4894C6DA79}"/>
              </a:ext>
            </a:extLst>
          </p:cNvPr>
          <p:cNvSpPr txBox="1"/>
          <p:nvPr/>
        </p:nvSpPr>
        <p:spPr>
          <a:xfrm>
            <a:off x="8262635" y="382616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행동</a:t>
            </a:r>
          </a:p>
        </p:txBody>
      </p:sp>
      <p:sp>
        <p:nvSpPr>
          <p:cNvPr id="47" name="자유형 71">
            <a:extLst>
              <a:ext uri="{FF2B5EF4-FFF2-40B4-BE49-F238E27FC236}">
                <a16:creationId xmlns:a16="http://schemas.microsoft.com/office/drawing/2014/main" id="{77F7486C-5C34-E156-BD52-2635602FBFE8}"/>
              </a:ext>
            </a:extLst>
          </p:cNvPr>
          <p:cNvSpPr/>
          <p:nvPr/>
        </p:nvSpPr>
        <p:spPr>
          <a:xfrm>
            <a:off x="8559276" y="5076830"/>
            <a:ext cx="1005840" cy="282658"/>
          </a:xfrm>
          <a:custGeom>
            <a:avLst/>
            <a:gdLst>
              <a:gd name="connsiteX0" fmla="*/ 1005840 w 1005840"/>
              <a:gd name="connsiteY0" fmla="*/ 0 h 282658"/>
              <a:gd name="connsiteX1" fmla="*/ 756458 w 1005840"/>
              <a:gd name="connsiteY1" fmla="*/ 182880 h 282658"/>
              <a:gd name="connsiteX2" fmla="*/ 349134 w 1005840"/>
              <a:gd name="connsiteY2" fmla="*/ 282632 h 282658"/>
              <a:gd name="connsiteX3" fmla="*/ 0 w 1005840"/>
              <a:gd name="connsiteY3" fmla="*/ 174567 h 282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" h="282658">
                <a:moveTo>
                  <a:pt x="1005840" y="0"/>
                </a:moveTo>
                <a:cubicBezTo>
                  <a:pt x="935874" y="67887"/>
                  <a:pt x="865909" y="135775"/>
                  <a:pt x="756458" y="182880"/>
                </a:cubicBezTo>
                <a:cubicBezTo>
                  <a:pt x="647007" y="229985"/>
                  <a:pt x="475210" y="284017"/>
                  <a:pt x="349134" y="282632"/>
                </a:cubicBezTo>
                <a:cubicBezTo>
                  <a:pt x="223058" y="281247"/>
                  <a:pt x="111529" y="227907"/>
                  <a:pt x="0" y="174567"/>
                </a:cubicBezTo>
              </a:path>
            </a:pathLst>
          </a:custGeom>
          <a:noFill/>
          <a:ln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328B55-D7D6-7B64-D4D8-8FB4098160D9}"/>
              </a:ext>
            </a:extLst>
          </p:cNvPr>
          <p:cNvSpPr txBox="1"/>
          <p:nvPr/>
        </p:nvSpPr>
        <p:spPr>
          <a:xfrm>
            <a:off x="8980566" y="486529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보상</a:t>
            </a:r>
          </a:p>
        </p:txBody>
      </p:sp>
    </p:spTree>
    <p:extLst>
      <p:ext uri="{BB962C8B-B14F-4D97-AF65-F5344CB8AC3E}">
        <p14:creationId xmlns:p14="http://schemas.microsoft.com/office/powerpoint/2010/main" val="2174599155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절차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091B022-158F-3689-655C-732D40F55270}"/>
              </a:ext>
            </a:extLst>
          </p:cNvPr>
          <p:cNvGrpSpPr/>
          <p:nvPr/>
        </p:nvGrpSpPr>
        <p:grpSpPr>
          <a:xfrm>
            <a:off x="1127448" y="980728"/>
            <a:ext cx="9699899" cy="1837764"/>
            <a:chOff x="2372765" y="1015172"/>
            <a:chExt cx="5857572" cy="126274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BE7C509-6A5E-F5C9-E11D-FB20D3505A03}"/>
                </a:ext>
              </a:extLst>
            </p:cNvPr>
            <p:cNvSpPr/>
            <p:nvPr/>
          </p:nvSpPr>
          <p:spPr>
            <a:xfrm>
              <a:off x="2372765" y="1772816"/>
              <a:ext cx="760048" cy="5050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빅데이터 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수집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7BCE007-27A6-DE3D-79FA-F17488DC0DEC}"/>
                </a:ext>
              </a:extLst>
            </p:cNvPr>
            <p:cNvSpPr/>
            <p:nvPr/>
          </p:nvSpPr>
          <p:spPr>
            <a:xfrm>
              <a:off x="3387014" y="1772816"/>
              <a:ext cx="760048" cy="5050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데이터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탐색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9F030F8A-EE4E-C8A5-8F91-3CE0CF7F82D8}"/>
                </a:ext>
              </a:extLst>
            </p:cNvPr>
            <p:cNvCxnSpPr>
              <a:stCxn id="21" idx="3"/>
              <a:endCxn id="49" idx="1"/>
            </p:cNvCxnSpPr>
            <p:nvPr/>
          </p:nvCxnSpPr>
          <p:spPr>
            <a:xfrm>
              <a:off x="3132813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ECE49DE-55E2-D291-16DC-978ED6C5633C}"/>
                </a:ext>
              </a:extLst>
            </p:cNvPr>
            <p:cNvSpPr/>
            <p:nvPr/>
          </p:nvSpPr>
          <p:spPr>
            <a:xfrm>
              <a:off x="4401263" y="1772816"/>
              <a:ext cx="760048" cy="5050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데이터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전처리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27B8EE55-FD35-DF5E-E4B7-6E90E6F95875}"/>
                </a:ext>
              </a:extLst>
            </p:cNvPr>
            <p:cNvCxnSpPr>
              <a:endCxn id="51" idx="1"/>
            </p:cNvCxnSpPr>
            <p:nvPr/>
          </p:nvCxnSpPr>
          <p:spPr>
            <a:xfrm>
              <a:off x="4147062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DFEEB66-C299-FB38-87C3-740230C8F4B0}"/>
                </a:ext>
              </a:extLst>
            </p:cNvPr>
            <p:cNvSpPr/>
            <p:nvPr/>
          </p:nvSpPr>
          <p:spPr>
            <a:xfrm>
              <a:off x="5415512" y="1772816"/>
              <a:ext cx="760048" cy="5050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모델링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및 학습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737AE90-2203-E40F-67BB-5FCB388BD1B1}"/>
                </a:ext>
              </a:extLst>
            </p:cNvPr>
            <p:cNvCxnSpPr>
              <a:endCxn id="53" idx="1"/>
            </p:cNvCxnSpPr>
            <p:nvPr/>
          </p:nvCxnSpPr>
          <p:spPr>
            <a:xfrm>
              <a:off x="5161311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EA4AC55-7606-2341-319C-A3C2486431D6}"/>
                </a:ext>
              </a:extLst>
            </p:cNvPr>
            <p:cNvSpPr/>
            <p:nvPr/>
          </p:nvSpPr>
          <p:spPr>
            <a:xfrm>
              <a:off x="6456040" y="1772816"/>
              <a:ext cx="760048" cy="50509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평가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D0E591BB-CF37-D1ED-B135-25B7757237E9}"/>
                </a:ext>
              </a:extLst>
            </p:cNvPr>
            <p:cNvCxnSpPr>
              <a:endCxn id="55" idx="1"/>
            </p:cNvCxnSpPr>
            <p:nvPr/>
          </p:nvCxnSpPr>
          <p:spPr>
            <a:xfrm>
              <a:off x="6201839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CB2036A-C53B-E132-72DC-7256F65969CD}"/>
                </a:ext>
              </a:extLst>
            </p:cNvPr>
            <p:cNvSpPr/>
            <p:nvPr/>
          </p:nvSpPr>
          <p:spPr>
            <a:xfrm>
              <a:off x="7470289" y="1772816"/>
              <a:ext cx="760048" cy="5050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배포</a:t>
              </a: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3719F61-649B-ECDA-47A9-85A77AEFB8CA}"/>
                </a:ext>
              </a:extLst>
            </p:cNvPr>
            <p:cNvCxnSpPr>
              <a:endCxn id="57" idx="1"/>
            </p:cNvCxnSpPr>
            <p:nvPr/>
          </p:nvCxnSpPr>
          <p:spPr>
            <a:xfrm>
              <a:off x="7216088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F1D8A8D-8B91-BF3B-C485-B42C13F38A01}"/>
                </a:ext>
              </a:extLst>
            </p:cNvPr>
            <p:cNvSpPr/>
            <p:nvPr/>
          </p:nvSpPr>
          <p:spPr>
            <a:xfrm>
              <a:off x="5415512" y="1015172"/>
              <a:ext cx="760048" cy="5050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테스트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데이터</a:t>
              </a:r>
            </a:p>
          </p:txBody>
        </p: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7819B637-4A53-1A8A-6614-3EDC460F4781}"/>
                </a:ext>
              </a:extLst>
            </p:cNvPr>
            <p:cNvCxnSpPr>
              <a:endCxn id="59" idx="1"/>
            </p:cNvCxnSpPr>
            <p:nvPr/>
          </p:nvCxnSpPr>
          <p:spPr>
            <a:xfrm rot="5400000" flipH="1" flipV="1">
              <a:off x="4973140" y="1582993"/>
              <a:ext cx="757643" cy="127101"/>
            </a:xfrm>
            <a:prstGeom prst="bentConnector2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D6937AEE-E45D-F126-9779-D22B980439FD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>
              <a:off x="6175560" y="1267721"/>
              <a:ext cx="153379" cy="757643"/>
            </a:xfrm>
            <a:prstGeom prst="bentConnector2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861440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B444F-4D51-D4CE-4474-4E9A071A1009}"/>
              </a:ext>
            </a:extLst>
          </p:cNvPr>
          <p:cNvSpPr txBox="1"/>
          <p:nvPr/>
        </p:nvSpPr>
        <p:spPr>
          <a:xfrm>
            <a:off x="263352" y="908720"/>
            <a:ext cx="11449272" cy="1522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891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테스트 데이터는 머신러닝 모델을 개발하고 학습시킨 후에 모델의 성능을 평가하기 위해 사용하는 데이터로 수집한 빅데이터의 약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20~30%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를 별도로 할당하여 테스트 용도로 사용하게 된다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보통 수집 데이터의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70~80%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는 훈련 데이터로 사용하고 나머지는 테스트 데이터로 사용한다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</a:t>
            </a:r>
            <a:endParaRPr lang="ko-KR" altLang="en-US" sz="1800" kern="0" spc="-50" dirty="0">
              <a:solidFill>
                <a:srgbClr val="000000"/>
              </a:solidFill>
              <a:effectLst/>
              <a:latin typeface="한양신명조"/>
            </a:endParaRPr>
          </a:p>
        </p:txBody>
      </p:sp>
    </p:spTree>
    <p:extLst>
      <p:ext uri="{BB962C8B-B14F-4D97-AF65-F5344CB8AC3E}">
        <p14:creationId xmlns:p14="http://schemas.microsoft.com/office/powerpoint/2010/main" val="249061809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D7B34-5284-4504-E5A3-45B1D864319C}"/>
              </a:ext>
            </a:extLst>
          </p:cNvPr>
          <p:cNvSpPr txBox="1"/>
          <p:nvPr/>
        </p:nvSpPr>
        <p:spPr>
          <a:xfrm>
            <a:off x="263352" y="836712"/>
            <a:ext cx="11305256" cy="5502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8910" marR="0" indent="0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</a:rPr>
              <a:t>•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정확도</a:t>
            </a: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</a:rPr>
              <a:t>(Accuracy)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</a:rPr>
              <a:t>: 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전체 중에서 몇 개 맞추었나</a:t>
            </a: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</a:rPr>
              <a:t>? </a:t>
            </a: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정상</a:t>
            </a: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비정상 모두 포함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    - 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예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: 100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개 중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90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개 맞추면 정확도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= 90%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    -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쉽고 직관적이지만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데이터가 한쪽으로 치우치면 의미 없음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      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</a:rPr>
              <a:t>예 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</a:rPr>
              <a:t>: 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</a:rPr>
              <a:t>암 환자 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</a:rPr>
              <a:t>명 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</a:rPr>
              <a:t>정상 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</a:rPr>
              <a:t>99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</a:rPr>
              <a:t>명 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전부 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‘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정상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＇</a:t>
            </a:r>
            <a:r>
              <a:rPr lang="ko-KR" altLang="en-US" sz="1800" u="sng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이라고 해도 정확도 </a:t>
            </a:r>
            <a:r>
              <a:rPr lang="en-US" altLang="ko-KR" sz="1800" u="sng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90%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    - </a:t>
            </a:r>
            <a:r>
              <a:rPr lang="en-US" altLang="ko-KR" dirty="0"/>
              <a:t>Accuracy = (TP + TN) / </a:t>
            </a:r>
            <a:r>
              <a:rPr lang="ko-KR" altLang="en-US" dirty="0"/>
              <a:t>전체</a:t>
            </a:r>
            <a:br>
              <a:rPr lang="en-US" altLang="ko-KR" dirty="0"/>
            </a:br>
            <a:endParaRPr lang="ko-KR" altLang="en-US" sz="1800" kern="0" spc="-50" dirty="0">
              <a:solidFill>
                <a:srgbClr val="000000"/>
              </a:solidFill>
              <a:effectLst/>
              <a:latin typeface="+mn-ea"/>
            </a:endParaRPr>
          </a:p>
          <a:p>
            <a:pPr marL="168910" marR="0" indent="0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</a:rPr>
              <a:t>•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정밀도</a:t>
            </a: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</a:rPr>
              <a:t>(Precision)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800" b="1" kern="0" spc="-50" dirty="0">
                <a:solidFill>
                  <a:srgbClr val="000000"/>
                </a:solidFill>
                <a:effectLst/>
                <a:latin typeface="+mn-ea"/>
              </a:rPr>
              <a:t>: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모델이 </a:t>
            </a:r>
            <a:r>
              <a:rPr lang="ko-KR" altLang="en-US" b="1" kern="0" spc="-50" dirty="0">
                <a:solidFill>
                  <a:srgbClr val="000000"/>
                </a:solidFill>
                <a:latin typeface="+mn-ea"/>
              </a:rPr>
              <a:t>맞다고 한 것 중에 진짜 맞는 비율 </a:t>
            </a:r>
            <a:r>
              <a:rPr lang="en-US" altLang="ko-KR" b="1" kern="0" spc="-5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b="1" kern="0" spc="-50" dirty="0">
                <a:solidFill>
                  <a:srgbClr val="000000"/>
                </a:solidFill>
                <a:latin typeface="+mn-ea"/>
              </a:rPr>
              <a:t>모델의 신뢰도</a:t>
            </a:r>
            <a:r>
              <a:rPr lang="en-US" altLang="ko-KR" b="1" kern="0" spc="-50" dirty="0">
                <a:solidFill>
                  <a:srgbClr val="000000"/>
                </a:solidFill>
                <a:latin typeface="+mn-ea"/>
              </a:rPr>
              <a:t>)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    - 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모델이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10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명을 암 환자라 판단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실제 암환자는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7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명 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 Precision 70%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    -  Precision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이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70%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라고 한다면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화재 경보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10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번 중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3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번은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오경보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  <a:t>    -  </a:t>
            </a:r>
            <a:r>
              <a:rPr lang="en-US" altLang="ko-KR" dirty="0"/>
              <a:t>Precision = TP / (TP + FP)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  <a:sym typeface="Wingdings" panose="05000000000000000000" pitchFamily="2" charset="2"/>
              </a:rPr>
            </a:br>
            <a:endParaRPr lang="ko-KR" altLang="en-US" sz="1800" kern="0" spc="-5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5930857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849904"/>
            <a:ext cx="11820800" cy="542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재현율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Recall)</a:t>
            </a: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: </a:t>
            </a: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실제 맞는 것 중 몇 개를 찾아냈나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?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-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실제 암 환자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명인데 모델이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9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명 찾았다면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Recall = 90%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-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의미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놓치지 않는 능력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-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암 진단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위험 감지 처럼 놓치면 큰 일 발생할 때 중요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.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- 100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명의 사람들 중 암 환자는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명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모델은 암환자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명과 정상인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명을 암환자로 판단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이때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recall = 100%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 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이런 경우 </a:t>
            </a:r>
            <a:r>
              <a:rPr lang="en-US" altLang="ko-KR" dirty="0" err="1">
                <a:solidFill>
                  <a:srgbClr val="000000"/>
                </a:solidFill>
                <a:latin typeface="+mn-ea"/>
              </a:rPr>
              <a:t>precison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 = 10/20 = 50%</a:t>
            </a: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- </a:t>
            </a:r>
            <a:r>
              <a:rPr lang="en-US" altLang="ko-KR" dirty="0"/>
              <a:t>Recall = TP / (TP + FN)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 F1 Score : Precision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과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Recall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균형 점수</a:t>
            </a:r>
            <a:b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-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둘 중 하나만 높으면 의미 없음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둘 다 적당히 높아야 점수 높음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7BAE6C0-6859-BF5D-D99F-5BC1B3C82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376" y="5522499"/>
            <a:ext cx="103664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F1-Score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는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0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부터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까지 값을 가지며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값이 높을수록 모델의 성능이 더 좋다고 평가된다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 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1506D8-BD1B-468C-93F1-08E69BEAEAE3}"/>
                  </a:ext>
                </a:extLst>
              </p:cNvPr>
              <p:cNvSpPr txBox="1"/>
              <p:nvPr/>
            </p:nvSpPr>
            <p:spPr>
              <a:xfrm flipH="1">
                <a:off x="659275" y="4526468"/>
                <a:ext cx="5426889" cy="786306"/>
              </a:xfrm>
              <a:prstGeom prst="rect">
                <a:avLst/>
              </a:prstGeom>
              <a:noFill/>
              <a:ln w="412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𝑺𝒄𝒐𝒓𝒆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=   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 ×  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정</m:t>
                          </m:r>
                          <m: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  <m:t>밀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도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재</m:t>
                          </m:r>
                          <m: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  <m:t>현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율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정</m:t>
                          </m:r>
                          <m: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  <m:t>밀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도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재</m:t>
                          </m:r>
                          <m: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  <m:t>현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율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1506D8-BD1B-468C-93F1-08E69BEAE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9275" y="4526468"/>
                <a:ext cx="5426889" cy="7863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412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908686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Confusion Matrix : </a:t>
            </a:r>
            <a:r>
              <a:rPr lang="ko-KR" altLang="en-US" sz="2000" b="1" dirty="0"/>
              <a:t>분류 모델의 성능을 평가하는 핵심 도구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66130EB-A56A-4054-89A9-EC59A91D24D6}"/>
              </a:ext>
            </a:extLst>
          </p:cNvPr>
          <p:cNvSpPr/>
          <p:nvPr/>
        </p:nvSpPr>
        <p:spPr>
          <a:xfrm>
            <a:off x="24372" y="1300832"/>
            <a:ext cx="6336704" cy="4768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4625" indent="-174625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분류 모델이 얼마나 잘 </a:t>
            </a:r>
            <a:r>
              <a:rPr lang="en-US" sz="1600" dirty="0" err="1">
                <a:solidFill>
                  <a:srgbClr val="1E293B"/>
                </a:solidFill>
                <a:latin typeface="+mn-ea"/>
                <a:cs typeface="Calibri" pitchFamily="34" charset="-120"/>
              </a:rPr>
              <a:t>작동하는지</a:t>
            </a: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 </a:t>
            </a:r>
            <a:b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</a:br>
            <a:r>
              <a:rPr lang="en-US" sz="1600" dirty="0" err="1">
                <a:solidFill>
                  <a:srgbClr val="1E293B"/>
                </a:solidFill>
                <a:latin typeface="+mn-ea"/>
                <a:cs typeface="Calibri" pitchFamily="34" charset="-120"/>
              </a:rPr>
              <a:t>시각적으로</a:t>
            </a: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+mn-ea"/>
                <a:cs typeface="Calibri" pitchFamily="34" charset="-120"/>
              </a:rPr>
              <a:t>보여주는</a:t>
            </a: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 표</a:t>
            </a:r>
            <a:r>
              <a:rPr lang="en-US" sz="16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 </a:t>
            </a:r>
            <a:br>
              <a:rPr lang="en-US" sz="1600" dirty="0">
                <a:solidFill>
                  <a:srgbClr val="000000"/>
                </a:solidFill>
                <a:latin typeface="+mn-ea"/>
                <a:cs typeface="Calibri" pitchFamily="34" charset="-120"/>
              </a:rPr>
            </a:br>
            <a:endParaRPr lang="en-US" sz="1600" dirty="0">
              <a:latin typeface="+mn-ea"/>
            </a:endParaRPr>
          </a:p>
          <a:p>
            <a:pPr marL="174625" indent="-174625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실제 정답(Actual)과 모델 예측(Predicted)을 교차 비교</a:t>
            </a:r>
            <a:endParaRPr lang="en-US" sz="1600" dirty="0">
              <a:latin typeface="+mn-ea"/>
            </a:endParaRPr>
          </a:p>
          <a:p>
            <a:pPr marL="174625" indent="-174625">
              <a:buNone/>
            </a:pPr>
            <a:r>
              <a:rPr lang="en-US" sz="16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 </a:t>
            </a:r>
            <a:endParaRPr lang="en-US" sz="1600" dirty="0">
              <a:latin typeface="+mn-ea"/>
            </a:endParaRPr>
          </a:p>
          <a:p>
            <a:pPr marL="174625" indent="-174625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단순 정확도(Accuracy)만으로는 알 수 </a:t>
            </a:r>
            <a:r>
              <a:rPr lang="en-US" sz="1600" dirty="0" err="1">
                <a:solidFill>
                  <a:srgbClr val="1E293B"/>
                </a:solidFill>
                <a:latin typeface="+mn-ea"/>
                <a:cs typeface="Calibri" pitchFamily="34" charset="-120"/>
              </a:rPr>
              <a:t>없는</a:t>
            </a:r>
            <a:b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</a:b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 오류 유형을 파악 가능</a:t>
            </a:r>
            <a:endParaRPr lang="en-US" sz="1600" dirty="0">
              <a:latin typeface="+mn-ea"/>
            </a:endParaRPr>
          </a:p>
          <a:p>
            <a:pPr marL="174625" indent="-174625">
              <a:buNone/>
            </a:pPr>
            <a:r>
              <a:rPr lang="en-US" sz="16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 </a:t>
            </a:r>
            <a:endParaRPr lang="en-US" sz="1600" dirty="0">
              <a:latin typeface="+mn-ea"/>
            </a:endParaRPr>
          </a:p>
          <a:p>
            <a:pPr marL="174625" indent="-174625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특히 클래스 불균형 데이터에서 필수적인 </a:t>
            </a:r>
            <a:r>
              <a:rPr lang="en-US" sz="1600" dirty="0" err="1">
                <a:solidFill>
                  <a:srgbClr val="1E293B"/>
                </a:solidFill>
                <a:latin typeface="+mn-ea"/>
                <a:cs typeface="Calibri" pitchFamily="34" charset="-120"/>
              </a:rPr>
              <a:t>평가</a:t>
            </a:r>
            <a:r>
              <a:rPr lang="en-US" sz="1600" dirty="0">
                <a:solidFill>
                  <a:srgbClr val="1E293B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+mn-ea"/>
                <a:cs typeface="Calibri" pitchFamily="34" charset="-120"/>
              </a:rPr>
              <a:t>도구</a:t>
            </a:r>
            <a:endParaRPr lang="en-US" sz="1600" dirty="0">
              <a:solidFill>
                <a:srgbClr val="1E293B"/>
              </a:solidFill>
              <a:latin typeface="+mn-ea"/>
              <a:cs typeface="Calibri" pitchFamily="34" charset="-120"/>
            </a:endParaRPr>
          </a:p>
          <a:p>
            <a:pPr marL="174625" indent="-174625">
              <a:buSzPct val="100000"/>
              <a:buChar char="•"/>
            </a:pPr>
            <a:endParaRPr lang="en-US" sz="1600" dirty="0">
              <a:solidFill>
                <a:srgbClr val="1E293B"/>
              </a:solidFill>
              <a:latin typeface="+mn-ea"/>
              <a:cs typeface="Calibri" pitchFamily="34" charset="-120"/>
            </a:endParaRPr>
          </a:p>
          <a:p>
            <a:pPr marL="174625" indent="-174625">
              <a:buSzPct val="100000"/>
              <a:buChar char="•"/>
            </a:pPr>
            <a:r>
              <a:rPr lang="en-US" sz="1600" dirty="0">
                <a:latin typeface="+mn-ea"/>
              </a:rPr>
              <a:t>TP : </a:t>
            </a:r>
            <a:r>
              <a:rPr lang="ko-KR" altLang="en-US" sz="1600" dirty="0">
                <a:latin typeface="+mn-ea"/>
              </a:rPr>
              <a:t>맞춘 정답</a:t>
            </a:r>
            <a:endParaRPr lang="en-US" sz="1600" dirty="0">
              <a:latin typeface="+mn-ea"/>
            </a:endParaRPr>
          </a:p>
          <a:p>
            <a:pPr marL="174625" indent="-174625">
              <a:buSzPct val="100000"/>
              <a:buChar char="•"/>
            </a:pPr>
            <a:r>
              <a:rPr lang="en-US" sz="1600" dirty="0">
                <a:latin typeface="+mn-ea"/>
              </a:rPr>
              <a:t>FN : </a:t>
            </a:r>
            <a:r>
              <a:rPr lang="ko-KR" altLang="en-US" sz="1600" dirty="0" err="1">
                <a:latin typeface="+mn-ea"/>
              </a:rPr>
              <a:t>미검출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놓친 정답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174625" indent="-174625">
              <a:buSzPct val="100000"/>
              <a:buChar char="•"/>
            </a:pPr>
            <a:r>
              <a:rPr lang="en-US" sz="1600" dirty="0">
                <a:latin typeface="+mn-ea"/>
              </a:rPr>
              <a:t>FP : </a:t>
            </a:r>
            <a:r>
              <a:rPr lang="ko-KR" altLang="en-US" sz="1600" dirty="0" err="1">
                <a:latin typeface="+mn-ea"/>
              </a:rPr>
              <a:t>오탐</a:t>
            </a:r>
            <a:endParaRPr lang="en-US" sz="1600" dirty="0">
              <a:latin typeface="+mn-ea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1789025-06C5-4717-8D4F-493897B66F4B}"/>
              </a:ext>
            </a:extLst>
          </p:cNvPr>
          <p:cNvSpPr/>
          <p:nvPr/>
        </p:nvSpPr>
        <p:spPr>
          <a:xfrm>
            <a:off x="7174597" y="1058391"/>
            <a:ext cx="3027381" cy="579047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C1710B2-D9D1-4670-9FA4-8D5E41F6B470}"/>
              </a:ext>
            </a:extLst>
          </p:cNvPr>
          <p:cNvSpPr/>
          <p:nvPr/>
        </p:nvSpPr>
        <p:spPr>
          <a:xfrm>
            <a:off x="7174597" y="1058391"/>
            <a:ext cx="3027381" cy="57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</a:t>
            </a:r>
            <a:endParaRPr lang="en-US" sz="20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D8E0C95-FF87-4734-8C73-10EA8B270889}"/>
              </a:ext>
            </a:extLst>
          </p:cNvPr>
          <p:cNvSpPr/>
          <p:nvPr/>
        </p:nvSpPr>
        <p:spPr>
          <a:xfrm>
            <a:off x="7174597" y="1637438"/>
            <a:ext cx="1513687" cy="488973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273E052-4EC2-49B4-A7AE-9B7E0E72C2F0}"/>
              </a:ext>
            </a:extLst>
          </p:cNvPr>
          <p:cNvSpPr/>
          <p:nvPr/>
        </p:nvSpPr>
        <p:spPr>
          <a:xfrm>
            <a:off x="7174597" y="1637438"/>
            <a:ext cx="1637764" cy="48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6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25B13C6-16A4-4063-B344-539B48769879}"/>
              </a:ext>
            </a:extLst>
          </p:cNvPr>
          <p:cNvSpPr/>
          <p:nvPr/>
        </p:nvSpPr>
        <p:spPr>
          <a:xfrm>
            <a:off x="8688284" y="1637438"/>
            <a:ext cx="1513693" cy="488973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noFill/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B97052F-816F-4A34-8ABF-1423E5DFB090}"/>
              </a:ext>
            </a:extLst>
          </p:cNvPr>
          <p:cNvSpPr/>
          <p:nvPr/>
        </p:nvSpPr>
        <p:spPr>
          <a:xfrm>
            <a:off x="8688287" y="1637438"/>
            <a:ext cx="1513693" cy="48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6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CA4F339D-A13A-43FE-806F-9DE86C9FEE85}"/>
              </a:ext>
            </a:extLst>
          </p:cNvPr>
          <p:cNvSpPr/>
          <p:nvPr/>
        </p:nvSpPr>
        <p:spPr>
          <a:xfrm>
            <a:off x="5485149" y="2126411"/>
            <a:ext cx="945009" cy="2316189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4856D11-293B-4940-A399-808CCE074719}"/>
              </a:ext>
            </a:extLst>
          </p:cNvPr>
          <p:cNvSpPr/>
          <p:nvPr/>
        </p:nvSpPr>
        <p:spPr>
          <a:xfrm>
            <a:off x="5485150" y="2126411"/>
            <a:ext cx="945008" cy="2316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6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90912EFF-6755-45AF-9A0D-15011901F6C6}"/>
              </a:ext>
            </a:extLst>
          </p:cNvPr>
          <p:cNvSpPr/>
          <p:nvPr/>
        </p:nvSpPr>
        <p:spPr>
          <a:xfrm>
            <a:off x="6430158" y="2126411"/>
            <a:ext cx="744438" cy="115809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5483BDE-2987-4E5C-B271-6046B0747C72}"/>
              </a:ext>
            </a:extLst>
          </p:cNvPr>
          <p:cNvSpPr/>
          <p:nvPr/>
        </p:nvSpPr>
        <p:spPr>
          <a:xfrm>
            <a:off x="6430158" y="2126411"/>
            <a:ext cx="744438" cy="1158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bg1"/>
                </a:solidFill>
              </a:rPr>
              <a:t>posi</a:t>
            </a:r>
            <a:r>
              <a:rPr lang="en-US" sz="1600" dirty="0">
                <a:solidFill>
                  <a:schemeClr val="bg1"/>
                </a:solidFill>
              </a:rPr>
              <a:t>-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bg1"/>
                </a:solidFill>
              </a:rPr>
              <a:t>tive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FC540F9-CDA9-4E8B-886A-781C6B3CC5F7}"/>
              </a:ext>
            </a:extLst>
          </p:cNvPr>
          <p:cNvSpPr/>
          <p:nvPr/>
        </p:nvSpPr>
        <p:spPr>
          <a:xfrm>
            <a:off x="6430158" y="3284506"/>
            <a:ext cx="744438" cy="115809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E8A082B-4198-4AA0-90DE-ECF85FFD1E45}"/>
              </a:ext>
            </a:extLst>
          </p:cNvPr>
          <p:cNvSpPr/>
          <p:nvPr/>
        </p:nvSpPr>
        <p:spPr>
          <a:xfrm>
            <a:off x="6430158" y="3284506"/>
            <a:ext cx="744438" cy="1158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bg1"/>
                </a:solidFill>
              </a:rPr>
              <a:t>nega</a:t>
            </a:r>
            <a:r>
              <a:rPr lang="en-US" sz="1600" dirty="0">
                <a:solidFill>
                  <a:schemeClr val="bg1"/>
                </a:solidFill>
              </a:rPr>
              <a:t>-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bg1"/>
                </a:solidFill>
              </a:rPr>
              <a:t>tive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C1AFEE9-F358-4E5E-A90D-9CD8ADA025A3}"/>
              </a:ext>
            </a:extLst>
          </p:cNvPr>
          <p:cNvSpPr/>
          <p:nvPr/>
        </p:nvSpPr>
        <p:spPr>
          <a:xfrm>
            <a:off x="7174597" y="2126411"/>
            <a:ext cx="1513691" cy="1158094"/>
          </a:xfrm>
          <a:prstGeom prst="rect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8F6D921-669F-4B12-A3DA-63A28E3C70BF}"/>
              </a:ext>
            </a:extLst>
          </p:cNvPr>
          <p:cNvSpPr/>
          <p:nvPr/>
        </p:nvSpPr>
        <p:spPr>
          <a:xfrm>
            <a:off x="7573381" y="2357350"/>
            <a:ext cx="864097" cy="3778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32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20B7486-4A6A-4DF3-9D8F-5C916510D108}"/>
              </a:ext>
            </a:extLst>
          </p:cNvPr>
          <p:cNvSpPr/>
          <p:nvPr/>
        </p:nvSpPr>
        <p:spPr>
          <a:xfrm>
            <a:off x="7174597" y="2705458"/>
            <a:ext cx="1513691" cy="5790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6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6DC63B87-F2BE-4F29-BECF-81D4BFB995AD}"/>
              </a:ext>
            </a:extLst>
          </p:cNvPr>
          <p:cNvSpPr/>
          <p:nvPr/>
        </p:nvSpPr>
        <p:spPr>
          <a:xfrm>
            <a:off x="8688288" y="2126411"/>
            <a:ext cx="1513691" cy="1158094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0757DF2B-F9BD-4537-B674-F303548D4E8E}"/>
              </a:ext>
            </a:extLst>
          </p:cNvPr>
          <p:cNvSpPr/>
          <p:nvPr/>
        </p:nvSpPr>
        <p:spPr>
          <a:xfrm>
            <a:off x="8688288" y="2228417"/>
            <a:ext cx="1513691" cy="48897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32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23D568AD-854F-4AA3-AEDC-78C2F88106B1}"/>
              </a:ext>
            </a:extLst>
          </p:cNvPr>
          <p:cNvSpPr/>
          <p:nvPr/>
        </p:nvSpPr>
        <p:spPr>
          <a:xfrm>
            <a:off x="8688288" y="2705458"/>
            <a:ext cx="1513691" cy="5790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60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68B8BE87-CC3E-4723-9731-1FD6BC64E96C}"/>
              </a:ext>
            </a:extLst>
          </p:cNvPr>
          <p:cNvSpPr/>
          <p:nvPr/>
        </p:nvSpPr>
        <p:spPr>
          <a:xfrm>
            <a:off x="7174597" y="3284506"/>
            <a:ext cx="1513691" cy="1158094"/>
          </a:xfrm>
          <a:prstGeom prst="rect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6D370581-69B0-4CA6-AD57-1078BA957DE8}"/>
              </a:ext>
            </a:extLst>
          </p:cNvPr>
          <p:cNvSpPr/>
          <p:nvPr/>
        </p:nvSpPr>
        <p:spPr>
          <a:xfrm>
            <a:off x="7174597" y="3500530"/>
            <a:ext cx="1513691" cy="3689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32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A06F9866-C6DF-4F6A-AE6E-973632433451}"/>
              </a:ext>
            </a:extLst>
          </p:cNvPr>
          <p:cNvSpPr/>
          <p:nvPr/>
        </p:nvSpPr>
        <p:spPr>
          <a:xfrm>
            <a:off x="7174597" y="3863553"/>
            <a:ext cx="1513691" cy="5790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6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E2FED098-E7EB-495C-AA3C-5C541AC815FE}"/>
              </a:ext>
            </a:extLst>
          </p:cNvPr>
          <p:cNvSpPr/>
          <p:nvPr/>
        </p:nvSpPr>
        <p:spPr>
          <a:xfrm>
            <a:off x="8688288" y="3284506"/>
            <a:ext cx="1513691" cy="1158094"/>
          </a:xfrm>
          <a:prstGeom prst="rect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24D3E37E-F4DB-4C47-BA7C-F4E67F7B9406}"/>
              </a:ext>
            </a:extLst>
          </p:cNvPr>
          <p:cNvSpPr/>
          <p:nvPr/>
        </p:nvSpPr>
        <p:spPr>
          <a:xfrm>
            <a:off x="8688288" y="3506496"/>
            <a:ext cx="1513691" cy="3630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32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136C37F9-6745-4B27-8308-09CE2147B06F}"/>
              </a:ext>
            </a:extLst>
          </p:cNvPr>
          <p:cNvSpPr/>
          <p:nvPr/>
        </p:nvSpPr>
        <p:spPr>
          <a:xfrm>
            <a:off x="8688288" y="3863553"/>
            <a:ext cx="1513691" cy="5790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24762E5-2528-4CE7-8888-768197EF4105}"/>
                  </a:ext>
                </a:extLst>
              </p:cNvPr>
              <p:cNvSpPr/>
              <p:nvPr/>
            </p:nvSpPr>
            <p:spPr>
              <a:xfrm>
                <a:off x="7174596" y="4442600"/>
                <a:ext cx="1513687" cy="1011094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rgbClr val="0033CC"/>
                    </a:solidFill>
                  </a:rPr>
                  <a:t>Precision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24762E5-2528-4CE7-8888-768197EF4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596" y="4442600"/>
                <a:ext cx="1513687" cy="1011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DAF171CE-2AE2-4186-8A1C-CCE79ABC9A56}"/>
                  </a:ext>
                </a:extLst>
              </p:cNvPr>
              <p:cNvSpPr/>
              <p:nvPr/>
            </p:nvSpPr>
            <p:spPr>
              <a:xfrm>
                <a:off x="10185245" y="2133639"/>
                <a:ext cx="1513687" cy="1150866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rgbClr val="0033CC"/>
                    </a:solidFill>
                  </a:rPr>
                  <a:t>Recall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DAF171CE-2AE2-4186-8A1C-CCE79ABC9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245" y="2133639"/>
                <a:ext cx="1513687" cy="11508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273DD74-7F34-4BD4-9630-D04C2D3E2243}"/>
                  </a:ext>
                </a:extLst>
              </p:cNvPr>
              <p:cNvSpPr/>
              <p:nvPr/>
            </p:nvSpPr>
            <p:spPr>
              <a:xfrm>
                <a:off x="10165671" y="3294716"/>
                <a:ext cx="1513687" cy="1150866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rgbClr val="0033CC"/>
                    </a:solidFill>
                  </a:rPr>
                  <a:t>FPR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273DD74-7F34-4BD4-9630-D04C2D3E2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671" y="3294716"/>
                <a:ext cx="1513687" cy="11508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8ECB10FE-663E-481B-83C8-1E2C5DC412B1}"/>
                  </a:ext>
                </a:extLst>
              </p:cNvPr>
              <p:cNvSpPr/>
              <p:nvPr/>
            </p:nvSpPr>
            <p:spPr>
              <a:xfrm>
                <a:off x="8695579" y="4442600"/>
                <a:ext cx="2982260" cy="1011094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rgbClr val="0033CC"/>
                    </a:solidFill>
                  </a:rPr>
                  <a:t>Accuracy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8ECB10FE-663E-481B-83C8-1E2C5DC41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579" y="4442600"/>
                <a:ext cx="2982260" cy="1011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74040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Confusion Matrix : 4</a:t>
            </a:r>
            <a:r>
              <a:rPr lang="ko-KR" altLang="en-US" sz="2000" b="1" dirty="0"/>
              <a:t>가지 예측 결과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CEF37F-67F9-4DFB-9246-44BE8648C933}"/>
              </a:ext>
            </a:extLst>
          </p:cNvPr>
          <p:cNvGrpSpPr/>
          <p:nvPr/>
        </p:nvGrpSpPr>
        <p:grpSpPr>
          <a:xfrm>
            <a:off x="274320" y="868680"/>
            <a:ext cx="11438304" cy="5512648"/>
            <a:chOff x="274320" y="868680"/>
            <a:chExt cx="8503920" cy="3749040"/>
          </a:xfrm>
        </p:grpSpPr>
        <p:sp>
          <p:nvSpPr>
            <p:cNvPr id="33" name="Shape 1">
              <a:extLst>
                <a:ext uri="{FF2B5EF4-FFF2-40B4-BE49-F238E27FC236}">
                  <a16:creationId xmlns:a16="http://schemas.microsoft.com/office/drawing/2014/main" id="{0F6B3199-E9AF-4C81-A306-85B400FC0C5B}"/>
                </a:ext>
              </a:extLst>
            </p:cNvPr>
            <p:cNvSpPr/>
            <p:nvPr/>
          </p:nvSpPr>
          <p:spPr>
            <a:xfrm>
              <a:off x="274320" y="868680"/>
              <a:ext cx="4023360" cy="178308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6A34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49E80777-8243-4582-9A0F-D4ACE5591BBF}"/>
                </a:ext>
              </a:extLst>
            </p:cNvPr>
            <p:cNvSpPr/>
            <p:nvPr/>
          </p:nvSpPr>
          <p:spPr>
            <a:xfrm>
              <a:off x="274320" y="868680"/>
              <a:ext cx="4023360" cy="384048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437B7D2B-122F-4C3C-9E4F-93F819EEF633}"/>
                </a:ext>
              </a:extLst>
            </p:cNvPr>
            <p:cNvSpPr/>
            <p:nvPr/>
          </p:nvSpPr>
          <p:spPr>
            <a:xfrm>
              <a:off x="365760" y="86868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TP  True Positive</a:t>
              </a:r>
              <a:endParaRPr lang="en-US" sz="2800" dirty="0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5AE60263-82AF-4CAB-ADA8-2023311D0B26}"/>
                </a:ext>
              </a:extLst>
            </p:cNvPr>
            <p:cNvSpPr/>
            <p:nvPr/>
          </p:nvSpPr>
          <p:spPr>
            <a:xfrm>
              <a:off x="365760" y="127101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진짜 양성</a:t>
              </a:r>
              <a:endParaRPr lang="en-US" sz="2000" dirty="0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EAA74B22-C136-48CA-AAC8-C468718FA054}"/>
                </a:ext>
              </a:extLst>
            </p:cNvPr>
            <p:cNvSpPr/>
            <p:nvPr/>
          </p:nvSpPr>
          <p:spPr>
            <a:xfrm>
              <a:off x="365760" y="1545336"/>
              <a:ext cx="2010924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실제: Positive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예측: Positive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정확히 맞음 [O]</a:t>
              </a:r>
              <a:endParaRPr lang="en-US" sz="2400" dirty="0"/>
            </a:p>
          </p:txBody>
        </p:sp>
        <p:sp>
          <p:nvSpPr>
            <p:cNvPr id="42" name="Text 6">
              <a:extLst>
                <a:ext uri="{FF2B5EF4-FFF2-40B4-BE49-F238E27FC236}">
                  <a16:creationId xmlns:a16="http://schemas.microsoft.com/office/drawing/2014/main" id="{2610FFE0-304C-4066-9847-2E88BC90EC48}"/>
                </a:ext>
              </a:extLst>
            </p:cNvPr>
            <p:cNvSpPr/>
            <p:nvPr/>
          </p:nvSpPr>
          <p:spPr>
            <a:xfrm>
              <a:off x="2468125" y="1545336"/>
              <a:ext cx="192024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예) 실제 가스 위험</a:t>
              </a:r>
              <a:endParaRPr lang="en-US" dirty="0"/>
            </a:p>
            <a:p>
              <a:pPr marL="0" indent="0">
                <a:buNone/>
              </a:pPr>
              <a:r>
                <a:rPr lang="en-US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모델도 '위험' 예측</a:t>
              </a:r>
              <a:endParaRPr lang="en-US" dirty="0"/>
            </a:p>
            <a:p>
              <a:pPr marL="0" indent="0">
                <a:buNone/>
              </a:pPr>
              <a:r>
                <a:rPr lang="en-US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정확히 탐지!</a:t>
              </a:r>
              <a:endParaRPr lang="en-US" dirty="0"/>
            </a:p>
          </p:txBody>
        </p: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A7746C9C-823F-4A07-90A8-200640BC39CD}"/>
                </a:ext>
              </a:extLst>
            </p:cNvPr>
            <p:cNvSpPr/>
            <p:nvPr/>
          </p:nvSpPr>
          <p:spPr>
            <a:xfrm>
              <a:off x="4754880" y="868680"/>
              <a:ext cx="4023360" cy="178308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DC262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2AE2FDFA-BACB-4626-BA84-EA684FA08CBE}"/>
                </a:ext>
              </a:extLst>
            </p:cNvPr>
            <p:cNvSpPr/>
            <p:nvPr/>
          </p:nvSpPr>
          <p:spPr>
            <a:xfrm>
              <a:off x="4754880" y="868680"/>
              <a:ext cx="4023360" cy="38404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45" name="Text 9">
              <a:extLst>
                <a:ext uri="{FF2B5EF4-FFF2-40B4-BE49-F238E27FC236}">
                  <a16:creationId xmlns:a16="http://schemas.microsoft.com/office/drawing/2014/main" id="{84E4731D-2ADB-4352-A632-C9520085CE06}"/>
                </a:ext>
              </a:extLst>
            </p:cNvPr>
            <p:cNvSpPr/>
            <p:nvPr/>
          </p:nvSpPr>
          <p:spPr>
            <a:xfrm>
              <a:off x="4846320" y="86868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FN  False Negative</a:t>
              </a:r>
              <a:endParaRPr lang="en-US" sz="2800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302216E8-E03C-4D5C-9FCC-77A6241EA515}"/>
                </a:ext>
              </a:extLst>
            </p:cNvPr>
            <p:cNvSpPr/>
            <p:nvPr/>
          </p:nvSpPr>
          <p:spPr>
            <a:xfrm>
              <a:off x="4846320" y="127101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거짓 음성 (Miss / 미탐)</a:t>
              </a:r>
              <a:endParaRPr lang="en-US" sz="2000" dirty="0"/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E8BDEB71-270E-4EB2-9F54-8015C8D01B6A}"/>
                </a:ext>
              </a:extLst>
            </p:cNvPr>
            <p:cNvSpPr/>
            <p:nvPr/>
          </p:nvSpPr>
          <p:spPr>
            <a:xfrm>
              <a:off x="4846320" y="1545336"/>
              <a:ext cx="2004658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실제: Positive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예측: Negative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위험을 놓침 [X]</a:t>
              </a:r>
              <a:endParaRPr lang="en-US" sz="2400" dirty="0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64352B3C-8FD4-418E-B8B5-600099D1E801}"/>
                </a:ext>
              </a:extLst>
            </p:cNvPr>
            <p:cNvSpPr/>
            <p:nvPr/>
          </p:nvSpPr>
          <p:spPr>
            <a:xfrm>
              <a:off x="6766560" y="1545336"/>
              <a:ext cx="192024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예) 실제 가스 위험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모델이 '정상' 예측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치명적 오류! [!]</a:t>
              </a:r>
              <a:endParaRPr lang="en-US" sz="2000" dirty="0"/>
            </a:p>
          </p:txBody>
        </p:sp>
        <p:sp>
          <p:nvSpPr>
            <p:cNvPr id="49" name="Shape 13">
              <a:extLst>
                <a:ext uri="{FF2B5EF4-FFF2-40B4-BE49-F238E27FC236}">
                  <a16:creationId xmlns:a16="http://schemas.microsoft.com/office/drawing/2014/main" id="{B29552FA-FA2F-43EA-890C-285D6D22AF14}"/>
                </a:ext>
              </a:extLst>
            </p:cNvPr>
            <p:cNvSpPr/>
            <p:nvPr/>
          </p:nvSpPr>
          <p:spPr>
            <a:xfrm>
              <a:off x="274320" y="2834640"/>
              <a:ext cx="4023360" cy="178308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D9770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0" name="Shape 14">
              <a:extLst>
                <a:ext uri="{FF2B5EF4-FFF2-40B4-BE49-F238E27FC236}">
                  <a16:creationId xmlns:a16="http://schemas.microsoft.com/office/drawing/2014/main" id="{E93025E0-6675-4187-AAC6-4511B027A242}"/>
                </a:ext>
              </a:extLst>
            </p:cNvPr>
            <p:cNvSpPr/>
            <p:nvPr/>
          </p:nvSpPr>
          <p:spPr>
            <a:xfrm>
              <a:off x="274320" y="2834640"/>
              <a:ext cx="4023360" cy="384048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7EB11D50-99D6-4895-8219-F3C354213914}"/>
                </a:ext>
              </a:extLst>
            </p:cNvPr>
            <p:cNvSpPr/>
            <p:nvPr/>
          </p:nvSpPr>
          <p:spPr>
            <a:xfrm>
              <a:off x="365760" y="283464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FP  False Positive</a:t>
              </a:r>
              <a:endParaRPr lang="en-US" sz="2800" dirty="0"/>
            </a:p>
          </p:txBody>
        </p:sp>
        <p:sp>
          <p:nvSpPr>
            <p:cNvPr id="52" name="Text 16">
              <a:extLst>
                <a:ext uri="{FF2B5EF4-FFF2-40B4-BE49-F238E27FC236}">
                  <a16:creationId xmlns:a16="http://schemas.microsoft.com/office/drawing/2014/main" id="{B37E49A1-29F9-46E7-8E4D-6B6B6EBC4D52}"/>
                </a:ext>
              </a:extLst>
            </p:cNvPr>
            <p:cNvSpPr/>
            <p:nvPr/>
          </p:nvSpPr>
          <p:spPr>
            <a:xfrm>
              <a:off x="365760" y="323697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거짓 양성 (False Alarm / 오탐)</a:t>
              </a:r>
              <a:endParaRPr lang="en-US" sz="2000" dirty="0"/>
            </a:p>
          </p:txBody>
        </p:sp>
        <p:sp>
          <p:nvSpPr>
            <p:cNvPr id="53" name="Text 17">
              <a:extLst>
                <a:ext uri="{FF2B5EF4-FFF2-40B4-BE49-F238E27FC236}">
                  <a16:creationId xmlns:a16="http://schemas.microsoft.com/office/drawing/2014/main" id="{2CC25A4B-FC3D-4EED-A23A-6C26B5F2CD55}"/>
                </a:ext>
              </a:extLst>
            </p:cNvPr>
            <p:cNvSpPr/>
            <p:nvPr/>
          </p:nvSpPr>
          <p:spPr>
            <a:xfrm>
              <a:off x="365760" y="3511296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실제: Negative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예측: Positive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헛경보 [X]</a:t>
              </a:r>
              <a:endParaRPr lang="en-US" sz="2400" dirty="0"/>
            </a:p>
          </p:txBody>
        </p:sp>
        <p:sp>
          <p:nvSpPr>
            <p:cNvPr id="54" name="Text 18">
              <a:extLst>
                <a:ext uri="{FF2B5EF4-FFF2-40B4-BE49-F238E27FC236}">
                  <a16:creationId xmlns:a16="http://schemas.microsoft.com/office/drawing/2014/main" id="{E161512C-1AA6-47A0-9C42-AEB152B4C194}"/>
                </a:ext>
              </a:extLst>
            </p:cNvPr>
            <p:cNvSpPr/>
            <p:nvPr/>
          </p:nvSpPr>
          <p:spPr>
            <a:xfrm>
              <a:off x="2286000" y="3511296"/>
              <a:ext cx="192024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예) 실제 정상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모델이 '위험' 예측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불필요한 경보</a:t>
              </a:r>
              <a:endParaRPr lang="en-US" sz="2000" dirty="0"/>
            </a:p>
          </p:txBody>
        </p:sp>
        <p:sp>
          <p:nvSpPr>
            <p:cNvPr id="55" name="Shape 19">
              <a:extLst>
                <a:ext uri="{FF2B5EF4-FFF2-40B4-BE49-F238E27FC236}">
                  <a16:creationId xmlns:a16="http://schemas.microsoft.com/office/drawing/2014/main" id="{84F00C68-9320-439D-94F0-0CE225036F7E}"/>
                </a:ext>
              </a:extLst>
            </p:cNvPr>
            <p:cNvSpPr/>
            <p:nvPr/>
          </p:nvSpPr>
          <p:spPr>
            <a:xfrm>
              <a:off x="4754880" y="2834640"/>
              <a:ext cx="4023360" cy="178308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6" name="Shape 20">
              <a:extLst>
                <a:ext uri="{FF2B5EF4-FFF2-40B4-BE49-F238E27FC236}">
                  <a16:creationId xmlns:a16="http://schemas.microsoft.com/office/drawing/2014/main" id="{7BDAEE00-88FC-4E62-9271-0FA5E13E48A9}"/>
                </a:ext>
              </a:extLst>
            </p:cNvPr>
            <p:cNvSpPr/>
            <p:nvPr/>
          </p:nvSpPr>
          <p:spPr>
            <a:xfrm>
              <a:off x="4754880" y="2834640"/>
              <a:ext cx="4023360" cy="38404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0B097B2F-0E8F-4C93-A4BA-5F7B619BFFD0}"/>
                </a:ext>
              </a:extLst>
            </p:cNvPr>
            <p:cNvSpPr/>
            <p:nvPr/>
          </p:nvSpPr>
          <p:spPr>
            <a:xfrm>
              <a:off x="4846320" y="283464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TN  True Negative</a:t>
              </a:r>
              <a:endParaRPr lang="en-US" sz="2800" dirty="0"/>
            </a:p>
          </p:txBody>
        </p:sp>
        <p:sp>
          <p:nvSpPr>
            <p:cNvPr id="58" name="Text 22">
              <a:extLst>
                <a:ext uri="{FF2B5EF4-FFF2-40B4-BE49-F238E27FC236}">
                  <a16:creationId xmlns:a16="http://schemas.microsoft.com/office/drawing/2014/main" id="{1DE56118-09C2-4DF5-B598-A9CF4615892B}"/>
                </a:ext>
              </a:extLst>
            </p:cNvPr>
            <p:cNvSpPr/>
            <p:nvPr/>
          </p:nvSpPr>
          <p:spPr>
            <a:xfrm>
              <a:off x="4846320" y="3236976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진짜 음성</a:t>
              </a:r>
              <a:endParaRPr lang="en-US" sz="2000" dirty="0"/>
            </a:p>
          </p:txBody>
        </p:sp>
        <p:sp>
          <p:nvSpPr>
            <p:cNvPr id="59" name="Text 23">
              <a:extLst>
                <a:ext uri="{FF2B5EF4-FFF2-40B4-BE49-F238E27FC236}">
                  <a16:creationId xmlns:a16="http://schemas.microsoft.com/office/drawing/2014/main" id="{CA18CDC1-6E00-4C5B-A356-8EF9FE8CD169}"/>
                </a:ext>
              </a:extLst>
            </p:cNvPr>
            <p:cNvSpPr/>
            <p:nvPr/>
          </p:nvSpPr>
          <p:spPr>
            <a:xfrm>
              <a:off x="4846320" y="3511296"/>
              <a:ext cx="2004658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실제: Negative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예측: Negative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정확히 맞음 [O]</a:t>
              </a:r>
              <a:endParaRPr lang="en-US" sz="2400" dirty="0"/>
            </a:p>
          </p:txBody>
        </p:sp>
        <p:sp>
          <p:nvSpPr>
            <p:cNvPr id="60" name="Text 24">
              <a:extLst>
                <a:ext uri="{FF2B5EF4-FFF2-40B4-BE49-F238E27FC236}">
                  <a16:creationId xmlns:a16="http://schemas.microsoft.com/office/drawing/2014/main" id="{BF4310D5-075B-4B46-9CEF-A9192745C5F5}"/>
                </a:ext>
              </a:extLst>
            </p:cNvPr>
            <p:cNvSpPr/>
            <p:nvPr/>
          </p:nvSpPr>
          <p:spPr>
            <a:xfrm>
              <a:off x="6766560" y="3511296"/>
              <a:ext cx="192024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예) 실제 정상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모델도 '정상' 예측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올바른 판단!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7392939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Confusion Matrix : 4</a:t>
            </a:r>
            <a:r>
              <a:rPr lang="ko-KR" altLang="en-US" sz="2000" b="1" dirty="0"/>
              <a:t>가지 성능 지표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29E81C5-2C4E-49D7-B187-4760F1144288}"/>
              </a:ext>
            </a:extLst>
          </p:cNvPr>
          <p:cNvGrpSpPr/>
          <p:nvPr/>
        </p:nvGrpSpPr>
        <p:grpSpPr>
          <a:xfrm>
            <a:off x="274320" y="868680"/>
            <a:ext cx="11510312" cy="5440640"/>
            <a:chOff x="274320" y="868680"/>
            <a:chExt cx="8549640" cy="3977640"/>
          </a:xfrm>
        </p:grpSpPr>
        <p:sp>
          <p:nvSpPr>
            <p:cNvPr id="28" name="Shape 1">
              <a:extLst>
                <a:ext uri="{FF2B5EF4-FFF2-40B4-BE49-F238E27FC236}">
                  <a16:creationId xmlns:a16="http://schemas.microsoft.com/office/drawing/2014/main" id="{AD144666-B199-4D67-9C50-031B3583D54B}"/>
                </a:ext>
              </a:extLst>
            </p:cNvPr>
            <p:cNvSpPr/>
            <p:nvPr/>
          </p:nvSpPr>
          <p:spPr>
            <a:xfrm>
              <a:off x="274320" y="868680"/>
              <a:ext cx="4114800" cy="1920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E5FA3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8C771918-FF8F-4AAC-8EA5-0193C3EB018C}"/>
                </a:ext>
              </a:extLst>
            </p:cNvPr>
            <p:cNvSpPr/>
            <p:nvPr/>
          </p:nvSpPr>
          <p:spPr>
            <a:xfrm>
              <a:off x="274320" y="868680"/>
              <a:ext cx="109728" cy="1920240"/>
            </a:xfrm>
            <a:prstGeom prst="rect">
              <a:avLst/>
            </a:prstGeom>
            <a:solidFill>
              <a:srgbClr val="2E5FA3"/>
            </a:solidFill>
            <a:ln w="12700">
              <a:solidFill>
                <a:srgbClr val="2E5FA3"/>
              </a:solidFill>
              <a:prstDash val="solid"/>
            </a:ln>
          </p:spPr>
        </p:sp>
        <p:sp>
          <p:nvSpPr>
            <p:cNvPr id="30" name="Text 3">
              <a:extLst>
                <a:ext uri="{FF2B5EF4-FFF2-40B4-BE49-F238E27FC236}">
                  <a16:creationId xmlns:a16="http://schemas.microsoft.com/office/drawing/2014/main" id="{B547BBD0-FEB7-4F8F-BDDB-0862B24071D0}"/>
                </a:ext>
              </a:extLst>
            </p:cNvPr>
            <p:cNvSpPr/>
            <p:nvPr/>
          </p:nvSpPr>
          <p:spPr>
            <a:xfrm>
              <a:off x="475488" y="9601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E5F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Precision (정밀도)</a:t>
              </a:r>
              <a:endParaRPr lang="en-US" sz="2000" dirty="0"/>
            </a:p>
          </p:txBody>
        </p:sp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2144F465-2FFE-4CD4-AE8B-5F3AE449AE0C}"/>
                </a:ext>
              </a:extLst>
            </p:cNvPr>
            <p:cNvSpPr/>
            <p:nvPr/>
          </p:nvSpPr>
          <p:spPr>
            <a:xfrm>
              <a:off x="475488" y="1325880"/>
              <a:ext cx="3822192" cy="347472"/>
            </a:xfrm>
            <a:prstGeom prst="rect">
              <a:avLst/>
            </a:prstGeom>
            <a:solidFill>
              <a:srgbClr val="E8EDF5"/>
            </a:solidFill>
            <a:ln w="12700">
              <a:solidFill>
                <a:srgbClr val="E8EDF5"/>
              </a:solidFill>
              <a:prstDash val="solid"/>
            </a:ln>
          </p:spPr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797DD1E8-8070-4BC5-A386-D12075E833C5}"/>
                </a:ext>
              </a:extLst>
            </p:cNvPr>
            <p:cNvSpPr/>
            <p:nvPr/>
          </p:nvSpPr>
          <p:spPr>
            <a:xfrm>
              <a:off x="475488" y="132588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TP / (TP + FP)</a:t>
              </a:r>
              <a:endParaRPr lang="en-US" sz="2000" dirty="0"/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44C2397E-2001-44BC-8F0D-10F01B0DF587}"/>
                </a:ext>
              </a:extLst>
            </p:cNvPr>
            <p:cNvSpPr/>
            <p:nvPr/>
          </p:nvSpPr>
          <p:spPr>
            <a:xfrm>
              <a:off x="475488" y="1737360"/>
              <a:ext cx="3822192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모델이 Positive로 예측한 것 중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실제로 Positive인 비율</a:t>
              </a:r>
              <a:endParaRPr lang="en-US" sz="20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F84D30F6-6398-4FB1-90F3-2056A019D418}"/>
                </a:ext>
              </a:extLst>
            </p:cNvPr>
            <p:cNvSpPr/>
            <p:nvPr/>
          </p:nvSpPr>
          <p:spPr>
            <a:xfrm>
              <a:off x="475488" y="23317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[TIP] 낮으면 → 헛경보(FP)가 많음</a:t>
              </a:r>
              <a:endParaRPr lang="en-US" dirty="0"/>
            </a:p>
          </p:txBody>
        </p:sp>
        <p:sp>
          <p:nvSpPr>
            <p:cNvPr id="37" name="Shape 8">
              <a:extLst>
                <a:ext uri="{FF2B5EF4-FFF2-40B4-BE49-F238E27FC236}">
                  <a16:creationId xmlns:a16="http://schemas.microsoft.com/office/drawing/2014/main" id="{7DC4E4F1-229F-4A45-98A4-B28485E279B6}"/>
                </a:ext>
              </a:extLst>
            </p:cNvPr>
            <p:cNvSpPr/>
            <p:nvPr/>
          </p:nvSpPr>
          <p:spPr>
            <a:xfrm>
              <a:off x="4709160" y="868680"/>
              <a:ext cx="4114800" cy="1920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DC262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8" name="Shape 9">
              <a:extLst>
                <a:ext uri="{FF2B5EF4-FFF2-40B4-BE49-F238E27FC236}">
                  <a16:creationId xmlns:a16="http://schemas.microsoft.com/office/drawing/2014/main" id="{84DCC7CC-7ABD-4828-9096-5511D3EF1498}"/>
                </a:ext>
              </a:extLst>
            </p:cNvPr>
            <p:cNvSpPr/>
            <p:nvPr/>
          </p:nvSpPr>
          <p:spPr>
            <a:xfrm>
              <a:off x="4709160" y="868680"/>
              <a:ext cx="109728" cy="192024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61" name="Text 10">
              <a:extLst>
                <a:ext uri="{FF2B5EF4-FFF2-40B4-BE49-F238E27FC236}">
                  <a16:creationId xmlns:a16="http://schemas.microsoft.com/office/drawing/2014/main" id="{1FCD822A-5CB9-4090-B208-18CF4B2DA0AF}"/>
                </a:ext>
              </a:extLst>
            </p:cNvPr>
            <p:cNvSpPr/>
            <p:nvPr/>
          </p:nvSpPr>
          <p:spPr>
            <a:xfrm>
              <a:off x="4910328" y="9601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Recall / TPR (재현율)</a:t>
              </a:r>
              <a:endParaRPr lang="en-US" sz="2000" dirty="0"/>
            </a:p>
          </p:txBody>
        </p:sp>
        <p:sp>
          <p:nvSpPr>
            <p:cNvPr id="62" name="Shape 11">
              <a:extLst>
                <a:ext uri="{FF2B5EF4-FFF2-40B4-BE49-F238E27FC236}">
                  <a16:creationId xmlns:a16="http://schemas.microsoft.com/office/drawing/2014/main" id="{1E55F40C-AC70-4101-ADA8-568A3488DB7D}"/>
                </a:ext>
              </a:extLst>
            </p:cNvPr>
            <p:cNvSpPr/>
            <p:nvPr/>
          </p:nvSpPr>
          <p:spPr>
            <a:xfrm>
              <a:off x="4910328" y="1325880"/>
              <a:ext cx="3822192" cy="347472"/>
            </a:xfrm>
            <a:prstGeom prst="rect">
              <a:avLst/>
            </a:prstGeom>
            <a:solidFill>
              <a:srgbClr val="E8EDF5"/>
            </a:solidFill>
            <a:ln w="12700">
              <a:solidFill>
                <a:srgbClr val="E8EDF5"/>
              </a:solidFill>
              <a:prstDash val="solid"/>
            </a:ln>
          </p:spPr>
        </p:sp>
        <p:sp>
          <p:nvSpPr>
            <p:cNvPr id="63" name="Text 12">
              <a:extLst>
                <a:ext uri="{FF2B5EF4-FFF2-40B4-BE49-F238E27FC236}">
                  <a16:creationId xmlns:a16="http://schemas.microsoft.com/office/drawing/2014/main" id="{9ECD7824-6628-4A49-85FC-AB356D491FD0}"/>
                </a:ext>
              </a:extLst>
            </p:cNvPr>
            <p:cNvSpPr/>
            <p:nvPr/>
          </p:nvSpPr>
          <p:spPr>
            <a:xfrm>
              <a:off x="4910328" y="132588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TP / (TP + FN)</a:t>
              </a:r>
              <a:endParaRPr lang="en-US" sz="2000" dirty="0"/>
            </a:p>
          </p:txBody>
        </p:sp>
        <p:sp>
          <p:nvSpPr>
            <p:cNvPr id="64" name="Text 13">
              <a:extLst>
                <a:ext uri="{FF2B5EF4-FFF2-40B4-BE49-F238E27FC236}">
                  <a16:creationId xmlns:a16="http://schemas.microsoft.com/office/drawing/2014/main" id="{9DC4BC26-FA67-4E7A-B6E9-AC3F0F7CD8DD}"/>
                </a:ext>
              </a:extLst>
            </p:cNvPr>
            <p:cNvSpPr/>
            <p:nvPr/>
          </p:nvSpPr>
          <p:spPr>
            <a:xfrm>
              <a:off x="4910328" y="1737360"/>
              <a:ext cx="3822192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Positive 중에서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모델이 Positive로 맞힌 비율</a:t>
              </a:r>
              <a:endParaRPr lang="en-US" sz="2000" dirty="0"/>
            </a:p>
          </p:txBody>
        </p:sp>
        <p:sp>
          <p:nvSpPr>
            <p:cNvPr id="65" name="Text 14">
              <a:extLst>
                <a:ext uri="{FF2B5EF4-FFF2-40B4-BE49-F238E27FC236}">
                  <a16:creationId xmlns:a16="http://schemas.microsoft.com/office/drawing/2014/main" id="{5E2D4D94-245D-483E-8F02-63E241AB79D4}"/>
                </a:ext>
              </a:extLst>
            </p:cNvPr>
            <p:cNvSpPr/>
            <p:nvPr/>
          </p:nvSpPr>
          <p:spPr>
            <a:xfrm>
              <a:off x="4910328" y="23317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[TIP] 낮으면 → 위험을 놓침(FN) 많음</a:t>
              </a:r>
              <a:endParaRPr lang="en-US" dirty="0"/>
            </a:p>
          </p:txBody>
        </p:sp>
        <p:sp>
          <p:nvSpPr>
            <p:cNvPr id="66" name="Shape 15">
              <a:extLst>
                <a:ext uri="{FF2B5EF4-FFF2-40B4-BE49-F238E27FC236}">
                  <a16:creationId xmlns:a16="http://schemas.microsoft.com/office/drawing/2014/main" id="{6C916D23-7B66-44F1-B505-9DFD0000F6B2}"/>
                </a:ext>
              </a:extLst>
            </p:cNvPr>
            <p:cNvSpPr/>
            <p:nvPr/>
          </p:nvSpPr>
          <p:spPr>
            <a:xfrm>
              <a:off x="274320" y="2926080"/>
              <a:ext cx="4114800" cy="1920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D9488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7" name="Shape 16">
              <a:extLst>
                <a:ext uri="{FF2B5EF4-FFF2-40B4-BE49-F238E27FC236}">
                  <a16:creationId xmlns:a16="http://schemas.microsoft.com/office/drawing/2014/main" id="{B7DB65FB-6D07-425D-9F4D-0955D8ABFE8A}"/>
                </a:ext>
              </a:extLst>
            </p:cNvPr>
            <p:cNvSpPr/>
            <p:nvPr/>
          </p:nvSpPr>
          <p:spPr>
            <a:xfrm>
              <a:off x="274320" y="2926080"/>
              <a:ext cx="109728" cy="192024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68" name="Text 17">
              <a:extLst>
                <a:ext uri="{FF2B5EF4-FFF2-40B4-BE49-F238E27FC236}">
                  <a16:creationId xmlns:a16="http://schemas.microsoft.com/office/drawing/2014/main" id="{E910BFC8-44A6-4CA7-9053-FF5448C46268}"/>
                </a:ext>
              </a:extLst>
            </p:cNvPr>
            <p:cNvSpPr/>
            <p:nvPr/>
          </p:nvSpPr>
          <p:spPr>
            <a:xfrm>
              <a:off x="475488" y="30175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 (정확도)</a:t>
              </a:r>
              <a:endParaRPr lang="en-US" sz="2000" dirty="0"/>
            </a:p>
          </p:txBody>
        </p:sp>
        <p:sp>
          <p:nvSpPr>
            <p:cNvPr id="69" name="Shape 18">
              <a:extLst>
                <a:ext uri="{FF2B5EF4-FFF2-40B4-BE49-F238E27FC236}">
                  <a16:creationId xmlns:a16="http://schemas.microsoft.com/office/drawing/2014/main" id="{4EC18798-92AC-4651-A628-3092FCAB3691}"/>
                </a:ext>
              </a:extLst>
            </p:cNvPr>
            <p:cNvSpPr/>
            <p:nvPr/>
          </p:nvSpPr>
          <p:spPr>
            <a:xfrm>
              <a:off x="475488" y="3383280"/>
              <a:ext cx="3822192" cy="347472"/>
            </a:xfrm>
            <a:prstGeom prst="rect">
              <a:avLst/>
            </a:prstGeom>
            <a:solidFill>
              <a:srgbClr val="E8EDF5"/>
            </a:solidFill>
            <a:ln w="12700">
              <a:solidFill>
                <a:srgbClr val="E8EDF5"/>
              </a:solidFill>
              <a:prstDash val="solid"/>
            </a:ln>
          </p:spPr>
        </p:sp>
        <p:sp>
          <p:nvSpPr>
            <p:cNvPr id="70" name="Text 19">
              <a:extLst>
                <a:ext uri="{FF2B5EF4-FFF2-40B4-BE49-F238E27FC236}">
                  <a16:creationId xmlns:a16="http://schemas.microsoft.com/office/drawing/2014/main" id="{A120AEAE-7AC8-47C8-8AF3-C97B16A49630}"/>
                </a:ext>
              </a:extLst>
            </p:cNvPr>
            <p:cNvSpPr/>
            <p:nvPr/>
          </p:nvSpPr>
          <p:spPr>
            <a:xfrm>
              <a:off x="475488" y="338328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(TP + TN) / (TP+TN+FP+FN)</a:t>
              </a:r>
              <a:endParaRPr lang="en-US" sz="2000" dirty="0"/>
            </a:p>
          </p:txBody>
        </p:sp>
        <p:sp>
          <p:nvSpPr>
            <p:cNvPr id="71" name="Text 20">
              <a:extLst>
                <a:ext uri="{FF2B5EF4-FFF2-40B4-BE49-F238E27FC236}">
                  <a16:creationId xmlns:a16="http://schemas.microsoft.com/office/drawing/2014/main" id="{7EAB4E32-5BCD-47BD-9DFF-A22D75FAAAF6}"/>
                </a:ext>
              </a:extLst>
            </p:cNvPr>
            <p:cNvSpPr/>
            <p:nvPr/>
          </p:nvSpPr>
          <p:spPr>
            <a:xfrm>
              <a:off x="475488" y="3794760"/>
              <a:ext cx="3822192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전체 예측 중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맞게 예측한 비율</a:t>
              </a:r>
              <a:endParaRPr lang="en-US" sz="2000" dirty="0"/>
            </a:p>
          </p:txBody>
        </p:sp>
        <p:sp>
          <p:nvSpPr>
            <p:cNvPr id="72" name="Text 21">
              <a:extLst>
                <a:ext uri="{FF2B5EF4-FFF2-40B4-BE49-F238E27FC236}">
                  <a16:creationId xmlns:a16="http://schemas.microsoft.com/office/drawing/2014/main" id="{BB4C9589-87AB-4C7D-9F40-917EDA883BF4}"/>
                </a:ext>
              </a:extLst>
            </p:cNvPr>
            <p:cNvSpPr/>
            <p:nvPr/>
          </p:nvSpPr>
          <p:spPr>
            <a:xfrm>
              <a:off x="475488" y="43891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[TIP] 불균형 데이터에선 신뢰 못함</a:t>
              </a:r>
              <a:endParaRPr lang="en-US" dirty="0"/>
            </a:p>
          </p:txBody>
        </p:sp>
        <p:sp>
          <p:nvSpPr>
            <p:cNvPr id="73" name="Shape 22">
              <a:extLst>
                <a:ext uri="{FF2B5EF4-FFF2-40B4-BE49-F238E27FC236}">
                  <a16:creationId xmlns:a16="http://schemas.microsoft.com/office/drawing/2014/main" id="{78F4F864-2539-4D89-9DD6-3963B0ACE978}"/>
                </a:ext>
              </a:extLst>
            </p:cNvPr>
            <p:cNvSpPr/>
            <p:nvPr/>
          </p:nvSpPr>
          <p:spPr>
            <a:xfrm>
              <a:off x="4709160" y="2926080"/>
              <a:ext cx="4114800" cy="1920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7C3AE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4" name="Shape 23">
              <a:extLst>
                <a:ext uri="{FF2B5EF4-FFF2-40B4-BE49-F238E27FC236}">
                  <a16:creationId xmlns:a16="http://schemas.microsoft.com/office/drawing/2014/main" id="{4C12AF65-D8AA-433B-BE88-508CD3A92912}"/>
                </a:ext>
              </a:extLst>
            </p:cNvPr>
            <p:cNvSpPr/>
            <p:nvPr/>
          </p:nvSpPr>
          <p:spPr>
            <a:xfrm>
              <a:off x="4709160" y="2926080"/>
              <a:ext cx="109728" cy="192024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75" name="Text 24">
              <a:extLst>
                <a:ext uri="{FF2B5EF4-FFF2-40B4-BE49-F238E27FC236}">
                  <a16:creationId xmlns:a16="http://schemas.microsoft.com/office/drawing/2014/main" id="{C78DAD74-4F84-45E6-BBEB-EFBFAB423044}"/>
                </a:ext>
              </a:extLst>
            </p:cNvPr>
            <p:cNvSpPr/>
            <p:nvPr/>
          </p:nvSpPr>
          <p:spPr>
            <a:xfrm>
              <a:off x="4910328" y="30175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TNR / Specificity (특이도)</a:t>
              </a:r>
              <a:endParaRPr lang="en-US" sz="2000" dirty="0"/>
            </a:p>
          </p:txBody>
        </p:sp>
        <p:sp>
          <p:nvSpPr>
            <p:cNvPr id="76" name="Shape 25">
              <a:extLst>
                <a:ext uri="{FF2B5EF4-FFF2-40B4-BE49-F238E27FC236}">
                  <a16:creationId xmlns:a16="http://schemas.microsoft.com/office/drawing/2014/main" id="{16CE1537-B430-4376-9481-532ECD70CA8E}"/>
                </a:ext>
              </a:extLst>
            </p:cNvPr>
            <p:cNvSpPr/>
            <p:nvPr/>
          </p:nvSpPr>
          <p:spPr>
            <a:xfrm>
              <a:off x="4910328" y="3383280"/>
              <a:ext cx="3822192" cy="347472"/>
            </a:xfrm>
            <a:prstGeom prst="rect">
              <a:avLst/>
            </a:prstGeom>
            <a:solidFill>
              <a:srgbClr val="E8EDF5"/>
            </a:solidFill>
            <a:ln w="12700">
              <a:solidFill>
                <a:srgbClr val="E8EDF5"/>
              </a:solidFill>
              <a:prstDash val="solid"/>
            </a:ln>
          </p:spPr>
        </p:sp>
        <p:sp>
          <p:nvSpPr>
            <p:cNvPr id="77" name="Text 26">
              <a:extLst>
                <a:ext uri="{FF2B5EF4-FFF2-40B4-BE49-F238E27FC236}">
                  <a16:creationId xmlns:a16="http://schemas.microsoft.com/office/drawing/2014/main" id="{5DA0822D-DB1A-4C84-86AF-25B92FB3DF00}"/>
                </a:ext>
              </a:extLst>
            </p:cNvPr>
            <p:cNvSpPr/>
            <p:nvPr/>
          </p:nvSpPr>
          <p:spPr>
            <a:xfrm>
              <a:off x="4910328" y="338328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TN / (TN + FP)</a:t>
              </a:r>
              <a:endParaRPr lang="en-US" sz="2000" dirty="0"/>
            </a:p>
          </p:txBody>
        </p:sp>
        <p:sp>
          <p:nvSpPr>
            <p:cNvPr id="78" name="Text 27">
              <a:extLst>
                <a:ext uri="{FF2B5EF4-FFF2-40B4-BE49-F238E27FC236}">
                  <a16:creationId xmlns:a16="http://schemas.microsoft.com/office/drawing/2014/main" id="{AB2FEEE6-01F9-495A-858C-5161F7DD4E4A}"/>
                </a:ext>
              </a:extLst>
            </p:cNvPr>
            <p:cNvSpPr/>
            <p:nvPr/>
          </p:nvSpPr>
          <p:spPr>
            <a:xfrm>
              <a:off x="4910328" y="3794760"/>
              <a:ext cx="3822192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Negative 중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모델이 Negative로 맞힌 비율</a:t>
              </a:r>
              <a:endParaRPr lang="en-US" sz="2000" dirty="0"/>
            </a:p>
          </p:txBody>
        </p:sp>
        <p:sp>
          <p:nvSpPr>
            <p:cNvPr id="79" name="Text 28">
              <a:extLst>
                <a:ext uri="{FF2B5EF4-FFF2-40B4-BE49-F238E27FC236}">
                  <a16:creationId xmlns:a16="http://schemas.microsoft.com/office/drawing/2014/main" id="{53FA356A-898F-45A1-B656-1A967629E3F0}"/>
                </a:ext>
              </a:extLst>
            </p:cNvPr>
            <p:cNvSpPr/>
            <p:nvPr/>
          </p:nvSpPr>
          <p:spPr>
            <a:xfrm>
              <a:off x="4910328" y="4389120"/>
              <a:ext cx="382219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[TIP] 정상 상황을 정상으로 판단하는 능력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50126629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607260"/>
            <a:ext cx="11449272" cy="5630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문제 예시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74625" marR="0" lvl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+mn-ea"/>
              </a:rPr>
              <a:t>- 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총 100명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실제 암 환자 20명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모델이 암이라고 판단한 사람 30명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그중 실제 암 환자 15명 </a:t>
            </a:r>
            <a:endParaRPr lang="en-US" altLang="ko-KR" b="1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b="1" dirty="0">
                <a:latin typeface="+mn-ea"/>
              </a:rPr>
              <a:t>Accuracy,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Precision,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Recall,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F1-Score</a:t>
            </a:r>
            <a:r>
              <a:rPr lang="ko-KR" altLang="en-US" b="1" dirty="0">
                <a:latin typeface="+mn-ea"/>
              </a:rPr>
              <a:t>를 </a:t>
            </a:r>
            <a:r>
              <a:rPr lang="ko-KR" altLang="en-US" b="1" dirty="0" err="1">
                <a:latin typeface="+mn-ea"/>
              </a:rPr>
              <a:t>구하시오</a:t>
            </a:r>
            <a:r>
              <a:rPr lang="en-US" altLang="ko-KR" b="1" dirty="0">
                <a:latin typeface="+mn-ea"/>
              </a:rPr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풀이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TP = </a:t>
            </a:r>
            <a:r>
              <a:rPr lang="ko-KR" altLang="en-US" dirty="0">
                <a:latin typeface="+mn-ea"/>
              </a:rPr>
              <a:t>맞춘 암 </a:t>
            </a:r>
            <a:r>
              <a:rPr lang="en-US" altLang="ko-KR" dirty="0">
                <a:latin typeface="+mn-ea"/>
              </a:rPr>
              <a:t>= 15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FP = </a:t>
            </a:r>
            <a:r>
              <a:rPr lang="ko-KR" altLang="en-US" dirty="0">
                <a:latin typeface="+mn-ea"/>
              </a:rPr>
              <a:t>판단 암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맞춘 암 </a:t>
            </a:r>
            <a:r>
              <a:rPr lang="en-US" altLang="ko-KR" dirty="0">
                <a:latin typeface="+mn-ea"/>
              </a:rPr>
              <a:t>= 30-15=15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FN =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실제 암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–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맞춘 암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= 20-15= 5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  TN =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전차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– (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맞춘 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+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정상인데 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+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암인데 정상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 = 100-(15+15+5) = 65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Accuracy =  (TP+TN)/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전체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 (15+65)/100 = 80%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Precision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 </a:t>
            </a:r>
            <a:r>
              <a:rPr lang="en-US" altLang="ko-KR" dirty="0">
                <a:latin typeface="+mn-ea"/>
              </a:rPr>
              <a:t>TP/(TP+FP) = 15/(15+15) = 50%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Recall = TP/(TP+FN) = 15/(15+5) = 75%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F1-Score = 2x(Precision x Recall)/(Precision + Recall) = 2 x (0.5 x 0.75)/(0.5+0.75) = 0.6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 60%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9335442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607260"/>
            <a:ext cx="11449272" cy="5630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문제 예시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74625" marR="0" lvl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+mn-ea"/>
              </a:rPr>
              <a:t>- 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총 100명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실제 암 환자 20명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모델이 암이라고 판단한 사람 30명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그중 실제 암 환자 15명 </a:t>
            </a:r>
            <a:endParaRPr lang="en-US" altLang="ko-KR" b="1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b="1" dirty="0">
                <a:latin typeface="+mn-ea"/>
              </a:rPr>
              <a:t>Accuracy,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Precision,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Recall,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F1-Score</a:t>
            </a:r>
            <a:r>
              <a:rPr lang="ko-KR" altLang="en-US" b="1" dirty="0">
                <a:latin typeface="+mn-ea"/>
              </a:rPr>
              <a:t>를 </a:t>
            </a:r>
            <a:r>
              <a:rPr lang="ko-KR" altLang="en-US" b="1" dirty="0" err="1">
                <a:latin typeface="+mn-ea"/>
              </a:rPr>
              <a:t>구하시오</a:t>
            </a:r>
            <a:r>
              <a:rPr lang="en-US" altLang="ko-KR" b="1" dirty="0">
                <a:latin typeface="+mn-ea"/>
              </a:rPr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풀이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TP = </a:t>
            </a:r>
            <a:r>
              <a:rPr lang="ko-KR" altLang="en-US" dirty="0">
                <a:latin typeface="+mn-ea"/>
              </a:rPr>
              <a:t>맞춘 암 </a:t>
            </a:r>
            <a:r>
              <a:rPr lang="en-US" altLang="ko-KR" dirty="0">
                <a:latin typeface="+mn-ea"/>
              </a:rPr>
              <a:t>= 15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FP = </a:t>
            </a:r>
            <a:r>
              <a:rPr lang="ko-KR" altLang="en-US" dirty="0">
                <a:latin typeface="+mn-ea"/>
              </a:rPr>
              <a:t>판단 암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맞춘 암 </a:t>
            </a:r>
            <a:r>
              <a:rPr lang="en-US" altLang="ko-KR" dirty="0">
                <a:latin typeface="+mn-ea"/>
              </a:rPr>
              <a:t>= 30-15=15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FN =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실제 암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–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맞춘 암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= 20-15= 5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  TN =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전체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– (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맞춘 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+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정상인데 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+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암인데 정상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 = 100-(15+15+5) = 65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Accuracy =  (TP+TN)/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전체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 (15+65)/100 = 80%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Precision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 </a:t>
            </a:r>
            <a:r>
              <a:rPr lang="en-US" altLang="ko-KR" dirty="0">
                <a:latin typeface="+mn-ea"/>
              </a:rPr>
              <a:t>TP/(TP+FP) = 15/(15+15) = 50%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Recall = TP/(TP+FN) = 15/(15+5) = 75%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F1-Score = 2x(Precision x Recall)/(Precision + Recall) = 2 x (0.5 x 0.75)/(0.5+0.75) = 0.6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 60%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9128404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607260"/>
            <a:ext cx="11449272" cy="5630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문제 예시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74625" marR="0" lvl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+mn-ea"/>
              </a:rPr>
              <a:t>-  </a:t>
            </a:r>
            <a:r>
              <a:rPr lang="ko-KR" altLang="en-US" b="1" dirty="0">
                <a:latin typeface="+mn-ea"/>
              </a:rPr>
              <a:t>한 식품 공장에서 하루 </a:t>
            </a:r>
            <a:r>
              <a:rPr lang="en-US" altLang="ko-KR" b="1" dirty="0">
                <a:latin typeface="+mn-ea"/>
              </a:rPr>
              <a:t>100</a:t>
            </a:r>
            <a:r>
              <a:rPr lang="ko-KR" altLang="en-US" b="1" dirty="0">
                <a:latin typeface="+mn-ea"/>
              </a:rPr>
              <a:t>개의 제품을 검사했고 실제 불량은  </a:t>
            </a:r>
            <a:r>
              <a:rPr lang="en-US" altLang="ko-KR" b="1" dirty="0">
                <a:latin typeface="+mn-ea"/>
              </a:rPr>
              <a:t>20</a:t>
            </a:r>
            <a:r>
              <a:rPr lang="ko-KR" altLang="en-US" b="1" dirty="0">
                <a:latin typeface="+mn-ea"/>
              </a:rPr>
              <a:t>개였다</a:t>
            </a:r>
            <a:r>
              <a:rPr lang="en-US" altLang="ko-KR" b="1" dirty="0">
                <a:latin typeface="+mn-ea"/>
              </a:rPr>
              <a:t>. </a:t>
            </a:r>
            <a:br>
              <a:rPr lang="en-US" altLang="ko-KR" b="1" dirty="0">
                <a:latin typeface="+mn-ea"/>
              </a:rPr>
            </a:br>
            <a:r>
              <a:rPr lang="en-US" altLang="ko-KR" b="1" dirty="0">
                <a:latin typeface="+mn-ea"/>
              </a:rPr>
              <a:t>   </a:t>
            </a:r>
            <a:r>
              <a:rPr lang="ko-KR" altLang="en-US" b="1" dirty="0">
                <a:latin typeface="+mn-ea"/>
              </a:rPr>
              <a:t>모델은 불량이 </a:t>
            </a:r>
            <a:r>
              <a:rPr lang="en-US" altLang="ko-KR" b="1" dirty="0">
                <a:latin typeface="+mn-ea"/>
              </a:rPr>
              <a:t>30</a:t>
            </a:r>
            <a:r>
              <a:rPr lang="ko-KR" altLang="en-US" b="1" dirty="0">
                <a:latin typeface="+mn-ea"/>
              </a:rPr>
              <a:t>개라고 판단했고</a:t>
            </a:r>
            <a:r>
              <a:rPr lang="en-US" altLang="ko-KR" b="1" dirty="0">
                <a:latin typeface="+mn-ea"/>
              </a:rPr>
              <a:t>, 20</a:t>
            </a:r>
            <a:r>
              <a:rPr lang="ko-KR" altLang="en-US" b="1" dirty="0">
                <a:latin typeface="+mn-ea"/>
              </a:rPr>
              <a:t>개 중에 실제 불량은 </a:t>
            </a:r>
            <a:r>
              <a:rPr lang="en-US" altLang="ko-KR" b="1" dirty="0">
                <a:latin typeface="+mn-ea"/>
              </a:rPr>
              <a:t>15</a:t>
            </a:r>
            <a:r>
              <a:rPr lang="ko-KR" altLang="en-US" b="1" dirty="0">
                <a:latin typeface="+mn-ea"/>
              </a:rPr>
              <a:t>개였다</a:t>
            </a:r>
            <a:r>
              <a:rPr lang="en-US" altLang="ko-KR" b="1" dirty="0">
                <a:latin typeface="+mn-ea"/>
              </a:rPr>
              <a:t>.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b="1" dirty="0">
                <a:latin typeface="+mn-ea"/>
              </a:rPr>
              <a:t>Accuracy,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Precision,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Recall,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F1-Score</a:t>
            </a:r>
            <a:r>
              <a:rPr lang="ko-KR" altLang="en-US" b="1" dirty="0">
                <a:latin typeface="+mn-ea"/>
              </a:rPr>
              <a:t>를 </a:t>
            </a:r>
            <a:r>
              <a:rPr lang="ko-KR" altLang="en-US" b="1" dirty="0" err="1">
                <a:latin typeface="+mn-ea"/>
              </a:rPr>
              <a:t>구하시오</a:t>
            </a:r>
            <a:r>
              <a:rPr lang="en-US" altLang="ko-KR" b="1" dirty="0">
                <a:latin typeface="+mn-ea"/>
              </a:rPr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풀이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TP = </a:t>
            </a:r>
            <a:r>
              <a:rPr lang="ko-KR" altLang="en-US" dirty="0">
                <a:latin typeface="+mn-ea"/>
              </a:rPr>
              <a:t>맞춘 불량 </a:t>
            </a:r>
            <a:r>
              <a:rPr lang="en-US" altLang="ko-KR" dirty="0">
                <a:latin typeface="+mn-ea"/>
              </a:rPr>
              <a:t>= 15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FP = </a:t>
            </a:r>
            <a:r>
              <a:rPr lang="ko-KR" altLang="en-US" dirty="0">
                <a:latin typeface="+mn-ea"/>
              </a:rPr>
              <a:t>정상인데 불량이라고 </a:t>
            </a:r>
            <a:r>
              <a:rPr lang="ko-KR" altLang="en-US" dirty="0" err="1">
                <a:latin typeface="+mn-ea"/>
              </a:rPr>
              <a:t>오탐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 30-15=15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FN =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불량인데 놓침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= 20-15= 5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  TN = 100-(15+15+5) = 65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Accuracy =  (TP+TN)/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전체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 (15+65)/100 = 80%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Precision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 </a:t>
            </a:r>
            <a:r>
              <a:rPr lang="en-US" altLang="ko-KR" dirty="0">
                <a:latin typeface="+mn-ea"/>
              </a:rPr>
              <a:t>TP/(TP+FP) = 15/(15+15) = 50%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Recall = TP/(TP+FN) = 15/(15+5) = 75%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F1-Score = 2x(Precision x Recall)/(Precision + Recall) = 2 x (0.5 x 0.75)/(0.5+0.75) = 0.6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 60%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7045916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607260"/>
            <a:ext cx="11449272" cy="5630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문제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74625" marR="0" lvl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+mn-ea"/>
              </a:rPr>
              <a:t>-  </a:t>
            </a:r>
            <a:r>
              <a:rPr lang="ko-KR" altLang="en-US" b="1" dirty="0">
                <a:latin typeface="+mn-ea"/>
              </a:rPr>
              <a:t>한 공장에서 전자제품 불량 검사를 하는데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총 </a:t>
            </a:r>
            <a:r>
              <a:rPr lang="en-US" altLang="ko-KR" b="1" dirty="0">
                <a:latin typeface="+mn-ea"/>
              </a:rPr>
              <a:t>500</a:t>
            </a:r>
            <a:r>
              <a:rPr lang="ko-KR" altLang="en-US" b="1" dirty="0">
                <a:latin typeface="+mn-ea"/>
              </a:rPr>
              <a:t>개의 제품을 검사했고 실제 불량은  </a:t>
            </a:r>
            <a:r>
              <a:rPr lang="en-US" altLang="ko-KR" b="1" dirty="0">
                <a:latin typeface="+mn-ea"/>
              </a:rPr>
              <a:t>50</a:t>
            </a:r>
            <a:r>
              <a:rPr lang="ko-KR" altLang="en-US" b="1" dirty="0">
                <a:latin typeface="+mn-ea"/>
              </a:rPr>
              <a:t>개였다</a:t>
            </a:r>
            <a:r>
              <a:rPr lang="en-US" altLang="ko-KR" b="1" dirty="0">
                <a:latin typeface="+mn-ea"/>
              </a:rPr>
              <a:t>. </a:t>
            </a:r>
            <a:br>
              <a:rPr lang="en-US" altLang="ko-KR" b="1" dirty="0">
                <a:latin typeface="+mn-ea"/>
              </a:rPr>
            </a:br>
            <a:r>
              <a:rPr lang="en-US" altLang="ko-KR" b="1" dirty="0">
                <a:latin typeface="+mn-ea"/>
              </a:rPr>
              <a:t>   </a:t>
            </a:r>
            <a:r>
              <a:rPr lang="ko-KR" altLang="en-US" b="1" dirty="0">
                <a:latin typeface="+mn-ea"/>
              </a:rPr>
              <a:t>모델은 불량이 </a:t>
            </a:r>
            <a:r>
              <a:rPr lang="en-US" altLang="ko-KR" b="1" dirty="0">
                <a:latin typeface="+mn-ea"/>
              </a:rPr>
              <a:t>80</a:t>
            </a:r>
            <a:r>
              <a:rPr lang="ko-KR" altLang="en-US" b="1" dirty="0">
                <a:latin typeface="+mn-ea"/>
              </a:rPr>
              <a:t>개라고 판단했고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그 중 실제 불량은 </a:t>
            </a:r>
            <a:r>
              <a:rPr lang="en-US" altLang="ko-KR" b="1" dirty="0">
                <a:latin typeface="+mn-ea"/>
              </a:rPr>
              <a:t>40</a:t>
            </a:r>
            <a:r>
              <a:rPr lang="ko-KR" altLang="en-US" b="1" dirty="0">
                <a:latin typeface="+mn-ea"/>
              </a:rPr>
              <a:t>개였다</a:t>
            </a:r>
            <a:r>
              <a:rPr lang="en-US" altLang="ko-KR" b="1" dirty="0">
                <a:latin typeface="+mn-ea"/>
              </a:rPr>
              <a:t>.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b="1" dirty="0">
                <a:latin typeface="+mn-ea"/>
              </a:rPr>
              <a:t>Accuracy,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Precision,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Recall,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F1-Score</a:t>
            </a:r>
            <a:r>
              <a:rPr lang="ko-KR" altLang="en-US" b="1" dirty="0">
                <a:latin typeface="+mn-ea"/>
              </a:rPr>
              <a:t>를 </a:t>
            </a:r>
            <a:r>
              <a:rPr lang="ko-KR" altLang="en-US" b="1" dirty="0" err="1">
                <a:latin typeface="+mn-ea"/>
              </a:rPr>
              <a:t>구하시오</a:t>
            </a:r>
            <a:r>
              <a:rPr lang="en-US" altLang="ko-KR" b="1" dirty="0">
                <a:latin typeface="+mn-ea"/>
              </a:rPr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풀이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TP =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FP = 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FN =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  TN =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Accuracy =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Precision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Recall =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F1-Score =</a:t>
            </a:r>
          </a:p>
        </p:txBody>
      </p:sp>
    </p:spTree>
    <p:extLst>
      <p:ext uri="{BB962C8B-B14F-4D97-AF65-F5344CB8AC3E}">
        <p14:creationId xmlns:p14="http://schemas.microsoft.com/office/powerpoint/2010/main" val="3357120957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607260"/>
            <a:ext cx="11449272" cy="562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문제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74625" marR="0" lvl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+mn-ea"/>
              </a:rPr>
              <a:t>-  </a:t>
            </a:r>
            <a:r>
              <a:rPr lang="ko-KR" altLang="en-US" b="1" dirty="0">
                <a:latin typeface="+mn-ea"/>
              </a:rPr>
              <a:t>스팸 메일 검사</a:t>
            </a:r>
            <a:r>
              <a:rPr lang="en-US" altLang="ko-KR" b="1" dirty="0">
                <a:latin typeface="+mn-ea"/>
              </a:rPr>
              <a:t>,  </a:t>
            </a:r>
            <a:r>
              <a:rPr lang="ko-KR" altLang="en-US" b="1" dirty="0">
                <a:latin typeface="+mn-ea"/>
              </a:rPr>
              <a:t>총 </a:t>
            </a:r>
            <a:r>
              <a:rPr lang="en-US" altLang="ko-KR" b="1" dirty="0">
                <a:latin typeface="+mn-ea"/>
              </a:rPr>
              <a:t>1000</a:t>
            </a:r>
            <a:r>
              <a:rPr lang="ko-KR" altLang="en-US" b="1" dirty="0">
                <a:latin typeface="+mn-ea"/>
              </a:rPr>
              <a:t>개 메일을 검사했고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실제 스팸은 </a:t>
            </a:r>
            <a:r>
              <a:rPr lang="en-US" altLang="ko-KR" b="1" dirty="0">
                <a:latin typeface="+mn-ea"/>
              </a:rPr>
              <a:t>200</a:t>
            </a:r>
            <a:r>
              <a:rPr lang="ko-KR" altLang="en-US" b="1" dirty="0">
                <a:latin typeface="+mn-ea"/>
              </a:rPr>
              <a:t>개임</a:t>
            </a:r>
            <a:br>
              <a:rPr lang="en-US" altLang="ko-KR" b="1" dirty="0">
                <a:latin typeface="+mn-ea"/>
              </a:rPr>
            </a:br>
            <a:r>
              <a:rPr lang="en-US" altLang="ko-KR" b="1" dirty="0">
                <a:latin typeface="+mn-ea"/>
              </a:rPr>
              <a:t>   </a:t>
            </a:r>
            <a:r>
              <a:rPr lang="ko-KR" altLang="en-US" b="1" dirty="0">
                <a:latin typeface="+mn-ea"/>
              </a:rPr>
              <a:t>모델은 </a:t>
            </a:r>
            <a:r>
              <a:rPr lang="en-US" altLang="ko-KR" b="1" dirty="0">
                <a:latin typeface="+mn-ea"/>
              </a:rPr>
              <a:t>150</a:t>
            </a:r>
            <a:r>
              <a:rPr lang="ko-KR" altLang="en-US" b="1" dirty="0">
                <a:latin typeface="+mn-ea"/>
              </a:rPr>
              <a:t>개를 스팸이라고 판단했고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그 중 실제 스팸은 </a:t>
            </a:r>
            <a:r>
              <a:rPr lang="en-US" altLang="ko-KR" b="1" dirty="0">
                <a:latin typeface="+mn-ea"/>
              </a:rPr>
              <a:t>120</a:t>
            </a:r>
            <a:r>
              <a:rPr lang="ko-KR" altLang="en-US" b="1" dirty="0">
                <a:latin typeface="+mn-ea"/>
              </a:rPr>
              <a:t>개임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b="1" dirty="0">
                <a:latin typeface="+mn-ea"/>
              </a:rPr>
              <a:t>Accuracy,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Precision,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Recall,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F1-Score</a:t>
            </a:r>
            <a:r>
              <a:rPr lang="ko-KR" altLang="en-US" b="1" dirty="0">
                <a:latin typeface="+mn-ea"/>
              </a:rPr>
              <a:t>를 </a:t>
            </a:r>
            <a:r>
              <a:rPr lang="ko-KR" altLang="en-US" b="1" dirty="0" err="1">
                <a:latin typeface="+mn-ea"/>
              </a:rPr>
              <a:t>구하시오</a:t>
            </a:r>
            <a:r>
              <a:rPr lang="en-US" altLang="ko-KR" b="1" dirty="0">
                <a:latin typeface="+mn-ea"/>
              </a:rPr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풀이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TP =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FP = 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FN =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  TN =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Accuracy =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Precision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Recall =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F1-Score =</a:t>
            </a:r>
          </a:p>
        </p:txBody>
      </p:sp>
    </p:spTree>
    <p:extLst>
      <p:ext uri="{BB962C8B-B14F-4D97-AF65-F5344CB8AC3E}">
        <p14:creationId xmlns:p14="http://schemas.microsoft.com/office/powerpoint/2010/main" val="4290785783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607260"/>
            <a:ext cx="11449272" cy="562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문제 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74625" marR="0" lvl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+mn-ea"/>
              </a:rPr>
              <a:t>-  </a:t>
            </a:r>
            <a:r>
              <a:rPr lang="ko-KR" altLang="en-US" b="1" dirty="0">
                <a:latin typeface="+mn-ea"/>
              </a:rPr>
              <a:t>반도체 공장에서 하루 </a:t>
            </a:r>
            <a:r>
              <a:rPr lang="en-US" altLang="ko-KR" b="1" dirty="0">
                <a:latin typeface="+mn-ea"/>
              </a:rPr>
              <a:t>1,000</a:t>
            </a:r>
            <a:r>
              <a:rPr lang="ko-KR" altLang="en-US" b="1" dirty="0">
                <a:latin typeface="+mn-ea"/>
              </a:rPr>
              <a:t>개의 칩을 검사했고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실제 불량 칩은 </a:t>
            </a:r>
            <a:r>
              <a:rPr lang="en-US" altLang="ko-KR" b="1" dirty="0">
                <a:latin typeface="+mn-ea"/>
              </a:rPr>
              <a:t>100</a:t>
            </a:r>
            <a:r>
              <a:rPr lang="ko-KR" altLang="en-US" b="1" dirty="0">
                <a:latin typeface="+mn-ea"/>
              </a:rPr>
              <a:t>개였다</a:t>
            </a:r>
            <a:r>
              <a:rPr lang="en-US" altLang="ko-KR" b="1" dirty="0">
                <a:latin typeface="+mn-ea"/>
              </a:rPr>
              <a:t>. </a:t>
            </a:r>
            <a:br>
              <a:rPr lang="en-US" altLang="ko-KR" b="1" dirty="0">
                <a:latin typeface="+mn-ea"/>
              </a:rPr>
            </a:br>
            <a:r>
              <a:rPr lang="en-US" altLang="ko-KR" b="1" dirty="0">
                <a:latin typeface="+mn-ea"/>
              </a:rPr>
              <a:t>   </a:t>
            </a:r>
            <a:r>
              <a:rPr lang="ko-KR" altLang="en-US" b="1" dirty="0">
                <a:latin typeface="+mn-ea"/>
              </a:rPr>
              <a:t>모델은 </a:t>
            </a:r>
            <a:r>
              <a:rPr lang="en-US" altLang="ko-KR" b="1" dirty="0">
                <a:latin typeface="+mn-ea"/>
              </a:rPr>
              <a:t>105</a:t>
            </a:r>
            <a:r>
              <a:rPr lang="ko-KR" altLang="en-US" b="1" dirty="0">
                <a:latin typeface="+mn-ea"/>
              </a:rPr>
              <a:t>개를 불량이라고 판단했고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그 중 실제 불량은 </a:t>
            </a:r>
            <a:r>
              <a:rPr lang="en-US" altLang="ko-KR" b="1" dirty="0">
                <a:latin typeface="+mn-ea"/>
              </a:rPr>
              <a:t>98</a:t>
            </a:r>
            <a:r>
              <a:rPr lang="ko-KR" altLang="en-US" b="1" dirty="0">
                <a:latin typeface="+mn-ea"/>
              </a:rPr>
              <a:t>개임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b="1" dirty="0">
                <a:latin typeface="+mn-ea"/>
              </a:rPr>
              <a:t>Accuracy,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Precision,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Recall,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F1-Score</a:t>
            </a:r>
            <a:r>
              <a:rPr lang="ko-KR" altLang="en-US" b="1" dirty="0">
                <a:latin typeface="+mn-ea"/>
              </a:rPr>
              <a:t>를 </a:t>
            </a:r>
            <a:r>
              <a:rPr lang="ko-KR" altLang="en-US" b="1" dirty="0" err="1">
                <a:latin typeface="+mn-ea"/>
              </a:rPr>
              <a:t>구하시오</a:t>
            </a:r>
            <a:r>
              <a:rPr lang="en-US" altLang="ko-KR" b="1" dirty="0">
                <a:latin typeface="+mn-ea"/>
              </a:rPr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dirty="0">
              <a:latin typeface="+mn-ea"/>
            </a:endParaRPr>
          </a:p>
          <a:p>
            <a:pPr marL="460375" marR="0" lvl="0" indent="-28575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풀이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TP =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FP = 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FN =</a:t>
            </a:r>
            <a:br>
              <a:rPr lang="en-US" altLang="ko-KR" dirty="0">
                <a:solidFill>
                  <a:srgbClr val="000000"/>
                </a:solidFill>
                <a:latin typeface="+mn-ea"/>
              </a:rPr>
            </a:br>
            <a:r>
              <a:rPr lang="en-US" altLang="ko-KR" dirty="0">
                <a:solidFill>
                  <a:srgbClr val="000000"/>
                </a:solidFill>
                <a:latin typeface="+mn-ea"/>
              </a:rPr>
              <a:t>     TN =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Accuracy =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+mn-ea"/>
              </a:rPr>
              <a:t>     Precision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Recall =</a:t>
            </a:r>
          </a:p>
          <a:p>
            <a:pPr marL="0" marR="0" lvl="0" indent="0" algn="l" defTabSz="914400" rtl="0" eaLnBrk="0" fontAlgn="base" latinLnBrk="0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F1-Score =</a:t>
            </a:r>
          </a:p>
        </p:txBody>
      </p:sp>
    </p:spTree>
    <p:extLst>
      <p:ext uri="{BB962C8B-B14F-4D97-AF65-F5344CB8AC3E}">
        <p14:creationId xmlns:p14="http://schemas.microsoft.com/office/powerpoint/2010/main" val="77465219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24252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3200" b="1" dirty="0"/>
              <a:t>Learning</a:t>
            </a:r>
            <a:r>
              <a:rPr lang="ko-KR" altLang="en-US" sz="3200" b="1" dirty="0"/>
              <a:t> 종류별 대표 알고리즘 살펴보기</a:t>
            </a:r>
          </a:p>
        </p:txBody>
      </p:sp>
    </p:spTree>
    <p:extLst>
      <p:ext uri="{BB962C8B-B14F-4D97-AF65-F5344CB8AC3E}">
        <p14:creationId xmlns:p14="http://schemas.microsoft.com/office/powerpoint/2010/main" val="3187354356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지도 학습</a:t>
            </a:r>
            <a:r>
              <a:rPr lang="en-US" altLang="ko-KR" b="1" dirty="0"/>
              <a:t>(Supervised Learning) </a:t>
            </a:r>
            <a:r>
              <a:rPr lang="ko-KR" altLang="en-US" b="1" dirty="0"/>
              <a:t>대표 알고리즘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AB8911F-F0D8-4E32-9090-6D9DCBCE5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517005"/>
              </p:ext>
            </p:extLst>
          </p:nvPr>
        </p:nvGraphicFramePr>
        <p:xfrm>
          <a:off x="191344" y="764704"/>
          <a:ext cx="11809314" cy="59395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29230061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84165494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738789416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18226619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67881287"/>
                    </a:ext>
                  </a:extLst>
                </a:gridCol>
                <a:gridCol w="2232250">
                  <a:extLst>
                    <a:ext uri="{9D8B030D-6E8A-4147-A177-3AD203B41FA5}">
                      <a16:colId xmlns:a16="http://schemas.microsoft.com/office/drawing/2014/main" val="3224907054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알고리즘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목적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예시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776858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선형 회귀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Linear Regression)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연속값 예측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입력과 출력의 선형 관계를 가정하고 직선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평면을 찾음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구현과 이해가 쉬움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계산 빠름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비선형 패턴에 약함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이상치에 민감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집값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 온도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습도에 따른 생산량 예측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968512592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로지스틱 회귀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Logistic Regression)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다중 분류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선형 조합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시그모이드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소프트맥스로 클래스 확률 계산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확률 출력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해석이 쉬움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가중치 의미 설명 가능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복잡한 비선형 경계는 표현 어려움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스팸 판별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OK/NOK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 판정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584683860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의사결정나무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Decision Tree)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if-else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규칙을 트리 형태로 학습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사람이 이해하기 쉬운 규칙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전처리 요구가 적음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깊게 자라면 과적합 쉽게 발생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제품 불량 원인 규칙 찾기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 대출 승인 여부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2568667184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랜덤 포레스트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Random Forest)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개의 결정트리를 앙상블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하여 다수결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평균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성능 안정적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과적합 줄어듦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파라미터 튜닝 쉬운 편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모델이 복잡해 해석이 어렵고 느릴 수 있음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이탈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센서 이상 탐지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3088550825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그라디언트 부스팅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</a:p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XGBoost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약한 모델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트리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순차적으로 쌓아 오차를 줄이는 방식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높은 예측 성능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사이언스 대회에서 자주 우승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파라미터가 많고 튜닝이 중요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 시간 길 수 있음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 공정 수율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금융 부도 예측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913633035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K-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최근접 이웃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KNN)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데이터 주변의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이웃의 레이블을 보고 결정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개념이 직관적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 단계가 거의 없음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데이터가 많으면 예측 시 느림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스케일에 민감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간 유사도 분류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추천 시스템 기초 실습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785863114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서포트 벡터 머신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(SVM)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마진을 최대로 하는 결정 경계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초평면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커널로 비선형 처리 가능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작은 데이터에서도 강력한 성능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이론적 기반 탄탄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파라미터 선택이 어렵고 대용량 데이터에 느림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 분류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얼굴 인식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점 탐지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2266348408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나이브 베이즈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(Naive Bayes)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특징들이 조건부 독립이라고 가정하고 베이즈 정리 사용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예측 매우 빠름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텍스트처럼 차원 큰 데이터에 유리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독립 가정이 현실과 달라 성능 한계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스팸 필터링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뉴스 기사 카테고리 분류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799124987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다층 퍼셉트론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(MLP,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신경망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은닉층을 가진 인공신경망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비선형 함수로 복잡한 패턴 학습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비선형 관계 잘 표현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다양한 문제에 적용 가능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구조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하이퍼파라미터가 많고 해석이 어려움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과적합 위험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센서 데이터 이상 예측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손 글씨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음성 분류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865465993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시계열 모델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(LSTM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RNN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계열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시계열 예측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순차 데이터 분류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과거 상태를 기억하는 순환 구조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시계열 패턴 학습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의존성이 있는 데이터에 강함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구조가 복잡하고 학습 비용이 큼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이해 난이도 높음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진동 시계열 기반 고장 예지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수요 예측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261318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667043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비지도 학습</a:t>
            </a:r>
            <a:r>
              <a:rPr lang="en-US" altLang="ko-KR" b="1" dirty="0"/>
              <a:t>(Unsupervised Learning) </a:t>
            </a:r>
            <a:r>
              <a:rPr lang="ko-KR" altLang="en-US" b="1" dirty="0"/>
              <a:t>대표 알고리즘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E53EAD6-F907-4C73-8348-6BFCCAA0B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805794"/>
              </p:ext>
            </p:extLst>
          </p:nvPr>
        </p:nvGraphicFramePr>
        <p:xfrm>
          <a:off x="263352" y="692696"/>
          <a:ext cx="11665296" cy="58933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022935337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20902069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6728779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9679884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884649468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65241883"/>
                    </a:ext>
                  </a:extLst>
                </a:gridCol>
              </a:tblGrid>
              <a:tr h="32562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알고리즘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주요 목적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특징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장점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단점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사용 예시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34423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K-</a:t>
                      </a:r>
                      <a:r>
                        <a:rPr lang="ko-KR" altLang="en-US" sz="1200" dirty="0"/>
                        <a:t>평균 군집화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K-means)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군집화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중심을 </a:t>
                      </a:r>
                      <a:r>
                        <a:rPr lang="en-US" altLang="ko-KR" sz="1200"/>
                        <a:t>K</a:t>
                      </a:r>
                      <a:r>
                        <a:rPr lang="ko-KR" altLang="en-US" sz="1200"/>
                        <a:t>개로 나누어 클러스터 생성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구현 간단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빠르고 대용량 데이터에 적합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K</a:t>
                      </a:r>
                      <a:r>
                        <a:rPr lang="ko-KR" altLang="en-US" sz="1200"/>
                        <a:t>를 미리 지정해야 하고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구형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球形</a:t>
                      </a:r>
                      <a:r>
                        <a:rPr lang="en-US" altLang="ko-KR" sz="1200"/>
                        <a:t>) </a:t>
                      </a:r>
                      <a:r>
                        <a:rPr lang="ko-KR" altLang="en-US" sz="1200"/>
                        <a:t>클러스터에 적합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유형 분류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공정 상태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정상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비정상 패턴</a:t>
                      </a:r>
                      <a:r>
                        <a:rPr lang="en-US" altLang="ko-KR" sz="1200"/>
                        <a:t>) </a:t>
                      </a:r>
                      <a:r>
                        <a:rPr lang="ko-KR" altLang="en-US" sz="1200"/>
                        <a:t>군집화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4160004616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계층적 군집화 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Hierarchical Clustering)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군집화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간 거리를 기반으로 트리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덴드로그램</a:t>
                      </a:r>
                      <a:r>
                        <a:rPr lang="en-US" altLang="ko-KR" sz="1200"/>
                        <a:t>) </a:t>
                      </a:r>
                      <a:r>
                        <a:rPr lang="ko-KR" altLang="en-US" sz="1200"/>
                        <a:t>구조 생성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군집 수를 사후에 고를 수 있음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구조 해석이 쉬움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데이터가 많으면 계산량 급증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유전자 발현 패턴 분석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소규모 고객 세그먼트 분석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463341073"/>
                  </a:ext>
                </a:extLst>
              </a:tr>
              <a:tr h="54944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DBSCAN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군집화 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/>
                      <a:r>
                        <a:rPr lang="ko-KR" altLang="en-US" sz="1200" dirty="0"/>
                        <a:t>이상치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밀도가 높은 영역을 군집으로 보고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밀도 낮은 점은 노이즈 처리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클러스터 개수 자동 결정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임의 모양의 군집도 가능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파라미터</a:t>
                      </a:r>
                      <a:r>
                        <a:rPr lang="en-US" altLang="ko-KR" sz="1200"/>
                        <a:t>(eps, min_samples) </a:t>
                      </a:r>
                      <a:r>
                        <a:rPr lang="ko-KR" altLang="en-US" sz="1200"/>
                        <a:t>선택이 민감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센서 데이터의 군집 </a:t>
                      </a:r>
                      <a:r>
                        <a:rPr lang="en-US" altLang="ko-KR" sz="1200"/>
                        <a:t>+ </a:t>
                      </a:r>
                      <a:r>
                        <a:rPr lang="ko-KR" altLang="en-US" sz="1200"/>
                        <a:t>이상치 탐지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교통 패턴 분석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2729296736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/>
                        <a:t>가우시안</a:t>
                      </a:r>
                      <a:r>
                        <a:rPr lang="ko-KR" altLang="en-US" sz="1200" dirty="0"/>
                        <a:t> 혼합 모델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(GMM)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군집화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/>
                      <a:r>
                        <a:rPr lang="ko-KR" altLang="en-US" sz="1200" dirty="0"/>
                        <a:t>밀도 추정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여러 개의 가우시안 분포를 섞어 데이터 분포를 모델링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확률 기반이라 소프트 클러스터링 가능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초기값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컴포넌트 수에 민감</a:t>
                      </a:r>
                      <a:r>
                        <a:rPr lang="en-US" altLang="ko-KR" sz="1200"/>
                        <a:t>, EM </a:t>
                      </a:r>
                      <a:r>
                        <a:rPr lang="ko-KR" altLang="en-US" sz="1200"/>
                        <a:t>알고리즘이 지역해에 빠질 수 있음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군집화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음성 신호 모델링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이상치 점수 계산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3827163393"/>
                  </a:ext>
                </a:extLst>
              </a:tr>
              <a:tr h="54944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주성분 분석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PCA)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차원 축소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/>
                      <a:r>
                        <a:rPr lang="ko-KR" altLang="en-US" sz="1200" dirty="0"/>
                        <a:t>시각화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분산이 큰 방향의 축을 찾아 고차원 데이터를 저차원으로 투영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노이즈 제거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시각화</a:t>
                      </a:r>
                      <a:r>
                        <a:rPr lang="en-US" altLang="ko-KR" sz="1200"/>
                        <a:t>(2D/3D) </a:t>
                      </a:r>
                      <a:r>
                        <a:rPr lang="ko-KR" altLang="en-US" sz="1200"/>
                        <a:t>용이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계산 효율적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선형 변환만 가능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해석이 직관적이지 않을 수 있음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고차원 센서 데이터 차원 축소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특징 추출 전처리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3142226858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t-SNE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고차원 데이터 시각화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데이터의 국소 구조를 보존하면서 </a:t>
                      </a:r>
                      <a:r>
                        <a:rPr lang="en-US" altLang="ko-KR" sz="1200"/>
                        <a:t>2D/3D</a:t>
                      </a:r>
                      <a:r>
                        <a:rPr lang="ko-KR" altLang="en-US" sz="1200"/>
                        <a:t>로 시각화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군집 구조를 눈으로 쉽게 확인 가능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계산량이 크고 하이퍼파라미터에 민감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실제 모델로 사용은 어려움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이미지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텍스트 임베딩 시각화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특성 공간 탐색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391768759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/>
                        <a:t>오토인코더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Autoencoder)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차원 축소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/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이상치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입력을 압축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인코더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했다가 복원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디코더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하는 신경망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비선형 차원 축소 가능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재구성 오차로 이상치 탐지 가능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학습 난이도 높고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구조 설계가 필요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설비 센서 이상 탐지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이미지 노이즈 제거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558235800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/>
                        <a:t>자기조직화지도</a:t>
                      </a:r>
                      <a:r>
                        <a:rPr lang="ko-KR" altLang="en-US" sz="1200" dirty="0"/>
                        <a:t> 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en-US" altLang="ko-KR" sz="1200" dirty="0"/>
                        <a:t>(SOM)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군집화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시각화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격자 위에 뉴런을 배치하고 경쟁 학습으로 데이터 사상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2D </a:t>
                      </a:r>
                      <a:r>
                        <a:rPr lang="ko-KR" altLang="en-US" sz="1200"/>
                        <a:t>격자로 군집 구조를 직관적으로 표현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파라미터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학습률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이웃 크기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설정 필요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현대엔 덜 사용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세분화 시각화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공정 상태 맵핑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2966033523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연관 규칙 학습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sz="1200" dirty="0" err="1"/>
                        <a:t>Apriori</a:t>
                      </a:r>
                      <a:r>
                        <a:rPr lang="en-US" sz="1200" dirty="0"/>
                        <a:t>, FP-Growth)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항목 간 관계 규칙 찾기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“</a:t>
                      </a:r>
                      <a:r>
                        <a:rPr lang="en-US" altLang="ko-KR" sz="1200"/>
                        <a:t>A</a:t>
                      </a:r>
                      <a:r>
                        <a:rPr lang="ko-KR" altLang="en-US" sz="1200"/>
                        <a:t>와 </a:t>
                      </a:r>
                      <a:r>
                        <a:rPr lang="en-US" altLang="ko-KR" sz="1200"/>
                        <a:t>B</a:t>
                      </a:r>
                      <a:r>
                        <a:rPr lang="ko-KR" altLang="en-US" sz="1200"/>
                        <a:t>를 같이 사면 </a:t>
                      </a:r>
                      <a:r>
                        <a:rPr lang="en-US" altLang="ko-KR" sz="1200"/>
                        <a:t>C</a:t>
                      </a:r>
                      <a:r>
                        <a:rPr lang="ko-KR" altLang="en-US" sz="1200"/>
                        <a:t>도 살 확률이 높다” 식의 규칙 도출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해석이 매우 직관적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마케팅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추천에 유용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후보 규칙 수가 폭발적으로 많아질 수 있음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장바구니 분석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공정 이상 패턴 조합 찾기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3682651347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Isolation Forest </a:t>
                      </a:r>
                    </a:p>
                    <a:p>
                      <a:pPr algn="ctr"/>
                      <a:r>
                        <a:rPr lang="en-US" sz="1200" dirty="0"/>
                        <a:t>(</a:t>
                      </a:r>
                      <a:r>
                        <a:rPr lang="ko-KR" altLang="en-US" sz="1200" dirty="0"/>
                        <a:t>고립 숲</a:t>
                      </a:r>
                      <a:r>
                        <a:rPr lang="en-US" altLang="ko-KR" sz="1200" dirty="0"/>
                        <a:t>)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이상치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포인트를 무작위 분할 트리로 “고립”시키는 방식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고차원 데이터에서도 잘 작동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이상치 탐지 특화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내부 구조 해석이 어렵고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파라미터</a:t>
                      </a:r>
                      <a:r>
                        <a:rPr lang="en-US" altLang="ko-KR" sz="1200"/>
                        <a:t>(trees, subsample) </a:t>
                      </a:r>
                      <a:r>
                        <a:rPr lang="ko-KR" altLang="en-US" sz="1200"/>
                        <a:t>튜닝 필요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온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습도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진동 시계열에서 이상 상태 검출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보안 이상 트래픽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478450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06459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이진 분류에 자주 사용하는 알고리즘 비교표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532541-C0BB-44DD-8FBA-9A6B59AEB0A4}"/>
              </a:ext>
            </a:extLst>
          </p:cNvPr>
          <p:cNvGraphicFramePr>
            <a:graphicFrameLocks noGrp="1"/>
          </p:cNvGraphicFramePr>
          <p:nvPr/>
        </p:nvGraphicFramePr>
        <p:xfrm>
          <a:off x="479376" y="836712"/>
          <a:ext cx="11017225" cy="54005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369941433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178929534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504283037"/>
                    </a:ext>
                  </a:extLst>
                </a:gridCol>
                <a:gridCol w="2621092">
                  <a:extLst>
                    <a:ext uri="{9D8B030D-6E8A-4147-A177-3AD203B41FA5}">
                      <a16:colId xmlns:a16="http://schemas.microsoft.com/office/drawing/2014/main" val="1488945901"/>
                    </a:ext>
                  </a:extLst>
                </a:gridCol>
                <a:gridCol w="2203445">
                  <a:extLst>
                    <a:ext uri="{9D8B030D-6E8A-4147-A177-3AD203B41FA5}">
                      <a16:colId xmlns:a16="http://schemas.microsoft.com/office/drawing/2014/main" val="4103488510"/>
                    </a:ext>
                  </a:extLst>
                </a:gridCol>
              </a:tblGrid>
              <a:tr h="36703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알고리즘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타입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개념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655954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Logistic Regression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+mn-ea"/>
                          <a:ea typeface="+mn-ea"/>
                        </a:rPr>
                        <a:t>선형 모델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직선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또는 평면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으로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OK/NOK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경계선을 찾고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시그모이드 함수로 확률 출력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구현 간단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속도 빠름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수식이 비교적 이해 쉬움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과적합 위험 적음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데이터가 비선형 구조일 때 성능 떨어짐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특징 스케일링 필요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489687538"/>
                  </a:ext>
                </a:extLst>
              </a:tr>
              <a:tr h="99622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Decision Tree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트리 기반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“습도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&gt; 85?” “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온도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&lt; 20?”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같은 질문을 분기하면서 나무 구조로 나눔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사람이 이해하기 쉬움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규칙이 눈에 보임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스케일링 불필요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범주형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연속형 모두 처리 쉽다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깊게 자라면 과적합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risk,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작은 데이터에 민감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2261934542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Random Forest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앙상블 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트리 여러 개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여러 개의 의사결정나무를 만들어 다수결로 결정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성능이 안정적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과적합 줄어듦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파라미터에 상대적으로 덜 민감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내부 구조 해석이 어려움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트리 여러 개라 속도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메모리 증가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2363139040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K-Nearest Neighbors </a:t>
                      </a:r>
                    </a:p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(KNN)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거리 기반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새로운 점과 가장 가까운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K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개의 이웃을 보고 다수 클래스 선택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구현이 직관적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학습 단계 거의 없음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2D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시각화 설명이 좋음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데이터가 많으면 느림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스케일링 필요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K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선택에 성능 민감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826906216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SVM </a:t>
                      </a:r>
                    </a:p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(Support Vector Machine)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마진 최대화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두 클래스 사이의 마진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여유 공간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을 최대화 하는 결정 경계 찾기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작은 데이터에서도 강력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커널 사용 시 비선형 문제도 해결 가능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수학 개념이 다소 어렵고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(C, γ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튜닝 필요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560727818"/>
                  </a:ext>
                </a:extLst>
              </a:tr>
              <a:tr h="68162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MLP</a:t>
                      </a:r>
                    </a:p>
                    <a:p>
                      <a:pPr algn="ctr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간단 인공신경망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신경망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여러 층의 노드를 통해 비선형 패턴 학습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복잡한 패턴도 표현 가능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확장성이 좋음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구조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하이퍼파라미터가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많고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직관적 해석이 어려움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385055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450001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E2DE-20A4-124E-894D-98A180F4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B9B625C-E470-4D31-A4CD-AD358A98C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688" y="2780928"/>
            <a:ext cx="6010960" cy="3885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FF8EF3-1711-475E-80E7-9E0FDA503962}"/>
              </a:ext>
            </a:extLst>
          </p:cNvPr>
          <p:cNvSpPr txBox="1"/>
          <p:nvPr/>
        </p:nvSpPr>
        <p:spPr>
          <a:xfrm>
            <a:off x="191344" y="116632"/>
            <a:ext cx="3408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latin typeface="HY목각파임B" panose="02030600000101010101" pitchFamily="18" charset="-127"/>
                <a:ea typeface="HY목각파임B" panose="02030600000101010101" pitchFamily="18" charset="-127"/>
                <a:cs typeface="Cascadia Mono SemiBold" panose="020B0609020000020004" pitchFamily="49" charset="0"/>
              </a:rPr>
              <a:t>데이터 수집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0C802-83C3-4A91-AC73-90CAC5821CF9}"/>
              </a:ext>
            </a:extLst>
          </p:cNvPr>
          <p:cNvSpPr txBox="1"/>
          <p:nvPr/>
        </p:nvSpPr>
        <p:spPr>
          <a:xfrm>
            <a:off x="407368" y="1268760"/>
            <a:ext cx="7718267" cy="2666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4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>
                <a:latin typeface="+mn-ea"/>
              </a:rPr>
              <a:t>IoT </a:t>
            </a:r>
            <a:r>
              <a:rPr lang="ko-KR" altLang="en-US" sz="2400" b="1" dirty="0">
                <a:latin typeface="+mn-ea"/>
              </a:rPr>
              <a:t>하드웨어 단말기를 사용하여 데이터 수집</a:t>
            </a:r>
            <a:endParaRPr lang="en-US" altLang="ko-KR" sz="2400" b="1" dirty="0">
              <a:latin typeface="+mn-ea"/>
            </a:endParaRP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Cortex-M3/M4  (STM32F103, STM32F469I-DISCO)</a:t>
            </a: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ESP32-Dev</a:t>
            </a: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Raspberry pi</a:t>
            </a: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</a:endParaRPr>
          </a:p>
          <a:p>
            <a:pPr marL="363538" indent="-363538">
              <a:lnSpc>
                <a:spcPts val="34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+mn-ea"/>
              </a:rPr>
              <a:t>Test</a:t>
            </a:r>
            <a:r>
              <a:rPr lang="ko-KR" altLang="en-US" sz="2400" dirty="0">
                <a:latin typeface="+mn-ea"/>
              </a:rPr>
              <a:t>를 위한 </a:t>
            </a:r>
            <a:r>
              <a:rPr lang="en-US" altLang="ko-KR" sz="2400" dirty="0">
                <a:latin typeface="+mn-ea"/>
              </a:rPr>
              <a:t>dummy data </a:t>
            </a:r>
            <a:r>
              <a:rPr lang="ko-KR" altLang="en-US" sz="2400" dirty="0">
                <a:latin typeface="+mn-ea"/>
              </a:rPr>
              <a:t>생성</a:t>
            </a:r>
            <a:r>
              <a:rPr lang="en-US" altLang="ko-KR" sz="2400" dirty="0">
                <a:latin typeface="+mn-ea"/>
              </a:rPr>
              <a:t>(ChatGPT)</a:t>
            </a:r>
          </a:p>
        </p:txBody>
      </p:sp>
    </p:spTree>
    <p:extLst>
      <p:ext uri="{BB962C8B-B14F-4D97-AF65-F5344CB8AC3E}">
        <p14:creationId xmlns:p14="http://schemas.microsoft.com/office/powerpoint/2010/main" val="461102796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A9D980-311E-4BB7-BD0A-0D2C54B8950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tx1"/>
                </a:solidFill>
              </a:rPr>
              <a:t>ESP32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E79019-19FF-4AC5-BA94-B2CE32464E5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데이터 수집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C822205-1C94-497C-A195-1F2FBCD6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64" y="913431"/>
            <a:ext cx="5001323" cy="5239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3DEE716-7CE9-4756-A6FC-F2882FDBB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13496" y="576255"/>
            <a:ext cx="1571844" cy="2505425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A5597FB-0AD1-4FFF-BA4A-142656F01B2A}"/>
              </a:ext>
            </a:extLst>
          </p:cNvPr>
          <p:cNvCxnSpPr>
            <a:cxnSpLocks/>
          </p:cNvCxnSpPr>
          <p:nvPr/>
        </p:nvCxnSpPr>
        <p:spPr>
          <a:xfrm>
            <a:off x="5574815" y="1139376"/>
            <a:ext cx="3092673" cy="1115376"/>
          </a:xfrm>
          <a:prstGeom prst="line">
            <a:avLst/>
          </a:prstGeom>
          <a:ln w="539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33DEC7E-0D61-4524-AA4F-19372307EB2B}"/>
              </a:ext>
            </a:extLst>
          </p:cNvPr>
          <p:cNvCxnSpPr>
            <a:cxnSpLocks/>
          </p:cNvCxnSpPr>
          <p:nvPr/>
        </p:nvCxnSpPr>
        <p:spPr>
          <a:xfrm flipV="1">
            <a:off x="5795587" y="1969526"/>
            <a:ext cx="2751118" cy="530606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EE7DE40-9175-4DE9-ABDE-9BC207EC630E}"/>
              </a:ext>
            </a:extLst>
          </p:cNvPr>
          <p:cNvCxnSpPr>
            <a:cxnSpLocks/>
          </p:cNvCxnSpPr>
          <p:nvPr/>
        </p:nvCxnSpPr>
        <p:spPr>
          <a:xfrm>
            <a:off x="5712533" y="1704336"/>
            <a:ext cx="2954955" cy="0"/>
          </a:xfrm>
          <a:prstGeom prst="line">
            <a:avLst/>
          </a:prstGeom>
          <a:ln w="508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4E9AE02-D9FF-4B03-B77F-5FF9E7B42BA2}"/>
              </a:ext>
            </a:extLst>
          </p:cNvPr>
          <p:cNvCxnSpPr>
            <a:cxnSpLocks/>
          </p:cNvCxnSpPr>
          <p:nvPr/>
        </p:nvCxnSpPr>
        <p:spPr>
          <a:xfrm>
            <a:off x="5712533" y="1404565"/>
            <a:ext cx="2834172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61812205-4917-45DD-B4B5-4BF288793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342299">
            <a:off x="8616886" y="3187434"/>
            <a:ext cx="2044294" cy="2026671"/>
          </a:xfrm>
          <a:prstGeom prst="rect">
            <a:avLst/>
          </a:prstGeom>
        </p:spPr>
      </p:pic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43FDDA-2E3D-486D-A13B-4BC93836F2C7}"/>
              </a:ext>
            </a:extLst>
          </p:cNvPr>
          <p:cNvCxnSpPr>
            <a:cxnSpLocks/>
          </p:cNvCxnSpPr>
          <p:nvPr/>
        </p:nvCxnSpPr>
        <p:spPr>
          <a:xfrm flipV="1">
            <a:off x="5754060" y="3841452"/>
            <a:ext cx="2913428" cy="530606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2F60638-33D1-49C8-A529-11B0024572B2}"/>
              </a:ext>
            </a:extLst>
          </p:cNvPr>
          <p:cNvCxnSpPr>
            <a:cxnSpLocks/>
          </p:cNvCxnSpPr>
          <p:nvPr/>
        </p:nvCxnSpPr>
        <p:spPr>
          <a:xfrm>
            <a:off x="1362382" y="1140277"/>
            <a:ext cx="7305106" cy="2864564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CFE7907-2E42-4615-B7DC-716A806CDCEA}"/>
              </a:ext>
            </a:extLst>
          </p:cNvPr>
          <p:cNvCxnSpPr>
            <a:cxnSpLocks/>
          </p:cNvCxnSpPr>
          <p:nvPr/>
        </p:nvCxnSpPr>
        <p:spPr>
          <a:xfrm>
            <a:off x="5574815" y="2760432"/>
            <a:ext cx="3151135" cy="1440338"/>
          </a:xfrm>
          <a:prstGeom prst="line">
            <a:avLst/>
          </a:prstGeom>
          <a:ln w="539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D655DFF-15FE-420A-944C-BE9123BE16B0}"/>
              </a:ext>
            </a:extLst>
          </p:cNvPr>
          <p:cNvSpPr txBox="1"/>
          <p:nvPr/>
        </p:nvSpPr>
        <p:spPr>
          <a:xfrm>
            <a:off x="8827818" y="4930814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SIG = GPIO4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496235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A9D980-311E-4BB7-BD0A-0D2C54B8950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tx1"/>
                </a:solidFill>
              </a:rPr>
              <a:t>ESP32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E79019-19FF-4AC5-BA94-B2CE32464E5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데이터 수집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8BC7854-8D7E-4632-A609-359A79E8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50" y="1946314"/>
            <a:ext cx="3982006" cy="43440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E534800-F33A-4B9F-A8D0-5FAF078A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19435" y="3248713"/>
            <a:ext cx="1571844" cy="25054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BA6001A-1767-4BD8-AA0F-AD3DAA705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077943">
            <a:off x="1850530" y="1250594"/>
            <a:ext cx="2044294" cy="2026671"/>
          </a:xfrm>
          <a:prstGeom prst="rect">
            <a:avLst/>
          </a:prstGeom>
        </p:spPr>
      </p:pic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75B50E0B-3D75-4336-B6FA-07DDB3E02B60}"/>
              </a:ext>
            </a:extLst>
          </p:cNvPr>
          <p:cNvSpPr/>
          <p:nvPr/>
        </p:nvSpPr>
        <p:spPr>
          <a:xfrm>
            <a:off x="4290646" y="4951828"/>
            <a:ext cx="1477108" cy="647114"/>
          </a:xfrm>
          <a:custGeom>
            <a:avLst/>
            <a:gdLst>
              <a:gd name="connsiteX0" fmla="*/ 0 w 1477108"/>
              <a:gd name="connsiteY0" fmla="*/ 0 h 647114"/>
              <a:gd name="connsiteX1" fmla="*/ 225083 w 1477108"/>
              <a:gd name="connsiteY1" fmla="*/ 42203 h 647114"/>
              <a:gd name="connsiteX2" fmla="*/ 295421 w 1477108"/>
              <a:gd name="connsiteY2" fmla="*/ 70338 h 647114"/>
              <a:gd name="connsiteX3" fmla="*/ 365760 w 1477108"/>
              <a:gd name="connsiteY3" fmla="*/ 84406 h 647114"/>
              <a:gd name="connsiteX4" fmla="*/ 492369 w 1477108"/>
              <a:gd name="connsiteY4" fmla="*/ 168812 h 647114"/>
              <a:gd name="connsiteX5" fmla="*/ 576775 w 1477108"/>
              <a:gd name="connsiteY5" fmla="*/ 225083 h 647114"/>
              <a:gd name="connsiteX6" fmla="*/ 647114 w 1477108"/>
              <a:gd name="connsiteY6" fmla="*/ 267286 h 647114"/>
              <a:gd name="connsiteX7" fmla="*/ 731520 w 1477108"/>
              <a:gd name="connsiteY7" fmla="*/ 379827 h 647114"/>
              <a:gd name="connsiteX8" fmla="*/ 787791 w 1477108"/>
              <a:gd name="connsiteY8" fmla="*/ 422031 h 647114"/>
              <a:gd name="connsiteX9" fmla="*/ 858129 w 1477108"/>
              <a:gd name="connsiteY9" fmla="*/ 492369 h 647114"/>
              <a:gd name="connsiteX10" fmla="*/ 928468 w 1477108"/>
              <a:gd name="connsiteY10" fmla="*/ 548640 h 647114"/>
              <a:gd name="connsiteX11" fmla="*/ 1041009 w 1477108"/>
              <a:gd name="connsiteY11" fmla="*/ 633046 h 647114"/>
              <a:gd name="connsiteX12" fmla="*/ 1125415 w 1477108"/>
              <a:gd name="connsiteY12" fmla="*/ 647114 h 647114"/>
              <a:gd name="connsiteX13" fmla="*/ 1378634 w 1477108"/>
              <a:gd name="connsiteY13" fmla="*/ 618978 h 647114"/>
              <a:gd name="connsiteX14" fmla="*/ 1434904 w 1477108"/>
              <a:gd name="connsiteY14" fmla="*/ 604911 h 647114"/>
              <a:gd name="connsiteX15" fmla="*/ 1477108 w 1477108"/>
              <a:gd name="connsiteY15" fmla="*/ 576775 h 64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77108" h="647114">
                <a:moveTo>
                  <a:pt x="0" y="0"/>
                </a:moveTo>
                <a:cubicBezTo>
                  <a:pt x="158294" y="63317"/>
                  <a:pt x="-36579" y="-6859"/>
                  <a:pt x="225083" y="42203"/>
                </a:cubicBezTo>
                <a:cubicBezTo>
                  <a:pt x="249903" y="46857"/>
                  <a:pt x="271234" y="63082"/>
                  <a:pt x="295421" y="70338"/>
                </a:cubicBezTo>
                <a:cubicBezTo>
                  <a:pt x="318323" y="77209"/>
                  <a:pt x="342314" y="79717"/>
                  <a:pt x="365760" y="84406"/>
                </a:cubicBezTo>
                <a:lnTo>
                  <a:pt x="492369" y="168812"/>
                </a:lnTo>
                <a:cubicBezTo>
                  <a:pt x="520504" y="187569"/>
                  <a:pt x="552864" y="201173"/>
                  <a:pt x="576775" y="225083"/>
                </a:cubicBezTo>
                <a:cubicBezTo>
                  <a:pt x="615397" y="263703"/>
                  <a:pt x="592328" y="249024"/>
                  <a:pt x="647114" y="267286"/>
                </a:cubicBezTo>
                <a:cubicBezTo>
                  <a:pt x="673089" y="306249"/>
                  <a:pt x="698101" y="346408"/>
                  <a:pt x="731520" y="379827"/>
                </a:cubicBezTo>
                <a:cubicBezTo>
                  <a:pt x="748099" y="396406"/>
                  <a:pt x="770267" y="406454"/>
                  <a:pt x="787791" y="422031"/>
                </a:cubicBezTo>
                <a:cubicBezTo>
                  <a:pt x="812573" y="444060"/>
                  <a:pt x="833483" y="470188"/>
                  <a:pt x="858129" y="492369"/>
                </a:cubicBezTo>
                <a:cubicBezTo>
                  <a:pt x="880447" y="512455"/>
                  <a:pt x="905871" y="528868"/>
                  <a:pt x="928468" y="548640"/>
                </a:cubicBezTo>
                <a:cubicBezTo>
                  <a:pt x="975654" y="589928"/>
                  <a:pt x="973335" y="608437"/>
                  <a:pt x="1041009" y="633046"/>
                </a:cubicBezTo>
                <a:cubicBezTo>
                  <a:pt x="1067815" y="642794"/>
                  <a:pt x="1097280" y="642425"/>
                  <a:pt x="1125415" y="647114"/>
                </a:cubicBezTo>
                <a:cubicBezTo>
                  <a:pt x="1209821" y="637735"/>
                  <a:pt x="1294487" y="630453"/>
                  <a:pt x="1378634" y="618978"/>
                </a:cubicBezTo>
                <a:cubicBezTo>
                  <a:pt x="1397791" y="616366"/>
                  <a:pt x="1417133" y="612527"/>
                  <a:pt x="1434904" y="604911"/>
                </a:cubicBezTo>
                <a:cubicBezTo>
                  <a:pt x="1450445" y="598251"/>
                  <a:pt x="1463040" y="586154"/>
                  <a:pt x="1477108" y="576775"/>
                </a:cubicBezTo>
              </a:path>
            </a:pathLst>
          </a:cu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870CB3E-01E1-47AA-96A7-C33ED070080A}"/>
              </a:ext>
            </a:extLst>
          </p:cNvPr>
          <p:cNvSpPr/>
          <p:nvPr/>
        </p:nvSpPr>
        <p:spPr>
          <a:xfrm>
            <a:off x="4304714" y="4614203"/>
            <a:ext cx="4965895" cy="704664"/>
          </a:xfrm>
          <a:custGeom>
            <a:avLst/>
            <a:gdLst>
              <a:gd name="connsiteX0" fmla="*/ 0 w 4965895"/>
              <a:gd name="connsiteY0" fmla="*/ 42203 h 704664"/>
              <a:gd name="connsiteX1" fmla="*/ 70338 w 4965895"/>
              <a:gd name="connsiteY1" fmla="*/ 28136 h 704664"/>
              <a:gd name="connsiteX2" fmla="*/ 196947 w 4965895"/>
              <a:gd name="connsiteY2" fmla="*/ 14068 h 704664"/>
              <a:gd name="connsiteX3" fmla="*/ 309489 w 4965895"/>
              <a:gd name="connsiteY3" fmla="*/ 0 h 704664"/>
              <a:gd name="connsiteX4" fmla="*/ 492369 w 4965895"/>
              <a:gd name="connsiteY4" fmla="*/ 14068 h 704664"/>
              <a:gd name="connsiteX5" fmla="*/ 590843 w 4965895"/>
              <a:gd name="connsiteY5" fmla="*/ 42203 h 704664"/>
              <a:gd name="connsiteX6" fmla="*/ 759655 w 4965895"/>
              <a:gd name="connsiteY6" fmla="*/ 56271 h 704664"/>
              <a:gd name="connsiteX7" fmla="*/ 984738 w 4965895"/>
              <a:gd name="connsiteY7" fmla="*/ 98474 h 704664"/>
              <a:gd name="connsiteX8" fmla="*/ 1153550 w 4965895"/>
              <a:gd name="connsiteY8" fmla="*/ 112542 h 704664"/>
              <a:gd name="connsiteX9" fmla="*/ 1378633 w 4965895"/>
              <a:gd name="connsiteY9" fmla="*/ 140677 h 704664"/>
              <a:gd name="connsiteX10" fmla="*/ 1645920 w 4965895"/>
              <a:gd name="connsiteY10" fmla="*/ 168812 h 704664"/>
              <a:gd name="connsiteX11" fmla="*/ 1969476 w 4965895"/>
              <a:gd name="connsiteY11" fmla="*/ 225083 h 704664"/>
              <a:gd name="connsiteX12" fmla="*/ 3080824 w 4965895"/>
              <a:gd name="connsiteY12" fmla="*/ 267286 h 704664"/>
              <a:gd name="connsiteX13" fmla="*/ 3334043 w 4965895"/>
              <a:gd name="connsiteY13" fmla="*/ 309489 h 704664"/>
              <a:gd name="connsiteX14" fmla="*/ 4009292 w 4965895"/>
              <a:gd name="connsiteY14" fmla="*/ 337625 h 704664"/>
              <a:gd name="connsiteX15" fmla="*/ 4346916 w 4965895"/>
              <a:gd name="connsiteY15" fmla="*/ 365760 h 704664"/>
              <a:gd name="connsiteX16" fmla="*/ 4965895 w 4965895"/>
              <a:gd name="connsiteY16" fmla="*/ 407963 h 704664"/>
              <a:gd name="connsiteX17" fmla="*/ 4937760 w 4965895"/>
              <a:gd name="connsiteY17" fmla="*/ 590843 h 704664"/>
              <a:gd name="connsiteX18" fmla="*/ 4895556 w 4965895"/>
              <a:gd name="connsiteY18" fmla="*/ 633046 h 704664"/>
              <a:gd name="connsiteX19" fmla="*/ 4614203 w 4965895"/>
              <a:gd name="connsiteY19" fmla="*/ 675249 h 704664"/>
              <a:gd name="connsiteX20" fmla="*/ 4515729 w 4965895"/>
              <a:gd name="connsiteY20" fmla="*/ 703385 h 70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65895" h="704664">
                <a:moveTo>
                  <a:pt x="0" y="42203"/>
                </a:moveTo>
                <a:cubicBezTo>
                  <a:pt x="23446" y="37514"/>
                  <a:pt x="46668" y="31517"/>
                  <a:pt x="70338" y="28136"/>
                </a:cubicBezTo>
                <a:cubicBezTo>
                  <a:pt x="112374" y="22131"/>
                  <a:pt x="154775" y="19030"/>
                  <a:pt x="196947" y="14068"/>
                </a:cubicBezTo>
                <a:lnTo>
                  <a:pt x="309489" y="0"/>
                </a:lnTo>
                <a:cubicBezTo>
                  <a:pt x="370449" y="4689"/>
                  <a:pt x="431905" y="4998"/>
                  <a:pt x="492369" y="14068"/>
                </a:cubicBezTo>
                <a:cubicBezTo>
                  <a:pt x="526129" y="19132"/>
                  <a:pt x="557123" y="36879"/>
                  <a:pt x="590843" y="42203"/>
                </a:cubicBezTo>
                <a:cubicBezTo>
                  <a:pt x="646618" y="51010"/>
                  <a:pt x="703384" y="51582"/>
                  <a:pt x="759655" y="56271"/>
                </a:cubicBezTo>
                <a:cubicBezTo>
                  <a:pt x="834683" y="70339"/>
                  <a:pt x="909170" y="87679"/>
                  <a:pt x="984738" y="98474"/>
                </a:cubicBezTo>
                <a:cubicBezTo>
                  <a:pt x="1040636" y="106459"/>
                  <a:pt x="1097406" y="106527"/>
                  <a:pt x="1153550" y="112542"/>
                </a:cubicBezTo>
                <a:cubicBezTo>
                  <a:pt x="1228731" y="120597"/>
                  <a:pt x="1303510" y="132092"/>
                  <a:pt x="1378633" y="140677"/>
                </a:cubicBezTo>
                <a:cubicBezTo>
                  <a:pt x="1467642" y="150849"/>
                  <a:pt x="1557233" y="156142"/>
                  <a:pt x="1645920" y="168812"/>
                </a:cubicBezTo>
                <a:cubicBezTo>
                  <a:pt x="1754291" y="184293"/>
                  <a:pt x="1860383" y="215992"/>
                  <a:pt x="1969476" y="225083"/>
                </a:cubicBezTo>
                <a:cubicBezTo>
                  <a:pt x="2564160" y="274641"/>
                  <a:pt x="2194188" y="251166"/>
                  <a:pt x="3080824" y="267286"/>
                </a:cubicBezTo>
                <a:cubicBezTo>
                  <a:pt x="3165230" y="281354"/>
                  <a:pt x="3248943" y="300531"/>
                  <a:pt x="3334043" y="309489"/>
                </a:cubicBezTo>
                <a:cubicBezTo>
                  <a:pt x="3418791" y="318410"/>
                  <a:pt x="3980229" y="336587"/>
                  <a:pt x="4009292" y="337625"/>
                </a:cubicBezTo>
                <a:cubicBezTo>
                  <a:pt x="4121833" y="347003"/>
                  <a:pt x="4234117" y="360302"/>
                  <a:pt x="4346916" y="365760"/>
                </a:cubicBezTo>
                <a:cubicBezTo>
                  <a:pt x="4954839" y="395176"/>
                  <a:pt x="4705112" y="321036"/>
                  <a:pt x="4965895" y="407963"/>
                </a:cubicBezTo>
                <a:cubicBezTo>
                  <a:pt x="4956517" y="468923"/>
                  <a:pt x="4956157" y="531973"/>
                  <a:pt x="4937760" y="590843"/>
                </a:cubicBezTo>
                <a:cubicBezTo>
                  <a:pt x="4931826" y="609832"/>
                  <a:pt x="4912427" y="622502"/>
                  <a:pt x="4895556" y="633046"/>
                </a:cubicBezTo>
                <a:cubicBezTo>
                  <a:pt x="4814484" y="683716"/>
                  <a:pt x="4697661" y="669685"/>
                  <a:pt x="4614203" y="675249"/>
                </a:cubicBezTo>
                <a:cubicBezTo>
                  <a:pt x="4556393" y="713790"/>
                  <a:pt x="4588907" y="703385"/>
                  <a:pt x="4515729" y="703385"/>
                </a:cubicBezTo>
              </a:path>
            </a:pathLst>
          </a:custGeom>
          <a:noFill/>
          <a:ln w="412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D4DBEC06-1B19-4FAB-A12D-C24CFC2253D5}"/>
              </a:ext>
            </a:extLst>
          </p:cNvPr>
          <p:cNvSpPr/>
          <p:nvPr/>
        </p:nvSpPr>
        <p:spPr>
          <a:xfrm>
            <a:off x="4290646" y="3180843"/>
            <a:ext cx="5458264" cy="1194209"/>
          </a:xfrm>
          <a:custGeom>
            <a:avLst/>
            <a:gdLst>
              <a:gd name="connsiteX0" fmla="*/ 0 w 5458264"/>
              <a:gd name="connsiteY0" fmla="*/ 1194209 h 1194209"/>
              <a:gd name="connsiteX1" fmla="*/ 4487594 w 5458264"/>
              <a:gd name="connsiteY1" fmla="*/ 1180142 h 1194209"/>
              <a:gd name="connsiteX2" fmla="*/ 4656406 w 5458264"/>
              <a:gd name="connsiteY2" fmla="*/ 1109803 h 1194209"/>
              <a:gd name="connsiteX3" fmla="*/ 4965895 w 5458264"/>
              <a:gd name="connsiteY3" fmla="*/ 940991 h 1194209"/>
              <a:gd name="connsiteX4" fmla="*/ 5162843 w 5458264"/>
              <a:gd name="connsiteY4" fmla="*/ 842517 h 1194209"/>
              <a:gd name="connsiteX5" fmla="*/ 5205046 w 5458264"/>
              <a:gd name="connsiteY5" fmla="*/ 800314 h 1194209"/>
              <a:gd name="connsiteX6" fmla="*/ 5261317 w 5458264"/>
              <a:gd name="connsiteY6" fmla="*/ 673705 h 1194209"/>
              <a:gd name="connsiteX7" fmla="*/ 5331655 w 5458264"/>
              <a:gd name="connsiteY7" fmla="*/ 547096 h 1194209"/>
              <a:gd name="connsiteX8" fmla="*/ 5387926 w 5458264"/>
              <a:gd name="connsiteY8" fmla="*/ 434554 h 1194209"/>
              <a:gd name="connsiteX9" fmla="*/ 5416061 w 5458264"/>
              <a:gd name="connsiteY9" fmla="*/ 322012 h 1194209"/>
              <a:gd name="connsiteX10" fmla="*/ 5444197 w 5458264"/>
              <a:gd name="connsiteY10" fmla="*/ 237606 h 1194209"/>
              <a:gd name="connsiteX11" fmla="*/ 5458264 w 5458264"/>
              <a:gd name="connsiteY11" fmla="*/ 125065 h 1194209"/>
              <a:gd name="connsiteX12" fmla="*/ 5106572 w 5458264"/>
              <a:gd name="connsiteY12" fmla="*/ 26591 h 119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8264" h="1194209">
                <a:moveTo>
                  <a:pt x="0" y="1194209"/>
                </a:moveTo>
                <a:lnTo>
                  <a:pt x="4487594" y="1180142"/>
                </a:lnTo>
                <a:cubicBezTo>
                  <a:pt x="4548544" y="1179037"/>
                  <a:pt x="4601882" y="1137065"/>
                  <a:pt x="4656406" y="1109803"/>
                </a:cubicBezTo>
                <a:cubicBezTo>
                  <a:pt x="4761512" y="1057250"/>
                  <a:pt x="4862311" y="996482"/>
                  <a:pt x="4965895" y="940991"/>
                </a:cubicBezTo>
                <a:cubicBezTo>
                  <a:pt x="4983570" y="931522"/>
                  <a:pt x="5161160" y="844200"/>
                  <a:pt x="5162843" y="842517"/>
                </a:cubicBezTo>
                <a:lnTo>
                  <a:pt x="5205046" y="800314"/>
                </a:lnTo>
                <a:cubicBezTo>
                  <a:pt x="5223803" y="758111"/>
                  <a:pt x="5240663" y="715013"/>
                  <a:pt x="5261317" y="673705"/>
                </a:cubicBezTo>
                <a:cubicBezTo>
                  <a:pt x="5282908" y="630523"/>
                  <a:pt x="5309066" y="589764"/>
                  <a:pt x="5331655" y="547096"/>
                </a:cubicBezTo>
                <a:cubicBezTo>
                  <a:pt x="5351279" y="510028"/>
                  <a:pt x="5369169" y="472068"/>
                  <a:pt x="5387926" y="434554"/>
                </a:cubicBezTo>
                <a:cubicBezTo>
                  <a:pt x="5397304" y="397040"/>
                  <a:pt x="5405438" y="359193"/>
                  <a:pt x="5416061" y="322012"/>
                </a:cubicBezTo>
                <a:cubicBezTo>
                  <a:pt x="5424209" y="293496"/>
                  <a:pt x="5437983" y="266605"/>
                  <a:pt x="5444197" y="237606"/>
                </a:cubicBezTo>
                <a:cubicBezTo>
                  <a:pt x="5452118" y="200640"/>
                  <a:pt x="5453575" y="162579"/>
                  <a:pt x="5458264" y="125065"/>
                </a:cubicBezTo>
                <a:cubicBezTo>
                  <a:pt x="5400500" y="-77112"/>
                  <a:pt x="5464267" y="26591"/>
                  <a:pt x="5106572" y="26591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FE18F700-77F5-45E3-B730-277F7797A2D2}"/>
              </a:ext>
            </a:extLst>
          </p:cNvPr>
          <p:cNvSpPr/>
          <p:nvPr/>
        </p:nvSpPr>
        <p:spPr>
          <a:xfrm>
            <a:off x="3840480" y="2644726"/>
            <a:ext cx="2518117" cy="211016"/>
          </a:xfrm>
          <a:custGeom>
            <a:avLst/>
            <a:gdLst>
              <a:gd name="connsiteX0" fmla="*/ 0 w 2518117"/>
              <a:gd name="connsiteY0" fmla="*/ 0 h 211016"/>
              <a:gd name="connsiteX1" fmla="*/ 211015 w 2518117"/>
              <a:gd name="connsiteY1" fmla="*/ 14068 h 211016"/>
              <a:gd name="connsiteX2" fmla="*/ 295422 w 2518117"/>
              <a:gd name="connsiteY2" fmla="*/ 28136 h 211016"/>
              <a:gd name="connsiteX3" fmla="*/ 393895 w 2518117"/>
              <a:gd name="connsiteY3" fmla="*/ 42203 h 211016"/>
              <a:gd name="connsiteX4" fmla="*/ 464234 w 2518117"/>
              <a:gd name="connsiteY4" fmla="*/ 56271 h 211016"/>
              <a:gd name="connsiteX5" fmla="*/ 576775 w 2518117"/>
              <a:gd name="connsiteY5" fmla="*/ 70339 h 211016"/>
              <a:gd name="connsiteX6" fmla="*/ 703385 w 2518117"/>
              <a:gd name="connsiteY6" fmla="*/ 112542 h 211016"/>
              <a:gd name="connsiteX7" fmla="*/ 759655 w 2518117"/>
              <a:gd name="connsiteY7" fmla="*/ 126609 h 211016"/>
              <a:gd name="connsiteX8" fmla="*/ 829994 w 2518117"/>
              <a:gd name="connsiteY8" fmla="*/ 140677 h 211016"/>
              <a:gd name="connsiteX9" fmla="*/ 998806 w 2518117"/>
              <a:gd name="connsiteY9" fmla="*/ 182880 h 211016"/>
              <a:gd name="connsiteX10" fmla="*/ 1871003 w 2518117"/>
              <a:gd name="connsiteY10" fmla="*/ 196948 h 211016"/>
              <a:gd name="connsiteX11" fmla="*/ 1927274 w 2518117"/>
              <a:gd name="connsiteY11" fmla="*/ 211016 h 211016"/>
              <a:gd name="connsiteX12" fmla="*/ 2447778 w 2518117"/>
              <a:gd name="connsiteY12" fmla="*/ 196948 h 211016"/>
              <a:gd name="connsiteX13" fmla="*/ 2518117 w 2518117"/>
              <a:gd name="connsiteY13" fmla="*/ 196948 h 21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18117" h="211016">
                <a:moveTo>
                  <a:pt x="0" y="0"/>
                </a:moveTo>
                <a:cubicBezTo>
                  <a:pt x="70338" y="4689"/>
                  <a:pt x="140838" y="7384"/>
                  <a:pt x="211015" y="14068"/>
                </a:cubicBezTo>
                <a:cubicBezTo>
                  <a:pt x="239410" y="16772"/>
                  <a:pt x="267230" y="23799"/>
                  <a:pt x="295422" y="28136"/>
                </a:cubicBezTo>
                <a:cubicBezTo>
                  <a:pt x="328194" y="33178"/>
                  <a:pt x="361189" y="36752"/>
                  <a:pt x="393895" y="42203"/>
                </a:cubicBezTo>
                <a:cubicBezTo>
                  <a:pt x="417480" y="46134"/>
                  <a:pt x="440601" y="52635"/>
                  <a:pt x="464234" y="56271"/>
                </a:cubicBezTo>
                <a:cubicBezTo>
                  <a:pt x="501600" y="62020"/>
                  <a:pt x="539261" y="65650"/>
                  <a:pt x="576775" y="70339"/>
                </a:cubicBezTo>
                <a:cubicBezTo>
                  <a:pt x="618978" y="84407"/>
                  <a:pt x="660227" y="101753"/>
                  <a:pt x="703385" y="112542"/>
                </a:cubicBezTo>
                <a:cubicBezTo>
                  <a:pt x="722142" y="117231"/>
                  <a:pt x="740781" y="122415"/>
                  <a:pt x="759655" y="126609"/>
                </a:cubicBezTo>
                <a:cubicBezTo>
                  <a:pt x="782996" y="131796"/>
                  <a:pt x="807092" y="133806"/>
                  <a:pt x="829994" y="140677"/>
                </a:cubicBezTo>
                <a:cubicBezTo>
                  <a:pt x="928921" y="170355"/>
                  <a:pt x="878220" y="179385"/>
                  <a:pt x="998806" y="182880"/>
                </a:cubicBezTo>
                <a:cubicBezTo>
                  <a:pt x="1289454" y="191305"/>
                  <a:pt x="1580271" y="192259"/>
                  <a:pt x="1871003" y="196948"/>
                </a:cubicBezTo>
                <a:cubicBezTo>
                  <a:pt x="1889760" y="201637"/>
                  <a:pt x="1907940" y="211016"/>
                  <a:pt x="1927274" y="211016"/>
                </a:cubicBezTo>
                <a:cubicBezTo>
                  <a:pt x="2100839" y="211016"/>
                  <a:pt x="2274262" y="201079"/>
                  <a:pt x="2447778" y="196948"/>
                </a:cubicBezTo>
                <a:cubicBezTo>
                  <a:pt x="2471218" y="196390"/>
                  <a:pt x="2494671" y="196948"/>
                  <a:pt x="2518117" y="196948"/>
                </a:cubicBezTo>
              </a:path>
            </a:pathLst>
          </a:custGeom>
          <a:noFill/>
          <a:ln w="539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AAC02369-B67A-43F5-BB7D-DC760D19A9A9}"/>
              </a:ext>
            </a:extLst>
          </p:cNvPr>
          <p:cNvSpPr/>
          <p:nvPr/>
        </p:nvSpPr>
        <p:spPr>
          <a:xfrm>
            <a:off x="3840480" y="2180492"/>
            <a:ext cx="2518117" cy="341999"/>
          </a:xfrm>
          <a:custGeom>
            <a:avLst/>
            <a:gdLst>
              <a:gd name="connsiteX0" fmla="*/ 0 w 2518117"/>
              <a:gd name="connsiteY0" fmla="*/ 281354 h 341999"/>
              <a:gd name="connsiteX1" fmla="*/ 84406 w 2518117"/>
              <a:gd name="connsiteY1" fmla="*/ 295422 h 341999"/>
              <a:gd name="connsiteX2" fmla="*/ 196948 w 2518117"/>
              <a:gd name="connsiteY2" fmla="*/ 323557 h 341999"/>
              <a:gd name="connsiteX3" fmla="*/ 661182 w 2518117"/>
              <a:gd name="connsiteY3" fmla="*/ 337625 h 341999"/>
              <a:gd name="connsiteX4" fmla="*/ 1448972 w 2518117"/>
              <a:gd name="connsiteY4" fmla="*/ 281354 h 341999"/>
              <a:gd name="connsiteX5" fmla="*/ 1631852 w 2518117"/>
              <a:gd name="connsiteY5" fmla="*/ 196948 h 341999"/>
              <a:gd name="connsiteX6" fmla="*/ 1744394 w 2518117"/>
              <a:gd name="connsiteY6" fmla="*/ 126610 h 341999"/>
              <a:gd name="connsiteX7" fmla="*/ 1885071 w 2518117"/>
              <a:gd name="connsiteY7" fmla="*/ 56271 h 341999"/>
              <a:gd name="connsiteX8" fmla="*/ 2011680 w 2518117"/>
              <a:gd name="connsiteY8" fmla="*/ 28136 h 341999"/>
              <a:gd name="connsiteX9" fmla="*/ 2067951 w 2518117"/>
              <a:gd name="connsiteY9" fmla="*/ 14068 h 341999"/>
              <a:gd name="connsiteX10" fmla="*/ 2194560 w 2518117"/>
              <a:gd name="connsiteY10" fmla="*/ 0 h 341999"/>
              <a:gd name="connsiteX11" fmla="*/ 2419643 w 2518117"/>
              <a:gd name="connsiteY11" fmla="*/ 28136 h 341999"/>
              <a:gd name="connsiteX12" fmla="*/ 2518117 w 2518117"/>
              <a:gd name="connsiteY12" fmla="*/ 42203 h 341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18117" h="341999">
                <a:moveTo>
                  <a:pt x="0" y="281354"/>
                </a:moveTo>
                <a:cubicBezTo>
                  <a:pt x="28135" y="286043"/>
                  <a:pt x="56516" y="289446"/>
                  <a:pt x="84406" y="295422"/>
                </a:cubicBezTo>
                <a:cubicBezTo>
                  <a:pt x="122216" y="303524"/>
                  <a:pt x="158383" y="320735"/>
                  <a:pt x="196948" y="323557"/>
                </a:cubicBezTo>
                <a:cubicBezTo>
                  <a:pt x="351351" y="334855"/>
                  <a:pt x="506437" y="332936"/>
                  <a:pt x="661182" y="337625"/>
                </a:cubicBezTo>
                <a:cubicBezTo>
                  <a:pt x="816110" y="334104"/>
                  <a:pt x="1226660" y="370277"/>
                  <a:pt x="1448972" y="281354"/>
                </a:cubicBezTo>
                <a:cubicBezTo>
                  <a:pt x="1490456" y="264761"/>
                  <a:pt x="1609328" y="219472"/>
                  <a:pt x="1631852" y="196948"/>
                </a:cubicBezTo>
                <a:cubicBezTo>
                  <a:pt x="1700658" y="128142"/>
                  <a:pt x="1644481" y="173236"/>
                  <a:pt x="1744394" y="126610"/>
                </a:cubicBezTo>
                <a:cubicBezTo>
                  <a:pt x="1791903" y="104439"/>
                  <a:pt x="1834209" y="68987"/>
                  <a:pt x="1885071" y="56271"/>
                </a:cubicBezTo>
                <a:cubicBezTo>
                  <a:pt x="2022305" y="21962"/>
                  <a:pt x="1850945" y="63854"/>
                  <a:pt x="2011680" y="28136"/>
                </a:cubicBezTo>
                <a:cubicBezTo>
                  <a:pt x="2030554" y="23942"/>
                  <a:pt x="2048842" y="17008"/>
                  <a:pt x="2067951" y="14068"/>
                </a:cubicBezTo>
                <a:cubicBezTo>
                  <a:pt x="2109920" y="7611"/>
                  <a:pt x="2152357" y="4689"/>
                  <a:pt x="2194560" y="0"/>
                </a:cubicBezTo>
                <a:cubicBezTo>
                  <a:pt x="2269588" y="9379"/>
                  <a:pt x="2344868" y="16920"/>
                  <a:pt x="2419643" y="28136"/>
                </a:cubicBezTo>
                <a:cubicBezTo>
                  <a:pt x="2536168" y="45615"/>
                  <a:pt x="2422669" y="42203"/>
                  <a:pt x="2518117" y="42203"/>
                </a:cubicBezTo>
              </a:path>
            </a:pathLst>
          </a:cu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C13D5732-0D78-4493-A169-92EAB375E35A}"/>
              </a:ext>
            </a:extLst>
          </p:cNvPr>
          <p:cNvSpPr/>
          <p:nvPr/>
        </p:nvSpPr>
        <p:spPr>
          <a:xfrm>
            <a:off x="3840480" y="1795166"/>
            <a:ext cx="4867422" cy="864195"/>
          </a:xfrm>
          <a:custGeom>
            <a:avLst/>
            <a:gdLst>
              <a:gd name="connsiteX0" fmla="*/ 0 w 4867422"/>
              <a:gd name="connsiteY0" fmla="*/ 455665 h 864195"/>
              <a:gd name="connsiteX1" fmla="*/ 393895 w 4867422"/>
              <a:gd name="connsiteY1" fmla="*/ 343123 h 864195"/>
              <a:gd name="connsiteX2" fmla="*/ 956603 w 4867422"/>
              <a:gd name="connsiteY2" fmla="*/ 272785 h 864195"/>
              <a:gd name="connsiteX3" fmla="*/ 1252025 w 4867422"/>
              <a:gd name="connsiteY3" fmla="*/ 230582 h 864195"/>
              <a:gd name="connsiteX4" fmla="*/ 1519311 w 4867422"/>
              <a:gd name="connsiteY4" fmla="*/ 202446 h 864195"/>
              <a:gd name="connsiteX5" fmla="*/ 1885071 w 4867422"/>
              <a:gd name="connsiteY5" fmla="*/ 103972 h 864195"/>
              <a:gd name="connsiteX6" fmla="*/ 2419643 w 4867422"/>
              <a:gd name="connsiteY6" fmla="*/ 61769 h 864195"/>
              <a:gd name="connsiteX7" fmla="*/ 4712677 w 4867422"/>
              <a:gd name="connsiteY7" fmla="*/ 89905 h 864195"/>
              <a:gd name="connsiteX8" fmla="*/ 4811151 w 4867422"/>
              <a:gd name="connsiteY8" fmla="*/ 188379 h 864195"/>
              <a:gd name="connsiteX9" fmla="*/ 4839286 w 4867422"/>
              <a:gd name="connsiteY9" fmla="*/ 272785 h 864195"/>
              <a:gd name="connsiteX10" fmla="*/ 4867422 w 4867422"/>
              <a:gd name="connsiteY10" fmla="*/ 329056 h 864195"/>
              <a:gd name="connsiteX11" fmla="*/ 4811151 w 4867422"/>
              <a:gd name="connsiteY11" fmla="*/ 722951 h 864195"/>
              <a:gd name="connsiteX12" fmla="*/ 4726745 w 4867422"/>
              <a:gd name="connsiteY12" fmla="*/ 821425 h 864195"/>
              <a:gd name="connsiteX13" fmla="*/ 4628271 w 4867422"/>
              <a:gd name="connsiteY13" fmla="*/ 835492 h 864195"/>
              <a:gd name="connsiteX14" fmla="*/ 4529797 w 4867422"/>
              <a:gd name="connsiteY14" fmla="*/ 863628 h 864195"/>
              <a:gd name="connsiteX15" fmla="*/ 4248443 w 4867422"/>
              <a:gd name="connsiteY15" fmla="*/ 849560 h 864195"/>
              <a:gd name="connsiteX16" fmla="*/ 4206240 w 4867422"/>
              <a:gd name="connsiteY16" fmla="*/ 849560 h 86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867422" h="864195">
                <a:moveTo>
                  <a:pt x="0" y="455665"/>
                </a:moveTo>
                <a:cubicBezTo>
                  <a:pt x="159479" y="359977"/>
                  <a:pt x="65829" y="405944"/>
                  <a:pt x="393895" y="343123"/>
                </a:cubicBezTo>
                <a:cubicBezTo>
                  <a:pt x="726430" y="279446"/>
                  <a:pt x="669859" y="290706"/>
                  <a:pt x="956603" y="272785"/>
                </a:cubicBezTo>
                <a:lnTo>
                  <a:pt x="1252025" y="230582"/>
                </a:lnTo>
                <a:cubicBezTo>
                  <a:pt x="1340921" y="219470"/>
                  <a:pt x="1431011" y="217583"/>
                  <a:pt x="1519311" y="202446"/>
                </a:cubicBezTo>
                <a:cubicBezTo>
                  <a:pt x="1935691" y="131067"/>
                  <a:pt x="1579287" y="170447"/>
                  <a:pt x="1885071" y="103972"/>
                </a:cubicBezTo>
                <a:cubicBezTo>
                  <a:pt x="2076855" y="62280"/>
                  <a:pt x="2209969" y="70156"/>
                  <a:pt x="2419643" y="61769"/>
                </a:cubicBezTo>
                <a:cubicBezTo>
                  <a:pt x="3291057" y="-25371"/>
                  <a:pt x="3157899" y="-24112"/>
                  <a:pt x="4712677" y="89905"/>
                </a:cubicBezTo>
                <a:cubicBezTo>
                  <a:pt x="4758974" y="93300"/>
                  <a:pt x="4778326" y="155554"/>
                  <a:pt x="4811151" y="188379"/>
                </a:cubicBezTo>
                <a:cubicBezTo>
                  <a:pt x="4820529" y="216514"/>
                  <a:pt x="4828272" y="245249"/>
                  <a:pt x="4839286" y="272785"/>
                </a:cubicBezTo>
                <a:cubicBezTo>
                  <a:pt x="4847074" y="292256"/>
                  <a:pt x="4867422" y="308085"/>
                  <a:pt x="4867422" y="329056"/>
                </a:cubicBezTo>
                <a:cubicBezTo>
                  <a:pt x="4867422" y="484675"/>
                  <a:pt x="4863219" y="592781"/>
                  <a:pt x="4811151" y="722951"/>
                </a:cubicBezTo>
                <a:cubicBezTo>
                  <a:pt x="4793386" y="767364"/>
                  <a:pt x="4776474" y="803342"/>
                  <a:pt x="4726745" y="821425"/>
                </a:cubicBezTo>
                <a:cubicBezTo>
                  <a:pt x="4695583" y="832756"/>
                  <a:pt x="4661096" y="830803"/>
                  <a:pt x="4628271" y="835492"/>
                </a:cubicBezTo>
                <a:cubicBezTo>
                  <a:pt x="4595446" y="844871"/>
                  <a:pt x="4563912" y="862364"/>
                  <a:pt x="4529797" y="863628"/>
                </a:cubicBezTo>
                <a:cubicBezTo>
                  <a:pt x="4435960" y="867104"/>
                  <a:pt x="4342256" y="853639"/>
                  <a:pt x="4248443" y="849560"/>
                </a:cubicBezTo>
                <a:cubicBezTo>
                  <a:pt x="4234389" y="848949"/>
                  <a:pt x="4220308" y="849560"/>
                  <a:pt x="4206240" y="849560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88A48EED-24D3-46DE-AC50-FA25255B6213}"/>
              </a:ext>
            </a:extLst>
          </p:cNvPr>
          <p:cNvSpPr/>
          <p:nvPr/>
        </p:nvSpPr>
        <p:spPr>
          <a:xfrm>
            <a:off x="4332849" y="3024554"/>
            <a:ext cx="2082019" cy="1041009"/>
          </a:xfrm>
          <a:custGeom>
            <a:avLst/>
            <a:gdLst>
              <a:gd name="connsiteX0" fmla="*/ 0 w 2082019"/>
              <a:gd name="connsiteY0" fmla="*/ 1041009 h 1041009"/>
              <a:gd name="connsiteX1" fmla="*/ 112542 w 2082019"/>
              <a:gd name="connsiteY1" fmla="*/ 1026941 h 1041009"/>
              <a:gd name="connsiteX2" fmla="*/ 506437 w 2082019"/>
              <a:gd name="connsiteY2" fmla="*/ 942535 h 1041009"/>
              <a:gd name="connsiteX3" fmla="*/ 717453 w 2082019"/>
              <a:gd name="connsiteY3" fmla="*/ 815926 h 1041009"/>
              <a:gd name="connsiteX4" fmla="*/ 773723 w 2082019"/>
              <a:gd name="connsiteY4" fmla="*/ 773723 h 1041009"/>
              <a:gd name="connsiteX5" fmla="*/ 928468 w 2082019"/>
              <a:gd name="connsiteY5" fmla="*/ 675249 h 1041009"/>
              <a:gd name="connsiteX6" fmla="*/ 1055077 w 2082019"/>
              <a:gd name="connsiteY6" fmla="*/ 618978 h 1041009"/>
              <a:gd name="connsiteX7" fmla="*/ 1252025 w 2082019"/>
              <a:gd name="connsiteY7" fmla="*/ 520504 h 1041009"/>
              <a:gd name="connsiteX8" fmla="*/ 1308296 w 2082019"/>
              <a:gd name="connsiteY8" fmla="*/ 492369 h 1041009"/>
              <a:gd name="connsiteX9" fmla="*/ 1547446 w 2082019"/>
              <a:gd name="connsiteY9" fmla="*/ 309489 h 1041009"/>
              <a:gd name="connsiteX10" fmla="*/ 1645920 w 2082019"/>
              <a:gd name="connsiteY10" fmla="*/ 253218 h 1041009"/>
              <a:gd name="connsiteX11" fmla="*/ 1842868 w 2082019"/>
              <a:gd name="connsiteY11" fmla="*/ 112541 h 1041009"/>
              <a:gd name="connsiteX12" fmla="*/ 1913206 w 2082019"/>
              <a:gd name="connsiteY12" fmla="*/ 28135 h 1041009"/>
              <a:gd name="connsiteX13" fmla="*/ 2039816 w 2082019"/>
              <a:gd name="connsiteY13" fmla="*/ 14068 h 1041009"/>
              <a:gd name="connsiteX14" fmla="*/ 2082019 w 2082019"/>
              <a:gd name="connsiteY14" fmla="*/ 0 h 10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2019" h="1041009">
                <a:moveTo>
                  <a:pt x="0" y="1041009"/>
                </a:moveTo>
                <a:cubicBezTo>
                  <a:pt x="37514" y="1036320"/>
                  <a:pt x="75325" y="1033587"/>
                  <a:pt x="112542" y="1026941"/>
                </a:cubicBezTo>
                <a:cubicBezTo>
                  <a:pt x="336049" y="987029"/>
                  <a:pt x="339828" y="984188"/>
                  <a:pt x="506437" y="942535"/>
                </a:cubicBezTo>
                <a:cubicBezTo>
                  <a:pt x="730009" y="782842"/>
                  <a:pt x="474246" y="957797"/>
                  <a:pt x="717453" y="815926"/>
                </a:cubicBezTo>
                <a:cubicBezTo>
                  <a:pt x="737705" y="804112"/>
                  <a:pt x="754215" y="786728"/>
                  <a:pt x="773723" y="773723"/>
                </a:cubicBezTo>
                <a:cubicBezTo>
                  <a:pt x="824595" y="739808"/>
                  <a:pt x="874896" y="704714"/>
                  <a:pt x="928468" y="675249"/>
                </a:cubicBezTo>
                <a:cubicBezTo>
                  <a:pt x="968935" y="652992"/>
                  <a:pt x="1013413" y="638904"/>
                  <a:pt x="1055077" y="618978"/>
                </a:cubicBezTo>
                <a:cubicBezTo>
                  <a:pt x="1121292" y="587310"/>
                  <a:pt x="1186376" y="553329"/>
                  <a:pt x="1252025" y="520504"/>
                </a:cubicBezTo>
                <a:cubicBezTo>
                  <a:pt x="1270782" y="511126"/>
                  <a:pt x="1291638" y="505108"/>
                  <a:pt x="1308296" y="492369"/>
                </a:cubicBezTo>
                <a:cubicBezTo>
                  <a:pt x="1388013" y="431409"/>
                  <a:pt x="1460315" y="359278"/>
                  <a:pt x="1547446" y="309489"/>
                </a:cubicBezTo>
                <a:cubicBezTo>
                  <a:pt x="1580271" y="290732"/>
                  <a:pt x="1614464" y="274189"/>
                  <a:pt x="1645920" y="253218"/>
                </a:cubicBezTo>
                <a:cubicBezTo>
                  <a:pt x="1713047" y="208467"/>
                  <a:pt x="1842868" y="112541"/>
                  <a:pt x="1842868" y="112541"/>
                </a:cubicBezTo>
                <a:cubicBezTo>
                  <a:pt x="1855739" y="93235"/>
                  <a:pt x="1889995" y="35872"/>
                  <a:pt x="1913206" y="28135"/>
                </a:cubicBezTo>
                <a:cubicBezTo>
                  <a:pt x="1953490" y="14707"/>
                  <a:pt x="1997931" y="21049"/>
                  <a:pt x="2039816" y="14068"/>
                </a:cubicBezTo>
                <a:cubicBezTo>
                  <a:pt x="2054443" y="11630"/>
                  <a:pt x="2067951" y="4689"/>
                  <a:pt x="2082019" y="0"/>
                </a:cubicBezTo>
              </a:path>
            </a:pathLst>
          </a:cu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962D4D-27CD-46B3-9F07-1BC7BE347102}"/>
              </a:ext>
            </a:extLst>
          </p:cNvPr>
          <p:cNvSpPr txBox="1"/>
          <p:nvPr/>
        </p:nvSpPr>
        <p:spPr>
          <a:xfrm>
            <a:off x="3778898" y="277316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GPIO4</a:t>
            </a:r>
            <a:endParaRPr lang="ko-KR" altLang="en-US" b="1" dirty="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1C51EF-CD05-4B5F-8A07-A8486CD18CAB}"/>
              </a:ext>
            </a:extLst>
          </p:cNvPr>
          <p:cNvSpPr txBox="1"/>
          <p:nvPr/>
        </p:nvSpPr>
        <p:spPr>
          <a:xfrm>
            <a:off x="4394581" y="402439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GPIO18</a:t>
            </a:r>
            <a:endParaRPr lang="ko-KR" altLang="en-US" b="1" dirty="0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4CFD9B-B386-4AD7-8228-467A5C779CC4}"/>
              </a:ext>
            </a:extLst>
          </p:cNvPr>
          <p:cNvSpPr txBox="1"/>
          <p:nvPr/>
        </p:nvSpPr>
        <p:spPr>
          <a:xfrm>
            <a:off x="4394581" y="433616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GPIO12</a:t>
            </a:r>
            <a:endParaRPr lang="ko-KR" altLang="en-US" b="1" dirty="0"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6FB2C0-5ED2-484A-A526-D624E959BCBF}"/>
              </a:ext>
            </a:extLst>
          </p:cNvPr>
          <p:cNvSpPr txBox="1"/>
          <p:nvPr/>
        </p:nvSpPr>
        <p:spPr>
          <a:xfrm>
            <a:off x="4372138" y="465386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GPIO13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3631137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A9D980-311E-4BB7-BD0A-0D2C54B8950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tx1"/>
                </a:solidFill>
              </a:rPr>
              <a:t>chatGPT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E79019-19FF-4AC5-BA94-B2CE32464E5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데이터 수집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15789-BEDF-46EB-B717-9866E4D25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908720"/>
            <a:ext cx="4424929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en-US" b="1" dirty="0">
                <a:latin typeface="Arial" panose="020B0604020202020204" pitchFamily="34" charset="0"/>
              </a:rPr>
              <a:t>총 </a:t>
            </a:r>
            <a:r>
              <a:rPr lang="en-US" altLang="ko-KR" b="1" dirty="0">
                <a:latin typeface="Arial" panose="020B0604020202020204" pitchFamily="34" charset="0"/>
              </a:rPr>
              <a:t>1</a:t>
            </a:r>
            <a:r>
              <a:rPr lang="ko-KR" altLang="en-US" b="1" dirty="0">
                <a:latin typeface="Arial" panose="020B0604020202020204" pitchFamily="34" charset="0"/>
              </a:rPr>
              <a:t>만개 데이터 생성</a:t>
            </a:r>
            <a:endParaRPr lang="en-US" altLang="ko-KR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en-US" b="1" dirty="0">
                <a:latin typeface="Arial" panose="020B0604020202020204" pitchFamily="34" charset="0"/>
              </a:rPr>
              <a:t>판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 기준</a:t>
            </a:r>
          </a:p>
          <a:p>
            <a:pPr marL="265113" marR="0" lvl="0" indent="192088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양품(OK,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1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22.0℃ ~ 28.0℃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습도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40.0% ~ 80.0%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두 조건을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모두 만족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하면 OK</a:t>
            </a: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불량(NOK,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0)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아래 중 하나라도 해당하면 모두 불량</a:t>
            </a: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온도가 너무 낮음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 22.0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온도가 너무 높음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28.0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너무 건조함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 40.0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너무 습함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80.0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6CC66D-7F8A-47E5-BDFE-B18142EE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52" y="764704"/>
            <a:ext cx="5029902" cy="56300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13480258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908721"/>
            <a:ext cx="7845076" cy="32390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2" name="직선 화살표 연결선 11"/>
          <p:cNvCxnSpPr/>
          <p:nvPr/>
        </p:nvCxnSpPr>
        <p:spPr>
          <a:xfrm flipH="1" flipV="1">
            <a:off x="6436223" y="3169183"/>
            <a:ext cx="10274" cy="380143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94435" y="3479192"/>
            <a:ext cx="1207382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코드 입력 창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5449910" y="3189732"/>
            <a:ext cx="0" cy="59723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64620" y="3786969"/>
            <a:ext cx="1386918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코드 실행 버튼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 flipH="1" flipV="1">
            <a:off x="8051019" y="3443009"/>
            <a:ext cx="29075" cy="19007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27548" y="3634193"/>
            <a:ext cx="2050561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코드 입력 창 추가 버튼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2501227" y="3981208"/>
            <a:ext cx="249987" cy="744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57393" y="3786968"/>
            <a:ext cx="1683474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가상환경 드라이브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BE946CC-79B7-5B26-76E6-9AD1D092A4B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987F6-197F-1C12-BACB-21B94EC39B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45C77FA-11F7-CF73-15F7-2F89CFDE51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933F42-3D53-6EC6-75E0-49B376363F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634B87-8965-F3DC-FF53-07C8507E0559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1-1. google </a:t>
            </a:r>
            <a:r>
              <a:rPr lang="en-US" altLang="ko-KR" sz="2000" b="1" dirty="0" err="1">
                <a:solidFill>
                  <a:schemeClr val="tx1"/>
                </a:solidFill>
              </a:rPr>
              <a:t>colab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</a:rPr>
              <a:t>접속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E3B835-CFC3-EA53-8FB4-7997F9BDD49F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Colab </a:t>
            </a:r>
            <a:r>
              <a:rPr lang="ko-KR" altLang="en-US" sz="2000" b="1" dirty="0"/>
              <a:t>준비 및 </a:t>
            </a:r>
            <a:r>
              <a:rPr lang="en-US" altLang="ko-KR" sz="2000" b="1" dirty="0"/>
              <a:t>csv </a:t>
            </a:r>
            <a:r>
              <a:rPr lang="ko-KR" altLang="en-US" sz="2000" b="1" dirty="0"/>
              <a:t>업로드</a:t>
            </a:r>
          </a:p>
        </p:txBody>
      </p:sp>
    </p:spTree>
    <p:extLst>
      <p:ext uri="{BB962C8B-B14F-4D97-AF65-F5344CB8AC3E}">
        <p14:creationId xmlns:p14="http://schemas.microsoft.com/office/powerpoint/2010/main" val="220393462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ABD8-1667-9A3B-E53D-3F99B34A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01EC2531-E8DB-916E-5FED-424336A93A6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B798518-002A-C573-1ECC-70BB76447E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81C00A6-7823-06B5-2CBD-F6A122ECB7D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202EB2D-22BF-06ED-A05E-C9FEAB915B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6FDCDB8-9DBB-A2D5-FB2E-7DADB51EAF6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F0112-EAB1-EA09-21C8-60BB0F3B2E1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13EDFD-8AD7-833B-B4EA-A59DD00A8F3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AF9CA0-BEFC-30E2-F954-A3FE580D296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371623-21FA-C658-E694-0CDEC9097CA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1-2. </a:t>
            </a:r>
            <a:r>
              <a:rPr lang="ko-KR" altLang="en-US" sz="2000" b="1" dirty="0">
                <a:solidFill>
                  <a:schemeClr val="tx1"/>
                </a:solidFill>
              </a:rPr>
              <a:t>라이브러리 불러오기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07D3C6-3B46-513C-4636-4EC157FC41F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Colab </a:t>
            </a:r>
            <a:r>
              <a:rPr lang="ko-KR" altLang="en-US" sz="2000" b="1" dirty="0"/>
              <a:t>준비 및 </a:t>
            </a:r>
            <a:r>
              <a:rPr lang="en-US" altLang="ko-KR" sz="2000" b="1" dirty="0"/>
              <a:t>csv </a:t>
            </a:r>
            <a:r>
              <a:rPr lang="ko-KR" altLang="en-US" sz="2000" b="1" dirty="0"/>
              <a:t>업로드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108030-92EE-677C-49EB-7B8233CD2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0"/>
            <a:ext cx="8164064" cy="206721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261BAB-E0A8-9AD1-19DF-03B71DC903E5}"/>
              </a:ext>
            </a:extLst>
          </p:cNvPr>
          <p:cNvSpPr txBox="1"/>
          <p:nvPr/>
        </p:nvSpPr>
        <p:spPr>
          <a:xfrm>
            <a:off x="1809423" y="1412776"/>
            <a:ext cx="61087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altLang="ko-KR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seaborn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</a:t>
            </a:r>
            <a:endParaRPr lang="en-US" altLang="ko-KR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7755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05B64-2859-BA2F-4B9C-8C1D20A7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E3B790F-B7BE-3D2F-F4E7-84A235091A4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603754C-EB25-0FB6-6C93-C3CD22F3C33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0950DA7-8DF1-5915-4735-1F7429A4E6B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AD865BD8-CCE0-B162-F68F-6EBDE0B87B0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C1932F3-46EB-09C0-2817-3D701B05F10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B2D35F-FA4B-F199-3466-7B41130156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132968-B0AD-2324-A3EE-1771EFE3D46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8B7E13-FA70-5F1B-E574-28F20E4A151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3E8EE1-17F4-D759-E2CC-559191B246A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1-3. CSV</a:t>
            </a:r>
            <a:r>
              <a:rPr lang="ko-KR" altLang="en-US" sz="2000" b="1" dirty="0">
                <a:solidFill>
                  <a:schemeClr val="tx1"/>
                </a:solidFill>
              </a:rPr>
              <a:t> 파일 업로드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52FA7F-5844-4A92-FD6D-7DBBA6EB881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Colab </a:t>
            </a:r>
            <a:r>
              <a:rPr lang="ko-KR" altLang="en-US" sz="2000" b="1" dirty="0"/>
              <a:t>준비 및 </a:t>
            </a:r>
            <a:r>
              <a:rPr lang="en-US" altLang="ko-KR" sz="2000" b="1" dirty="0"/>
              <a:t>csv </a:t>
            </a:r>
            <a:r>
              <a:rPr lang="ko-KR" altLang="en-US" sz="2000" b="1" dirty="0"/>
              <a:t>업로드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6BCF46-F27C-59A0-D49C-259A868D1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0"/>
            <a:ext cx="8164064" cy="2067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C05ECA-B625-3452-1633-202E511571C5}"/>
              </a:ext>
            </a:extLst>
          </p:cNvPr>
          <p:cNvSpPr txBox="1"/>
          <p:nvPr/>
        </p:nvSpPr>
        <p:spPr>
          <a:xfrm>
            <a:off x="1889449" y="1484784"/>
            <a:ext cx="61087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google.colab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files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 = files.upload()</a:t>
            </a:r>
          </a:p>
        </p:txBody>
      </p:sp>
      <p:pic>
        <p:nvPicPr>
          <p:cNvPr id="12" name="그림 11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F7755A-EF36-8D85-77D6-ADF3D5AF8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3068960"/>
            <a:ext cx="8154538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76100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AF86-B74A-FEB2-D71A-70B6793C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4F3EC28-64F3-06BD-C1F7-3D8D3AA3AB4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320ADA4-6056-EA59-8C6C-75F2CAB420D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EE8ED4D-AB3D-D513-28D6-5C7131C106A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2D92E06-54DA-6642-FA61-F9E0334CC5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370AA49-8BCF-935F-3C12-9E6BE8AD864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CB7D9-B5C0-7278-C351-3168F78C47B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D1F330-1D94-BE7E-C71E-6720AC70D1A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A62EF7-DB76-DF5F-0C3F-C8BAEB10048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B003C2-3E0C-1829-30C3-C7879518865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2-1. CSV </a:t>
            </a:r>
            <a:r>
              <a:rPr lang="ko-KR" altLang="en-US" sz="2000" b="1">
                <a:solidFill>
                  <a:schemeClr val="tx1"/>
                </a:solidFill>
              </a:rPr>
              <a:t>읽기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DBD614-2E95-88C8-DBFB-4A8945E40D2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</a:t>
            </a:r>
            <a:r>
              <a:rPr lang="ko-KR" altLang="en-US" sz="2000" b="1" dirty="0"/>
              <a:t>데이터 읽기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및 확인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E4A00-8140-A2F1-C85B-AC356F0FA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728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B2569C-05F9-D067-CEF6-ACFE561C7E58}"/>
              </a:ext>
            </a:extLst>
          </p:cNvPr>
          <p:cNvSpPr txBox="1"/>
          <p:nvPr/>
        </p:nvSpPr>
        <p:spPr>
          <a:xfrm>
            <a:off x="1775520" y="1556792"/>
            <a:ext cx="752432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 =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"TH_quality_10000.csv"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df.head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1A293E-3395-E511-9039-4A33516AF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2780928"/>
            <a:ext cx="5268060" cy="2724530"/>
          </a:xfrm>
          <a:prstGeom prst="rect">
            <a:avLst/>
          </a:prstGeom>
          <a:ln w="2222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10902461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0FB6-DCEF-DA0D-C5AC-B7D700C3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99EE40C-199C-0F3A-C332-2628418B127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4727F7A-1C95-9FEB-B263-872D09EC00F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8C998FF-8F8B-F1E6-8533-B24A95A3777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7555F102-8E98-A84E-D8C9-407645B5A87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1C5FAAE-40C2-66AF-B7CB-C5890FC35B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B7292-538F-8FF3-B82B-A7DAD6C19CA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F8CED6-E980-D37F-F480-42EF31FBF9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C7016B-8BF7-EF0C-D3DE-B7127F78874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D864FE-6401-BD8E-D7DB-BAB064ECE5C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2-2. </a:t>
            </a:r>
            <a:r>
              <a:rPr lang="ko-KR" altLang="en-US" sz="2000" b="1">
                <a:solidFill>
                  <a:schemeClr val="tx1"/>
                </a:solidFill>
              </a:rPr>
              <a:t>데이터 정보 확인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FC1040-6186-F5C6-C0DD-D03147077EA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</a:t>
            </a:r>
            <a:r>
              <a:rPr lang="ko-KR" altLang="en-US" sz="2000" b="1" dirty="0"/>
              <a:t>데이터 읽기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및 확인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183D04-C87D-C82F-7F04-118EF389A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296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7C1532-EC32-E619-3DA4-DC2AD3D7817C}"/>
              </a:ext>
            </a:extLst>
          </p:cNvPr>
          <p:cNvSpPr txBox="1"/>
          <p:nvPr/>
        </p:nvSpPr>
        <p:spPr>
          <a:xfrm>
            <a:off x="1943014" y="1521851"/>
            <a:ext cx="610870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df.info()</a:t>
            </a:r>
          </a:p>
        </p:txBody>
      </p:sp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FE7580-C420-5F95-E0D1-686D586B3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2348880"/>
            <a:ext cx="4677428" cy="2743583"/>
          </a:xfrm>
          <a:prstGeom prst="rect">
            <a:avLst/>
          </a:prstGeom>
          <a:ln w="2540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009432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204B-8937-5559-FD44-4DCA6942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C873A12-6547-E48A-CE56-B7E3570830A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218D2EF-0E69-C735-BA08-92831CCB61F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0CE0F5B-372D-BAB8-A9B9-FEBEA83D924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712B649-CABD-5051-699A-B431BE4955B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F04E738-B6EE-EBC9-2201-B3539E4715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37721-FF1D-806B-27AC-71EE2D31775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8628D25-1D3F-4EB9-C3E8-09891D4FC00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BB13EA-33BF-814E-07D7-9D54053F77B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0A64E3-F067-47B3-0781-B8445B9FD48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2-3. </a:t>
            </a:r>
            <a:r>
              <a:rPr lang="ko-KR" altLang="en-US" sz="2000" b="1" dirty="0">
                <a:solidFill>
                  <a:schemeClr val="tx1"/>
                </a:solidFill>
              </a:rPr>
              <a:t>통계 요약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7894C8-464A-5900-32FA-7CE8FAAAB5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</a:t>
            </a:r>
            <a:r>
              <a:rPr lang="ko-KR" altLang="en-US" sz="2000" b="1" dirty="0"/>
              <a:t>데이터 읽기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및 확인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48D44A-B2AD-D232-ECA5-C0E06A1D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296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7D1C1F-13DB-E02C-33B7-101D70185AE0}"/>
              </a:ext>
            </a:extLst>
          </p:cNvPr>
          <p:cNvSpPr txBox="1"/>
          <p:nvPr/>
        </p:nvSpPr>
        <p:spPr>
          <a:xfrm>
            <a:off x="1997534" y="1397133"/>
            <a:ext cx="610870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df.describe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56F695-DC16-692B-061B-D727E1776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2348880"/>
            <a:ext cx="6411220" cy="3982006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8571557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FA7F-8C3A-408A-561F-CB60708F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D9A9328-6864-C3AB-1FBE-10C7771434E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C74F5D8-D256-33AA-B879-A2239FE3DB7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464B001-2FDF-A021-4580-7B6BED676EC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2CC8FD8-BA33-1FE6-88D9-EC80610B641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0588DFC-AE18-C34D-E43C-8F7E2B317B3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B366B-2BDB-B5DA-E090-084DFAE15EE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6E981B-C935-B6B3-D840-2CEF0682286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D52622-2A93-A436-E4EB-3B884891265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248D73-D70E-46FB-42CB-565CAE3DC84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3-1. </a:t>
            </a:r>
            <a:r>
              <a:rPr lang="ko-KR" altLang="en-US" sz="2000" b="1" dirty="0">
                <a:solidFill>
                  <a:schemeClr val="tx1"/>
                </a:solidFill>
              </a:rPr>
              <a:t>라벨 분포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A895D0-0F42-7F49-6BDE-4FD48FF9226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품질 비율 분석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29DF4C-920F-A791-0C3B-8225F3795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296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AF532B-C6FF-8BDF-589C-E6BF71BBE897}"/>
              </a:ext>
            </a:extLst>
          </p:cNvPr>
          <p:cNvSpPr txBox="1"/>
          <p:nvPr/>
        </p:nvSpPr>
        <p:spPr>
          <a:xfrm>
            <a:off x="1999555" y="1556792"/>
            <a:ext cx="610465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df[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FCDB5-F33E-4CAF-172A-96175AA2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2271555"/>
            <a:ext cx="2600688" cy="2381582"/>
          </a:xfrm>
          <a:prstGeom prst="rect">
            <a:avLst/>
          </a:prstGeom>
          <a:ln w="25400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82109701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16BC6-0043-FC63-139C-174AEA54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03E0CE2-4324-87C2-B712-27F230F0937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91CA9FF-6405-6842-9E68-99C5BA3B491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59C0CA5-7954-0CEA-04B7-DE0C007E828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1785241-8F27-4026-D1F4-8C9AF122AD2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B0AB883-2E80-49C9-13F4-D217DAC7DCF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9C2D86-1F5F-2CDF-C031-D6C9F963846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3ABD6E-A706-C9AC-BA64-158F843AF1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0F8055-C2B5-F696-9B50-EFFB36B3651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AA193C-6F55-0737-2A74-DDA39CDB726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</a:t>
            </a:r>
            <a:r>
              <a:rPr lang="ko-KR" altLang="en-US" sz="2000" b="1" dirty="0">
                <a:solidFill>
                  <a:schemeClr val="tx1"/>
                </a:solidFill>
              </a:rPr>
              <a:t>라벨 분포 그래프 표시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E14C34-F923-D592-A120-DAC48E30F7C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품질 비율 분석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F8FB80-B76B-1E9B-E750-6A783F4B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6" y="764704"/>
            <a:ext cx="9433048" cy="26642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1C238A-027E-262A-A099-F9C260782B3F}"/>
              </a:ext>
            </a:extLst>
          </p:cNvPr>
          <p:cNvSpPr txBox="1"/>
          <p:nvPr/>
        </p:nvSpPr>
        <p:spPr>
          <a:xfrm>
            <a:off x="2279576" y="1359576"/>
            <a:ext cx="6726469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sns.countplot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plt.xticks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"OK / NOK Counts"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4" name="그림 13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8F8A5B-3387-8F79-4271-F262E713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732" y="3454346"/>
            <a:ext cx="4387268" cy="333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08329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7BCC-B44B-C871-BFAD-C9AB3001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319A4E30-4923-9A71-B579-DFCABB3B440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16449CA-0DCC-48A9-7D74-BD378A035C5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7ED519A-B0D9-0D77-B51B-0C4A1FB33B4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74428D4-E11F-468F-5BAF-EED2ADD9C64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5806700-F285-6892-DF64-2EECA13B87A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56D882-D8D8-2D78-A5D3-918672310DB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AA3846-8D5D-588C-6323-D8F33A1259B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D6ABB8-8743-4C9A-F80B-0D49BE02C16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F7CE84-FFA7-4049-AE0F-3151C92A069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4-1. </a:t>
            </a:r>
            <a:r>
              <a:rPr lang="ko-KR" altLang="en-US" sz="2000" b="1" dirty="0">
                <a:solidFill>
                  <a:schemeClr val="tx1"/>
                </a:solidFill>
              </a:rPr>
              <a:t>히스토그램</a:t>
            </a:r>
            <a:r>
              <a:rPr lang="en-US" altLang="ko-KR" sz="2000" b="1" dirty="0">
                <a:solidFill>
                  <a:schemeClr val="tx1"/>
                </a:solidFill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</a:rPr>
              <a:t>커널 밀도 그래프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055332-C81F-A0AC-EF54-3DD3291A4FC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4. </a:t>
            </a:r>
            <a:r>
              <a:rPr lang="ko-KR" altLang="en-US" sz="2000" b="1" dirty="0"/>
              <a:t>온도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습도 분포 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1EE3C-85E1-F6DD-C6B2-F32999B9A3E2}"/>
              </a:ext>
            </a:extLst>
          </p:cNvPr>
          <p:cNvSpPr txBox="1"/>
          <p:nvPr/>
        </p:nvSpPr>
        <p:spPr>
          <a:xfrm>
            <a:off x="345387" y="764704"/>
            <a:ext cx="6867021" cy="377795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sns.histplot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kde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bins=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"Temperature Distribution)"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sns.histplot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kde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bins=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"Humidity Distribution"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스크린샷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678927-F8D4-65CE-851F-BEC89DBFA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3907502"/>
            <a:ext cx="9171206" cy="295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73718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80BF-80BF-A25C-D5FD-BAB62C5F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D19620E1-BF33-2118-D79E-F1CBDD402CD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82DBE17-7A2C-40C6-592B-34FECFE54A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7B92947-F1F7-92AB-7E87-6D860A08053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85C47F2-C9D9-4B60-5343-0CE905CAC7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465F58B-4C0E-9576-FA4A-0DD285CA6D1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C9BC-F165-88DB-9736-964CCEB3A4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CE3A7-67A7-398E-2A87-9043460A260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3B122B-9B24-1724-46C6-5094F6B89C1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EEE762-D817-CA8B-7F5E-2231CCE4C6D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5-1. </a:t>
            </a:r>
            <a:r>
              <a:rPr lang="ko-KR" altLang="en-US" sz="2000" b="1" dirty="0">
                <a:solidFill>
                  <a:schemeClr val="tx1"/>
                </a:solidFill>
              </a:rPr>
              <a:t>그룹별 평균</a:t>
            </a:r>
            <a:r>
              <a:rPr lang="en-US" altLang="ko-KR" sz="2000" b="1" dirty="0">
                <a:solidFill>
                  <a:schemeClr val="tx1"/>
                </a:solidFill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</a:rPr>
              <a:t>표준편차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80BEA6-B747-DC11-C423-B37F9D6636C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5. OK vs. NOK </a:t>
            </a:r>
            <a:r>
              <a:rPr lang="ko-KR" altLang="en-US" sz="2000" b="1" dirty="0"/>
              <a:t>통계 비교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DABD1-54B3-933C-6DBA-D71900929B85}"/>
              </a:ext>
            </a:extLst>
          </p:cNvPr>
          <p:cNvSpPr txBox="1"/>
          <p:nvPr/>
        </p:nvSpPr>
        <p:spPr>
          <a:xfrm>
            <a:off x="119336" y="980728"/>
            <a:ext cx="11809312" cy="70019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group_stats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df.groupby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)[[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]].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agg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'mean'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'std'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'min'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'max'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group_stats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4" name="그림 1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9B7463-B103-BA89-65B3-5BB44E35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952419"/>
            <a:ext cx="8849960" cy="295316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0585382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711624" y="1441753"/>
            <a:ext cx="6424864" cy="3974493"/>
          </a:xfrm>
          <a:prstGeom prst="rect">
            <a:avLst/>
          </a:prstGeom>
          <a:noFill/>
          <a:ln w="635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3929923" y="2882251"/>
            <a:ext cx="956788" cy="5152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352726" y="3470546"/>
            <a:ext cx="2077452" cy="994611"/>
          </a:xfrm>
          <a:prstGeom prst="rect">
            <a:avLst/>
          </a:prstGeom>
          <a:noFill/>
          <a:ln w="349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/>
          <p:nvPr/>
        </p:nvCxnSpPr>
        <p:spPr>
          <a:xfrm>
            <a:off x="3913058" y="5074863"/>
            <a:ext cx="956788" cy="5152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endCxn id="9" idx="0"/>
          </p:cNvCxnSpPr>
          <p:nvPr/>
        </p:nvCxnSpPr>
        <p:spPr>
          <a:xfrm flipH="1">
            <a:off x="4391453" y="2894837"/>
            <a:ext cx="3983" cy="575709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9" idx="3"/>
            <a:endCxn id="9" idx="1"/>
          </p:cNvCxnSpPr>
          <p:nvPr/>
        </p:nvCxnSpPr>
        <p:spPr>
          <a:xfrm flipH="1">
            <a:off x="3352726" y="3967851"/>
            <a:ext cx="207745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flipH="1">
            <a:off x="4391453" y="4465157"/>
            <a:ext cx="3983" cy="609707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/>
          <p:cNvSpPr/>
          <p:nvPr/>
        </p:nvSpPr>
        <p:spPr>
          <a:xfrm>
            <a:off x="4334760" y="2273602"/>
            <a:ext cx="147115" cy="15139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4334761" y="2000889"/>
            <a:ext cx="147115" cy="15139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4334762" y="1639945"/>
            <a:ext cx="147115" cy="15139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 flipH="1">
            <a:off x="5502366" y="3967851"/>
            <a:ext cx="6561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30740" y="381396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중앙값</a:t>
            </a:r>
          </a:p>
        </p:txBody>
      </p:sp>
      <p:cxnSp>
        <p:nvCxnSpPr>
          <p:cNvPr id="24" name="직선 화살표 연결선 23"/>
          <p:cNvCxnSpPr>
            <a:stCxn id="25" idx="1"/>
          </p:cNvCxnSpPr>
          <p:nvPr/>
        </p:nvCxnSpPr>
        <p:spPr>
          <a:xfrm flipH="1">
            <a:off x="5006111" y="2894836"/>
            <a:ext cx="12249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31050" y="274094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최대값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5502366" y="3489180"/>
            <a:ext cx="6561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30739" y="3335291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최대값과 중앙값의 중간값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2863" y="302880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62863" y="3560441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4022" y="406261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62862" y="4625168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H="1">
            <a:off x="5502366" y="4446522"/>
            <a:ext cx="6561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0739" y="4292633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중앙값과 최소값의 중간값</a:t>
            </a:r>
          </a:p>
        </p:txBody>
      </p:sp>
      <p:cxnSp>
        <p:nvCxnSpPr>
          <p:cNvPr id="34" name="직선 화살표 연결선 33"/>
          <p:cNvCxnSpPr>
            <a:stCxn id="35" idx="1"/>
          </p:cNvCxnSpPr>
          <p:nvPr/>
        </p:nvCxnSpPr>
        <p:spPr>
          <a:xfrm flipH="1">
            <a:off x="5006111" y="5093852"/>
            <a:ext cx="12249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31050" y="493996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최소값</a:t>
            </a:r>
          </a:p>
        </p:txBody>
      </p:sp>
      <p:cxnSp>
        <p:nvCxnSpPr>
          <p:cNvPr id="36" name="직선 화살표 연결선 35"/>
          <p:cNvCxnSpPr>
            <a:stCxn id="37" idx="1"/>
          </p:cNvCxnSpPr>
          <p:nvPr/>
        </p:nvCxnSpPr>
        <p:spPr>
          <a:xfrm flipH="1">
            <a:off x="5006111" y="2091381"/>
            <a:ext cx="12249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31049" y="1937492"/>
            <a:ext cx="2558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범위에서 벗어난 값들</a:t>
            </a:r>
            <a:r>
              <a:rPr lang="en-US" altLang="ko-KR" sz="1400"/>
              <a:t>(outlier)</a:t>
            </a:r>
            <a:endParaRPr lang="ko-KR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538D18C-E80F-ADF7-05DB-F8F2B553DCE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F13F7-56E2-17D3-3DAC-AC21F9CF343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EF30AD-8699-0346-0868-3E7C1351671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0BF75E-FA8A-BD68-56F0-FDBB10FD6BD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CFA327-E148-731C-BC2B-29342058486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ECFFAB50-512B-E24E-3908-E43F68D23B1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7A07E18F-B16A-8B6E-A912-B63EC360FA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631708E9-1904-23DE-B1B7-32EEDCE67B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EFCC85A-CC14-36B1-2175-9B44D2A31A4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5-2. Boxplot </a:t>
            </a:r>
            <a:r>
              <a:rPr lang="ko-KR" altLang="en-US" sz="2000" b="1" dirty="0">
                <a:solidFill>
                  <a:schemeClr val="tx1"/>
                </a:solidFill>
              </a:rPr>
              <a:t>으로 비교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F2B3A97-93FE-F030-ABA9-AA5F02FAABD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5. OK vs. NOK </a:t>
            </a:r>
            <a:r>
              <a:rPr lang="ko-KR" altLang="en-US" sz="2000" b="1" dirty="0"/>
              <a:t>통계 비교</a:t>
            </a:r>
          </a:p>
        </p:txBody>
      </p:sp>
    </p:spTree>
    <p:extLst>
      <p:ext uri="{BB962C8B-B14F-4D97-AF65-F5344CB8AC3E}">
        <p14:creationId xmlns:p14="http://schemas.microsoft.com/office/powerpoint/2010/main" val="2549314782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6E35-AA6C-984A-4961-D09DB392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F96D185A-1E41-3AE7-32E9-33AE648480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407A83B-6304-9E42-E33D-3FF2F4413C9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116B415-C8A5-C4ED-CFE0-773E1418D7A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E3BC471-FD9F-8EB6-6046-172CDD27BF8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C307052-A096-5841-623D-AD2FEE36C46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C75C0-EE6F-D0ED-0A0C-C63E915ED23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BAF50D-BC76-B766-94FC-AB1E2DB3B63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8EEDF0-F2B6-56B9-DAC4-FCB8A5D331D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4703B7-BB8C-6E03-AD77-B046DF406A3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5-2. Boxplot </a:t>
            </a:r>
            <a:r>
              <a:rPr lang="ko-KR" altLang="en-US" sz="2000" b="1" dirty="0">
                <a:solidFill>
                  <a:schemeClr val="tx1"/>
                </a:solidFill>
              </a:rPr>
              <a:t>으로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D13A92-1C7B-05AB-1BD4-6E6DB65172B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5. OK vs. NOK </a:t>
            </a:r>
            <a:r>
              <a:rPr lang="ko-KR" altLang="en-US" sz="2000" b="1" dirty="0"/>
              <a:t>통계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99D6D-B594-CF68-156B-0792DF4EDB7A}"/>
              </a:ext>
            </a:extLst>
          </p:cNvPr>
          <p:cNvSpPr txBox="1"/>
          <p:nvPr/>
        </p:nvSpPr>
        <p:spPr>
          <a:xfrm>
            <a:off x="35915" y="676258"/>
            <a:ext cx="6048672" cy="4393510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sns.boxplot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plt.xticks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"OK/NOK Temp. Distribution"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sns.boxplot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plt.xticks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"OK/NOK 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 Distribution"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도표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06D23E-2F49-E1C5-77F0-421086611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388" y="4055046"/>
            <a:ext cx="8413102" cy="282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690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AEB0-E213-A189-64D9-133A9560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952BCEF0-FC02-B8DA-44CB-5AF6B2906EA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B1491AC-F062-8100-BA95-3331D150931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97BF302-A024-D228-AD8D-CB7A35E4622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841E914-C0F6-0EFC-D397-9D8902460FA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CE818EB-BF53-4F45-690D-8C25127929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86C6AB-9C78-C2AB-2A74-1A98D924313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9422BB-250B-97D1-6E06-68F13314740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842FD6-B917-6797-EA56-19E1D1BCCF0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561824-C7DC-4734-F341-50A89D9D0D4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6-1. 2</a:t>
            </a:r>
            <a:r>
              <a:rPr lang="ko-KR" altLang="en-US" sz="2000" b="1" dirty="0">
                <a:solidFill>
                  <a:schemeClr val="tx1"/>
                </a:solidFill>
              </a:rPr>
              <a:t>차원 </a:t>
            </a:r>
            <a:r>
              <a:rPr lang="ko-KR" altLang="en-US" sz="2000" b="1" dirty="0" err="1">
                <a:solidFill>
                  <a:schemeClr val="tx1"/>
                </a:solidFill>
              </a:rPr>
              <a:t>산점도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2DD10F-459D-67C6-AB88-8D9081D6C01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6. </a:t>
            </a:r>
            <a:r>
              <a:rPr lang="ko-KR" altLang="en-US" sz="2000" b="1" dirty="0"/>
              <a:t>온도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 습도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품질 분석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02F83-C26A-293B-0963-0F6616F53F5C}"/>
              </a:ext>
            </a:extLst>
          </p:cNvPr>
          <p:cNvSpPr txBox="1"/>
          <p:nvPr/>
        </p:nvSpPr>
        <p:spPr>
          <a:xfrm>
            <a:off x="119336" y="764704"/>
            <a:ext cx="8712968" cy="254685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sns.scatterplot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hue=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palette={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'red'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'blue'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}, alpha=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plt.legend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(title=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labels=[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"Temp. vs 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(OK/NOK)"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4" name="그림 13" descr="텍스트, 스크린샷, 도표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894475-C41C-54D1-55C6-1880A1E5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696" y="2333178"/>
            <a:ext cx="4734304" cy="452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3940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C4A1-F6B4-53C7-AC3C-4DC4C4F0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8AD6D83-9AB4-E16D-30F0-3DD6602AA99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19A235F-D991-5D04-8688-CEEE5A68F16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C2528D2-32BD-A8E3-534E-AED3B737A25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A2211B1A-5651-0BB7-A504-FF59AFF4B54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86BE17F-6F6A-B1F5-01B2-D1F200065F8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40EC5F-39D2-36CC-9686-857FE4CC52D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E0707C-D044-63F0-1D65-4CE88539F50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A202F1-9DB7-3BA6-ACA7-435E0605FB6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840AC3-C905-A721-A6D3-AFAF11E25AC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7-1. </a:t>
            </a:r>
            <a:r>
              <a:rPr lang="ko-KR" altLang="en-US" sz="2000" b="1" dirty="0">
                <a:solidFill>
                  <a:schemeClr val="tx1"/>
                </a:solidFill>
              </a:rPr>
              <a:t>상관계수 행렬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4920D4-17E7-7769-B23E-A1B7C834EFD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7. </a:t>
            </a:r>
            <a:r>
              <a:rPr lang="ko-KR" altLang="en-US" sz="2000" b="1" dirty="0"/>
              <a:t>상관 분석 </a:t>
            </a:r>
            <a:r>
              <a:rPr lang="en-US" altLang="ko-KR" sz="2000" b="1" dirty="0"/>
              <a:t>(Correlation)</a:t>
            </a:r>
            <a:endParaRPr lang="ko-KR" altLang="en-US" sz="2000" b="1" dirty="0"/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C47FF3-7C41-8C71-2A49-D6ECFB15C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980728"/>
            <a:ext cx="9073008" cy="1296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6ED349-25F9-5EA6-142F-816AA86DB159}"/>
              </a:ext>
            </a:extLst>
          </p:cNvPr>
          <p:cNvSpPr txBox="1"/>
          <p:nvPr/>
        </p:nvSpPr>
        <p:spPr>
          <a:xfrm>
            <a:off x="1494704" y="1446046"/>
            <a:ext cx="802261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corr = df[[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]].corr()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corr</a:t>
            </a: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C64BC3-2659-2180-91FF-0614E0880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2420888"/>
            <a:ext cx="4724475" cy="1728193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F047AF-4E91-CF4C-66DD-759801CAC0D7}"/>
              </a:ext>
            </a:extLst>
          </p:cNvPr>
          <p:cNvSpPr txBox="1"/>
          <p:nvPr/>
        </p:nvSpPr>
        <p:spPr>
          <a:xfrm>
            <a:off x="1271464" y="4725144"/>
            <a:ext cx="10441160" cy="153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ko-KR" altLang="en-US" sz="1600" b="1" dirty="0">
                <a:latin typeface="+mn-ea"/>
              </a:rPr>
              <a:t>상관계수란</a:t>
            </a:r>
            <a:r>
              <a:rPr lang="en-US" altLang="ko-KR" sz="1600" b="1" dirty="0">
                <a:latin typeface="+mn-ea"/>
              </a:rPr>
              <a:t>?</a:t>
            </a: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ko-KR" altLang="en-US" sz="1600" dirty="0">
                <a:latin typeface="+mn-ea"/>
              </a:rPr>
              <a:t>범위</a:t>
            </a:r>
            <a:r>
              <a:rPr lang="en-US" altLang="ko-KR" sz="1600" dirty="0">
                <a:latin typeface="+mn-ea"/>
              </a:rPr>
              <a:t>: -1 ~ +1</a:t>
            </a:r>
            <a:endParaRPr lang="ko-KR" altLang="en-US" sz="1600" dirty="0">
              <a:latin typeface="+mn-ea"/>
            </a:endParaRP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en-US" altLang="ko-KR" sz="1600" dirty="0">
                <a:latin typeface="+mn-ea"/>
              </a:rPr>
              <a:t>+1</a:t>
            </a:r>
            <a:r>
              <a:rPr lang="ko-KR" altLang="en-US" sz="1600" dirty="0">
                <a:latin typeface="+mn-ea"/>
              </a:rPr>
              <a:t>에 가까울수록</a:t>
            </a:r>
            <a:r>
              <a:rPr lang="en-US" altLang="ko-KR" sz="1600" dirty="0">
                <a:latin typeface="+mn-ea"/>
              </a:rPr>
              <a:t>: “A</a:t>
            </a:r>
            <a:r>
              <a:rPr lang="ko-KR" altLang="en-US" sz="1600" dirty="0">
                <a:latin typeface="+mn-ea"/>
              </a:rPr>
              <a:t>가 커질수록 </a:t>
            </a:r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도 </a:t>
            </a:r>
            <a:r>
              <a:rPr lang="ko-KR" altLang="en-US" sz="1600" dirty="0" err="1">
                <a:latin typeface="+mn-ea"/>
              </a:rPr>
              <a:t>커진다”는</a:t>
            </a:r>
            <a:r>
              <a:rPr lang="ko-KR" altLang="en-US" sz="1600" dirty="0">
                <a:latin typeface="+mn-ea"/>
              </a:rPr>
              <a:t> 강한 양의 선형 관계</a:t>
            </a: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en-US" altLang="ko-KR" sz="1600" dirty="0">
                <a:latin typeface="+mn-ea"/>
              </a:rPr>
              <a:t>-1</a:t>
            </a:r>
            <a:r>
              <a:rPr lang="ko-KR" altLang="en-US" sz="1600" dirty="0">
                <a:latin typeface="+mn-ea"/>
              </a:rPr>
              <a:t>에 가까울수록</a:t>
            </a:r>
            <a:r>
              <a:rPr lang="en-US" altLang="ko-KR" sz="1600" dirty="0">
                <a:latin typeface="+mn-ea"/>
              </a:rPr>
              <a:t>: “A</a:t>
            </a:r>
            <a:r>
              <a:rPr lang="ko-KR" altLang="en-US" sz="1600" dirty="0">
                <a:latin typeface="+mn-ea"/>
              </a:rPr>
              <a:t>가 커질수록 </a:t>
            </a:r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는 </a:t>
            </a:r>
            <a:r>
              <a:rPr lang="ko-KR" altLang="en-US" sz="1600" dirty="0" err="1">
                <a:latin typeface="+mn-ea"/>
              </a:rPr>
              <a:t>작아진다”는</a:t>
            </a:r>
            <a:r>
              <a:rPr lang="ko-KR" altLang="en-US" sz="1600" dirty="0">
                <a:latin typeface="+mn-ea"/>
              </a:rPr>
              <a:t> 강한 음의 선형 관계</a:t>
            </a: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en-US" altLang="ko-KR" sz="1600" dirty="0">
                <a:latin typeface="+mn-ea"/>
              </a:rPr>
              <a:t>0</a:t>
            </a:r>
            <a:r>
              <a:rPr lang="ko-KR" altLang="en-US" sz="1600" dirty="0">
                <a:latin typeface="+mn-ea"/>
              </a:rPr>
              <a:t>에 가까울수록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선형 관계는 거의 없다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8179955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D0D6-B390-F35E-8052-6342BCF5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F234B94-0347-CD57-083C-F83E0AE7947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0D1BE8E-C57C-7C23-0F53-E1F0F876ADA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4291FC4-4035-32C5-F1AF-24399335E29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F82C61E-9834-047C-D765-BA0614BE242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B94527B-A89C-9F53-6AB7-E3CA61935FE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97DF78-3F9E-C057-8A8B-DA167737FFC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9F95795-08E9-E2E7-0B6D-34C324C5A79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117680-E95A-E0C1-1EC0-5B9D44F36B9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9B9B69-562B-1316-82C2-F0AE84BB86F3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7-2. </a:t>
            </a:r>
            <a:r>
              <a:rPr lang="ko-KR" altLang="en-US" sz="2000" b="1" dirty="0" err="1">
                <a:solidFill>
                  <a:schemeClr val="tx1"/>
                </a:solidFill>
              </a:rPr>
              <a:t>히트맵으로</a:t>
            </a:r>
            <a:r>
              <a:rPr lang="ko-KR" altLang="en-US" sz="2000" b="1" dirty="0">
                <a:solidFill>
                  <a:schemeClr val="tx1"/>
                </a:solidFill>
              </a:rPr>
              <a:t> 시각화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CB0726-7C0B-87DE-1C06-EA32D0246E6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7. </a:t>
            </a:r>
            <a:r>
              <a:rPr lang="ko-KR" altLang="en-US" sz="2000" b="1" dirty="0"/>
              <a:t>상관 분석 </a:t>
            </a:r>
            <a:r>
              <a:rPr lang="en-US" altLang="ko-KR" sz="2000" b="1" dirty="0"/>
              <a:t>(Correlation)</a:t>
            </a:r>
            <a:endParaRPr lang="ko-KR" altLang="en-US" sz="2000" b="1" dirty="0"/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AE0E2F-4574-439C-503A-F61838A48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10878"/>
            <a:ext cx="11191688" cy="19980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1B5778-ACDB-1015-387F-DB10F8932519}"/>
              </a:ext>
            </a:extLst>
          </p:cNvPr>
          <p:cNvSpPr txBox="1"/>
          <p:nvPr/>
        </p:nvSpPr>
        <p:spPr>
          <a:xfrm>
            <a:off x="1631504" y="1169457"/>
            <a:ext cx="111916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sns.heatmap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(corr,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annot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coolwarm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vmin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vmax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"Temp/</a:t>
            </a:r>
            <a:r>
              <a:rPr lang="en-US" altLang="ko-K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/Label Correlation"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525A51-A995-792A-E977-3721378E7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2946183"/>
            <a:ext cx="4712175" cy="366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78410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0519-A4F1-327D-40DE-09BBB64F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1BCFCC1-49BD-7B27-66BF-FB0689182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63" y="3068960"/>
            <a:ext cx="3581337" cy="35813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20A2991B-25CA-7A0C-AC8C-2D3EBE451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412776"/>
            <a:ext cx="10877337" cy="2509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6213" marR="0" lvl="0" indent="269875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습도(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)로 양품(OK) / 불량(NOK)을 판정하는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품질 검사 모델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만들기</a:t>
            </a:r>
          </a:p>
          <a:p>
            <a:pPr marL="176213" marR="0" lvl="0" indent="269875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서로 다른 여러 알고리즘(Logistic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Decision Tree,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SVM, KNN, </a:t>
            </a:r>
            <a:b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Bayes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MLP 등)을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같은 데이터에 적용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 보고,</a:t>
            </a:r>
          </a:p>
          <a:p>
            <a:pPr marL="176213" marR="0" lvl="0" indent="269875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정확도(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정밀도(Precision),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재현율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b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를 비교하면서</a:t>
            </a:r>
            <a:b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어떤 상황에서 어떤 알고리즘이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좋은지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감을 잡는 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F01D7-CB88-A89E-67EC-8AC3C02B9D67}"/>
              </a:ext>
            </a:extLst>
          </p:cNvPr>
          <p:cNvSpPr txBox="1"/>
          <p:nvPr/>
        </p:nvSpPr>
        <p:spPr>
          <a:xfrm>
            <a:off x="2567608" y="207703"/>
            <a:ext cx="77460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Machine Learning Modelling</a:t>
            </a:r>
            <a:endParaRPr lang="ko-KR" altLang="en-US" sz="4800" dirty="0"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1174111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E40B-EA77-8188-91F9-1A44F2BD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260BFC9A-7861-B6C1-0987-8DFBF5A6BC8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92CF243-8826-DBD0-CA7C-DDF17516B04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E323E6C-9782-BE8E-05A8-DC3554A99AE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FABEDBC-8983-98EA-ACFB-FACCDA67420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C3432BC-BAAC-131D-3CC5-57017799B2F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786023-B6B6-B47C-5389-52C7B057FFA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7F2FA9-988F-4BAB-F4A5-19349E67409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3E1140-083E-1D08-6FF6-030AFE56CCC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6980EB-F726-E24D-17E6-E8AD10AA33F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1-1. </a:t>
            </a:r>
            <a:r>
              <a:rPr lang="ko-KR" altLang="en-US" sz="2000" b="1" dirty="0">
                <a:solidFill>
                  <a:schemeClr val="tx1"/>
                </a:solidFill>
              </a:rPr>
              <a:t>라이브러리 불러오기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46A765-2C5B-5982-C731-A48340F650B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9" name="그림 8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5C7CFE-593C-89FE-1F61-B66094219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790206"/>
            <a:ext cx="10801200" cy="5277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7E54AF-14C5-EC3E-2206-77F6611982A2}"/>
              </a:ext>
            </a:extLst>
          </p:cNvPr>
          <p:cNvSpPr txBox="1"/>
          <p:nvPr/>
        </p:nvSpPr>
        <p:spPr>
          <a:xfrm>
            <a:off x="2063551" y="1306719"/>
            <a:ext cx="9361041" cy="386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seaborn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StandardScaler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sklearn.pipeline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</a:t>
            </a:r>
            <a:b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precision_score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recall_score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f1_score,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“Library load completed."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4741170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B26D-FE45-8E0D-073F-E4ED2197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18D416D-84AA-C5AC-7434-927AF4C38E5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975ECCF-988D-23FF-1326-AF3E2508280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F12391C-7D06-7253-A3D5-BB2E34315C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139CC49-9FF6-C6E5-3DFE-0E343357F67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3B0334A-BC0F-91A7-3782-B930DA8F5FE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89CD87-9951-C7E2-0941-2EF50B3588A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F3761D-39D9-78D9-BED2-DFFC0125401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34B530-3623-F7FA-9A44-5BA853496E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513747-CF23-985F-75FB-50392DF533C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1-2. csv upload &amp; read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A62398-2D6F-88F2-5C19-BAB5075CCB9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3FE58B-3232-07B0-D86A-14B12073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10878"/>
            <a:ext cx="11191688" cy="2574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6BC35F-07FA-CFD7-C9DA-9C223AEFE8DD}"/>
              </a:ext>
            </a:extLst>
          </p:cNvPr>
          <p:cNvSpPr txBox="1"/>
          <p:nvPr/>
        </p:nvSpPr>
        <p:spPr>
          <a:xfrm>
            <a:off x="1708732" y="1196752"/>
            <a:ext cx="756084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google.colab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files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 = files.upload()   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uploaded.keys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"TH_quality_10000.csv"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df.head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CEFAC8-4A7E-022B-977C-88ABFA4E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73" y="3364265"/>
            <a:ext cx="6878576" cy="335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36934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18EC0-A617-C866-8E86-6C1F188D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5FF186E-41F3-CF1B-282A-E6169C0185E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C2E0E62-CBF6-CD98-6162-489A7FA6DED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7062F79-C301-AD22-640D-84214E58C27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622E548-7B98-A34E-3B35-A0127A3F611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41EFD5B-02BB-A712-C8B4-CAEAB2EDFEA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8F3BF-871D-48B7-48BA-88E4C2C7EF5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537BB7-05CD-489E-4997-A4536CD4F46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6D9B48-A3D7-8BC4-B787-C6CFD04DE77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3399C7-A4E2-AF61-E141-42235EAF892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1-3. </a:t>
            </a:r>
            <a:r>
              <a:rPr lang="ko-KR" altLang="en-US" sz="2000" b="1">
                <a:solidFill>
                  <a:schemeClr val="tx1"/>
                </a:solidFill>
              </a:rPr>
              <a:t>입력과 정답 분리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5B73DA-79FD-C6C5-C58C-C19910A0D539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41EE0D-8CE1-F986-1AFB-57EC91262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764704"/>
            <a:ext cx="8496944" cy="17820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3C2650-AEC8-FEB0-B7DD-42A726DF6175}"/>
              </a:ext>
            </a:extLst>
          </p:cNvPr>
          <p:cNvSpPr txBox="1"/>
          <p:nvPr/>
        </p:nvSpPr>
        <p:spPr>
          <a:xfrm>
            <a:off x="1719985" y="1151729"/>
            <a:ext cx="7776864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df[[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]].values  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df[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"label"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].values          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x, y</a:t>
            </a:r>
          </a:p>
        </p:txBody>
      </p:sp>
      <p:pic>
        <p:nvPicPr>
          <p:cNvPr id="20" name="그림 19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823F63-F7B6-41D9-8B10-B259771A6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2692488"/>
            <a:ext cx="4001058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76313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70A5-5790-EDC7-A432-441485AA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ABD00244-7950-6C7A-04E0-4C1D98719CD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5A115B8-9BF7-2F3D-E44D-A19B6DFF8C5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644C50E-3D53-B09F-9875-EABB1C32BCC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5FB594BA-89F4-D54D-4FD1-FFB40192905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5D01A0-2675-5F35-EE7F-87FE486E243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15594-9E92-FDE5-DCC5-6D08718652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BB0706-BC6A-B355-1747-0A9EB10FA4F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876119-FC50-39B5-EC01-B09E4E9144F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26F6A9-8D1E-B121-C336-54FF8C93EAF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1-4. Train, Test </a:t>
            </a:r>
            <a:r>
              <a:rPr lang="ko-KR" altLang="en-US" sz="2000" b="1">
                <a:solidFill>
                  <a:schemeClr val="tx1"/>
                </a:solidFill>
              </a:rPr>
              <a:t>데이터 분리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D2E9E7-0B5F-A39F-F1E7-9E4CED65F7A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575201-B6C9-B273-360B-B004593B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10878"/>
            <a:ext cx="11191688" cy="2574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E7A3F0-025E-90FB-89A9-DB20BA7B4F43}"/>
              </a:ext>
            </a:extLst>
          </p:cNvPr>
          <p:cNvSpPr txBox="1"/>
          <p:nvPr/>
        </p:nvSpPr>
        <p:spPr>
          <a:xfrm>
            <a:off x="1708732" y="1340768"/>
            <a:ext cx="9391488" cy="162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x, y,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stratify=y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 data size:"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x_train.shape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 data size :"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x_test.shape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2" name="그림 11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B87C72-AC2F-1C40-C651-373A0BA54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3335784"/>
            <a:ext cx="4110402" cy="57909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C8C5FC64-A083-4D97-949D-B9C952AE4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378" y="4653136"/>
            <a:ext cx="4855945" cy="1862754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+mn-ea"/>
              </a:rPr>
              <a:t>random_state=</a:t>
            </a:r>
            <a:r>
              <a:rPr lang="en-US" altLang="ko-KR" sz="1600" b="1" dirty="0">
                <a:solidFill>
                  <a:srgbClr val="116644"/>
                </a:solidFill>
                <a:effectLst/>
                <a:latin typeface="+mn-ea"/>
              </a:rPr>
              <a:t>42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177800" marR="0" lvl="0" indent="-17780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데이터를 나눌 때 사용하는 "랜덤 기준값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시드값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)"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177800" marR="0" lvl="0" indent="1588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데이터를 섞어서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train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test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분리</a:t>
            </a:r>
            <a:r>
              <a:rPr lang="ko-KR" altLang="en-US" sz="1400" dirty="0">
                <a:latin typeface="+mn-ea"/>
              </a:rPr>
              <a:t>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는데, </a:t>
            </a:r>
          </a:p>
          <a:p>
            <a:pPr marL="177800" marR="0" lvl="0" indent="1588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이 값을 고정하면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항상 같은 결과로 나뉨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177800" marR="0" lvl="0" indent="-17780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즉,</a:t>
            </a:r>
          </a:p>
          <a:p>
            <a:pPr marL="361950" marR="0" lvl="0" indent="-180975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random_state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=42 → 실행할 때마다 동일하게 분할됨 </a:t>
            </a:r>
          </a:p>
          <a:p>
            <a:pPr marL="361950" marR="0" lvl="0" indent="-180975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값이 없으면 → 실행할 때마다 결과가 달라짐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76FCE3-632A-46D3-9609-FCBC8DE22EDC}"/>
              </a:ext>
            </a:extLst>
          </p:cNvPr>
          <p:cNvSpPr txBox="1"/>
          <p:nvPr/>
        </p:nvSpPr>
        <p:spPr>
          <a:xfrm>
            <a:off x="6404476" y="4653136"/>
            <a:ext cx="4480064" cy="1410707"/>
          </a:xfrm>
          <a:prstGeom prst="rect">
            <a:avLst/>
          </a:prstGeom>
          <a:noFill/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+mn-ea"/>
              </a:rPr>
              <a:t>stratify=y</a:t>
            </a:r>
            <a:endParaRPr lang="en-US" altLang="ko-KR" sz="1400" b="1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클래스 비율을 유지하면서 나누는 옵션</a:t>
            </a:r>
            <a:endParaRPr lang="en-US" altLang="ko-KR" sz="1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</a:pP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만약 전체 데이터에서 </a:t>
            </a:r>
          </a:p>
          <a:p>
            <a:pPr marL="85725" lvl="1">
              <a:lnSpc>
                <a:spcPts val="2100"/>
              </a:lnSpc>
            </a:pPr>
            <a:r>
              <a:rPr lang="en-US" altLang="ko-KR" sz="1400" dirty="0">
                <a:latin typeface="+mn-ea"/>
              </a:rPr>
              <a:t> A </a:t>
            </a:r>
            <a:r>
              <a:rPr lang="ko-KR" altLang="en-US" sz="1400" dirty="0">
                <a:latin typeface="+mn-ea"/>
              </a:rPr>
              <a:t>클래스 </a:t>
            </a:r>
            <a:r>
              <a:rPr lang="en-US" altLang="ko-KR" sz="1400" dirty="0">
                <a:latin typeface="+mn-ea"/>
              </a:rPr>
              <a:t>70% , B </a:t>
            </a:r>
            <a:r>
              <a:rPr lang="ko-KR" altLang="en-US" sz="1400" dirty="0">
                <a:latin typeface="+mn-ea"/>
              </a:rPr>
              <a:t>클래스 </a:t>
            </a:r>
            <a:r>
              <a:rPr lang="en-US" altLang="ko-KR" sz="1400" dirty="0">
                <a:latin typeface="+mn-ea"/>
              </a:rPr>
              <a:t>30% </a:t>
            </a:r>
            <a:r>
              <a:rPr lang="ko-KR" altLang="en-US" sz="1400" dirty="0">
                <a:latin typeface="+mn-ea"/>
              </a:rPr>
              <a:t>라면</a:t>
            </a:r>
            <a:r>
              <a:rPr lang="en-US" altLang="ko-KR" sz="1400" dirty="0">
                <a:latin typeface="+mn-ea"/>
              </a:rPr>
              <a:t>,</a:t>
            </a:r>
          </a:p>
          <a:p>
            <a:pPr>
              <a:lnSpc>
                <a:spcPts val="2100"/>
              </a:lnSpc>
            </a:pP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train/test </a:t>
            </a:r>
            <a:r>
              <a:rPr lang="ko-KR" altLang="en-US" sz="1400" dirty="0">
                <a:latin typeface="+mn-ea"/>
              </a:rPr>
              <a:t>나눠도 이 비율 유지</a:t>
            </a:r>
            <a:endParaRPr lang="en-US" altLang="ko-KR" sz="1400" b="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5331373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9EAB-8054-5256-A7A0-83620ECC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DE548E76-BBEE-7562-8F3F-01AF58FDF2E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33D400B-5E1C-5582-CC1C-43D259432A3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630275C-5832-5514-F44A-D1ECB269892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75DCF65-2272-54AD-8E6E-BA05957D80A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6A134DB-6543-0271-DBC6-094224C058B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90245-73C6-CF99-FFAE-F429B617E7F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DA5DC7-F31C-E37F-A8BD-11B13988F38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FB1425-B491-FB4F-F968-35C90F04F6A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EEB5D5-6D70-B116-43B4-DB190C0B31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chemeClr val="tx1"/>
                </a:solidFill>
              </a:rPr>
              <a:t>여러 모델 반복 학습을 위해 공통 평가 함수 작성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3AFD10-E4C1-A327-348E-7CF9853774B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 </a:t>
            </a:r>
            <a:r>
              <a:rPr lang="ko-KR" altLang="en-US" sz="2000" b="1" dirty="0"/>
              <a:t>평가함수 공통 정의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CD872-04FA-476B-2971-52B0680D37D7}"/>
              </a:ext>
            </a:extLst>
          </p:cNvPr>
          <p:cNvSpPr txBox="1"/>
          <p:nvPr/>
        </p:nvSpPr>
        <p:spPr>
          <a:xfrm>
            <a:off x="335360" y="695250"/>
            <a:ext cx="11331183" cy="6097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x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x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results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모델 학습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예측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주요 지표 계산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결과 저장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model.fit(x_train, y_train)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y_pred = model.predict(x_test)</a:t>
            </a:r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acc  = accuracy_score(y_test, y_pred)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prec = precision_score(y_test, y_pred, zero_division=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rec  = recall_score(y_test, y_pred, zero_division=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f1   = f1_score(y_test, y_pred, zero_division=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"\n==== [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{name}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] ===="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"Accuracy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{acc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"Precision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{prec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"Recall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 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{rec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"F1-score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{f1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"\n[Confusion Matrix]"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y_pred))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"\n[Classification Report]"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y_pred, digits=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zero_division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results.append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"model"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name,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"accuracy"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acc,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"precision"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prec,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"recall"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rec,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f1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})</a:t>
            </a:r>
          </a:p>
        </p:txBody>
      </p:sp>
    </p:spTree>
    <p:extLst>
      <p:ext uri="{BB962C8B-B14F-4D97-AF65-F5344CB8AC3E}">
        <p14:creationId xmlns:p14="http://schemas.microsoft.com/office/powerpoint/2010/main" val="2150056181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9EAB-8054-5256-A7A0-83620ECC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DE548E76-BBEE-7562-8F3F-01AF58FDF2E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33D400B-5E1C-5582-CC1C-43D259432A3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630275C-5832-5514-F44A-D1ECB269892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75DCF65-2272-54AD-8E6E-BA05957D80A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6A134DB-6543-0271-DBC6-094224C058B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90245-73C6-CF99-FFAE-F429B617E7F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DA5DC7-F31C-E37F-A8BD-11B13988F38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FB1425-B491-FB4F-F968-35C90F04F6A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EEB5D5-6D70-B116-43B4-DB190C0B31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3AFD10-E4C1-A327-348E-7CF9853774B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 </a:t>
            </a:r>
            <a:r>
              <a:rPr lang="ko-KR" altLang="en-US" sz="2000" b="1" dirty="0"/>
              <a:t>평가함수 공통 정의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46A60-C98E-44DA-AFD9-2D8E2C0D062E}"/>
              </a:ext>
            </a:extLst>
          </p:cNvPr>
          <p:cNvSpPr txBox="1"/>
          <p:nvPr/>
        </p:nvSpPr>
        <p:spPr>
          <a:xfrm>
            <a:off x="1885809" y="2132856"/>
            <a:ext cx="821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이제 다양한 </a:t>
            </a:r>
            <a:r>
              <a:rPr lang="en-US" altLang="ko-KR" sz="2400" dirty="0"/>
              <a:t>ML </a:t>
            </a:r>
            <a:r>
              <a:rPr lang="ko-KR" altLang="en-US" sz="2400" dirty="0"/>
              <a:t>학습 모델들을 적용하여 서로 비교해보자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79715858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9612E-8459-1504-19D2-32F13D09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5461DBC-23B6-0A86-AD35-584A94D8E2A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2316790-8C83-B162-F385-89BF98B3BF7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79AC61A-3179-3A13-48CA-78F8A6CABBF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4D80AAE-B372-4C84-5AE1-2C35212A13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3BBB1B5-A2F4-1A2F-AF97-9E00D55F7ED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2B7A93-38F9-6D78-C326-7370BDCAC51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49BD33-169E-E032-50E8-0CB29598188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AD3331-3E0B-25F9-F8FF-E957F40FE9F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46C5A6-7061-AF3D-641E-FE98E5442C7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C784D2-32DB-4403-4857-DFE72A54B53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B43A1-B8CC-06A4-28B4-1D9D97302B66}"/>
                  </a:ext>
                </a:extLst>
              </p:cNvPr>
              <p:cNvSpPr txBox="1"/>
              <p:nvPr/>
            </p:nvSpPr>
            <p:spPr>
              <a:xfrm>
                <a:off x="119336" y="635819"/>
                <a:ext cx="8665640" cy="600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solidFill>
                      <a:srgbClr val="0000FF"/>
                    </a:solidFill>
                    <a:latin typeface="+mn-ea"/>
                  </a:rPr>
                  <a:t>1) </a:t>
                </a:r>
                <a:r>
                  <a:rPr lang="ko-KR" altLang="en-US" b="1" dirty="0">
                    <a:solidFill>
                      <a:srgbClr val="0000FF"/>
                    </a:solidFill>
                    <a:latin typeface="+mn-ea"/>
                  </a:rPr>
                  <a:t>로지스틱 회귀의 핵심 아이디어</a:t>
                </a:r>
                <a:endParaRPr lang="en-US" altLang="ko-KR" b="1" dirty="0">
                  <a:solidFill>
                    <a:srgbClr val="0000FF"/>
                  </a:solidFill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(1) </a:t>
                </a:r>
                <a:r>
                  <a:rPr lang="ko-KR" altLang="en-US" b="1" dirty="0">
                    <a:latin typeface="+mn-ea"/>
                  </a:rPr>
                  <a:t>선형 결합 점수</a:t>
                </a:r>
                <a:r>
                  <a:rPr lang="en-US" altLang="ko-KR" b="1" dirty="0">
                    <a:latin typeface="+mn-ea"/>
                  </a:rPr>
                  <a:t>(Linear Combination Score)</a:t>
                </a:r>
                <a:r>
                  <a:rPr lang="ko-KR" altLang="en-US" b="1" dirty="0">
                    <a:latin typeface="+mn-ea"/>
                  </a:rPr>
                  <a:t> 만들기</a:t>
                </a: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dirty="0">
                    <a:latin typeface="+mn-ea"/>
                  </a:rPr>
                  <a:t>   temp, </a:t>
                </a:r>
                <a:r>
                  <a:rPr lang="en-US" altLang="ko-KR" dirty="0" err="1">
                    <a:latin typeface="+mn-ea"/>
                  </a:rPr>
                  <a:t>humi</a:t>
                </a:r>
                <a:r>
                  <a:rPr lang="ko-KR" altLang="en-US" dirty="0">
                    <a:latin typeface="+mn-ea"/>
                  </a:rPr>
                  <a:t>가 입력이면 모델은 먼저 </a:t>
                </a:r>
                <a:r>
                  <a:rPr lang="ko-KR" altLang="en-US" b="1" dirty="0">
                    <a:latin typeface="+mn-ea"/>
                  </a:rPr>
                  <a:t>선형 결합 점수</a:t>
                </a:r>
                <a:r>
                  <a:rPr lang="ko-KR" altLang="en-US" dirty="0">
                    <a:latin typeface="+mn-ea"/>
                  </a:rPr>
                  <a:t>를 계산한다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b="1" dirty="0">
                    <a:latin typeface="+mn-ea"/>
                  </a:rPr>
                  <a:t>점수</a:t>
                </a:r>
                <a:r>
                  <a:rPr lang="en-US" altLang="ko-KR" b="1" dirty="0">
                    <a:latin typeface="+mn-ea"/>
                  </a:rPr>
                  <a:t>(Score)</a:t>
                </a:r>
                <a:r>
                  <a:rPr lang="ko-KR" altLang="en-US" b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b="1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ko-KR" altLang="en-US" b="1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𝒕𝒆𝒎𝒑</m:t>
                    </m:r>
                    <m:r>
                      <a:rPr lang="en-US" altLang="ko-KR" b="1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ko-KR" altLang="en-US" b="1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𝒖𝒎𝒊</m:t>
                    </m:r>
                  </m:oMath>
                </a14:m>
                <a:endParaRPr lang="en-US" altLang="ko-KR" b="1" dirty="0">
                  <a:latin typeface="+mn-ea"/>
                </a:endParaRP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endParaRPr lang="ko-KR" altLang="en-US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(2) </a:t>
                </a:r>
                <a:r>
                  <a:rPr lang="ko-KR" altLang="en-US" b="1" dirty="0">
                    <a:latin typeface="+mn-ea"/>
                  </a:rPr>
                  <a:t>점수를 확률로 바꾸기 </a:t>
                </a:r>
                <a:r>
                  <a:rPr lang="en-US" altLang="ko-KR" b="1" dirty="0">
                    <a:latin typeface="+mn-ea"/>
                  </a:rPr>
                  <a:t>(sigmoid, </a:t>
                </a:r>
                <a:r>
                  <a:rPr lang="ko-KR" altLang="en-US" b="1" dirty="0" err="1">
                    <a:latin typeface="+mn-ea"/>
                  </a:rPr>
                  <a:t>시그모이드</a:t>
                </a:r>
                <a:r>
                  <a:rPr lang="en-US" altLang="ko-KR" b="1" dirty="0">
                    <a:latin typeface="+mn-ea"/>
                  </a:rPr>
                  <a:t>)</a:t>
                </a:r>
              </a:p>
              <a:p>
                <a:pPr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   점수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dirty="0">
                    <a:latin typeface="+mn-ea"/>
                  </a:rPr>
                  <a:t>는 </a:t>
                </a:r>
                <a:r>
                  <a:rPr lang="en-US" altLang="ko-KR" dirty="0">
                    <a:latin typeface="+mn-ea"/>
                  </a:rPr>
                  <a:t>-</a:t>
                </a:r>
                <a:r>
                  <a:rPr lang="ko-KR" altLang="en-US" dirty="0">
                    <a:latin typeface="+mn-ea"/>
                  </a:rPr>
                  <a:t>무한</a:t>
                </a:r>
                <a:r>
                  <a:rPr lang="en-US" altLang="ko-KR" dirty="0">
                    <a:latin typeface="+mn-ea"/>
                  </a:rPr>
                  <a:t>~+</a:t>
                </a:r>
                <a:r>
                  <a:rPr lang="ko-KR" altLang="en-US" dirty="0">
                    <a:latin typeface="+mn-ea"/>
                  </a:rPr>
                  <a:t>무한 값이므로</a:t>
                </a:r>
                <a:r>
                  <a:rPr lang="en-US" altLang="ko-KR" dirty="0">
                    <a:latin typeface="+mn-ea"/>
                  </a:rPr>
                  <a:t>, </a:t>
                </a:r>
                <a:r>
                  <a:rPr lang="ko-KR" altLang="en-US" dirty="0">
                    <a:latin typeface="+mn-ea"/>
                  </a:rPr>
                  <a:t>이를 </a:t>
                </a:r>
                <a:r>
                  <a:rPr lang="en-US" altLang="ko-KR" dirty="0">
                    <a:latin typeface="+mn-ea"/>
                  </a:rPr>
                  <a:t>0~1</a:t>
                </a:r>
                <a:r>
                  <a:rPr lang="ko-KR" altLang="en-US" dirty="0">
                    <a:latin typeface="+mn-ea"/>
                  </a:rPr>
                  <a:t>로 압축해 확률처럼 만들어야 한다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𝑶𝑲</m:t>
                        </m:r>
                      </m:e>
                    </m:d>
                    <m:r>
                      <a:rPr lang="en-US" altLang="ko-KR" sz="2000" b="1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ko-KR" sz="2000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2000" b="1" i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ko-KR" altLang="en-US" sz="2000" b="1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p>
                        </m:sSup>
                      </m:den>
                    </m:f>
                  </m:oMath>
                </a14:m>
                <a:endParaRPr lang="ko-KR" altLang="en-US" sz="2000" b="1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endParaRPr lang="en-US" altLang="ko-KR" b="1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(3) </a:t>
                </a:r>
                <a:r>
                  <a:rPr lang="ko-KR" altLang="en-US" b="1" dirty="0">
                    <a:latin typeface="+mn-ea"/>
                  </a:rPr>
                  <a:t>경계선</a:t>
                </a:r>
                <a:r>
                  <a:rPr lang="en-US" altLang="ko-KR" b="1" dirty="0">
                    <a:latin typeface="+mn-ea"/>
                  </a:rPr>
                  <a:t>(</a:t>
                </a:r>
                <a:r>
                  <a:rPr lang="ko-KR" altLang="en-US" b="1" dirty="0">
                    <a:latin typeface="+mn-ea"/>
                  </a:rPr>
                  <a:t>결정경계</a:t>
                </a:r>
                <a:r>
                  <a:rPr lang="en-US" altLang="ko-KR" b="1" dirty="0">
                    <a:latin typeface="+mn-ea"/>
                  </a:rPr>
                  <a:t>)</a:t>
                </a:r>
                <a:r>
                  <a:rPr lang="ko-KR" altLang="en-US" b="1" dirty="0">
                    <a:latin typeface="+mn-ea"/>
                  </a:rPr>
                  <a:t>의 의미</a:t>
                </a: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dirty="0">
                    <a:latin typeface="+mn-ea"/>
                  </a:rPr>
                  <a:t>   OK/NOK</a:t>
                </a:r>
                <a:r>
                  <a:rPr lang="ko-KR" altLang="en-US" dirty="0">
                    <a:latin typeface="+mn-ea"/>
                  </a:rPr>
                  <a:t>를 나누는 기준을 보통 </a:t>
                </a:r>
                <a:r>
                  <a:rPr lang="en-US" altLang="ko-KR" dirty="0">
                    <a:latin typeface="+mn-ea"/>
                  </a:rPr>
                  <a:t>0.5</a:t>
                </a:r>
                <a:r>
                  <a:rPr lang="ko-KR" altLang="en-US" dirty="0">
                    <a:latin typeface="+mn-ea"/>
                  </a:rPr>
                  <a:t>로 잡으면</a:t>
                </a:r>
                <a:r>
                  <a:rPr lang="en-US" altLang="ko-KR" dirty="0">
                    <a:latin typeface="+mn-ea"/>
                  </a:rPr>
                  <a:t>,</a:t>
                </a: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en-US" altLang="ko-KR" i="0">
                        <a:latin typeface="Cambria Math" panose="02040503050406030204" pitchFamily="18" charset="0"/>
                      </a:rPr>
                      <m:t>=0.5</m:t>
                    </m:r>
                    <m:r>
                      <m:rPr>
                        <m:nor/>
                      </m:rPr>
                      <a:rPr lang="ko-KR" altLang="en-US" b="0" i="1">
                        <a:latin typeface="+mn-ea"/>
                      </a:rPr>
                      <m:t>  </m:t>
                    </m:r>
                    <m:r>
                      <a:rPr lang="ko-KR" altLang="en-US" b="0" i="0">
                        <a:latin typeface="Cambria Math" panose="02040503050406030204" pitchFamily="18" charset="0"/>
                      </a:rPr>
                      <m:t>⟺</m:t>
                    </m:r>
                    <m:r>
                      <m:rPr>
                        <m:nor/>
                      </m:rPr>
                      <a:rPr lang="ko-KR" altLang="en-US" b="0" i="1">
                        <a:latin typeface="+mn-ea"/>
                      </a:rPr>
                      <m:t>  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b="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endParaRPr lang="ko-KR" altLang="en-US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즉 </a:t>
                </a:r>
                <a:r>
                  <a:rPr lang="ko-KR" altLang="en-US" b="1" dirty="0">
                    <a:latin typeface="+mn-ea"/>
                  </a:rPr>
                  <a:t>결정경계는 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𝑢𝑚𝑖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ko-KR" altLang="en-US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이게 </a:t>
                </a:r>
                <a:r>
                  <a:rPr lang="en-US" altLang="ko-KR" dirty="0">
                    <a:latin typeface="+mn-ea"/>
                  </a:rPr>
                  <a:t>2D</a:t>
                </a:r>
                <a:r>
                  <a:rPr lang="ko-KR" altLang="en-US" dirty="0">
                    <a:latin typeface="+mn-ea"/>
                  </a:rPr>
                  <a:t>에서는 </a:t>
                </a:r>
                <a:r>
                  <a:rPr lang="ko-KR" altLang="en-US" b="1" dirty="0">
                    <a:latin typeface="+mn-ea"/>
                  </a:rPr>
                  <a:t>직선</a:t>
                </a:r>
                <a:r>
                  <a:rPr lang="ko-KR" altLang="en-US" dirty="0">
                    <a:latin typeface="+mn-ea"/>
                  </a:rPr>
                  <a:t>이 된다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>
                  <a:lnSpc>
                    <a:spcPts val="2900"/>
                  </a:lnSpc>
                  <a:buNone/>
                </a:pPr>
                <a:endParaRPr lang="en-US" altLang="ko-KR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B43A1-B8CC-06A4-28B4-1D9D97302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6" y="635819"/>
                <a:ext cx="8665640" cy="6000040"/>
              </a:xfrm>
              <a:prstGeom prst="rect">
                <a:avLst/>
              </a:prstGeom>
              <a:blipFill>
                <a:blip r:embed="rId2"/>
                <a:stretch>
                  <a:fillRect l="-6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98F2C-C52E-B152-0669-F1EFF9D80543}"/>
                  </a:ext>
                </a:extLst>
              </p:cNvPr>
              <p:cNvSpPr txBox="1"/>
              <p:nvPr/>
            </p:nvSpPr>
            <p:spPr>
              <a:xfrm>
                <a:off x="6041233" y="1844824"/>
                <a:ext cx="3079103" cy="60337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indent="176213">
                  <a:lnSpc>
                    <a:spcPts val="21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절편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기본값</a:t>
                </a:r>
                <a:r>
                  <a:rPr lang="en-US" altLang="ko-KR" sz="1400" dirty="0">
                    <a:latin typeface="+mn-ea"/>
                  </a:rPr>
                  <a:t>/offset/bias)</a:t>
                </a:r>
              </a:p>
              <a:p>
                <a:pPr indent="176213">
                  <a:lnSpc>
                    <a:spcPts val="21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각 변수의 영향력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가중치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98F2C-C52E-B152-0669-F1EFF9D80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233" y="1844824"/>
                <a:ext cx="3079103" cy="603370"/>
              </a:xfrm>
              <a:prstGeom prst="rect">
                <a:avLst/>
              </a:prstGeom>
              <a:blipFill>
                <a:blip r:embed="rId3"/>
                <a:stretch>
                  <a:fillRect l="-198"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A59A66-C91D-4D42-DFF8-DC3C2B89094D}"/>
                  </a:ext>
                </a:extLst>
              </p:cNvPr>
              <p:cNvSpPr txBox="1"/>
              <p:nvPr/>
            </p:nvSpPr>
            <p:spPr>
              <a:xfrm>
                <a:off x="3503712" y="3217134"/>
                <a:ext cx="3240360" cy="83740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indent="176213">
                  <a:lnSpc>
                    <a:spcPts val="2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가 매우 크면 </a:t>
                </a:r>
                <a14:m>
                  <m:oMath xmlns:m="http://schemas.openxmlformats.org/officeDocument/2006/math"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b="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ko-KR" altLang="en-US" sz="1400" b="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400" b="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ko-KR" altLang="en-US" sz="1400" dirty="0">
                  <a:latin typeface="+mn-ea"/>
                </a:endParaRPr>
              </a:p>
              <a:p>
                <a:pPr indent="176213">
                  <a:lnSpc>
                    <a:spcPts val="2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가 매우 작으면 </a:t>
                </a:r>
                <a14:m>
                  <m:oMath xmlns:m="http://schemas.openxmlformats.org/officeDocument/2006/math"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b="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ko-KR" altLang="en-US" sz="1400" b="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400" b="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ko-KR" sz="1400" dirty="0">
                  <a:latin typeface="+mn-ea"/>
                </a:endParaRPr>
              </a:p>
              <a:p>
                <a:pPr indent="176213">
                  <a:lnSpc>
                    <a:spcPts val="2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가 </a:t>
                </a:r>
                <a:r>
                  <a:rPr lang="en-US" altLang="ko-KR" sz="1400" dirty="0">
                    <a:latin typeface="+mn-ea"/>
                  </a:rPr>
                  <a:t>‘0’ </a:t>
                </a:r>
                <a:r>
                  <a:rPr lang="ko-KR" altLang="en-US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ko-KR" altLang="en-US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.5</a:t>
                </a:r>
                <a:endParaRPr lang="ko-KR" altLang="en-US" sz="140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A59A66-C91D-4D42-DFF8-DC3C2B890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217134"/>
                <a:ext cx="3240360" cy="837409"/>
              </a:xfrm>
              <a:prstGeom prst="rect">
                <a:avLst/>
              </a:prstGeom>
              <a:blipFill>
                <a:blip r:embed="rId4"/>
                <a:stretch>
                  <a:fillRect l="-377" b="-6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2DCCBBA-EE82-C8EA-5035-92AEABA00251}"/>
              </a:ext>
            </a:extLst>
          </p:cNvPr>
          <p:cNvSpPr txBox="1"/>
          <p:nvPr/>
        </p:nvSpPr>
        <p:spPr>
          <a:xfrm>
            <a:off x="6888088" y="3217133"/>
            <a:ext cx="5040560" cy="58035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 indent="17621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Sigmoid : </a:t>
            </a:r>
            <a:r>
              <a:rPr lang="ko-KR" altLang="en-US" sz="1400" dirty="0"/>
              <a:t>어떤 실수값 </a:t>
            </a:r>
            <a:r>
              <a:rPr lang="en-US" altLang="ko-KR" sz="1400" dirty="0"/>
              <a:t>z(−∞~+∞)</a:t>
            </a:r>
            <a:r>
              <a:rPr lang="ko-KR" altLang="en-US" sz="1400" dirty="0"/>
              <a:t>을 입력으로 받아서    </a:t>
            </a:r>
            <a:br>
              <a:rPr lang="en-US" altLang="ko-KR" sz="1400" dirty="0"/>
            </a:br>
            <a:r>
              <a:rPr lang="en-US" altLang="ko-KR" sz="1400" dirty="0"/>
              <a:t>   0~1 </a:t>
            </a:r>
            <a:r>
              <a:rPr lang="ko-KR" altLang="en-US" sz="1400" dirty="0"/>
              <a:t>사이 값</a:t>
            </a:r>
            <a:r>
              <a:rPr lang="en-US" altLang="ko-KR" sz="1400" dirty="0"/>
              <a:t>(</a:t>
            </a:r>
            <a:r>
              <a:rPr lang="ko-KR" altLang="en-US" sz="1400" dirty="0"/>
              <a:t>확률처럼 해석 가능</a:t>
            </a:r>
            <a:r>
              <a:rPr lang="en-US" altLang="ko-KR" sz="1400" dirty="0"/>
              <a:t>)</a:t>
            </a:r>
            <a:r>
              <a:rPr lang="ko-KR" altLang="en-US" sz="1400" dirty="0"/>
              <a:t>으로 바꿔주는 </a:t>
            </a:r>
            <a:r>
              <a:rPr lang="en-US" altLang="ko-KR" sz="1400" dirty="0"/>
              <a:t>S</a:t>
            </a:r>
            <a:r>
              <a:rPr lang="ko-KR" altLang="en-US" sz="1400" dirty="0"/>
              <a:t>자 함수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233265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0295B-5C35-8EC7-ADD7-9E0AFC41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CFA99FBA-B618-03A6-3618-2AA065640A6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A810458-6FD6-19DC-F70C-FF40D8BDD9D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225CB12-8E3F-4DD7-FBAD-F2FB3B29E0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E2F58EE1-CA9D-5B8B-AE42-9D565D8ACD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73D66D-B61A-0177-E144-27544D187FE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189CC8-0141-6C3F-624D-4926E3463EE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788760-2FAE-71A0-4077-3D7D5D846CC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07633B-4C5C-3B11-1D55-37A15B1B215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ABEFFF-9978-3534-3A0C-5601D4A2511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6D415F-B214-9CAC-3828-258EC44C5D8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40F061-8535-F60E-260F-AB8EA4A0AEE9}"/>
                  </a:ext>
                </a:extLst>
              </p:cNvPr>
              <p:cNvSpPr txBox="1"/>
              <p:nvPr/>
            </p:nvSpPr>
            <p:spPr>
              <a:xfrm>
                <a:off x="191344" y="908720"/>
                <a:ext cx="8665640" cy="2652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(4) “</a:t>
                </a:r>
                <a:r>
                  <a:rPr lang="ko-KR" altLang="en-US" b="1" dirty="0">
                    <a:latin typeface="+mn-ea"/>
                  </a:rPr>
                  <a:t>경계선에서 얼마나 </a:t>
                </a:r>
                <a:r>
                  <a:rPr lang="ko-KR" altLang="en-US" b="1" dirty="0" err="1">
                    <a:latin typeface="+mn-ea"/>
                  </a:rPr>
                  <a:t>떨어졌는가”의</a:t>
                </a:r>
                <a:r>
                  <a:rPr lang="ko-KR" altLang="en-US" b="1" dirty="0">
                    <a:latin typeface="+mn-ea"/>
                  </a:rPr>
                  <a:t> 의미</a:t>
                </a:r>
              </a:p>
              <a:p>
                <a:pPr marL="363538" indent="260350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dirty="0">
                    <a:latin typeface="+mn-ea"/>
                  </a:rPr>
                  <a:t>값 자체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부호와 크기</a:t>
                </a:r>
                <a:r>
                  <a:rPr lang="en-US" altLang="ko-KR" dirty="0">
                    <a:latin typeface="+mn-ea"/>
                  </a:rPr>
                  <a:t>)</a:t>
                </a:r>
                <a:r>
                  <a:rPr lang="ko-KR" altLang="en-US" dirty="0">
                    <a:latin typeface="+mn-ea"/>
                  </a:rPr>
                  <a:t>가 “경계로부터의 방향</a:t>
                </a:r>
                <a:r>
                  <a:rPr lang="en-US" altLang="ko-KR" dirty="0">
                    <a:latin typeface="+mn-ea"/>
                  </a:rPr>
                  <a:t>/</a:t>
                </a:r>
                <a:r>
                  <a:rPr lang="ko-KR" altLang="en-US" dirty="0" err="1">
                    <a:latin typeface="+mn-ea"/>
                  </a:rPr>
                  <a:t>강도”를</a:t>
                </a:r>
                <a:r>
                  <a:rPr lang="ko-KR" altLang="en-US" dirty="0">
                    <a:latin typeface="+mn-ea"/>
                  </a:rPr>
                  <a:t> 나타냅니다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 marL="539750" lvl="1">
                  <a:lnSpc>
                    <a:spcPts val="2900"/>
                  </a:lnSpc>
                </a:pPr>
                <a:r>
                  <a:rPr lang="en-US" altLang="ko-KR" dirty="0"/>
                  <a:t>- 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dirty="0">
                    <a:latin typeface="+mn-ea"/>
                  </a:rPr>
                  <a:t>면 </a:t>
                </a:r>
                <a:r>
                  <a:rPr lang="en-US" altLang="ko-KR" dirty="0">
                    <a:latin typeface="+mn-ea"/>
                  </a:rPr>
                  <a:t>OK </a:t>
                </a:r>
                <a:r>
                  <a:rPr lang="ko-KR" altLang="en-US" dirty="0">
                    <a:latin typeface="+mn-ea"/>
                  </a:rPr>
                  <a:t>쪽</a:t>
                </a:r>
              </a:p>
              <a:p>
                <a:pPr marL="539750" lvl="1">
                  <a:lnSpc>
                    <a:spcPts val="2900"/>
                  </a:lnSpc>
                </a:pPr>
                <a:r>
                  <a:rPr lang="en-US" altLang="ko-KR" dirty="0"/>
                  <a:t>- 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ko-KR" altLang="en-US" dirty="0">
                    <a:latin typeface="+mn-ea"/>
                  </a:rPr>
                  <a:t>면 </a:t>
                </a:r>
                <a:r>
                  <a:rPr lang="en-US" altLang="ko-KR" dirty="0">
                    <a:latin typeface="+mn-ea"/>
                  </a:rPr>
                  <a:t>NOK </a:t>
                </a:r>
                <a:r>
                  <a:rPr lang="ko-KR" altLang="en-US" dirty="0">
                    <a:latin typeface="+mn-ea"/>
                  </a:rPr>
                  <a:t>쪽</a:t>
                </a:r>
              </a:p>
              <a:p>
                <a:pPr marL="539750" lvl="1">
                  <a:lnSpc>
                    <a:spcPts val="2900"/>
                  </a:lnSpc>
                </a:pPr>
                <a:r>
                  <a:rPr lang="en-US" altLang="ko-KR" dirty="0"/>
                  <a:t>- 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ko-KR" altLang="en-US" dirty="0">
                    <a:latin typeface="+mn-ea"/>
                  </a:rPr>
                  <a:t>가 클수록 확률이 </a:t>
                </a:r>
                <a:r>
                  <a:rPr lang="en-US" altLang="ko-KR" dirty="0">
                    <a:latin typeface="+mn-ea"/>
                  </a:rPr>
                  <a:t>0 </a:t>
                </a:r>
                <a:r>
                  <a:rPr lang="ko-KR" altLang="en-US" dirty="0">
                    <a:latin typeface="+mn-ea"/>
                  </a:rPr>
                  <a:t>또는 </a:t>
                </a:r>
                <a:r>
                  <a:rPr lang="en-US" altLang="ko-KR" dirty="0">
                    <a:latin typeface="+mn-ea"/>
                  </a:rPr>
                  <a:t>1 </a:t>
                </a:r>
                <a:r>
                  <a:rPr lang="ko-KR" altLang="en-US" dirty="0">
                    <a:latin typeface="+mn-ea"/>
                  </a:rPr>
                  <a:t>쪽으로 강하게 치우침</a:t>
                </a:r>
                <a:endParaRPr lang="en-US" altLang="ko-KR" dirty="0">
                  <a:latin typeface="+mn-ea"/>
                </a:endParaRPr>
              </a:p>
              <a:p>
                <a:pPr marL="539750" lvl="1" indent="177800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endParaRPr lang="ko-KR" altLang="en-US" dirty="0">
                  <a:latin typeface="+mn-ea"/>
                </a:endParaRPr>
              </a:p>
              <a:p>
                <a:pPr marL="176213" indent="269875"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 </a:t>
                </a:r>
                <a:endParaRPr lang="en-US" altLang="ko-KR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40F061-8535-F60E-260F-AB8EA4A0A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908720"/>
                <a:ext cx="8665640" cy="2652970"/>
              </a:xfrm>
              <a:prstGeom prst="rect">
                <a:avLst/>
              </a:prstGeom>
              <a:blipFill>
                <a:blip r:embed="rId2"/>
                <a:stretch>
                  <a:fillRect l="-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442623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E4B7-19B1-4C28-3E2E-1D551A02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91AE2765-BDCA-3821-7617-DE255FADC3E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F990D63-3140-0B55-0DA6-52E54137F22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B38D51A-AB79-8216-7AFB-801B1A894EC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6945A00-AC5D-588D-F24B-AF9A55344FC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80478E-1462-BA3B-069C-392432510BD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F974C-697B-7A4A-3058-3A53D811EC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294197-7EDD-F98A-53EB-7F45F49A02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7C24BE-19E1-6229-6ADD-A2926C9B5AE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0911D5-0C9A-1694-26B4-3C09EDF909D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5F59A7-288B-A584-094E-1E5A17F069C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89FE14-79EC-6A2A-BBB4-2031033FD670}"/>
                  </a:ext>
                </a:extLst>
              </p:cNvPr>
              <p:cNvSpPr txBox="1"/>
              <p:nvPr/>
            </p:nvSpPr>
            <p:spPr>
              <a:xfrm>
                <a:off x="263352" y="647620"/>
                <a:ext cx="11017224" cy="5907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2)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장점</a:t>
                </a:r>
                <a:endParaRPr lang="en-US" altLang="ko-KR" sz="1600" b="1" dirty="0">
                  <a:solidFill>
                    <a:srgbClr val="0000FF"/>
                  </a:solidFill>
                  <a:latin typeface="+mn-ea"/>
                </a:endParaRPr>
              </a:p>
              <a:p>
                <a:pPr indent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(1) </a:t>
                </a:r>
                <a:r>
                  <a:rPr lang="ko-KR" altLang="en-US" sz="1600" b="1" dirty="0">
                    <a:latin typeface="+mn-ea"/>
                  </a:rPr>
                  <a:t>빠르고 가볍다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학습</a:t>
                </a:r>
                <a:r>
                  <a:rPr lang="en-US" altLang="ko-KR" sz="1600" dirty="0">
                    <a:latin typeface="+mn-ea"/>
                  </a:rPr>
                  <a:t>/</a:t>
                </a:r>
                <a:r>
                  <a:rPr lang="ko-KR" altLang="en-US" sz="1600" dirty="0">
                    <a:latin typeface="+mn-ea"/>
                  </a:rPr>
                  <a:t>예측 계산이 단순해서 </a:t>
                </a:r>
                <a:r>
                  <a:rPr lang="ko-KR" altLang="en-US" sz="1600" b="1" dirty="0">
                    <a:latin typeface="+mn-ea"/>
                  </a:rPr>
                  <a:t>데이터가 커도 빠름</a:t>
                </a:r>
                <a:endParaRPr lang="ko-KR" altLang="en-US" sz="1600" dirty="0">
                  <a:latin typeface="+mn-ea"/>
                </a:endParaRP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임베디드</a:t>
                </a:r>
                <a:r>
                  <a:rPr lang="en-US" altLang="ko-KR" sz="1600" dirty="0">
                    <a:latin typeface="+mn-ea"/>
                  </a:rPr>
                  <a:t>/</a:t>
                </a:r>
                <a:r>
                  <a:rPr lang="ko-KR" altLang="en-US" sz="1600" dirty="0">
                    <a:latin typeface="+mn-ea"/>
                  </a:rPr>
                  <a:t>현장 </a:t>
                </a:r>
                <a:r>
                  <a:rPr lang="en-US" altLang="ko-KR" sz="1600" dirty="0">
                    <a:latin typeface="+mn-ea"/>
                  </a:rPr>
                  <a:t>PC</a:t>
                </a:r>
                <a:r>
                  <a:rPr lang="ko-KR" altLang="en-US" sz="1600" dirty="0">
                    <a:latin typeface="+mn-ea"/>
                  </a:rPr>
                  <a:t>에서 실시간 판단에 유리</a:t>
                </a:r>
              </a:p>
              <a:p>
                <a:pPr marL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(2) </a:t>
                </a:r>
                <a:r>
                  <a:rPr lang="ko-KR" altLang="en-US" sz="1600" b="1" dirty="0">
                    <a:latin typeface="+mn-ea"/>
                  </a:rPr>
                  <a:t>해석이 쉽다</a:t>
                </a:r>
                <a:endParaRPr lang="en-US" altLang="ko-KR" sz="1600" b="1" dirty="0">
                  <a:latin typeface="+mn-ea"/>
                </a:endParaRPr>
              </a:p>
              <a:p>
                <a:pPr>
                  <a:lnSpc>
                    <a:spcPts val="24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      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미</a:t>
                </a:r>
                <a:r>
                  <a:rPr lang="en-US" altLang="ko-KR" sz="1600" dirty="0">
                    <a:latin typeface="+mn-ea"/>
                  </a:rPr>
                  <a:t> </a:t>
                </a:r>
                <a:r>
                  <a:rPr lang="en-US" altLang="ko-KR" sz="1600" dirty="0">
                    <a:latin typeface="+mn-ea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b="1" dirty="0">
                    <a:latin typeface="+mn-ea"/>
                  </a:rPr>
                  <a:t>다른 변수가 동일할 때</a:t>
                </a:r>
                <a:r>
                  <a:rPr lang="en-US" altLang="ko-KR" sz="1600" dirty="0">
                    <a:latin typeface="+mn-ea"/>
                  </a:rPr>
                  <a:t>, temp</a:t>
                </a:r>
                <a:r>
                  <a:rPr lang="ko-KR" altLang="en-US" sz="1600" dirty="0">
                    <a:latin typeface="+mn-ea"/>
                  </a:rPr>
                  <a:t>가 </a:t>
                </a:r>
                <a:r>
                  <a:rPr lang="en-US" altLang="ko-KR" sz="1600" dirty="0">
                    <a:latin typeface="+mn-ea"/>
                  </a:rPr>
                  <a:t>1 </a:t>
                </a:r>
                <a:r>
                  <a:rPr lang="ko-KR" altLang="en-US" sz="1600" dirty="0">
                    <a:latin typeface="+mn-ea"/>
                  </a:rPr>
                  <a:t>증가하면 </a:t>
                </a:r>
                <a:r>
                  <a:rPr lang="en-US" altLang="ko-KR" sz="1600" dirty="0">
                    <a:latin typeface="+mn-ea"/>
                  </a:rPr>
                  <a:t>OK </a:t>
                </a:r>
                <a:r>
                  <a:rPr lang="ko-KR" altLang="en-US" sz="1600" dirty="0">
                    <a:latin typeface="+mn-ea"/>
                  </a:rPr>
                  <a:t>쪽으로 점수가 얼마나 변하는지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부호</a:t>
                </a:r>
                <a:r>
                  <a:rPr lang="en-US" altLang="ko-KR" sz="1600" dirty="0">
                    <a:latin typeface="+mn-ea"/>
                  </a:rPr>
                  <a:t>:</a:t>
                </a:r>
              </a:p>
              <a:p>
                <a:pPr lvl="1" indent="260350">
                  <a:lnSpc>
                    <a:spcPts val="2400"/>
                  </a:lnSpc>
                </a:pPr>
                <a:r>
                  <a:rPr lang="en-US" altLang="ko-KR" sz="1600" dirty="0"/>
                  <a:t>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: temp</a:t>
                </a:r>
                <a:r>
                  <a:rPr lang="ko-KR" altLang="en-US" sz="1600" dirty="0">
                    <a:latin typeface="+mn-ea"/>
                  </a:rPr>
                  <a:t>가 높을수록 </a:t>
                </a:r>
                <a:r>
                  <a:rPr lang="en-US" altLang="ko-KR" sz="1600" dirty="0">
                    <a:latin typeface="+mn-ea"/>
                  </a:rPr>
                  <a:t>OK </a:t>
                </a:r>
                <a:r>
                  <a:rPr lang="ko-KR" altLang="en-US" sz="1600" dirty="0">
                    <a:latin typeface="+mn-ea"/>
                  </a:rPr>
                  <a:t>확률이 증가하는 경향</a:t>
                </a:r>
              </a:p>
              <a:p>
                <a:pPr lvl="1" indent="260350">
                  <a:lnSpc>
                    <a:spcPts val="2400"/>
                  </a:lnSpc>
                </a:pPr>
                <a:r>
                  <a:rPr lang="en-US" altLang="ko-KR" sz="1600" dirty="0"/>
                  <a:t>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: temp</a:t>
                </a:r>
                <a:r>
                  <a:rPr lang="ko-KR" altLang="en-US" sz="1600" dirty="0">
                    <a:latin typeface="+mn-ea"/>
                  </a:rPr>
                  <a:t>가 높을수록 </a:t>
                </a:r>
                <a:r>
                  <a:rPr lang="en-US" altLang="ko-KR" sz="1600" dirty="0">
                    <a:latin typeface="+mn-ea"/>
                  </a:rPr>
                  <a:t>NOK </a:t>
                </a:r>
                <a:r>
                  <a:rPr lang="ko-KR" altLang="en-US" sz="1600" dirty="0">
                    <a:latin typeface="+mn-ea"/>
                  </a:rPr>
                  <a:t>확률이 증가하는 경향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크기</a:t>
                </a:r>
                <a:r>
                  <a:rPr lang="en-US" altLang="ko-KR" sz="1600" dirty="0">
                    <a:latin typeface="+mn-ea"/>
                  </a:rPr>
                  <a:t>:</a:t>
                </a:r>
              </a:p>
              <a:p>
                <a:pPr marL="717550" lvl="1" indent="176213">
                  <a:lnSpc>
                    <a:spcPts val="2400"/>
                  </a:lnSpc>
                </a:pPr>
                <a:r>
                  <a:rPr lang="en-US" altLang="ko-KR" sz="1600" dirty="0">
                    <a:latin typeface="+mn-ea"/>
                  </a:rPr>
                  <a:t>-  </a:t>
                </a:r>
                <a:r>
                  <a:rPr lang="ko-KR" altLang="en-US" sz="1600" dirty="0">
                    <a:latin typeface="+mn-ea"/>
                  </a:rPr>
                  <a:t>절댓값이 클수록 영향이 큼</a:t>
                </a:r>
                <a:endParaRPr lang="en-US" altLang="ko-KR" sz="1600" dirty="0">
                  <a:latin typeface="+mn-ea"/>
                </a:endParaRPr>
              </a:p>
              <a:p>
                <a:pPr marL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(3) </a:t>
                </a:r>
                <a:r>
                  <a:rPr lang="ko-KR" altLang="en-US" sz="1600" b="1" dirty="0">
                    <a:latin typeface="+mn-ea"/>
                  </a:rPr>
                  <a:t>확률 출력이 바로 나온다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단순히 </a:t>
                </a:r>
                <a:r>
                  <a:rPr lang="en-US" altLang="ko-KR" sz="1600" dirty="0">
                    <a:latin typeface="+mn-ea"/>
                  </a:rPr>
                  <a:t>OK/NOK</a:t>
                </a:r>
                <a:r>
                  <a:rPr lang="ko-KR" altLang="en-US" sz="1600" dirty="0">
                    <a:latin typeface="+mn-ea"/>
                  </a:rPr>
                  <a:t>만 내는 게 아니라 확률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신뢰도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을 주므로</a:t>
                </a:r>
                <a:r>
                  <a:rPr lang="en-US" altLang="ko-KR" sz="1600" dirty="0">
                    <a:latin typeface="+mn-ea"/>
                  </a:rPr>
                  <a:t>,</a:t>
                </a:r>
              </a:p>
              <a:p>
                <a:pPr lvl="1">
                  <a:lnSpc>
                    <a:spcPts val="2400"/>
                  </a:lnSpc>
                </a:pPr>
                <a:r>
                  <a:rPr lang="en-US" altLang="ko-KR" sz="1600" dirty="0">
                    <a:latin typeface="+mn-ea"/>
                  </a:rPr>
                  <a:t>-  “0.52</a:t>
                </a:r>
                <a:r>
                  <a:rPr lang="ko-KR" altLang="en-US" sz="1600" dirty="0">
                    <a:latin typeface="+mn-ea"/>
                  </a:rPr>
                  <a:t>처럼 애매한 구간은 재검사”</a:t>
                </a:r>
              </a:p>
              <a:p>
                <a:pPr lvl="1">
                  <a:lnSpc>
                    <a:spcPts val="2400"/>
                  </a:lnSpc>
                </a:pPr>
                <a:r>
                  <a:rPr lang="en-US" altLang="ko-KR" sz="1600" dirty="0">
                    <a:latin typeface="+mn-ea"/>
                  </a:rPr>
                  <a:t>-  </a:t>
                </a:r>
                <a:r>
                  <a:rPr lang="ko-KR" altLang="en-US" sz="1600" dirty="0">
                    <a:latin typeface="+mn-ea"/>
                  </a:rPr>
                  <a:t>“</a:t>
                </a:r>
                <a:r>
                  <a:rPr lang="en-US" altLang="ko-KR" sz="1600" dirty="0">
                    <a:latin typeface="+mn-ea"/>
                  </a:rPr>
                  <a:t>0.95 </a:t>
                </a:r>
                <a:r>
                  <a:rPr lang="ko-KR" altLang="en-US" sz="1600" dirty="0">
                    <a:latin typeface="+mn-ea"/>
                  </a:rPr>
                  <a:t>이상만 </a:t>
                </a:r>
                <a:r>
                  <a:rPr lang="en-US" altLang="ko-KR" sz="1600" dirty="0">
                    <a:latin typeface="+mn-ea"/>
                  </a:rPr>
                  <a:t>OK </a:t>
                </a:r>
                <a:r>
                  <a:rPr lang="ko-KR" altLang="en-US" sz="1600" dirty="0">
                    <a:latin typeface="+mn-ea"/>
                  </a:rPr>
                  <a:t>처리”</a:t>
                </a:r>
                <a:br>
                  <a:rPr lang="ko-KR" altLang="en-US" sz="1600" dirty="0">
                    <a:latin typeface="+mn-ea"/>
                  </a:rPr>
                </a:br>
                <a:r>
                  <a:rPr lang="ko-KR" altLang="en-US" sz="1600" dirty="0">
                    <a:latin typeface="+mn-ea"/>
                  </a:rPr>
                  <a:t>   와 같은 운영 정책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 err="1">
                    <a:latin typeface="+mn-ea"/>
                  </a:rPr>
                  <a:t>임계값</a:t>
                </a:r>
                <a:r>
                  <a:rPr lang="ko-KR" altLang="en-US" sz="1600" dirty="0">
                    <a:latin typeface="+mn-ea"/>
                  </a:rPr>
                  <a:t> 조정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을 적용하기 쉽습니다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(4) </a:t>
                </a:r>
                <a:r>
                  <a:rPr lang="ko-KR" altLang="en-US" sz="1600" b="1" dirty="0">
                    <a:latin typeface="+mn-ea"/>
                  </a:rPr>
                  <a:t>과적합을 제어하기 쉽다</a:t>
                </a:r>
                <a:endParaRPr lang="en-US" altLang="ko-KR" sz="1600" b="1" dirty="0">
                  <a:latin typeface="+mn-ea"/>
                </a:endParaRP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L2/L1 </a:t>
                </a:r>
                <a:r>
                  <a:rPr lang="ko-KR" altLang="en-US" sz="1600" dirty="0">
                    <a:latin typeface="+mn-ea"/>
                  </a:rPr>
                  <a:t>정규화로 가중치를 억제해 </a:t>
                </a:r>
                <a:r>
                  <a:rPr lang="ko-KR" altLang="en-US" sz="1600" b="1" dirty="0">
                    <a:latin typeface="+mn-ea"/>
                  </a:rPr>
                  <a:t>안정적인 모델</a:t>
                </a:r>
                <a:r>
                  <a:rPr lang="ko-KR" altLang="en-US" sz="1600" dirty="0">
                    <a:latin typeface="+mn-ea"/>
                  </a:rPr>
                  <a:t>을 만들기 좋다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특히 센서 데이터는 잡음이 있으니 너무 예민하게 학습되는 걸 막는 데 유리하다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89FE14-79EC-6A2A-BBB4-2031033FD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647620"/>
                <a:ext cx="11017224" cy="5907836"/>
              </a:xfrm>
              <a:prstGeom prst="rect">
                <a:avLst/>
              </a:prstGeom>
              <a:blipFill>
                <a:blip r:embed="rId2"/>
                <a:stretch>
                  <a:fillRect l="-277" b="-4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226891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9591-1FDC-C407-6911-6F8C9385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6604F306-C9F7-09CF-2B05-ADE6B3C3976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9104DE5-3AAE-D686-AFFE-40C0DF02148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CAF5B19-243C-1499-E2B3-72153D2296A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9F02652-6819-013F-6259-7524BA71468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A1BD2B-182B-4AFB-B9BD-1DF7120D0EC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FB4743-D721-7765-A1A5-5EC40318BD1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AA4BB1-7998-F698-0ADD-9ED11FC1FD5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C068E7-1460-2715-4FCF-6AC67DB3484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0F940B-A40F-3B70-CDE1-848B55E3D1A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BA2015-2B4E-F339-EE91-4A850E018A4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CECC1-59DB-33CD-628B-25CF64882786}"/>
              </a:ext>
            </a:extLst>
          </p:cNvPr>
          <p:cNvSpPr txBox="1"/>
          <p:nvPr/>
        </p:nvSpPr>
        <p:spPr>
          <a:xfrm>
            <a:off x="263352" y="691360"/>
            <a:ext cx="7848872" cy="537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3)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단점</a:t>
            </a:r>
            <a:endParaRPr lang="en-US" altLang="ko-KR" sz="1600" b="1" dirty="0">
              <a:solidFill>
                <a:srgbClr val="0000FF"/>
              </a:solidFill>
              <a:latin typeface="+mn-ea"/>
            </a:endParaRPr>
          </a:p>
          <a:p>
            <a:pPr marL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1) </a:t>
            </a:r>
            <a:r>
              <a:rPr lang="ko-KR" altLang="en-US" sz="1600" b="1" dirty="0">
                <a:latin typeface="+mn-ea"/>
              </a:rPr>
              <a:t>비선형 경계가 약하다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기본 로지스틱 회귀는 결정경계가 직선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선형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실제로 </a:t>
            </a:r>
            <a:r>
              <a:rPr lang="en-US" altLang="ko-KR" sz="1600" dirty="0">
                <a:latin typeface="+mn-ea"/>
              </a:rPr>
              <a:t>OK/NOK</a:t>
            </a:r>
            <a:r>
              <a:rPr lang="ko-KR" altLang="en-US" sz="1600" dirty="0">
                <a:latin typeface="+mn-ea"/>
              </a:rPr>
              <a:t>가 “곡선 </a:t>
            </a:r>
            <a:r>
              <a:rPr lang="ko-KR" altLang="en-US" sz="1600" dirty="0" err="1">
                <a:latin typeface="+mn-ea"/>
              </a:rPr>
              <a:t>모양”으로</a:t>
            </a:r>
            <a:r>
              <a:rPr lang="ko-KR" altLang="en-US" sz="1600" dirty="0">
                <a:latin typeface="+mn-ea"/>
              </a:rPr>
              <a:t> 나뉘면 잘 못 잡는다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93663" indent="176213">
              <a:lnSpc>
                <a:spcPts val="2300"/>
              </a:lnSpc>
              <a:buNone/>
            </a:pP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해결 아이디어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: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특성 확장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temp², humi², temp*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같은 </a:t>
            </a:r>
            <a:r>
              <a:rPr lang="ko-KR" altLang="en-US" sz="1600" dirty="0" err="1">
                <a:latin typeface="+mn-ea"/>
              </a:rPr>
              <a:t>다항항</a:t>
            </a:r>
            <a:r>
              <a:rPr lang="ko-KR" altLang="en-US" sz="1600" dirty="0">
                <a:latin typeface="+mn-ea"/>
              </a:rPr>
              <a:t> 추가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혹은 </a:t>
            </a:r>
            <a:r>
              <a:rPr lang="en-US" altLang="ko-KR" sz="1600" dirty="0">
                <a:latin typeface="+mn-ea"/>
              </a:rPr>
              <a:t>SVM(RBF), </a:t>
            </a:r>
            <a:r>
              <a:rPr lang="ko-KR" altLang="en-US" sz="1600" dirty="0">
                <a:latin typeface="+mn-ea"/>
              </a:rPr>
              <a:t>트리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 err="1">
                <a:latin typeface="+mn-ea"/>
              </a:rPr>
              <a:t>랜덤포레스트</a:t>
            </a:r>
            <a:r>
              <a:rPr lang="en-US" altLang="ko-KR" sz="1600" dirty="0">
                <a:latin typeface="+mn-ea"/>
              </a:rPr>
              <a:t>, XGBoost </a:t>
            </a:r>
            <a:r>
              <a:rPr lang="ko-KR" altLang="en-US" sz="1600" dirty="0">
                <a:latin typeface="+mn-ea"/>
              </a:rPr>
              <a:t>같은 비선형 모델 사용</a:t>
            </a:r>
          </a:p>
          <a:p>
            <a:pPr marL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2) </a:t>
            </a:r>
            <a:r>
              <a:rPr lang="ko-KR" altLang="en-US" sz="1600" b="1" dirty="0">
                <a:latin typeface="+mn-ea"/>
              </a:rPr>
              <a:t>변수 스케일에 민감하다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temp(20~30)</a:t>
            </a:r>
            <a:r>
              <a:rPr lang="ko-KR" altLang="en-US" sz="1600" dirty="0">
                <a:latin typeface="+mn-ea"/>
              </a:rPr>
              <a:t>와 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(50~90)</a:t>
            </a:r>
            <a:r>
              <a:rPr lang="ko-KR" altLang="en-US" sz="1600" dirty="0">
                <a:latin typeface="+mn-ea"/>
              </a:rPr>
              <a:t>처럼 범위가 다르면</a:t>
            </a:r>
            <a:r>
              <a:rPr lang="en-US" altLang="ko-KR" sz="1600" dirty="0">
                <a:latin typeface="+mn-ea"/>
              </a:rPr>
              <a:t>,</a:t>
            </a:r>
          </a:p>
          <a:p>
            <a:pPr marL="539750" lvl="1">
              <a:lnSpc>
                <a:spcPts val="23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학습이 불안정해지거나</a:t>
            </a:r>
          </a:p>
          <a:p>
            <a:pPr marL="539750" lvl="1">
              <a:lnSpc>
                <a:spcPts val="23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가중치 해석이 왜곡될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보통 표준화</a:t>
            </a:r>
            <a:r>
              <a:rPr lang="en-US" altLang="ko-KR" sz="1600" dirty="0">
                <a:latin typeface="+mn-ea"/>
              </a:rPr>
              <a:t>(StandardScaler)</a:t>
            </a:r>
            <a:r>
              <a:rPr lang="ko-KR" altLang="en-US" sz="1600" dirty="0">
                <a:latin typeface="+mn-ea"/>
              </a:rPr>
              <a:t>를 같이 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3) </a:t>
            </a:r>
            <a:r>
              <a:rPr lang="ko-KR" altLang="en-US" sz="1600" b="1" dirty="0">
                <a:latin typeface="+mn-ea"/>
              </a:rPr>
              <a:t>이상치</a:t>
            </a:r>
            <a:r>
              <a:rPr lang="en-US" altLang="ko-KR" sz="1600" b="1" dirty="0">
                <a:latin typeface="+mn-ea"/>
              </a:rPr>
              <a:t>(outlier) </a:t>
            </a:r>
            <a:r>
              <a:rPr lang="ko-KR" altLang="en-US" sz="1600" b="1" dirty="0">
                <a:latin typeface="+mn-ea"/>
              </a:rPr>
              <a:t>영향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센서 </a:t>
            </a:r>
            <a:r>
              <a:rPr lang="ko-KR" altLang="en-US" sz="1600" dirty="0" err="1">
                <a:latin typeface="+mn-ea"/>
              </a:rPr>
              <a:t>튐값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통신 오류 등 이상치가 있으면 경계가 쓸데없이 움직일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이상치 제거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 err="1">
                <a:latin typeface="+mn-ea"/>
              </a:rPr>
              <a:t>클리핑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로버스트</a:t>
            </a:r>
            <a:r>
              <a:rPr lang="ko-KR" altLang="en-US" sz="1600" dirty="0">
                <a:latin typeface="+mn-ea"/>
              </a:rPr>
              <a:t> 전처리가 도움이 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indent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4) </a:t>
            </a:r>
            <a:r>
              <a:rPr lang="ko-KR" altLang="en-US" sz="1600" b="1" dirty="0">
                <a:latin typeface="+mn-ea"/>
              </a:rPr>
              <a:t>데이터가 선형으로 분리되지 않을 때 한계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두 클래스가 많이 겹치면 확률이 전반적으로 </a:t>
            </a:r>
            <a:r>
              <a:rPr lang="en-US" altLang="ko-KR" sz="1600" dirty="0">
                <a:latin typeface="+mn-ea"/>
              </a:rPr>
              <a:t>0.4~0.6</a:t>
            </a:r>
            <a:r>
              <a:rPr lang="ko-KR" altLang="en-US" sz="1600" dirty="0">
                <a:latin typeface="+mn-ea"/>
              </a:rPr>
              <a:t>처럼 애매해지고</a:t>
            </a:r>
            <a:r>
              <a:rPr lang="en-US" altLang="ko-KR" sz="1600" dirty="0">
                <a:latin typeface="+mn-ea"/>
              </a:rPr>
              <a:t>,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결국 성능이 제한됩니다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모델이 단순해서 생기는 표현력 한계</a:t>
            </a:r>
            <a:r>
              <a:rPr lang="en-US" altLang="ko-KR" sz="1600" dirty="0">
                <a:latin typeface="+mn-ea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40882191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EFB8-D800-B82D-99A7-284FE839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CE709FE0-6FE0-E1C0-EBCA-EEE674E40F4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B9F8ABF-F0A0-BE85-1A1E-CBABF069D6A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47793A6-3301-D03F-DA13-837A6900ACB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7B2D8585-BED7-92F4-DB38-322A70C232D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D0CBC4E-421A-8667-ACA8-E4AA3BC506C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FF260-1378-1DB5-14AB-387918C7A8C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C2E0DF-26DE-BA5B-083B-E819DAB74B1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477AA1-EFE4-F91C-BE0C-4D2EC2F550D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E0CF32-3EE3-FBA9-C37E-083366055C5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9CE88C-2564-7398-B02F-1B39D45E66AF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AAE4E-B87B-E8B4-8400-72ABA3FA808A}"/>
              </a:ext>
            </a:extLst>
          </p:cNvPr>
          <p:cNvSpPr txBox="1"/>
          <p:nvPr/>
        </p:nvSpPr>
        <p:spPr>
          <a:xfrm>
            <a:off x="191344" y="764704"/>
            <a:ext cx="8413102" cy="34701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sklearn.linear_model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LogisticRegression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sklearn.pipeline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 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StandardScaler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log_reg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Pipeline([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"scaler"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StandardScaler()),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"Logistic Regression"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log_reg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pic>
        <p:nvPicPr>
          <p:cNvPr id="13" name="그림 12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6A14D-01A0-591B-422C-E99639F3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16" y="3410779"/>
            <a:ext cx="4151784" cy="33037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975997-E8BB-4461-AD32-1DFFE1ED2821}"/>
              </a:ext>
            </a:extLst>
          </p:cNvPr>
          <p:cNvSpPr txBox="1"/>
          <p:nvPr/>
        </p:nvSpPr>
        <p:spPr>
          <a:xfrm flipH="1">
            <a:off x="407368" y="4615771"/>
            <a:ext cx="6867051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Pipeline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전처리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학습을 하나로 묶어 처리하는 클래스</a:t>
            </a:r>
            <a:endParaRPr lang="en-US" altLang="ko-KR" sz="14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StandardScaler()   </a:t>
            </a:r>
            <a:r>
              <a:rPr lang="en-US" altLang="ko-KR" sz="1400" dirty="0">
                <a:sym typeface="Wingdings" panose="05000000000000000000" pitchFamily="2" charset="2"/>
              </a:rPr>
              <a:t>  </a:t>
            </a:r>
            <a:r>
              <a:rPr lang="ko-KR" altLang="en-US" sz="1400" dirty="0">
                <a:sym typeface="Wingdings" panose="05000000000000000000" pitchFamily="2" charset="2"/>
              </a:rPr>
              <a:t>데이터 정규화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- </a:t>
            </a:r>
            <a:r>
              <a:rPr lang="ko-KR" altLang="en-US" sz="1400" dirty="0">
                <a:sym typeface="Wingdings" panose="05000000000000000000" pitchFamily="2" charset="2"/>
              </a:rPr>
              <a:t>온도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습도는 단위와 범위가 다르므로 숫자가 큰 값이 결과에 더 큰 영향 미침 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- </a:t>
            </a:r>
            <a:r>
              <a:rPr lang="ko-KR" altLang="en-US" sz="1400" dirty="0">
                <a:sym typeface="Wingdings" panose="05000000000000000000" pitchFamily="2" charset="2"/>
              </a:rPr>
              <a:t>이걸 평균 </a:t>
            </a:r>
            <a:r>
              <a:rPr lang="en-US" altLang="ko-KR" sz="1400" dirty="0">
                <a:sym typeface="Wingdings" panose="05000000000000000000" pitchFamily="2" charset="2"/>
              </a:rPr>
              <a:t>0, </a:t>
            </a:r>
            <a:r>
              <a:rPr lang="ko-KR" altLang="en-US" sz="1400" dirty="0">
                <a:sym typeface="Wingdings" panose="05000000000000000000" pitchFamily="2" charset="2"/>
              </a:rPr>
              <a:t>표준편차 </a:t>
            </a:r>
            <a:r>
              <a:rPr lang="en-US" altLang="ko-KR" sz="1400" dirty="0">
                <a:sym typeface="Wingdings" panose="05000000000000000000" pitchFamily="2" charset="2"/>
              </a:rPr>
              <a:t>1</a:t>
            </a:r>
            <a:r>
              <a:rPr lang="ko-KR" altLang="en-US" sz="1400" dirty="0">
                <a:sym typeface="Wingdings" panose="05000000000000000000" pitchFamily="2" charset="2"/>
              </a:rPr>
              <a:t>로 맞춤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FC6888-D977-42F4-8111-7A704DCAE7A6}"/>
              </a:ext>
            </a:extLst>
          </p:cNvPr>
          <p:cNvSpPr txBox="1"/>
          <p:nvPr/>
        </p:nvSpPr>
        <p:spPr>
          <a:xfrm>
            <a:off x="888266" y="5848532"/>
            <a:ext cx="3227514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 dirty="0"/>
              <a:t>         변환 전        변환 후 </a:t>
            </a:r>
            <a:endParaRPr lang="en-US" altLang="ko-KR" sz="1400" b="1" dirty="0"/>
          </a:p>
          <a:p>
            <a:r>
              <a:rPr lang="en-US" altLang="ko-KR" sz="1400" b="1" dirty="0"/>
              <a:t>temp: 20~35 → -1.5 ~ +1.5 </a:t>
            </a:r>
          </a:p>
          <a:p>
            <a:r>
              <a:rPr lang="en-US" altLang="ko-KR" sz="1400" b="1" dirty="0" err="1"/>
              <a:t>humi</a:t>
            </a:r>
            <a:r>
              <a:rPr lang="en-US" altLang="ko-KR" sz="1400" b="1" dirty="0"/>
              <a:t>: 40~90 → -1.5 ~ +1.5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52977045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14C0-5F6E-F96D-5C83-30986A75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56DFEAE-C0BA-22E1-F16B-2AB6A2E1F41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06615FE-1191-8A3A-9A28-6469BD583E0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60F34FF-F84F-B6CF-1B64-1436AB3DAFB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FF5F1CA-9CC7-085E-20B8-8CD18092E0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7345637-F08A-EC19-C22D-2F4E8367252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3A589-D739-F530-C884-E627A77B745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B12DDB-1AF2-AC04-19C6-21D412FE162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32E5C9-51C4-7192-9BAA-91CB2215F68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310142-D765-6CAF-C507-B07A9A3721A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DDB97-F978-C4C6-A1D5-ACBDA2A55F5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DA7F8-33DA-2D0E-3AC9-758038098193}"/>
              </a:ext>
            </a:extLst>
          </p:cNvPr>
          <p:cNvSpPr txBox="1"/>
          <p:nvPr/>
        </p:nvSpPr>
        <p:spPr>
          <a:xfrm>
            <a:off x="191344" y="843244"/>
            <a:ext cx="11665296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results_df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pd.DataFrame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(results)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results_df.sort_values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(by=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ascending=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reset_index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(drop=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6C5E30-08B3-05B5-FE19-E353F11B8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7" y="1755083"/>
            <a:ext cx="7887801" cy="100979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9793EB-31D6-46E6-BC66-53E4E6E75B85}"/>
              </a:ext>
            </a:extLst>
          </p:cNvPr>
          <p:cNvSpPr txBox="1"/>
          <p:nvPr/>
        </p:nvSpPr>
        <p:spPr>
          <a:xfrm>
            <a:off x="335360" y="3284984"/>
            <a:ext cx="8089074" cy="2479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accuracy 0.9 : </a:t>
            </a:r>
            <a:r>
              <a:rPr lang="ko-KR" altLang="en-US" dirty="0"/>
              <a:t>전체 </a:t>
            </a:r>
            <a:r>
              <a:rPr lang="en-US" altLang="ko-KR" dirty="0"/>
              <a:t>2</a:t>
            </a:r>
            <a:r>
              <a:rPr lang="ko-KR" altLang="en-US" dirty="0"/>
              <a:t>천개 중 </a:t>
            </a:r>
            <a:r>
              <a:rPr lang="en-US" altLang="ko-KR" dirty="0"/>
              <a:t>90% </a:t>
            </a:r>
            <a:r>
              <a:rPr lang="ko-KR" altLang="en-US" dirty="0"/>
              <a:t>정확히 분류</a:t>
            </a:r>
            <a:endParaRPr lang="en-US" altLang="ko-KR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precision 0.9 : OK </a:t>
            </a:r>
            <a:r>
              <a:rPr lang="ko-KR" altLang="en-US" dirty="0"/>
              <a:t>예측한 것 중에 </a:t>
            </a:r>
            <a:r>
              <a:rPr lang="en-US" altLang="ko-KR" dirty="0"/>
              <a:t>90%</a:t>
            </a:r>
            <a:r>
              <a:rPr lang="ko-KR" altLang="en-US" dirty="0"/>
              <a:t>가 실제 </a:t>
            </a:r>
            <a:r>
              <a:rPr lang="en-US" altLang="ko-KR" dirty="0"/>
              <a:t>OK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recall 1.0 : </a:t>
            </a:r>
            <a:r>
              <a:rPr lang="ko-KR" altLang="en-US" dirty="0"/>
              <a:t>실제 </a:t>
            </a:r>
            <a:r>
              <a:rPr lang="en-US" altLang="ko-KR" dirty="0"/>
              <a:t>OK</a:t>
            </a:r>
            <a:r>
              <a:rPr lang="ko-KR" altLang="en-US" dirty="0"/>
              <a:t>를 </a:t>
            </a:r>
            <a:r>
              <a:rPr lang="en-US" altLang="ko-KR" dirty="0"/>
              <a:t>100% </a:t>
            </a:r>
            <a:r>
              <a:rPr lang="ko-KR" altLang="en-US" dirty="0"/>
              <a:t>찾아냄</a:t>
            </a:r>
            <a:endParaRPr lang="en-US" altLang="ko-KR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f1-score 0.947368 : </a:t>
            </a:r>
            <a:r>
              <a:rPr lang="ko-KR" altLang="en-US" dirty="0"/>
              <a:t>매우 높은 조화</a:t>
            </a:r>
            <a:endParaRPr lang="en-US" altLang="ko-KR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ts val="2700"/>
              </a:lnSpc>
              <a:buFont typeface="Wingdings" panose="05000000000000000000" pitchFamily="2" charset="2"/>
              <a:buChar char="à"/>
            </a:pPr>
            <a:r>
              <a:rPr lang="ko-KR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하지만</a:t>
            </a:r>
            <a:r>
              <a:rPr lang="en-US" altLang="ko-KR" b="1" dirty="0">
                <a:solidFill>
                  <a:srgbClr val="C00000"/>
                </a:solidFill>
                <a:sym typeface="Wingdings" panose="05000000000000000000" pitchFamily="2" charset="2"/>
              </a:rPr>
              <a:t>, NOK</a:t>
            </a:r>
            <a:r>
              <a:rPr lang="ko-KR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도 모두 </a:t>
            </a:r>
            <a:r>
              <a:rPr lang="en-US" altLang="ko-KR" b="1" dirty="0">
                <a:solidFill>
                  <a:srgbClr val="C00000"/>
                </a:solidFill>
                <a:sym typeface="Wingdings" panose="05000000000000000000" pitchFamily="2" charset="2"/>
              </a:rPr>
              <a:t>OK</a:t>
            </a:r>
            <a:r>
              <a:rPr lang="ko-KR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로 예측하고 있음</a:t>
            </a:r>
            <a:endParaRPr lang="en-US" altLang="ko-KR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285750" indent="-285750">
              <a:lnSpc>
                <a:spcPts val="2700"/>
              </a:lnSpc>
              <a:buFont typeface="Wingdings" panose="05000000000000000000" pitchFamily="2" charset="2"/>
              <a:buChar char="à"/>
            </a:pPr>
            <a:r>
              <a:rPr lang="ko-KR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모두 </a:t>
            </a:r>
            <a:r>
              <a:rPr lang="en-US" altLang="ko-KR" b="1" dirty="0">
                <a:solidFill>
                  <a:srgbClr val="C00000"/>
                </a:solidFill>
                <a:sym typeface="Wingdings" panose="05000000000000000000" pitchFamily="2" charset="2"/>
              </a:rPr>
              <a:t>OK</a:t>
            </a:r>
            <a:r>
              <a:rPr lang="ko-KR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로 예측해도 정확도가 </a:t>
            </a:r>
            <a:r>
              <a:rPr lang="en-US" altLang="ko-KR" b="1" dirty="0">
                <a:solidFill>
                  <a:srgbClr val="C00000"/>
                </a:solidFill>
                <a:sym typeface="Wingdings" panose="05000000000000000000" pitchFamily="2" charset="2"/>
              </a:rPr>
              <a:t>90% </a:t>
            </a:r>
            <a:r>
              <a:rPr lang="ko-KR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이므로 불량을 굳이 찾으려 하지 않음</a:t>
            </a:r>
            <a:r>
              <a:rPr lang="en-US" altLang="ko-KR" b="1" dirty="0">
                <a:solidFill>
                  <a:srgbClr val="C00000"/>
                </a:solidFill>
                <a:sym typeface="Wingdings" panose="05000000000000000000" pitchFamily="2" charset="2"/>
              </a:rPr>
              <a:t>.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171517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14C0-5F6E-F96D-5C83-30986A75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56DFEAE-C0BA-22E1-F16B-2AB6A2E1F41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06615FE-1191-8A3A-9A28-6469BD583E0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60F34FF-F84F-B6CF-1B64-1436AB3DAFB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FF5F1CA-9CC7-085E-20B8-8CD18092E0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7345637-F08A-EC19-C22D-2F4E8367252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3A589-D739-F530-C884-E627A77B745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B12DDB-1AF2-AC04-19C6-21D412FE162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32E5C9-51C4-7192-9BAA-91CB2215F68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310142-D765-6CAF-C507-B07A9A3721A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DDB97-F978-C4C6-A1D5-ACBDA2A55F5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793EB-31D6-46E6-BC66-53E4E6E75B85}"/>
              </a:ext>
            </a:extLst>
          </p:cNvPr>
          <p:cNvSpPr txBox="1"/>
          <p:nvPr/>
        </p:nvSpPr>
        <p:spPr>
          <a:xfrm>
            <a:off x="119336" y="836712"/>
            <a:ext cx="8136904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/>
              <a:t>진짜 불량을 하나도 못 잡는 문제 해결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3DB0C-09E0-4896-A5C0-89FF261C3B58}"/>
              </a:ext>
            </a:extLst>
          </p:cNvPr>
          <p:cNvSpPr txBox="1"/>
          <p:nvPr/>
        </p:nvSpPr>
        <p:spPr>
          <a:xfrm>
            <a:off x="414958" y="1259515"/>
            <a:ext cx="11033726" cy="1441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dirty="0"/>
              <a:t>1. </a:t>
            </a:r>
            <a:r>
              <a:rPr lang="en-US" altLang="ko-KR" dirty="0" err="1"/>
              <a:t>LogisticRegression</a:t>
            </a:r>
            <a:r>
              <a:rPr lang="en-US" altLang="ko-KR" dirty="0"/>
              <a:t>(</a:t>
            </a:r>
            <a:r>
              <a:rPr lang="en-US" altLang="ko-KR" dirty="0" err="1"/>
              <a:t>class_weight</a:t>
            </a:r>
            <a:r>
              <a:rPr lang="en-US" altLang="ko-KR" dirty="0"/>
              <a:t>=‘balanced’))  </a:t>
            </a:r>
            <a:r>
              <a:rPr lang="ko-KR" altLang="en-US" dirty="0"/>
              <a:t>적용</a:t>
            </a:r>
            <a:br>
              <a:rPr lang="en-US" altLang="ko-KR" dirty="0"/>
            </a:br>
            <a:r>
              <a:rPr lang="en-US" altLang="ko-KR" dirty="0"/>
              <a:t>   - </a:t>
            </a:r>
            <a:r>
              <a:rPr lang="ko-KR" altLang="en-US" dirty="0"/>
              <a:t>불량 샘플에 더 높은 가중치 부여</a:t>
            </a:r>
            <a:br>
              <a:rPr lang="en-US" altLang="ko-KR" dirty="0"/>
            </a:br>
            <a:r>
              <a:rPr lang="en-US" altLang="ko-KR" dirty="0"/>
              <a:t>   - </a:t>
            </a:r>
            <a:r>
              <a:rPr lang="ko-KR" altLang="en-US" dirty="0"/>
              <a:t>로지스틱 회귀 학습할 때 </a:t>
            </a:r>
            <a:r>
              <a:rPr lang="en-US" altLang="ko-KR" dirty="0"/>
              <a:t>Loss</a:t>
            </a:r>
            <a:r>
              <a:rPr lang="ko-KR" altLang="en-US" dirty="0"/>
              <a:t>를 최소화하는 방향으로 가중치 업데이트</a:t>
            </a:r>
            <a:br>
              <a:rPr lang="en-US" altLang="ko-KR" dirty="0"/>
            </a:br>
            <a:r>
              <a:rPr lang="en-US" altLang="ko-KR" dirty="0"/>
              <a:t>   - </a:t>
            </a:r>
            <a:r>
              <a:rPr lang="ko-KR" altLang="en-US" dirty="0"/>
              <a:t>기본 설정에서는 모든 샘플의 오차를 동등하게 취급하지만</a:t>
            </a:r>
            <a:r>
              <a:rPr lang="en-US" altLang="ko-KR" dirty="0"/>
              <a:t>, balanced</a:t>
            </a:r>
            <a:r>
              <a:rPr lang="ko-KR" altLang="en-US" dirty="0"/>
              <a:t>로 변경하면 오차 가중치를 높임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94724-C083-46C6-9261-1C97BA82B1EB}"/>
              </a:ext>
            </a:extLst>
          </p:cNvPr>
          <p:cNvSpPr txBox="1"/>
          <p:nvPr/>
        </p:nvSpPr>
        <p:spPr>
          <a:xfrm>
            <a:off x="983432" y="2721064"/>
            <a:ext cx="6696744" cy="1569660"/>
          </a:xfrm>
          <a:prstGeom prst="rect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log_reg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Pipeline([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"scaler"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StandardScaler()),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class_weight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'balanced'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"Logistic Regression"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log_reg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x_train, y_train, x_test, y_test, results)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00200CB-11DD-4DD0-8869-F54CC9CD09FC}"/>
              </a:ext>
            </a:extLst>
          </p:cNvPr>
          <p:cNvCxnSpPr/>
          <p:nvPr/>
        </p:nvCxnSpPr>
        <p:spPr>
          <a:xfrm flipH="1">
            <a:off x="7536160" y="3356992"/>
            <a:ext cx="1008112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38EB993-62FE-44E4-941A-9C25D37D4A60}"/>
              </a:ext>
            </a:extLst>
          </p:cNvPr>
          <p:cNvSpPr txBox="1"/>
          <p:nvPr/>
        </p:nvSpPr>
        <p:spPr>
          <a:xfrm>
            <a:off x="6384032" y="3561397"/>
            <a:ext cx="5807968" cy="332398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==== [Logistic Regression] ====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Accuracy : 0.5385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Precision: 0.1936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Recall   : 0.5245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F1-score : 0.2828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[Confusion Matrix]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[[895 758] </a:t>
            </a:r>
          </a:p>
          <a:p>
            <a:r>
              <a:rPr lang="en-US" altLang="ko-KR" sz="1400" dirty="0">
                <a:solidFill>
                  <a:srgbClr val="1F1F1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[165 182]]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[Classification Report] </a:t>
            </a:r>
          </a:p>
          <a:p>
            <a:r>
              <a:rPr lang="en-US" altLang="ko-KR" sz="1400" dirty="0">
                <a:solidFill>
                  <a:srgbClr val="1F1F1F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precision recall f1-score support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      0       0.844    0.541   0.660    1653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      1       0.194    0.524   0.283     347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accuracy                       0.538    2000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macro avg     0.519    0.533   0.471    2000 </a:t>
            </a:r>
          </a:p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weighted avg  0.731    0.538   0.594    2000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59105003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14C0-5F6E-F96D-5C83-30986A75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56DFEAE-C0BA-22E1-F16B-2AB6A2E1F41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06615FE-1191-8A3A-9A28-6469BD583E0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60F34FF-F84F-B6CF-1B64-1436AB3DAFB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FF5F1CA-9CC7-085E-20B8-8CD18092E0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7345637-F08A-EC19-C22D-2F4E8367252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3A589-D739-F530-C884-E627A77B745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B12DDB-1AF2-AC04-19C6-21D412FE162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32E5C9-51C4-7192-9BAA-91CB2215F68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310142-D765-6CAF-C507-B07A9A3721A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DDB97-F978-C4C6-A1D5-ACBDA2A55F5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793EB-31D6-46E6-BC66-53E4E6E75B85}"/>
              </a:ext>
            </a:extLst>
          </p:cNvPr>
          <p:cNvSpPr txBox="1"/>
          <p:nvPr/>
        </p:nvSpPr>
        <p:spPr>
          <a:xfrm>
            <a:off x="119336" y="836712"/>
            <a:ext cx="8136904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공정 불량은 </a:t>
            </a:r>
            <a:r>
              <a:rPr lang="en-US" altLang="ko-KR" dirty="0"/>
              <a:t>temp, </a:t>
            </a:r>
            <a:r>
              <a:rPr lang="en-US" altLang="ko-KR" dirty="0" err="1"/>
              <a:t>humi</a:t>
            </a:r>
            <a:r>
              <a:rPr lang="en-US" altLang="ko-KR" dirty="0"/>
              <a:t> </a:t>
            </a:r>
            <a:r>
              <a:rPr lang="ko-KR" altLang="en-US" dirty="0"/>
              <a:t>관계가 비선형일 수 있음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11BD8-D63C-4983-8BF9-228EDEC30D7C}"/>
              </a:ext>
            </a:extLst>
          </p:cNvPr>
          <p:cNvSpPr txBox="1"/>
          <p:nvPr/>
        </p:nvSpPr>
        <p:spPr>
          <a:xfrm>
            <a:off x="479376" y="1256921"/>
            <a:ext cx="6108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예)</a:t>
            </a:r>
          </a:p>
          <a:p>
            <a:r>
              <a:rPr lang="ko-KR" altLang="en-US" dirty="0" err="1"/>
              <a:t>temp</a:t>
            </a:r>
            <a:r>
              <a:rPr lang="ko-KR" altLang="en-US" dirty="0"/>
              <a:t> 높고 + </a:t>
            </a:r>
            <a:r>
              <a:rPr lang="ko-KR" altLang="en-US" dirty="0" err="1"/>
              <a:t>humi</a:t>
            </a:r>
            <a:r>
              <a:rPr lang="ko-KR" altLang="en-US" dirty="0"/>
              <a:t> 낮으면  → 정상</a:t>
            </a:r>
          </a:p>
          <a:p>
            <a:r>
              <a:rPr lang="ko-KR" altLang="en-US" dirty="0" err="1"/>
              <a:t>temp</a:t>
            </a:r>
            <a:r>
              <a:rPr lang="ko-KR" altLang="en-US" dirty="0"/>
              <a:t> 높고 + </a:t>
            </a:r>
            <a:r>
              <a:rPr lang="ko-KR" altLang="en-US" dirty="0" err="1"/>
              <a:t>humi</a:t>
            </a:r>
            <a:r>
              <a:rPr lang="ko-KR" altLang="en-US" dirty="0"/>
              <a:t> 높으면  → 불량</a:t>
            </a:r>
          </a:p>
          <a:p>
            <a:r>
              <a:rPr lang="ko-KR" altLang="en-US" dirty="0" err="1"/>
              <a:t>temp</a:t>
            </a:r>
            <a:r>
              <a:rPr lang="ko-KR" altLang="en-US" dirty="0"/>
              <a:t> 낮고 + </a:t>
            </a:r>
            <a:r>
              <a:rPr lang="ko-KR" altLang="en-US" dirty="0" err="1"/>
              <a:t>humi</a:t>
            </a:r>
            <a:r>
              <a:rPr lang="ko-KR" altLang="en-US" dirty="0"/>
              <a:t> 높으면  → 정상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624CF8-F9B4-48A2-B0B7-61E59E9D4D03}"/>
              </a:ext>
            </a:extLst>
          </p:cNvPr>
          <p:cNvSpPr txBox="1"/>
          <p:nvPr/>
        </p:nvSpPr>
        <p:spPr>
          <a:xfrm>
            <a:off x="119336" y="2636912"/>
            <a:ext cx="8136904" cy="748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이런 경우 로지스틱 회귀의 직선 </a:t>
            </a:r>
            <a:r>
              <a:rPr lang="ko-KR" altLang="en-US" dirty="0" err="1"/>
              <a:t>결정경계로는분리</a:t>
            </a:r>
            <a:r>
              <a:rPr lang="ko-KR" altLang="en-US" dirty="0"/>
              <a:t> 불가능</a:t>
            </a:r>
            <a:endParaRPr lang="en-US" altLang="ko-KR" dirty="0"/>
          </a:p>
          <a:p>
            <a:pPr marL="285750" indent="-285750">
              <a:lnSpc>
                <a:spcPts val="27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다른 모델을 사용해야 함</a:t>
            </a:r>
          </a:p>
        </p:txBody>
      </p:sp>
    </p:spTree>
    <p:extLst>
      <p:ext uri="{BB962C8B-B14F-4D97-AF65-F5344CB8AC3E}">
        <p14:creationId xmlns:p14="http://schemas.microsoft.com/office/powerpoint/2010/main" val="373475559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E48A-FD9D-3682-1A93-0E86C826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10369B8-6179-BA65-AA38-1B21B11AAA9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DCEC218-A45C-66CB-4A86-62D5CA9034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0B5CC63-AA2D-B354-51DB-F392DB0892F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E6C7AC7-498E-95ED-1A25-30F2580260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3BEE79-B300-63A8-BBE1-2EA1EF8C99D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BFEB7F-8101-BACD-54A7-DA452444F2F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FA18B9-8FE7-B0B6-B93D-7B37938FD5A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0E530E-70E9-2992-2A87-782F5C21D1D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58F9C3-4FC1-25C0-5ECC-E0B256F410D6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AFB462-5670-03E9-17CC-6323F635935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3CF6F-5BA4-367D-D768-BE3596655E39}"/>
              </a:ext>
            </a:extLst>
          </p:cNvPr>
          <p:cNvSpPr txBox="1"/>
          <p:nvPr/>
        </p:nvSpPr>
        <p:spPr>
          <a:xfrm>
            <a:off x="6240016" y="6457146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1.10. Decision Trees — scikit-learn 1.8.0 documentation</a:t>
            </a:r>
            <a:endParaRPr lang="ko-KR" altLang="en-US" dirty="0"/>
          </a:p>
        </p:txBody>
      </p:sp>
      <p:pic>
        <p:nvPicPr>
          <p:cNvPr id="12" name="그림 11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6C4E8C-4FB2-849E-4601-9DF0544C2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16" y="2420888"/>
            <a:ext cx="5571398" cy="37959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F94F64-D96A-A446-B7FE-803F5458724F}"/>
              </a:ext>
            </a:extLst>
          </p:cNvPr>
          <p:cNvSpPr txBox="1"/>
          <p:nvPr/>
        </p:nvSpPr>
        <p:spPr>
          <a:xfrm>
            <a:off x="191344" y="764704"/>
            <a:ext cx="12000656" cy="2560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None/>
            </a:pPr>
            <a:r>
              <a:rPr lang="en-US" altLang="ko-KR" b="1" dirty="0">
                <a:solidFill>
                  <a:srgbClr val="0000FF"/>
                </a:solidFill>
                <a:latin typeface="+mn-ea"/>
              </a:rPr>
              <a:t>1) Decision Tree</a:t>
            </a:r>
            <a:r>
              <a:rPr lang="ko-KR" altLang="en-US" b="1" dirty="0">
                <a:solidFill>
                  <a:srgbClr val="0000FF"/>
                </a:solidFill>
                <a:latin typeface="+mn-ea"/>
              </a:rPr>
              <a:t>란</a:t>
            </a:r>
            <a:r>
              <a:rPr lang="en-US" altLang="ko-KR" b="1" dirty="0">
                <a:solidFill>
                  <a:srgbClr val="0000FF"/>
                </a:solidFill>
                <a:latin typeface="+mn-ea"/>
              </a:rPr>
              <a:t>?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 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데이터를 질문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조건문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으로 계속 나눠가며 최종적으로 클래스</a:t>
            </a:r>
            <a:r>
              <a:rPr lang="en-US" altLang="ko-KR" sz="1600" dirty="0">
                <a:latin typeface="+mn-ea"/>
              </a:rPr>
              <a:t>(OK/NOK)</a:t>
            </a:r>
            <a:r>
              <a:rPr lang="ko-KR" altLang="en-US" sz="1600" dirty="0">
                <a:latin typeface="+mn-ea"/>
              </a:rPr>
              <a:t>를 결정하는 모델이다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7325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lvl="1">
              <a:lnSpc>
                <a:spcPts val="2800"/>
              </a:lnSpc>
            </a:pPr>
            <a:r>
              <a:rPr lang="en-US" altLang="ko-KR" sz="1600" dirty="0">
                <a:latin typeface="+mn-ea"/>
              </a:rPr>
              <a:t>-  </a:t>
            </a:r>
            <a:r>
              <a:rPr lang="ko-KR" altLang="en-US" sz="1600" dirty="0">
                <a:latin typeface="+mn-ea"/>
              </a:rPr>
              <a:t>습도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85 </a:t>
            </a:r>
            <a:r>
              <a:rPr lang="ko-KR" altLang="en-US" sz="1600" dirty="0">
                <a:latin typeface="+mn-ea"/>
              </a:rPr>
              <a:t>이상인가</a:t>
            </a:r>
            <a:r>
              <a:rPr lang="en-US" altLang="ko-KR" sz="1600" dirty="0">
                <a:latin typeface="+mn-ea"/>
              </a:rPr>
              <a:t>?</a:t>
            </a:r>
          </a:p>
          <a:p>
            <a:pPr lvl="1">
              <a:lnSpc>
                <a:spcPts val="2800"/>
              </a:lnSpc>
            </a:pPr>
            <a:r>
              <a:rPr lang="en-US" altLang="ko-KR" sz="1600" dirty="0">
                <a:latin typeface="+mn-ea"/>
              </a:rPr>
              <a:t>-  </a:t>
            </a:r>
            <a:r>
              <a:rPr lang="ko-KR" altLang="en-US" sz="1600" dirty="0">
                <a:latin typeface="+mn-ea"/>
              </a:rPr>
              <a:t>온도</a:t>
            </a:r>
            <a:r>
              <a:rPr lang="en-US" altLang="ko-KR" sz="1600" dirty="0">
                <a:latin typeface="+mn-ea"/>
              </a:rPr>
              <a:t>(temp)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26 </a:t>
            </a:r>
            <a:r>
              <a:rPr lang="ko-KR" altLang="en-US" sz="1600" dirty="0">
                <a:latin typeface="+mn-ea"/>
              </a:rPr>
              <a:t>이상인가</a:t>
            </a:r>
            <a:r>
              <a:rPr lang="en-US" altLang="ko-KR" sz="1600" dirty="0">
                <a:latin typeface="+mn-ea"/>
              </a:rPr>
              <a:t>?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이런 질문을 순서대로 하면서 마지막에 “</a:t>
            </a:r>
            <a:r>
              <a:rPr lang="en-US" altLang="ko-KR" sz="1600" dirty="0">
                <a:latin typeface="+mn-ea"/>
              </a:rPr>
              <a:t>OK” </a:t>
            </a:r>
            <a:r>
              <a:rPr lang="ko-KR" altLang="en-US" sz="1600" dirty="0">
                <a:latin typeface="+mn-ea"/>
              </a:rPr>
              <a:t>또는 “</a:t>
            </a:r>
            <a:r>
              <a:rPr lang="en-US" altLang="ko-KR" sz="1600" dirty="0">
                <a:latin typeface="+mn-ea"/>
              </a:rPr>
              <a:t>NOK”</a:t>
            </a:r>
            <a:r>
              <a:rPr lang="ko-KR" altLang="en-US" sz="1600" dirty="0">
                <a:latin typeface="+mn-ea"/>
              </a:rPr>
              <a:t>를 내린다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그래서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사람이 이해하기 쉬운 </a:t>
            </a:r>
            <a:r>
              <a:rPr lang="en-US" altLang="ko-KR" sz="1600" b="1" dirty="0">
                <a:latin typeface="+mn-ea"/>
              </a:rPr>
              <a:t>if-else </a:t>
            </a:r>
            <a:r>
              <a:rPr lang="ko-KR" altLang="en-US" sz="1600" b="1" dirty="0">
                <a:latin typeface="+mn-ea"/>
              </a:rPr>
              <a:t>규칙들의 집합</a:t>
            </a:r>
            <a:r>
              <a:rPr lang="ko-KR" altLang="en-US" sz="1600" dirty="0">
                <a:latin typeface="+mn-ea"/>
              </a:rPr>
              <a:t>이라고 볼 수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0951199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9CCD-F136-6E39-A9C3-6F8C0AD4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01892F8C-1527-3EDA-7CAE-B0DEAE69B09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1A49631-3A08-C206-70E9-C57037AEEAB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CDFB4EE-62B7-6519-0C9F-7F8A8B30DE5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6F0BFA9-4514-0377-3CAD-61E5839D7AC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8DA72B4-9557-7BED-B0D5-2EE2AE12D5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56780-5276-488E-EEDB-D2573DC5BB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8420BB9-CC6E-EB35-066E-9B0F62D5267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F6F48A-7B3E-D134-5BAE-E073B9289C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E02C7E-CE31-5A41-16E9-9806F1593FB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2B73CB-4B99-2966-2741-3C179829CA2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81BBF-8010-F12F-7E50-97CF5ACE8514}"/>
              </a:ext>
            </a:extLst>
          </p:cNvPr>
          <p:cNvSpPr txBox="1"/>
          <p:nvPr/>
        </p:nvSpPr>
        <p:spPr>
          <a:xfrm>
            <a:off x="119336" y="705052"/>
            <a:ext cx="11737304" cy="2566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2)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원리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학습의 핵심 아이디어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   </a:t>
            </a:r>
            <a:r>
              <a:rPr lang="ko-KR" altLang="en-US" sz="1600" dirty="0" err="1">
                <a:latin typeface="+mn-ea"/>
              </a:rPr>
              <a:t>결정트리</a:t>
            </a:r>
            <a:r>
              <a:rPr lang="ko-KR" altLang="en-US" sz="1600" dirty="0">
                <a:latin typeface="+mn-ea"/>
              </a:rPr>
              <a:t> 학습의 목표는</a:t>
            </a:r>
            <a:r>
              <a:rPr lang="en-US" altLang="ko-KR" sz="1600" dirty="0">
                <a:latin typeface="+mn-ea"/>
              </a:rPr>
              <a:t>: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b="1" dirty="0">
                <a:latin typeface="+mn-ea"/>
              </a:rPr>
              <a:t>     각 단계에서 데이터를 가장 ‘잘’ 분리하는 질문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특성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임계값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을 찾자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>
              <a:lnSpc>
                <a:spcPts val="2800"/>
              </a:lnSpc>
              <a:buNone/>
            </a:pPr>
            <a:endParaRPr lang="ko-KR" altLang="en-US" sz="1600" dirty="0">
              <a:latin typeface="+mn-ea"/>
            </a:endParaRP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   즉</a:t>
            </a:r>
            <a:r>
              <a:rPr lang="en-US" altLang="ko-KR" sz="1600" dirty="0">
                <a:latin typeface="+mn-ea"/>
              </a:rPr>
              <a:t>, temp</a:t>
            </a:r>
            <a:r>
              <a:rPr lang="ko-KR" altLang="en-US" sz="1600" dirty="0">
                <a:latin typeface="+mn-ea"/>
              </a:rPr>
              <a:t>를 기준으로 자를까</a:t>
            </a:r>
            <a:r>
              <a:rPr lang="en-US" altLang="ko-KR" sz="1600" dirty="0">
                <a:latin typeface="+mn-ea"/>
              </a:rPr>
              <a:t>?, 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ko-KR" altLang="en-US" sz="1600" dirty="0">
                <a:latin typeface="+mn-ea"/>
              </a:rPr>
              <a:t>를 기준으로 자를까</a:t>
            </a:r>
            <a:r>
              <a:rPr lang="en-US" altLang="ko-KR" sz="1600" dirty="0">
                <a:latin typeface="+mn-ea"/>
              </a:rPr>
              <a:t>?, 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ko-KR" altLang="en-US" sz="1600" dirty="0">
                <a:latin typeface="+mn-ea"/>
              </a:rPr>
              <a:t>를 </a:t>
            </a:r>
            <a:r>
              <a:rPr lang="en-US" altLang="ko-KR" sz="1600" dirty="0">
                <a:latin typeface="+mn-ea"/>
              </a:rPr>
              <a:t>84.5</a:t>
            </a:r>
            <a:r>
              <a:rPr lang="ko-KR" altLang="en-US" sz="1600" dirty="0">
                <a:latin typeface="+mn-ea"/>
              </a:rPr>
              <a:t>에서 나눌까</a:t>
            </a:r>
            <a:r>
              <a:rPr lang="en-US" altLang="ko-KR" sz="1600" dirty="0">
                <a:latin typeface="+mn-ea"/>
              </a:rPr>
              <a:t>? </a:t>
            </a:r>
            <a:r>
              <a:rPr lang="ko-KR" altLang="en-US" sz="1600" dirty="0">
                <a:latin typeface="+mn-ea"/>
              </a:rPr>
              <a:t>같은 선택을 반복해서</a:t>
            </a:r>
            <a:endParaRPr lang="en-US" altLang="ko-KR" sz="1600" dirty="0">
              <a:latin typeface="+mn-ea"/>
            </a:endParaRPr>
          </a:p>
          <a:p>
            <a:pPr>
              <a:lnSpc>
                <a:spcPts val="2800"/>
              </a:lnSpc>
              <a:buNone/>
            </a:pP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b="1" dirty="0">
                <a:latin typeface="+mn-ea"/>
              </a:rPr>
              <a:t>클래스가 섞이지 않도록</a:t>
            </a:r>
            <a:r>
              <a:rPr lang="en-US" altLang="ko-KR" sz="1600" b="1" dirty="0">
                <a:latin typeface="+mn-ea"/>
              </a:rPr>
              <a:t>(=</a:t>
            </a:r>
            <a:r>
              <a:rPr lang="ko-KR" altLang="en-US" sz="1600" b="1" dirty="0">
                <a:latin typeface="+mn-ea"/>
              </a:rPr>
              <a:t>순수해지도록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만들어 가는 것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1222173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3BE0-979A-28D2-A36D-7F4B7A7D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6D829E5-5375-47CF-C9B8-D25CD6E7A51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C712F93-CE05-CD1E-9140-86A40EBF3E2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C1C22D3-A735-D869-8B28-338BAC841CF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51D16B1-A228-D862-3392-39287186A8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BB0CF87-9D4A-867C-2DD8-087FD36C6D0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F184-7C8B-34B9-8265-28E8F1C842C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F59165-6DB4-F70F-480B-89E7A1FAC37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0E5D9F-0964-45AB-3C63-A8984F631D8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4BF34C-8C25-FED7-2D33-4B510B6E6C1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C1E75F-00CB-4016-EA88-F071B4EC1EA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9D5E93-F462-DA95-4897-6B1EB29B25C4}"/>
                  </a:ext>
                </a:extLst>
              </p:cNvPr>
              <p:cNvSpPr txBox="1"/>
              <p:nvPr/>
            </p:nvSpPr>
            <p:spPr>
              <a:xfrm>
                <a:off x="299356" y="711414"/>
                <a:ext cx="11593288" cy="5244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3)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트리는 어떻게 만들어지나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? (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학습 과정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)</a:t>
                </a:r>
              </a:p>
              <a:p>
                <a:pPr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  </a:t>
                </a:r>
                <a:r>
                  <a:rPr lang="ko-KR" altLang="en-US" sz="1600" dirty="0" err="1">
                    <a:latin typeface="+mn-ea"/>
                  </a:rPr>
                  <a:t>결정트리는</a:t>
                </a:r>
                <a:r>
                  <a:rPr lang="ko-KR" altLang="en-US" sz="1600" dirty="0">
                    <a:latin typeface="+mn-ea"/>
                  </a:rPr>
                  <a:t> 보통 다음을 반복한다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(1) </a:t>
                </a:r>
                <a:r>
                  <a:rPr lang="ko-KR" altLang="en-US" sz="1600" b="1" dirty="0">
                    <a:latin typeface="+mn-ea"/>
                  </a:rPr>
                  <a:t>현재 노드에 있는 데이터가 섞여 있는지 확인</a:t>
                </a:r>
              </a:p>
              <a:p>
                <a:pPr marL="363538" indent="176213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OK</a:t>
                </a:r>
                <a:r>
                  <a:rPr lang="ko-KR" altLang="en-US" sz="1600" dirty="0">
                    <a:latin typeface="+mn-ea"/>
                  </a:rPr>
                  <a:t>와 </a:t>
                </a:r>
                <a:r>
                  <a:rPr lang="en-US" altLang="ko-KR" sz="1600" dirty="0">
                    <a:latin typeface="+mn-ea"/>
                  </a:rPr>
                  <a:t>NOK</a:t>
                </a:r>
                <a:r>
                  <a:rPr lang="ko-KR" altLang="en-US" sz="1600" dirty="0">
                    <a:latin typeface="+mn-ea"/>
                  </a:rPr>
                  <a:t>가 섞여 있으면 → 더 나눌 필요가 있음</a:t>
                </a:r>
              </a:p>
              <a:p>
                <a:pPr marL="363538" indent="176213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거의 한쪽이면 → 그 노드는 “잎</a:t>
                </a:r>
                <a:r>
                  <a:rPr lang="en-US" altLang="ko-KR" sz="1600" dirty="0">
                    <a:latin typeface="+mn-ea"/>
                  </a:rPr>
                  <a:t>(leaf)” </a:t>
                </a:r>
                <a:r>
                  <a:rPr lang="ko-KR" altLang="en-US" sz="1600" dirty="0">
                    <a:latin typeface="+mn-ea"/>
                  </a:rPr>
                  <a:t>으로 끝내도 됨</a:t>
                </a:r>
              </a:p>
              <a:p>
                <a:pPr indent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(2) </a:t>
                </a:r>
                <a:r>
                  <a:rPr lang="ko-KR" altLang="en-US" sz="1600" b="1" dirty="0">
                    <a:latin typeface="+mn-ea"/>
                  </a:rPr>
                  <a:t>가능한 모든 분할 후보를 시험</a:t>
                </a:r>
              </a:p>
              <a:p>
                <a:pPr marL="363538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예</a:t>
                </a:r>
                <a:r>
                  <a:rPr lang="en-US" altLang="ko-KR" sz="1600" dirty="0">
                    <a:latin typeface="+mn-ea"/>
                  </a:rPr>
                  <a:t>: </a:t>
                </a:r>
                <a:r>
                  <a:rPr lang="ko-KR" altLang="en-US" sz="1600" dirty="0">
                    <a:latin typeface="+mn-ea"/>
                  </a:rPr>
                  <a:t>특성이 </a:t>
                </a:r>
                <a:r>
                  <a:rPr lang="en-US" altLang="ko-KR" sz="1600" dirty="0">
                    <a:latin typeface="+mn-ea"/>
                  </a:rPr>
                  <a:t>temp, </a:t>
                </a: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en-US" altLang="ko-KR" sz="1600" dirty="0">
                    <a:latin typeface="+mn-ea"/>
                  </a:rPr>
                  <a:t> </a:t>
                </a:r>
                <a:r>
                  <a:rPr lang="ko-KR" altLang="en-US" sz="1600" dirty="0">
                    <a:latin typeface="+mn-ea"/>
                  </a:rPr>
                  <a:t>두 개라면</a:t>
                </a:r>
              </a:p>
              <a:p>
                <a:pPr marL="539750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temp</a:t>
                </a:r>
                <a:r>
                  <a:rPr lang="ko-KR" altLang="en-US" sz="1600" dirty="0">
                    <a:latin typeface="+mn-ea"/>
                  </a:rPr>
                  <a:t>를 어떤 값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로 자르는 분할</a:t>
                </a:r>
              </a:p>
              <a:p>
                <a:pPr marL="539750" lvl="1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temp ≤ t vs temp &gt; t</a:t>
                </a:r>
              </a:p>
              <a:p>
                <a:pPr marL="539750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ko-KR" altLang="en-US" sz="1600" dirty="0">
                    <a:latin typeface="+mn-ea"/>
                  </a:rPr>
                  <a:t>를 어떤 값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로 자르는 분할</a:t>
                </a:r>
              </a:p>
              <a:p>
                <a:pPr marL="539750" lvl="1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en-US" altLang="ko-KR" sz="1600" dirty="0">
                    <a:latin typeface="+mn-ea"/>
                  </a:rPr>
                  <a:t> ≤ h vs </a:t>
                </a: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en-US" altLang="ko-KR" sz="1600" dirty="0">
                    <a:latin typeface="+mn-ea"/>
                  </a:rPr>
                  <a:t> &gt; h</a:t>
                </a:r>
              </a:p>
              <a:p>
                <a:pPr marL="539750" indent="177800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여기서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6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후보는 보통 </a:t>
                </a:r>
                <a:r>
                  <a:rPr lang="ko-KR" altLang="en-US" sz="1600" b="1" dirty="0">
                    <a:latin typeface="+mn-ea"/>
                  </a:rPr>
                  <a:t>데이터 값 사이의 </a:t>
                </a:r>
                <a:r>
                  <a:rPr lang="ko-KR" altLang="en-US" sz="1600" b="1" dirty="0" err="1">
                    <a:latin typeface="+mn-ea"/>
                  </a:rPr>
                  <a:t>중간값들</a:t>
                </a:r>
                <a:r>
                  <a:rPr lang="ko-KR" altLang="en-US" sz="1600" dirty="0" err="1">
                    <a:latin typeface="+mn-ea"/>
                  </a:rPr>
                  <a:t>을</a:t>
                </a:r>
                <a:r>
                  <a:rPr lang="ko-KR" altLang="en-US" sz="1600" dirty="0">
                    <a:latin typeface="+mn-ea"/>
                  </a:rPr>
                  <a:t> 대상으로 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indent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(3) “</a:t>
                </a:r>
                <a:r>
                  <a:rPr lang="ko-KR" altLang="en-US" sz="1600" b="1" dirty="0">
                    <a:latin typeface="+mn-ea"/>
                  </a:rPr>
                  <a:t>가장 좋은 </a:t>
                </a:r>
                <a:r>
                  <a:rPr lang="ko-KR" altLang="en-US" sz="1600" b="1" dirty="0" err="1">
                    <a:latin typeface="+mn-ea"/>
                  </a:rPr>
                  <a:t>분할”을</a:t>
                </a:r>
                <a:r>
                  <a:rPr lang="ko-KR" altLang="en-US" sz="1600" b="1" dirty="0">
                    <a:latin typeface="+mn-ea"/>
                  </a:rPr>
                  <a:t> 선택</a:t>
                </a:r>
              </a:p>
              <a:p>
                <a:pPr marL="269875" indent="176213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가장 좋은 분할이란</a:t>
                </a:r>
                <a:r>
                  <a:rPr lang="en-US" altLang="ko-KR" sz="1600" dirty="0">
                    <a:latin typeface="+mn-ea"/>
                  </a:rPr>
                  <a:t>,  </a:t>
                </a:r>
                <a:r>
                  <a:rPr lang="ko-KR" altLang="en-US" sz="1600" dirty="0">
                    <a:latin typeface="+mn-ea"/>
                  </a:rPr>
                  <a:t>나눈 뒤에 각각의 그룹이 더 순수</a:t>
                </a:r>
                <a:r>
                  <a:rPr lang="en-US" altLang="ko-KR" sz="1600" dirty="0">
                    <a:latin typeface="+mn-ea"/>
                  </a:rPr>
                  <a:t>(OK</a:t>
                </a:r>
                <a:r>
                  <a:rPr lang="ko-KR" altLang="en-US" sz="1600" dirty="0">
                    <a:latin typeface="+mn-ea"/>
                  </a:rPr>
                  <a:t>만</a:t>
                </a:r>
                <a:r>
                  <a:rPr lang="en-US" altLang="ko-KR" sz="1600" dirty="0">
                    <a:latin typeface="+mn-ea"/>
                  </a:rPr>
                  <a:t>, NOK</a:t>
                </a:r>
                <a:r>
                  <a:rPr lang="ko-KR" altLang="en-US" sz="1600" dirty="0">
                    <a:latin typeface="+mn-ea"/>
                  </a:rPr>
                  <a:t>만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해지는 분할</a:t>
                </a:r>
              </a:p>
              <a:p>
                <a:pPr marL="269875" indent="176213">
                  <a:lnSpc>
                    <a:spcPts val="2700"/>
                  </a:lnSpc>
                  <a:buNone/>
                </a:pPr>
                <a:r>
                  <a:rPr lang="en-US" altLang="ko-KR" sz="1600" dirty="0">
                    <a:latin typeface="+mn-ea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>
                    <a:latin typeface="+mn-ea"/>
                  </a:rPr>
                  <a:t>순수함을 측정하는 대표 기준은 </a:t>
                </a:r>
                <a:r>
                  <a:rPr lang="ko-KR" altLang="en-US" sz="1600" b="1" dirty="0">
                    <a:latin typeface="+mn-ea"/>
                  </a:rPr>
                  <a:t>불순도</a:t>
                </a:r>
                <a:r>
                  <a:rPr lang="en-US" altLang="ko-KR" sz="1600" b="1" dirty="0">
                    <a:latin typeface="+mn-ea"/>
                  </a:rPr>
                  <a:t>(impurity)</a:t>
                </a:r>
                <a:endParaRPr lang="en-US" altLang="ko-KR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9D5E93-F462-DA95-4897-6B1EB29B2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56" y="711414"/>
                <a:ext cx="11593288" cy="5244193"/>
              </a:xfrm>
              <a:prstGeom prst="rect">
                <a:avLst/>
              </a:prstGeom>
              <a:blipFill>
                <a:blip r:embed="rId2"/>
                <a:stretch>
                  <a:fillRect l="-263" b="-6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991548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0845-41FD-9491-DD05-93124AC4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400E47DD-92B9-4B8E-9EF0-9B63C57C97F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F0928DD-FF31-B1FA-DFC4-4CB61CE850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8638A1F-F97B-97D0-33E7-4397867BE8A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471D649D-CD2B-02B3-C8CD-B921A6477FB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1BAAFD-0084-C58F-EFCC-A19BFA5E3C3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049FDE-A8F4-85B8-ACC4-3A4F217BE90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7E0568A-8616-CF70-76D6-B2BFDE636AB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FA7166-D31B-2F8F-B4B1-F1AF8C2E6CB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3B1BB-A744-F31E-F91D-3EBA65B65D2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D5EF8B-354D-5413-1F4F-833BEF0615A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5C9A56-6162-2401-D10E-CD792000C5A5}"/>
                  </a:ext>
                </a:extLst>
              </p:cNvPr>
              <p:cNvSpPr txBox="1"/>
              <p:nvPr/>
            </p:nvSpPr>
            <p:spPr>
              <a:xfrm>
                <a:off x="263352" y="801612"/>
                <a:ext cx="8208912" cy="4897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4)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불순도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(Impurity)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와 분할 기준</a:t>
                </a:r>
              </a:p>
              <a:p>
                <a:pPr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  </a:t>
                </a:r>
                <a:r>
                  <a:rPr lang="ko-KR" altLang="en-US" sz="1600" dirty="0" err="1">
                    <a:latin typeface="+mn-ea"/>
                  </a:rPr>
                  <a:t>결정트리는</a:t>
                </a:r>
                <a:r>
                  <a:rPr lang="ko-KR" altLang="en-US" sz="1600" dirty="0">
                    <a:latin typeface="+mn-ea"/>
                  </a:rPr>
                  <a:t> 나누기 전보다 나눈 뒤가 더 순수하면 </a:t>
                </a:r>
                <a:r>
                  <a:rPr lang="ko-KR" altLang="en-US" sz="1600" dirty="0" err="1">
                    <a:latin typeface="+mn-ea"/>
                  </a:rPr>
                  <a:t>좋다를</a:t>
                </a:r>
                <a:r>
                  <a:rPr lang="ko-KR" altLang="en-US" sz="1600" dirty="0">
                    <a:latin typeface="+mn-ea"/>
                  </a:rPr>
                  <a:t> 수치로 평가한다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(1) </a:t>
                </a:r>
                <a:r>
                  <a:rPr lang="ko-KR" altLang="en-US" sz="1600" b="1" dirty="0">
                    <a:latin typeface="+mn-ea"/>
                  </a:rPr>
                  <a:t>지니 불순도</a:t>
                </a:r>
                <a:r>
                  <a:rPr lang="en-US" altLang="ko-KR" sz="1600" b="1" dirty="0">
                    <a:latin typeface="+mn-ea"/>
                  </a:rPr>
                  <a:t>(Gini Impurity) — </a:t>
                </a:r>
                <a:r>
                  <a:rPr lang="ko-KR" altLang="en-US" sz="1600" b="1" dirty="0">
                    <a:latin typeface="+mn-ea"/>
                  </a:rPr>
                  <a:t>분류에서 많이 사용</a:t>
                </a:r>
              </a:p>
              <a:p>
                <a:pPr marL="360363" indent="174625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클래스 비율이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𝑁𝑂𝐾</m:t>
                        </m:r>
                      </m:e>
                    </m:d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일 때</a:t>
                </a:r>
              </a:p>
              <a:p>
                <a:pPr marL="360363" indent="174625">
                  <a:lnSpc>
                    <a:spcPts val="2700"/>
                  </a:lnSpc>
                  <a:buNone/>
                </a:pPr>
                <a:r>
                  <a:rPr lang="ko-KR" altLang="en-US" sz="1600" dirty="0"/>
                  <a:t> 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endChr m:val="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600" i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ko-KR" altLang="en-US" sz="1600" dirty="0">
                  <a:latin typeface="+mn-ea"/>
                </a:endParaRPr>
              </a:p>
              <a:p>
                <a:pPr marL="360363" indent="174625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한쪽만 있으면</a:t>
                </a:r>
                <a:r>
                  <a:rPr lang="en-US" altLang="ko-KR" sz="1600" dirty="0">
                    <a:latin typeface="+mn-ea"/>
                  </a:rPr>
                  <a:t>(p=0 </a:t>
                </a:r>
                <a:r>
                  <a:rPr lang="ko-KR" altLang="en-US" sz="1600" dirty="0">
                    <a:latin typeface="+mn-ea"/>
                  </a:rPr>
                  <a:t>또는 </a:t>
                </a:r>
                <a:r>
                  <a:rPr lang="en-US" altLang="ko-KR" sz="1600" dirty="0">
                    <a:latin typeface="+mn-ea"/>
                  </a:rPr>
                  <a:t>1) → Gini = 0 (</a:t>
                </a:r>
                <a:r>
                  <a:rPr lang="ko-KR" altLang="en-US" sz="1600" dirty="0">
                    <a:latin typeface="+mn-ea"/>
                  </a:rPr>
                  <a:t>완전 순수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marL="360363" indent="174625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반반이면</a:t>
                </a:r>
                <a:r>
                  <a:rPr lang="en-US" altLang="ko-KR" sz="1600" dirty="0">
                    <a:latin typeface="+mn-ea"/>
                  </a:rPr>
                  <a:t>(p=0.5) → Gini </a:t>
                </a:r>
                <a:r>
                  <a:rPr lang="ko-KR" altLang="en-US" sz="1600" dirty="0">
                    <a:latin typeface="+mn-ea"/>
                  </a:rPr>
                  <a:t>최대 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가장 섞임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(2) </a:t>
                </a:r>
                <a:r>
                  <a:rPr lang="ko-KR" altLang="en-US" sz="1600" b="1" dirty="0">
                    <a:latin typeface="+mn-ea"/>
                  </a:rPr>
                  <a:t>엔트로피</a:t>
                </a:r>
                <a:r>
                  <a:rPr lang="en-US" altLang="ko-KR" sz="1600" b="1" dirty="0">
                    <a:latin typeface="+mn-ea"/>
                  </a:rPr>
                  <a:t>(Entropy) </a:t>
                </a:r>
                <a:endParaRPr lang="ko-KR" altLang="en-US" sz="1600" b="1" dirty="0">
                  <a:latin typeface="+mn-ea"/>
                </a:endParaRPr>
              </a:p>
              <a:p>
                <a:pPr marL="176213" indent="184150">
                  <a:lnSpc>
                    <a:spcPts val="2700"/>
                  </a:lnSpc>
                  <a:buNone/>
                </a:pPr>
                <a:r>
                  <a:rPr lang="ko-KR" altLang="en-US" sz="1600" dirty="0"/>
                  <a:t> 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endParaRPr lang="ko-KR" altLang="en-US" sz="1600" dirty="0">
                  <a:latin typeface="+mn-ea"/>
                </a:endParaRPr>
              </a:p>
              <a:p>
                <a:pPr marL="176213" indent="184150">
                  <a:lnSpc>
                    <a:spcPts val="2700"/>
                  </a:lnSpc>
                  <a:buNone/>
                </a:pPr>
                <a:r>
                  <a:rPr lang="en-US" altLang="ko-KR" sz="1600" dirty="0">
                    <a:latin typeface="+mn-ea"/>
                  </a:rPr>
                  <a:t>( </a:t>
                </a:r>
                <a:r>
                  <a:rPr lang="ko-KR" altLang="en-US" sz="1600" dirty="0">
                    <a:latin typeface="+mn-ea"/>
                  </a:rPr>
                  <a:t>클래스가 </a:t>
                </a:r>
                <a:r>
                  <a:rPr lang="en-US" altLang="ko-KR" sz="1600" dirty="0">
                    <a:latin typeface="+mn-ea"/>
                  </a:rPr>
                  <a:t>‘2’</a:t>
                </a:r>
                <a:r>
                  <a:rPr lang="ko-KR" altLang="en-US" sz="1600" dirty="0">
                    <a:latin typeface="+mn-ea"/>
                  </a:rPr>
                  <a:t>라면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,</a:t>
                </a:r>
                <a:r>
                  <a:rPr lang="ko-KR" altLang="en-US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 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H(p)=−</a:t>
                </a:r>
                <a:r>
                  <a:rPr lang="en-US" altLang="ko-KR" sz="1600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p</a:t>
                </a:r>
                <a:r>
                  <a:rPr lang="en-US" altLang="ko-KR" sz="1600" i="1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log</a:t>
                </a:r>
                <a:r>
                  <a:rPr lang="en-US" altLang="ko-KR" sz="1600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p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−(1−p)</a:t>
                </a:r>
                <a:r>
                  <a:rPr lang="en-US" altLang="ko-KR" sz="1600" i="1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log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(1−p) 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marL="176213" indent="184150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둘 다 “섞이면 크고</a:t>
                </a:r>
                <a:r>
                  <a:rPr lang="en-US" altLang="ko-KR" sz="1600" dirty="0">
                    <a:latin typeface="+mn-ea"/>
                  </a:rPr>
                  <a:t>, </a:t>
                </a:r>
                <a:r>
                  <a:rPr lang="ko-KR" altLang="en-US" sz="1600" dirty="0">
                    <a:latin typeface="+mn-ea"/>
                  </a:rPr>
                  <a:t>한쪽이면 </a:t>
                </a:r>
                <a:r>
                  <a:rPr lang="en-US" altLang="ko-KR" sz="1600" dirty="0">
                    <a:latin typeface="+mn-ea"/>
                  </a:rPr>
                  <a:t>0”</a:t>
                </a:r>
                <a:r>
                  <a:rPr lang="ko-KR" altLang="en-US" sz="1600" dirty="0">
                    <a:latin typeface="+mn-ea"/>
                  </a:rPr>
                  <a:t>이라는 점이 같고</a:t>
                </a:r>
                <a:r>
                  <a:rPr lang="en-US" altLang="ko-KR" sz="1600" dirty="0">
                    <a:latin typeface="+mn-ea"/>
                  </a:rPr>
                  <a:t>,  </a:t>
                </a:r>
                <a:r>
                  <a:rPr lang="ko-KR" altLang="en-US" sz="1600" dirty="0">
                    <a:latin typeface="+mn-ea"/>
                  </a:rPr>
                  <a:t>성능은 비슷한 경우가 많다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(3) </a:t>
                </a:r>
                <a:r>
                  <a:rPr lang="ko-KR" altLang="en-US" sz="1600" b="1" dirty="0">
                    <a:latin typeface="+mn-ea"/>
                  </a:rPr>
                  <a:t>정보이득</a:t>
                </a:r>
                <a:r>
                  <a:rPr lang="en-US" altLang="ko-KR" sz="1600" b="1" dirty="0">
                    <a:latin typeface="+mn-ea"/>
                  </a:rPr>
                  <a:t>(Information Gain)</a:t>
                </a:r>
              </a:p>
              <a:p>
                <a:pPr marL="360363" indent="174625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“나누기 전 불순도” </a:t>
                </a:r>
                <a:r>
                  <a:rPr lang="en-US" altLang="ko-KR" sz="1600" dirty="0">
                    <a:latin typeface="+mn-ea"/>
                  </a:rPr>
                  <a:t>- “</a:t>
                </a:r>
                <a:r>
                  <a:rPr lang="ko-KR" altLang="en-US" sz="1600" dirty="0">
                    <a:latin typeface="+mn-ea"/>
                  </a:rPr>
                  <a:t>나눈 후 불순도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가중 평균</a:t>
                </a:r>
                <a:r>
                  <a:rPr lang="en-US" altLang="ko-KR" sz="1600" dirty="0">
                    <a:latin typeface="+mn-ea"/>
                  </a:rPr>
                  <a:t>)”</a:t>
                </a:r>
                <a:br>
                  <a:rPr lang="en-US" altLang="ko-KR" sz="1600" dirty="0">
                    <a:latin typeface="+mn-ea"/>
                  </a:rPr>
                </a:br>
                <a:r>
                  <a:rPr lang="ko-KR" altLang="en-US" sz="1600" dirty="0">
                    <a:latin typeface="+mn-ea"/>
                  </a:rPr>
                  <a:t>이 값이 가장 크게 증가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불순도가 가장 크게 감소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하도록 분할을 선택한다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5C9A56-6162-2401-D10E-CD792000C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801612"/>
                <a:ext cx="8208912" cy="4897944"/>
              </a:xfrm>
              <a:prstGeom prst="rect">
                <a:avLst/>
              </a:prstGeom>
              <a:blipFill>
                <a:blip r:embed="rId2"/>
                <a:stretch>
                  <a:fillRect l="-371" b="-4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8DE1B9-BD1F-47B0-830A-2E088BD57C2E}"/>
              </a:ext>
            </a:extLst>
          </p:cNvPr>
          <p:cNvSpPr txBox="1"/>
          <p:nvPr/>
        </p:nvSpPr>
        <p:spPr>
          <a:xfrm>
            <a:off x="6528048" y="1628800"/>
            <a:ext cx="2432182" cy="14091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ko-KR" altLang="en-US" sz="1400" b="1" dirty="0"/>
              <a:t>완전 순수하면 </a:t>
            </a:r>
            <a:r>
              <a:rPr lang="en-US" altLang="ko-KR" sz="1400" b="1" dirty="0"/>
              <a:t>Gini = 0</a:t>
            </a:r>
          </a:p>
          <a:p>
            <a:pPr marL="88900" indent="8731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모두 </a:t>
            </a:r>
            <a:r>
              <a:rPr lang="en-US" altLang="ko-KR" sz="1400" dirty="0"/>
              <a:t>OK</a:t>
            </a:r>
            <a:r>
              <a:rPr lang="ko-KR" altLang="en-US" sz="1400" dirty="0"/>
              <a:t>면 </a:t>
            </a:r>
            <a:r>
              <a:rPr lang="en-US" altLang="ko-KR" sz="1400" dirty="0"/>
              <a:t>p=1</a:t>
            </a:r>
          </a:p>
          <a:p>
            <a:pPr marL="88900">
              <a:lnSpc>
                <a:spcPts val="2100"/>
              </a:lnSpc>
            </a:pPr>
            <a:r>
              <a:rPr lang="en-US" altLang="ko-KR" sz="1400" dirty="0"/>
              <a:t>  Gini=1−(1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+0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)=0  </a:t>
            </a:r>
          </a:p>
          <a:p>
            <a:pPr marL="88900" indent="8731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모두 </a:t>
            </a:r>
            <a:r>
              <a:rPr lang="en-US" altLang="ko-KR" sz="1400" dirty="0"/>
              <a:t>NOK</a:t>
            </a:r>
            <a:r>
              <a:rPr lang="ko-KR" altLang="en-US" sz="1400" dirty="0"/>
              <a:t>면 </a:t>
            </a:r>
            <a:r>
              <a:rPr lang="en-US" altLang="ko-KR" sz="1400" dirty="0"/>
              <a:t>p=0</a:t>
            </a:r>
          </a:p>
          <a:p>
            <a:pPr marL="88900">
              <a:lnSpc>
                <a:spcPts val="2100"/>
              </a:lnSpc>
            </a:pPr>
            <a:r>
              <a:rPr lang="en-US" altLang="ko-KR" sz="1400" dirty="0"/>
              <a:t>  Gini=1−(0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+1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)=0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7D2EF-8E72-4116-BF00-78F9EFEC88C8}"/>
              </a:ext>
            </a:extLst>
          </p:cNvPr>
          <p:cNvSpPr txBox="1"/>
          <p:nvPr/>
        </p:nvSpPr>
        <p:spPr>
          <a:xfrm>
            <a:off x="8256240" y="3274692"/>
            <a:ext cx="3672408" cy="1141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ko-KR" sz="1400" dirty="0"/>
              <a:t>entropy</a:t>
            </a:r>
            <a:r>
              <a:rPr lang="ko-KR" altLang="en-US" sz="1400" dirty="0"/>
              <a:t>는 얼마나 예측이 어려운가를 숫자로 나타낸 값이며 </a:t>
            </a:r>
            <a:r>
              <a:rPr lang="ko-KR" altLang="en-US" sz="1400" dirty="0" err="1"/>
              <a:t>결정트리에서는</a:t>
            </a:r>
            <a:r>
              <a:rPr lang="ko-KR" altLang="en-US" sz="1400" dirty="0"/>
              <a:t> 한 </a:t>
            </a:r>
            <a:r>
              <a:rPr lang="ko-KR" altLang="en-US" sz="1400" dirty="0" err="1"/>
              <a:t>노드안에</a:t>
            </a:r>
            <a:r>
              <a:rPr lang="ko-KR" altLang="en-US" sz="1400" dirty="0"/>
              <a:t> </a:t>
            </a:r>
            <a:r>
              <a:rPr lang="en-US" altLang="ko-KR" sz="1400" dirty="0"/>
              <a:t>OK/NOK</a:t>
            </a:r>
            <a:r>
              <a:rPr lang="ko-KR" altLang="en-US" sz="1400" dirty="0"/>
              <a:t>가 섞여 있으면 </a:t>
            </a:r>
            <a:r>
              <a:rPr lang="en-US" altLang="ko-KR" sz="1400" dirty="0"/>
              <a:t>Entropy</a:t>
            </a:r>
            <a:r>
              <a:rPr lang="ko-KR" altLang="en-US" sz="1400" dirty="0"/>
              <a:t> 가 커지고</a:t>
            </a:r>
            <a:r>
              <a:rPr lang="en-US" altLang="ko-KR" sz="1400" dirty="0"/>
              <a:t>, </a:t>
            </a:r>
            <a:r>
              <a:rPr lang="ko-KR" altLang="en-US" sz="1400" dirty="0"/>
              <a:t>한 쪽만 있으면 </a:t>
            </a:r>
            <a:r>
              <a:rPr lang="en-US" altLang="ko-KR" sz="1400" dirty="0"/>
              <a:t>‘0’</a:t>
            </a:r>
            <a:r>
              <a:rPr lang="ko-KR" altLang="en-US" sz="1400" dirty="0"/>
              <a:t>이 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536350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C632-DC5E-4454-B27B-DFD62207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DE8D2B3-C79F-560B-7733-918F0589163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90D6BA5-99DE-FDEB-0DB4-A8CC3BEB988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EFEDA9B-ED54-9CC6-503A-88068EA511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8AF55D9-A0FB-0161-A71B-555E33EBAC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890298-DA1E-9CC5-D8A4-A94CEE7CB5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13951-C7FD-A0FE-9DBC-66BDF7BC1A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6452C6-6D6D-E0BB-2A64-30DD1A3BD4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162F32-37DB-E9C3-B937-300CD38E9B5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915F3E-864A-CB6C-7D57-E6C25D68FB2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7F891D-3CAE-B2F3-4FEF-0BB72098603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4D1F8-D58F-476B-B672-C94AD205267D}"/>
              </a:ext>
            </a:extLst>
          </p:cNvPr>
          <p:cNvSpPr txBox="1"/>
          <p:nvPr/>
        </p:nvSpPr>
        <p:spPr>
          <a:xfrm>
            <a:off x="551384" y="836712"/>
            <a:ext cx="11017224" cy="385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6) </a:t>
            </a:r>
            <a:r>
              <a:rPr lang="ko-KR" altLang="en-US" sz="1600" b="1" dirty="0" err="1">
                <a:solidFill>
                  <a:srgbClr val="0000FF"/>
                </a:solidFill>
                <a:latin typeface="+mn-ea"/>
              </a:rPr>
              <a:t>결정트리의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 특징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(1) </a:t>
            </a:r>
            <a:r>
              <a:rPr lang="ko-KR" altLang="en-US" sz="1600" b="1" dirty="0">
                <a:latin typeface="+mn-ea"/>
              </a:rPr>
              <a:t>비선형 경계를 만들 수 있음</a:t>
            </a:r>
          </a:p>
          <a:p>
            <a:pPr marL="176213" indent="184150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 로지스틱 회귀는 직선 경계지만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여러 번 “</a:t>
            </a:r>
            <a:r>
              <a:rPr lang="ko-KR" altLang="en-US" sz="1600" dirty="0" err="1">
                <a:latin typeface="+mn-ea"/>
              </a:rPr>
              <a:t>구간”으로</a:t>
            </a:r>
            <a:r>
              <a:rPr lang="ko-KR" altLang="en-US" sz="1600" dirty="0">
                <a:latin typeface="+mn-ea"/>
              </a:rPr>
              <a:t> 잘라서</a:t>
            </a:r>
            <a:br>
              <a:rPr lang="ko-KR" altLang="en-US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  계단형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직사각형 조각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으로 영역을 나눌 수 있습니다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4150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즉</a:t>
            </a:r>
            <a:r>
              <a:rPr lang="en-US" altLang="ko-KR" sz="1600" dirty="0">
                <a:latin typeface="+mn-ea"/>
              </a:rPr>
              <a:t>, temp/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평면에서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온도 </a:t>
            </a:r>
            <a:r>
              <a:rPr lang="en-US" altLang="ko-KR" sz="1600" dirty="0">
                <a:latin typeface="+mn-ea"/>
              </a:rPr>
              <a:t>25 </a:t>
            </a:r>
            <a:r>
              <a:rPr lang="ko-KR" altLang="en-US" sz="1600" dirty="0">
                <a:latin typeface="+mn-ea"/>
              </a:rPr>
              <a:t>이하 </a:t>
            </a:r>
            <a:r>
              <a:rPr lang="en-US" altLang="ko-KR" sz="1600" dirty="0">
                <a:latin typeface="+mn-ea"/>
              </a:rPr>
              <a:t>+ </a:t>
            </a:r>
            <a:r>
              <a:rPr lang="ko-KR" altLang="en-US" sz="1600" dirty="0">
                <a:latin typeface="+mn-ea"/>
              </a:rPr>
              <a:t>습도 </a:t>
            </a:r>
            <a:r>
              <a:rPr lang="en-US" altLang="ko-KR" sz="1600" dirty="0">
                <a:latin typeface="+mn-ea"/>
              </a:rPr>
              <a:t>80 </a:t>
            </a:r>
            <a:r>
              <a:rPr lang="ko-KR" altLang="en-US" sz="1600" dirty="0">
                <a:latin typeface="+mn-ea"/>
              </a:rPr>
              <a:t>이상은 </a:t>
            </a:r>
            <a:r>
              <a:rPr lang="en-US" altLang="ko-KR" sz="1600" dirty="0">
                <a:latin typeface="+mn-ea"/>
              </a:rPr>
              <a:t>NOK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온도 </a:t>
            </a:r>
            <a:r>
              <a:rPr lang="en-US" altLang="ko-KR" sz="1600" dirty="0">
                <a:latin typeface="+mn-ea"/>
              </a:rPr>
              <a:t>25 </a:t>
            </a:r>
            <a:r>
              <a:rPr lang="ko-KR" altLang="en-US" sz="1600" dirty="0">
                <a:latin typeface="+mn-ea"/>
              </a:rPr>
              <a:t>이상 </a:t>
            </a:r>
            <a:r>
              <a:rPr lang="en-US" altLang="ko-KR" sz="1600" dirty="0">
                <a:latin typeface="+mn-ea"/>
              </a:rPr>
              <a:t>+ </a:t>
            </a:r>
            <a:r>
              <a:rPr lang="ko-KR" altLang="en-US" sz="1600" dirty="0">
                <a:latin typeface="+mn-ea"/>
              </a:rPr>
              <a:t>습도 </a:t>
            </a:r>
            <a:r>
              <a:rPr lang="en-US" altLang="ko-KR" sz="1600" dirty="0">
                <a:latin typeface="+mn-ea"/>
              </a:rPr>
              <a:t>90 </a:t>
            </a:r>
            <a:r>
              <a:rPr lang="ko-KR" altLang="en-US" sz="1600" dirty="0">
                <a:latin typeface="+mn-ea"/>
              </a:rPr>
              <a:t>이상은 </a:t>
            </a:r>
            <a:r>
              <a:rPr lang="en-US" altLang="ko-KR" sz="1600" dirty="0">
                <a:latin typeface="+mn-ea"/>
              </a:rPr>
              <a:t>NOK    </a:t>
            </a:r>
            <a:r>
              <a:rPr lang="ko-KR" altLang="en-US" sz="1600" dirty="0">
                <a:latin typeface="+mn-ea"/>
              </a:rPr>
              <a:t>처럼 복잡한 규칙도 표현 가능합니다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(2) </a:t>
            </a:r>
            <a:r>
              <a:rPr lang="ko-KR" altLang="en-US" sz="1600" b="1" dirty="0">
                <a:latin typeface="+mn-ea"/>
              </a:rPr>
              <a:t>전처리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스케일링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가 거의 필요 없음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SVM/</a:t>
            </a:r>
            <a:r>
              <a:rPr lang="ko-KR" altLang="en-US" sz="1600" dirty="0">
                <a:latin typeface="+mn-ea"/>
              </a:rPr>
              <a:t>로지스틱</a:t>
            </a:r>
            <a:r>
              <a:rPr lang="en-US" altLang="ko-KR" sz="1600" dirty="0">
                <a:latin typeface="+mn-ea"/>
              </a:rPr>
              <a:t>/KNN</a:t>
            </a:r>
            <a:r>
              <a:rPr lang="ko-KR" altLang="en-US" sz="1600" dirty="0">
                <a:latin typeface="+mn-ea"/>
              </a:rPr>
              <a:t>은 스케일링이 중요하지만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≤ 기준만 보기 때문에 스케일 영향이 적다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8873354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C632-DC5E-4454-B27B-DFD62207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DE8D2B3-C79F-560B-7733-918F0589163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90D6BA5-99DE-FDEB-0DB4-A8CC3BEB988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EFEDA9B-ED54-9CC6-503A-88068EA511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8AF55D9-A0FB-0161-A71B-555E33EBAC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890298-DA1E-9CC5-D8A4-A94CEE7CB5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13951-C7FD-A0FE-9DBC-66BDF7BC1A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6452C6-6D6D-E0BB-2A64-30DD1A3BD4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162F32-37DB-E9C3-B937-300CD38E9B5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915F3E-864A-CB6C-7D57-E6C25D68FB2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7F891D-3CAE-B2F3-4FEF-0BB72098603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8D138-1329-481C-94AE-D68172A74E56}"/>
              </a:ext>
            </a:extLst>
          </p:cNvPr>
          <p:cNvSpPr txBox="1"/>
          <p:nvPr/>
        </p:nvSpPr>
        <p:spPr>
          <a:xfrm>
            <a:off x="263352" y="764704"/>
            <a:ext cx="10801200" cy="420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7)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장점</a:t>
            </a:r>
            <a:endParaRPr lang="en-US" altLang="ko-KR" sz="1600" b="1" dirty="0">
              <a:solidFill>
                <a:srgbClr val="0000FF"/>
              </a:solidFill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1) </a:t>
            </a:r>
            <a:r>
              <a:rPr lang="ko-KR" altLang="en-US" sz="1600" b="1" dirty="0">
                <a:latin typeface="+mn-ea"/>
              </a:rPr>
              <a:t>해석이 매우 쉬움</a:t>
            </a:r>
            <a:endParaRPr lang="en-US" altLang="ko-KR" sz="1600" b="1" dirty="0">
              <a:latin typeface="+mn-ea"/>
            </a:endParaRP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“왜 </a:t>
            </a:r>
            <a:r>
              <a:rPr lang="en-US" altLang="ko-KR" sz="1600" dirty="0">
                <a:latin typeface="+mn-ea"/>
              </a:rPr>
              <a:t>NOK</a:t>
            </a:r>
            <a:r>
              <a:rPr lang="ko-KR" altLang="en-US" sz="1600" dirty="0">
                <a:latin typeface="+mn-ea"/>
              </a:rPr>
              <a:t>인가</a:t>
            </a:r>
            <a:r>
              <a:rPr lang="en-US" altLang="ko-KR" sz="1600" dirty="0">
                <a:latin typeface="+mn-ea"/>
              </a:rPr>
              <a:t>?”</a:t>
            </a:r>
            <a:r>
              <a:rPr lang="ko-KR" altLang="en-US" sz="1600" dirty="0">
                <a:latin typeface="+mn-ea"/>
              </a:rPr>
              <a:t>를 규칙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조건 경로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으로 바로 설명 가능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현장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품질관리에서 설득력 좋음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2) </a:t>
            </a:r>
            <a:r>
              <a:rPr lang="ko-KR" altLang="en-US" sz="1600" b="1" dirty="0">
                <a:latin typeface="+mn-ea"/>
              </a:rPr>
              <a:t>비선형 관계를 잘 잡음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단순 선형모델보다 복잡한 패턴을 표현 가능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3) </a:t>
            </a:r>
            <a:r>
              <a:rPr lang="ko-KR" altLang="en-US" sz="1600" b="1" dirty="0">
                <a:latin typeface="+mn-ea"/>
              </a:rPr>
              <a:t>전처리가 단순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스케일링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정규화가 필수는 아님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n-ea"/>
              </a:rPr>
              <a:t>결측치</a:t>
            </a:r>
            <a:r>
              <a:rPr lang="ko-KR" altLang="en-US" sz="1600" dirty="0">
                <a:latin typeface="+mn-ea"/>
              </a:rPr>
              <a:t> 처리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이상치 처리만 잘 해도 성능이 나오는 경우 많음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(</a:t>
            </a:r>
            <a:r>
              <a:rPr lang="ko-KR" altLang="en-US" sz="1600" dirty="0">
                <a:latin typeface="+mn-ea"/>
              </a:rPr>
              <a:t>단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구현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라이브러리마다 </a:t>
            </a:r>
            <a:r>
              <a:rPr lang="ko-KR" altLang="en-US" sz="1600" dirty="0" err="1">
                <a:latin typeface="+mn-ea"/>
              </a:rPr>
              <a:t>결측치</a:t>
            </a:r>
            <a:r>
              <a:rPr lang="ko-KR" altLang="en-US" sz="1600" dirty="0">
                <a:latin typeface="+mn-ea"/>
              </a:rPr>
              <a:t> 지원은 다름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4) </a:t>
            </a:r>
            <a:r>
              <a:rPr lang="ko-KR" altLang="en-US" sz="1600" b="1" dirty="0">
                <a:latin typeface="+mn-ea"/>
              </a:rPr>
              <a:t>학습</a:t>
            </a:r>
            <a:r>
              <a:rPr lang="en-US" altLang="ko-KR" sz="1600" b="1" dirty="0">
                <a:latin typeface="+mn-ea"/>
              </a:rPr>
              <a:t>/</a:t>
            </a:r>
            <a:r>
              <a:rPr lang="ko-KR" altLang="en-US" sz="1600" b="1" dirty="0">
                <a:latin typeface="+mn-ea"/>
              </a:rPr>
              <a:t>예측이 빠른 편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특히 특성 수가 많지 않으면 매우 빠름</a:t>
            </a:r>
          </a:p>
        </p:txBody>
      </p:sp>
    </p:spTree>
    <p:extLst>
      <p:ext uri="{BB962C8B-B14F-4D97-AF65-F5344CB8AC3E}">
        <p14:creationId xmlns:p14="http://schemas.microsoft.com/office/powerpoint/2010/main" val="1395749948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95EB25-AFD3-42FD-83AA-FD11B7B68422}"/>
              </a:ext>
            </a:extLst>
          </p:cNvPr>
          <p:cNvSpPr txBox="1"/>
          <p:nvPr/>
        </p:nvSpPr>
        <p:spPr>
          <a:xfrm>
            <a:off x="191344" y="764704"/>
            <a:ext cx="11631194" cy="489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8)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단점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주의할 점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1) </a:t>
            </a:r>
            <a:r>
              <a:rPr lang="ko-KR" altLang="en-US" sz="1600" b="1" dirty="0">
                <a:latin typeface="+mn-ea"/>
              </a:rPr>
              <a:t>과적합이 매우 쉬움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가장 큰 단점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360363" indent="17462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트리는 계속 나누다 보면 훈련 데이터를 “거의 완벽히” 맞출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훈련 데이터의 잡음까지 규칙으로 </a:t>
            </a:r>
            <a:r>
              <a:rPr lang="ko-KR" altLang="en-US" sz="1600" dirty="0" err="1">
                <a:latin typeface="+mn-ea"/>
              </a:rPr>
              <a:t>외워버림</a:t>
            </a:r>
            <a:endParaRPr lang="ko-KR" altLang="en-US" sz="1600" dirty="0">
              <a:latin typeface="+mn-ea"/>
            </a:endParaRP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새 데이터에서 성능이 떨어짐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2) </a:t>
            </a:r>
            <a:r>
              <a:rPr lang="ko-KR" altLang="en-US" sz="1600" b="1" dirty="0">
                <a:latin typeface="+mn-ea"/>
              </a:rPr>
              <a:t>작은 데이터 변화에도 트리가 크게 바뀔 수 있음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불안정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176213" indent="35877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훈련 데이터가 조금만 바뀌어도 최초 분할 기준이 달라지면서 트리 구조가 확 바뀌는 경우가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3) </a:t>
            </a:r>
            <a:r>
              <a:rPr lang="ko-KR" altLang="en-US" sz="1600" b="1" dirty="0">
                <a:latin typeface="+mn-ea"/>
              </a:rPr>
              <a:t>축에 평행한 분할만 한다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표현 한계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360363" indent="17462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기본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“</a:t>
            </a:r>
            <a:r>
              <a:rPr lang="en-US" altLang="ko-KR" sz="1600" dirty="0">
                <a:latin typeface="+mn-ea"/>
              </a:rPr>
              <a:t>temp ≤ t” </a:t>
            </a:r>
            <a:r>
              <a:rPr lang="ko-KR" altLang="en-US" sz="1600" dirty="0">
                <a:latin typeface="+mn-ea"/>
              </a:rPr>
              <a:t>같이 축에 평행한 경계만 만들기 때문에</a:t>
            </a:r>
            <a:r>
              <a:rPr lang="en-US" altLang="ko-KR" sz="1600" dirty="0">
                <a:latin typeface="+mn-ea"/>
              </a:rPr>
              <a:t>,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대각선 경계가 필요한 문제에서는 비효율적일 수 있다</a:t>
            </a:r>
            <a:r>
              <a:rPr lang="en-US" altLang="ko-KR" sz="1600" dirty="0">
                <a:latin typeface="+mn-ea"/>
              </a:rPr>
              <a:t>.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여러 번 나누면 근사 가능하지만 깊어질 수 있음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4) </a:t>
            </a:r>
            <a:r>
              <a:rPr lang="ko-KR" altLang="en-US" sz="1600" b="1" dirty="0">
                <a:latin typeface="+mn-ea"/>
              </a:rPr>
              <a:t>클래스 불균형에 취약할 수 있음</a:t>
            </a:r>
          </a:p>
          <a:p>
            <a:pPr marL="360363" indent="17462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불량</a:t>
            </a:r>
            <a:r>
              <a:rPr lang="en-US" altLang="ko-KR" sz="1600" dirty="0">
                <a:latin typeface="+mn-ea"/>
              </a:rPr>
              <a:t>(NOK)</a:t>
            </a:r>
            <a:r>
              <a:rPr lang="ko-KR" altLang="en-US" sz="1600" dirty="0">
                <a:latin typeface="+mn-ea"/>
              </a:rPr>
              <a:t>이 매우 적으면</a:t>
            </a:r>
            <a:br>
              <a:rPr lang="ko-KR" altLang="en-US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트리가 </a:t>
            </a:r>
            <a:r>
              <a:rPr lang="en-US" altLang="ko-KR" sz="1600" dirty="0">
                <a:latin typeface="+mn-ea"/>
              </a:rPr>
              <a:t>OK</a:t>
            </a:r>
            <a:r>
              <a:rPr lang="ko-KR" altLang="en-US" sz="1600" dirty="0">
                <a:latin typeface="+mn-ea"/>
              </a:rPr>
              <a:t>만 맞춰도 정확도 높다고 생각할 수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8789814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code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23375-F405-4ADD-88AB-A5AAA80D582F}"/>
              </a:ext>
            </a:extLst>
          </p:cNvPr>
          <p:cNvSpPr txBox="1"/>
          <p:nvPr/>
        </p:nvSpPr>
        <p:spPr>
          <a:xfrm>
            <a:off x="335360" y="836712"/>
            <a:ext cx="9073008" cy="23391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너무 깊지 않게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과적합 방지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"Decision Tree"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A590A7-BE93-4C3A-9FB2-D2FCAFE65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3206207"/>
            <a:ext cx="4176464" cy="3531491"/>
          </a:xfrm>
          <a:prstGeom prst="rect">
            <a:avLst/>
          </a:prstGeom>
          <a:ln w="44450">
            <a:solidFill>
              <a:schemeClr val="accent3">
                <a:lumMod val="20000"/>
                <a:lumOff val="8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49AFD2-9910-4DC6-80B0-55C4E22F5489}"/>
              </a:ext>
            </a:extLst>
          </p:cNvPr>
          <p:cNvSpPr txBox="1"/>
          <p:nvPr/>
        </p:nvSpPr>
        <p:spPr>
          <a:xfrm>
            <a:off x="4874455" y="4448732"/>
            <a:ext cx="49498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2,000</a:t>
            </a:r>
            <a:r>
              <a:rPr lang="ko-KR" altLang="en-US" sz="1400" dirty="0">
                <a:latin typeface="+mn-ea"/>
              </a:rPr>
              <a:t>개 중 </a:t>
            </a:r>
            <a:r>
              <a:rPr lang="en-US" altLang="ko-KR" sz="1400" dirty="0">
                <a:latin typeface="+mn-ea"/>
              </a:rPr>
              <a:t>1994</a:t>
            </a:r>
            <a:r>
              <a:rPr lang="ko-KR" altLang="en-US" sz="1400" dirty="0">
                <a:latin typeface="+mn-ea"/>
              </a:rPr>
              <a:t>개 정확히 예측</a:t>
            </a:r>
            <a:endParaRPr lang="en-US" altLang="ko-KR" sz="1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불량 판정한 </a:t>
            </a:r>
            <a:r>
              <a:rPr lang="en-US" altLang="ko-KR" sz="1400" dirty="0">
                <a:latin typeface="+mn-ea"/>
              </a:rPr>
              <a:t>345</a:t>
            </a:r>
            <a:r>
              <a:rPr lang="ko-KR" altLang="en-US" sz="1400" dirty="0">
                <a:latin typeface="+mn-ea"/>
              </a:rPr>
              <a:t>개 중 </a:t>
            </a:r>
            <a:r>
              <a:rPr lang="en-US" altLang="ko-KR" sz="1400" dirty="0">
                <a:latin typeface="+mn-ea"/>
              </a:rPr>
              <a:t>343</a:t>
            </a:r>
            <a:r>
              <a:rPr lang="ko-KR" altLang="en-US" sz="1400" dirty="0">
                <a:latin typeface="+mn-ea"/>
              </a:rPr>
              <a:t>건이 실제 불량</a:t>
            </a:r>
            <a:endParaRPr lang="en-US" altLang="ko-KR" sz="1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Decision Tree</a:t>
            </a:r>
            <a:r>
              <a:rPr lang="ko-KR" altLang="en-US" sz="1400" dirty="0">
                <a:latin typeface="+mn-ea"/>
              </a:rPr>
              <a:t>가 </a:t>
            </a:r>
            <a:r>
              <a:rPr lang="en-US" altLang="ko-KR" sz="1400" dirty="0">
                <a:latin typeface="+mn-ea"/>
              </a:rPr>
              <a:t>Logistic </a:t>
            </a:r>
            <a:r>
              <a:rPr lang="en-US" altLang="ko-KR" sz="1400" dirty="0" err="1">
                <a:latin typeface="+mn-ea"/>
              </a:rPr>
              <a:t>regressin</a:t>
            </a:r>
            <a:r>
              <a:rPr lang="ko-KR" altLang="en-US" sz="1400" dirty="0">
                <a:latin typeface="+mn-ea"/>
              </a:rPr>
              <a:t>보다 압도적으로 좋음</a:t>
            </a:r>
          </a:p>
        </p:txBody>
      </p:sp>
    </p:spTree>
    <p:extLst>
      <p:ext uri="{BB962C8B-B14F-4D97-AF65-F5344CB8AC3E}">
        <p14:creationId xmlns:p14="http://schemas.microsoft.com/office/powerpoint/2010/main" val="2833187510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tree </a:t>
            </a: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구조 확인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AFB21-5CA8-4B79-828B-B4548D262A3F}"/>
              </a:ext>
            </a:extLst>
          </p:cNvPr>
          <p:cNvSpPr txBox="1"/>
          <p:nvPr/>
        </p:nvSpPr>
        <p:spPr>
          <a:xfrm>
            <a:off x="263352" y="695345"/>
            <a:ext cx="6408712" cy="49244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feature_names = [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np.asarray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).shape[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])]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ko-KR" sz="16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(c)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tree_clf.classes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_]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feature_names=feature_names,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filled=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rounded=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impurity=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proportion=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"Decision Tree (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=4)"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47087445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tree </a:t>
            </a: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구조 확인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FB3294-2551-4836-963D-6DE32EED3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836712"/>
            <a:ext cx="11424589" cy="572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70383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D6935-2642-4516-A10C-FB0951057B65}"/>
              </a:ext>
            </a:extLst>
          </p:cNvPr>
          <p:cNvSpPr txBox="1"/>
          <p:nvPr/>
        </p:nvSpPr>
        <p:spPr>
          <a:xfrm>
            <a:off x="206315" y="764704"/>
            <a:ext cx="3076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과적합</a:t>
            </a:r>
            <a:r>
              <a:rPr lang="en-US" altLang="ko-KR" b="1" dirty="0">
                <a:latin typeface="+mn-ea"/>
              </a:rPr>
              <a:t>(Overfitting)</a:t>
            </a:r>
            <a:r>
              <a:rPr lang="ko-KR" altLang="en-US" b="1" dirty="0">
                <a:latin typeface="+mn-ea"/>
              </a:rPr>
              <a:t> 문제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A54B53-9B36-4FCF-A7D0-4D5C454074A4}"/>
              </a:ext>
            </a:extLst>
          </p:cNvPr>
          <p:cNvSpPr txBox="1"/>
          <p:nvPr/>
        </p:nvSpPr>
        <p:spPr>
          <a:xfrm>
            <a:off x="551384" y="1150938"/>
            <a:ext cx="9793088" cy="2059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머신러닝에서 </a:t>
            </a:r>
            <a:r>
              <a:rPr lang="ko-KR" altLang="en-US" b="1" dirty="0">
                <a:latin typeface="+mn-ea"/>
              </a:rPr>
              <a:t>가장 많이 발생하고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가장 중요한 문제 중 하나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ts val="26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과적합 </a:t>
            </a:r>
            <a:r>
              <a:rPr lang="en-US" altLang="ko-KR" dirty="0">
                <a:latin typeface="+mn-ea"/>
              </a:rPr>
              <a:t>= “</a:t>
            </a:r>
            <a:r>
              <a:rPr lang="ko-KR" altLang="en-US" dirty="0">
                <a:latin typeface="+mn-ea"/>
              </a:rPr>
              <a:t>훈련 데이터는 잘 맞추는데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새로운 데이터는 못 맞추는 상태”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ts val="2600"/>
              </a:lnSpc>
              <a:buFontTx/>
              <a:buChar char="-"/>
            </a:pPr>
            <a:r>
              <a:rPr lang="ko-KR" altLang="en-US" dirty="0">
                <a:latin typeface="+mn-ea"/>
              </a:rPr>
              <a:t>데이터 하나하나를 </a:t>
            </a:r>
            <a:r>
              <a:rPr lang="ko-KR" altLang="en-US" b="1" dirty="0">
                <a:latin typeface="+mn-ea"/>
              </a:rPr>
              <a:t>억지로 다 </a:t>
            </a:r>
            <a:r>
              <a:rPr lang="ko-KR" altLang="en-US" b="1" dirty="0" err="1">
                <a:latin typeface="+mn-ea"/>
              </a:rPr>
              <a:t>외워버림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ts val="2600"/>
              </a:lnSpc>
              <a:buFontTx/>
              <a:buChar char="-"/>
            </a:pPr>
            <a:r>
              <a:rPr lang="ko-KR" altLang="en-US" b="1" dirty="0">
                <a:latin typeface="+mn-ea"/>
              </a:rPr>
              <a:t>과적합 특징</a:t>
            </a:r>
            <a:br>
              <a:rPr lang="en-US" altLang="ko-KR" b="1" dirty="0">
                <a:latin typeface="+mn-ea"/>
              </a:rPr>
            </a:br>
            <a:r>
              <a:rPr lang="ko-KR" altLang="en-US" dirty="0">
                <a:latin typeface="+mn-ea"/>
              </a:rPr>
              <a:t>학습 데이터 정확도 매우 높으나</a:t>
            </a:r>
            <a:r>
              <a:rPr lang="en-US" altLang="ko-KR" dirty="0">
                <a:latin typeface="+mn-ea"/>
              </a:rPr>
              <a:t>,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테스트 데이터 정확도 낮음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39DE2F9-3344-4CAF-A97F-9646B6A3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383" y="2369555"/>
            <a:ext cx="5655939" cy="323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38252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D6935-2642-4516-A10C-FB0951057B65}"/>
              </a:ext>
            </a:extLst>
          </p:cNvPr>
          <p:cNvSpPr txBox="1"/>
          <p:nvPr/>
        </p:nvSpPr>
        <p:spPr>
          <a:xfrm>
            <a:off x="206315" y="764704"/>
            <a:ext cx="585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latin typeface="+mn-ea"/>
              </a:rPr>
              <a:t>Decison</a:t>
            </a:r>
            <a:r>
              <a:rPr lang="en-US" altLang="ko-KR" b="1" dirty="0">
                <a:latin typeface="+mn-ea"/>
              </a:rPr>
              <a:t> tree </a:t>
            </a:r>
            <a:r>
              <a:rPr lang="ko-KR" altLang="en-US" b="1" dirty="0">
                <a:latin typeface="+mn-ea"/>
              </a:rPr>
              <a:t>모델이 과적합</a:t>
            </a:r>
            <a:r>
              <a:rPr lang="en-US" altLang="ko-KR" b="1" dirty="0">
                <a:latin typeface="+mn-ea"/>
              </a:rPr>
              <a:t>(Overfitting)</a:t>
            </a:r>
            <a:r>
              <a:rPr lang="ko-KR" altLang="en-US" b="1" dirty="0">
                <a:latin typeface="+mn-ea"/>
              </a:rPr>
              <a:t> 인지 확인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A9C8E8-C23B-4694-9A7B-2FA97326D2E2}"/>
              </a:ext>
            </a:extLst>
          </p:cNvPr>
          <p:cNvSpPr txBox="1"/>
          <p:nvPr/>
        </p:nvSpPr>
        <p:spPr>
          <a:xfrm>
            <a:off x="610764" y="1273412"/>
            <a:ext cx="10901744" cy="2031325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results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모델 학습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예측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주요 지표 계산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결과 저장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model.fit(x_train, y_train)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y_pred = model.predict(x_test)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"Train:"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accuracy_score(y_train, model.predict(x_train)))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"Test: 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accuracy_score(y_test,  model.predict(x_test)))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1C324F3-651E-4E59-98E9-C06847FB7BAB}"/>
              </a:ext>
            </a:extLst>
          </p:cNvPr>
          <p:cNvCxnSpPr/>
          <p:nvPr/>
        </p:nvCxnSpPr>
        <p:spPr>
          <a:xfrm flipH="1">
            <a:off x="9624392" y="2852936"/>
            <a:ext cx="136815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2FDBE92-AB09-45D1-A624-21BC1002D1C0}"/>
              </a:ext>
            </a:extLst>
          </p:cNvPr>
          <p:cNvCxnSpPr/>
          <p:nvPr/>
        </p:nvCxnSpPr>
        <p:spPr>
          <a:xfrm flipH="1">
            <a:off x="9624392" y="3068960"/>
            <a:ext cx="136815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B0DBC1-DA0E-459C-9502-7A01FA59C4EA}"/>
              </a:ext>
            </a:extLst>
          </p:cNvPr>
          <p:cNvSpPr txBox="1"/>
          <p:nvPr/>
        </p:nvSpPr>
        <p:spPr>
          <a:xfrm>
            <a:off x="773325" y="3553264"/>
            <a:ext cx="2232248" cy="646331"/>
          </a:xfrm>
          <a:prstGeom prst="rect">
            <a:avLst/>
          </a:prstGeom>
          <a:noFill/>
          <a:ln w="41275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Train: 0.997375 </a:t>
            </a:r>
          </a:p>
          <a:p>
            <a:r>
              <a:rPr lang="en-US" altLang="ko-KR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Test: 0.997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32664C-73FA-4735-9883-9D3EF123DA84}"/>
              </a:ext>
            </a:extLst>
          </p:cNvPr>
          <p:cNvSpPr txBox="1"/>
          <p:nvPr/>
        </p:nvSpPr>
        <p:spPr>
          <a:xfrm>
            <a:off x="777308" y="4365104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Train </a:t>
            </a:r>
            <a:r>
              <a:rPr lang="ko-KR" altLang="en-US" dirty="0"/>
              <a:t>보다 </a:t>
            </a:r>
            <a:r>
              <a:rPr lang="en-US" altLang="ko-KR" dirty="0"/>
              <a:t>Test </a:t>
            </a:r>
            <a:r>
              <a:rPr lang="ko-KR" altLang="en-US" dirty="0"/>
              <a:t>정확도가 약간 낮으니 과적합이 아님</a:t>
            </a:r>
          </a:p>
        </p:txBody>
      </p:sp>
    </p:spTree>
    <p:extLst>
      <p:ext uri="{BB962C8B-B14F-4D97-AF65-F5344CB8AC3E}">
        <p14:creationId xmlns:p14="http://schemas.microsoft.com/office/powerpoint/2010/main" val="2520452445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C071E6-96F5-4CF5-B050-81F7A2D0FC08}"/>
              </a:ext>
            </a:extLst>
          </p:cNvPr>
          <p:cNvSpPr txBox="1"/>
          <p:nvPr/>
        </p:nvSpPr>
        <p:spPr>
          <a:xfrm>
            <a:off x="191344" y="836712"/>
            <a:ext cx="1152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33CC"/>
                </a:solidFill>
                <a:latin typeface="+mn-ea"/>
              </a:rPr>
              <a:t>여러 개의 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Decision Tree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를 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Random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하게 만들어서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마지막에 투표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또는 평균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로 결론을 내리는 모델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43A211C-00A0-4AE2-82E0-48D5E772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219348"/>
            <a:ext cx="11521280" cy="7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6213" marR="0" lvl="0" indent="187325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1개는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규칙이 명확하지만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데이터가 조금만 바뀌어도 결과가 크게 달라지고(불안정) 과적합이 잘 </a:t>
            </a:r>
            <a:r>
              <a:rPr lang="ko-KR" altLang="en-US" sz="1600" dirty="0">
                <a:latin typeface="Arial" panose="020B0604020202020204" pitchFamily="34" charset="0"/>
              </a:rPr>
              <a:t>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176213" marR="0" lvl="0" indent="187325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트리를 여러 개 만들고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다수결/평균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내서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더 안정적이고 일반화가 잘 되게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만드는 방법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4E0663-7A7C-4CDF-BB8B-C01896217C87}"/>
              </a:ext>
            </a:extLst>
          </p:cNvPr>
          <p:cNvSpPr txBox="1"/>
          <p:nvPr/>
        </p:nvSpPr>
        <p:spPr>
          <a:xfrm>
            <a:off x="191344" y="2132856"/>
            <a:ext cx="11521280" cy="283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ko-KR" sz="1600" b="1" dirty="0">
                <a:latin typeface="+mn-ea"/>
              </a:rPr>
              <a:t>(1) </a:t>
            </a:r>
            <a:r>
              <a:rPr lang="ko-KR" altLang="en-US" sz="1600" b="1" dirty="0">
                <a:latin typeface="+mn-ea"/>
              </a:rPr>
              <a:t>데이터도 랜덤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부트스트랩 샘플링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  전체 훈련 데이터에서 </a:t>
            </a:r>
            <a:r>
              <a:rPr lang="ko-KR" altLang="en-US" sz="1600" b="1" dirty="0">
                <a:latin typeface="+mn-ea"/>
              </a:rPr>
              <a:t>중복을 허용</a:t>
            </a:r>
            <a:r>
              <a:rPr lang="ko-KR" altLang="en-US" sz="1600" dirty="0">
                <a:latin typeface="+mn-ea"/>
              </a:rPr>
              <a:t>해서 랜덤하게 뽑아 트리 하나를 학습한다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데이터가 </a:t>
            </a:r>
            <a:r>
              <a:rPr lang="en-US" altLang="ko-KR" sz="1600" dirty="0">
                <a:latin typeface="+mn-ea"/>
              </a:rPr>
              <a:t>10,000</a:t>
            </a:r>
            <a:r>
              <a:rPr lang="ko-KR" altLang="en-US" sz="1600" dirty="0">
                <a:latin typeface="+mn-ea"/>
              </a:rPr>
              <a:t>개면 트리 </a:t>
            </a:r>
            <a:r>
              <a:rPr lang="en-US" altLang="ko-KR" sz="1600" dirty="0">
                <a:latin typeface="+mn-ea"/>
              </a:rPr>
              <a:t>1</a:t>
            </a:r>
            <a:r>
              <a:rPr lang="ko-KR" altLang="en-US" sz="1600" dirty="0">
                <a:latin typeface="+mn-ea"/>
              </a:rPr>
              <a:t>개를 만들 때 </a:t>
            </a:r>
            <a:r>
              <a:rPr lang="en-US" altLang="ko-KR" sz="1600" dirty="0">
                <a:latin typeface="+mn-ea"/>
              </a:rPr>
              <a:t>10,000</a:t>
            </a:r>
            <a:r>
              <a:rPr lang="ko-KR" altLang="en-US" sz="1600" dirty="0">
                <a:latin typeface="+mn-ea"/>
              </a:rPr>
              <a:t>개를 뽑는데 </a:t>
            </a:r>
            <a:r>
              <a:rPr lang="ko-KR" altLang="en-US" sz="1600" b="1" dirty="0">
                <a:latin typeface="+mn-ea"/>
              </a:rPr>
              <a:t>중복이 허용</a:t>
            </a:r>
            <a:r>
              <a:rPr lang="ko-KR" altLang="en-US" sz="1600" dirty="0">
                <a:latin typeface="+mn-ea"/>
              </a:rPr>
              <a:t>된다</a:t>
            </a:r>
            <a:r>
              <a:rPr lang="en-US" altLang="ko-KR" sz="1600" dirty="0">
                <a:latin typeface="+mn-ea"/>
              </a:rPr>
              <a:t>.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(</a:t>
            </a:r>
            <a:r>
              <a:rPr lang="ko-KR" altLang="en-US" sz="1600" dirty="0">
                <a:latin typeface="+mn-ea"/>
              </a:rPr>
              <a:t>어떤 샘플은 </a:t>
            </a:r>
            <a:r>
              <a:rPr lang="en-US" altLang="ko-KR" sz="1600" dirty="0">
                <a:latin typeface="+mn-ea"/>
              </a:rPr>
              <a:t>2~3</a:t>
            </a:r>
            <a:r>
              <a:rPr lang="ko-KR" altLang="en-US" sz="1600" dirty="0">
                <a:latin typeface="+mn-ea"/>
              </a:rPr>
              <a:t>번 뽑히고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어떤 샘플은 아예 안 뽑힐 수도 있음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이걸 부트스트랩</a:t>
            </a:r>
            <a:r>
              <a:rPr lang="en-US" altLang="ko-KR" sz="1600" dirty="0">
                <a:latin typeface="+mn-ea"/>
              </a:rPr>
              <a:t>(bootstrap)</a:t>
            </a:r>
            <a:r>
              <a:rPr lang="ko-KR" altLang="en-US" sz="1600" dirty="0">
                <a:latin typeface="+mn-ea"/>
              </a:rPr>
              <a:t>이라고 부른다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ts val="2400"/>
              </a:lnSpc>
            </a:pPr>
            <a:r>
              <a:rPr lang="en-US" altLang="ko-KR" sz="1600" b="1" dirty="0">
                <a:latin typeface="+mn-ea"/>
              </a:rPr>
              <a:t>(2) </a:t>
            </a:r>
            <a:r>
              <a:rPr lang="ko-KR" altLang="en-US" sz="1600" b="1" dirty="0">
                <a:latin typeface="+mn-ea"/>
              </a:rPr>
              <a:t>특성도 랜덤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특성 부분 선택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  각 노드에서 분할할 때도 전체 특성을 다 보지 않고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일부 특성만 랜덤으로 골라서 그 중에서 최선의 분할</a:t>
            </a:r>
            <a:r>
              <a:rPr lang="ko-KR" altLang="en-US" sz="1600" dirty="0">
                <a:latin typeface="+mn-ea"/>
              </a:rPr>
              <a:t>을 찾는다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특성이 </a:t>
            </a:r>
            <a:r>
              <a:rPr lang="en-US" altLang="ko-KR" sz="1600" dirty="0">
                <a:latin typeface="+mn-ea"/>
              </a:rPr>
              <a:t>20</a:t>
            </a:r>
            <a:r>
              <a:rPr lang="ko-KR" altLang="en-US" sz="1600" dirty="0">
                <a:latin typeface="+mn-ea"/>
              </a:rPr>
              <a:t>개면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매번 그중 </a:t>
            </a:r>
            <a:r>
              <a:rPr lang="en-US" altLang="ko-KR" sz="1600" dirty="0">
                <a:latin typeface="+mn-ea"/>
              </a:rPr>
              <a:t>4~5</a:t>
            </a:r>
            <a:r>
              <a:rPr lang="ko-KR" altLang="en-US" sz="1600" dirty="0">
                <a:latin typeface="+mn-ea"/>
              </a:rPr>
              <a:t>개만 랜덤 선택해서 </a:t>
            </a:r>
            <a:r>
              <a:rPr lang="en-US" altLang="ko-KR" sz="1600" dirty="0">
                <a:latin typeface="+mn-ea"/>
              </a:rPr>
              <a:t>split </a:t>
            </a:r>
            <a:r>
              <a:rPr lang="ko-KR" altLang="en-US" sz="1600" dirty="0">
                <a:latin typeface="+mn-ea"/>
              </a:rPr>
              <a:t>후보를 평가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이 두 가지 랜덤 덕분에 트리들이 서로 “다른 </a:t>
            </a:r>
            <a:r>
              <a:rPr lang="ko-KR" altLang="en-US" sz="1600" dirty="0" err="1">
                <a:latin typeface="+mn-ea"/>
              </a:rPr>
              <a:t>성격”이</a:t>
            </a:r>
            <a:r>
              <a:rPr lang="ko-KR" altLang="en-US" sz="1600" dirty="0">
                <a:latin typeface="+mn-ea"/>
              </a:rPr>
              <a:t> 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서로의 실수를 평균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투표로 상쇄한다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0092952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3906E5-D1AE-4FAB-8E1E-5C33A041D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675530"/>
            <a:ext cx="9023271" cy="55142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072137F-F62C-43C6-8573-111AED7E2D2E}"/>
              </a:ext>
            </a:extLst>
          </p:cNvPr>
          <p:cNvSpPr txBox="1"/>
          <p:nvPr/>
        </p:nvSpPr>
        <p:spPr>
          <a:xfrm>
            <a:off x="1524001" y="6381328"/>
            <a:ext cx="8604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이렇게 중복을 허용한 무작위 샘플링을 </a:t>
            </a:r>
            <a:r>
              <a:rPr lang="en-US" altLang="ko-KR" sz="1400" b="1" dirty="0">
                <a:latin typeface="+mn-ea"/>
              </a:rPr>
              <a:t>Bootstrap Sampling (</a:t>
            </a:r>
            <a:r>
              <a:rPr lang="ko-KR" altLang="en-US" sz="1400" b="1" dirty="0">
                <a:latin typeface="+mn-ea"/>
              </a:rPr>
              <a:t>부트스트랩 샘플링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이라고 함</a:t>
            </a:r>
          </a:p>
        </p:txBody>
      </p:sp>
    </p:spTree>
    <p:extLst>
      <p:ext uri="{BB962C8B-B14F-4D97-AF65-F5344CB8AC3E}">
        <p14:creationId xmlns:p14="http://schemas.microsoft.com/office/powerpoint/2010/main" val="366138242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5774-E5A5-4DA0-A921-B76A2D778600}"/>
              </a:ext>
            </a:extLst>
          </p:cNvPr>
          <p:cNvSpPr txBox="1"/>
          <p:nvPr/>
        </p:nvSpPr>
        <p:spPr>
          <a:xfrm>
            <a:off x="407368" y="908720"/>
            <a:ext cx="10945216" cy="481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3100"/>
              </a:lnSpc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 Random Forest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의 핵심 특징</a:t>
            </a:r>
            <a:endParaRPr lang="en-US" altLang="ko-KR" b="1" dirty="0">
              <a:solidFill>
                <a:srgbClr val="0033CC"/>
              </a:solidFill>
              <a:latin typeface="+mn-ea"/>
            </a:endParaRPr>
          </a:p>
          <a:p>
            <a:pPr marL="176213">
              <a:lnSpc>
                <a:spcPts val="3100"/>
              </a:lnSpc>
            </a:pPr>
            <a:r>
              <a:rPr lang="en-US" altLang="ko-KR" b="1" dirty="0">
                <a:latin typeface="+mn-ea"/>
              </a:rPr>
              <a:t>1) </a:t>
            </a:r>
            <a:r>
              <a:rPr lang="ko-KR" altLang="en-US" b="1" dirty="0" err="1">
                <a:latin typeface="+mn-ea"/>
              </a:rPr>
              <a:t>결정트리보다</a:t>
            </a:r>
            <a:r>
              <a:rPr lang="ko-KR" altLang="en-US" b="1" dirty="0">
                <a:latin typeface="+mn-ea"/>
              </a:rPr>
              <a:t> 훨씬 과적합이 줄어듦</a:t>
            </a:r>
          </a:p>
          <a:p>
            <a:pPr marL="176213" indent="187325">
              <a:lnSpc>
                <a:spcPts val="3100"/>
              </a:lnSpc>
            </a:pPr>
            <a:r>
              <a:rPr lang="ko-KR" altLang="en-US" dirty="0">
                <a:latin typeface="+mn-ea"/>
              </a:rPr>
              <a:t>   트리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개는 “한 사람의 </a:t>
            </a:r>
            <a:r>
              <a:rPr lang="ko-KR" altLang="en-US" dirty="0" err="1">
                <a:latin typeface="+mn-ea"/>
              </a:rPr>
              <a:t>판단”이라</a:t>
            </a:r>
            <a:r>
              <a:rPr lang="ko-KR" altLang="en-US" dirty="0">
                <a:latin typeface="+mn-ea"/>
              </a:rPr>
              <a:t> 편향될 수 있는데</a:t>
            </a:r>
            <a:r>
              <a:rPr lang="en-US" altLang="ko-KR" dirty="0">
                <a:latin typeface="+mn-ea"/>
              </a:rPr>
              <a:t>,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</a:t>
            </a:r>
            <a:r>
              <a:rPr lang="ko-KR" altLang="en-US" dirty="0">
                <a:latin typeface="+mn-ea"/>
              </a:rPr>
              <a:t>여러 트리의 평균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투표는 “여러 사람의 </a:t>
            </a:r>
            <a:r>
              <a:rPr lang="ko-KR" altLang="en-US" dirty="0" err="1">
                <a:latin typeface="+mn-ea"/>
              </a:rPr>
              <a:t>합의”라</a:t>
            </a:r>
            <a:r>
              <a:rPr lang="ko-KR" altLang="en-US" dirty="0">
                <a:latin typeface="+mn-ea"/>
              </a:rPr>
              <a:t> 안정적이다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>
              <a:lnSpc>
                <a:spcPts val="3100"/>
              </a:lnSpc>
            </a:pPr>
            <a:r>
              <a:rPr lang="en-US" altLang="ko-KR" b="1" dirty="0">
                <a:latin typeface="+mn-ea"/>
              </a:rPr>
              <a:t>2) </a:t>
            </a:r>
            <a:r>
              <a:rPr lang="ko-KR" altLang="en-US" b="1" dirty="0">
                <a:latin typeface="+mn-ea"/>
              </a:rPr>
              <a:t>비선형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복잡한 경계도 잘 잡음</a:t>
            </a:r>
          </a:p>
          <a:p>
            <a:pPr marL="176213" indent="187325">
              <a:lnSpc>
                <a:spcPts val="3100"/>
              </a:lnSpc>
            </a:pPr>
            <a:r>
              <a:rPr lang="ko-KR" altLang="en-US" dirty="0">
                <a:latin typeface="+mn-ea"/>
              </a:rPr>
              <a:t>  </a:t>
            </a:r>
            <a:r>
              <a:rPr lang="ko-KR" altLang="en-US" dirty="0" err="1">
                <a:latin typeface="+mn-ea"/>
              </a:rPr>
              <a:t>결정트리</a:t>
            </a:r>
            <a:r>
              <a:rPr lang="ko-KR" altLang="en-US" dirty="0">
                <a:latin typeface="+mn-ea"/>
              </a:rPr>
              <a:t> 자체가 비선형을 잘 잡고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랜덤 </a:t>
            </a:r>
            <a:r>
              <a:rPr lang="ko-KR" altLang="en-US" dirty="0" err="1">
                <a:latin typeface="+mn-ea"/>
              </a:rPr>
              <a:t>포레스트는</a:t>
            </a:r>
            <a:r>
              <a:rPr lang="ko-KR" altLang="en-US" dirty="0">
                <a:latin typeface="+mn-ea"/>
              </a:rPr>
              <a:t> 그걸 여러 개 모으니 더 강해진다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>
              <a:lnSpc>
                <a:spcPts val="3100"/>
              </a:lnSpc>
            </a:pPr>
            <a:r>
              <a:rPr lang="en-US" altLang="ko-KR" b="1" dirty="0">
                <a:latin typeface="+mn-ea"/>
              </a:rPr>
              <a:t>3) </a:t>
            </a:r>
            <a:r>
              <a:rPr lang="ko-KR" altLang="en-US" b="1" dirty="0">
                <a:latin typeface="+mn-ea"/>
              </a:rPr>
              <a:t>전처리가 비교적 간단</a:t>
            </a:r>
          </a:p>
          <a:p>
            <a:pPr marL="539750" indent="176213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스케일링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표준화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이 필수는 아니다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539750" indent="176213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범주형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수치형이 섞인 표 데이터에도 강한 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단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err="1">
                <a:latin typeface="+mn-ea"/>
              </a:rPr>
              <a:t>sklearn</a:t>
            </a:r>
            <a:r>
              <a:rPr lang="ko-KR" altLang="en-US" dirty="0">
                <a:latin typeface="+mn-ea"/>
              </a:rPr>
              <a:t>은 범주형을 보통 원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핫으로 처리</a:t>
            </a:r>
            <a:r>
              <a:rPr lang="en-US" altLang="ko-KR" dirty="0">
                <a:latin typeface="+mn-ea"/>
              </a:rPr>
              <a:t>)</a:t>
            </a:r>
          </a:p>
          <a:p>
            <a:pPr marL="176213">
              <a:lnSpc>
                <a:spcPts val="3100"/>
              </a:lnSpc>
            </a:pPr>
            <a:r>
              <a:rPr lang="en-US" altLang="ko-KR" b="1" dirty="0">
                <a:latin typeface="+mn-ea"/>
              </a:rPr>
              <a:t>4) </a:t>
            </a:r>
            <a:r>
              <a:rPr lang="ko-KR" altLang="en-US" b="1" dirty="0">
                <a:latin typeface="+mn-ea"/>
              </a:rPr>
              <a:t>특성 중요도</a:t>
            </a:r>
            <a:r>
              <a:rPr lang="en-US" altLang="ko-KR" b="1" dirty="0">
                <a:latin typeface="+mn-ea"/>
              </a:rPr>
              <a:t>(feature importance)</a:t>
            </a:r>
            <a:r>
              <a:rPr lang="ko-KR" altLang="en-US" b="1" dirty="0">
                <a:latin typeface="+mn-ea"/>
              </a:rPr>
              <a:t>를 제공</a:t>
            </a:r>
          </a:p>
          <a:p>
            <a:pPr marL="539750" indent="176213">
              <a:lnSpc>
                <a:spcPts val="3100"/>
              </a:lnSpc>
            </a:pPr>
            <a:r>
              <a:rPr lang="ko-KR" altLang="en-US" dirty="0">
                <a:latin typeface="+mn-ea"/>
              </a:rPr>
              <a:t>어떤 변수가 분류에 더 영향이 큰지 대략 볼 수 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539750" indent="176213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>
                <a:latin typeface="+mn-ea"/>
              </a:rPr>
              <a:t>humi</a:t>
            </a:r>
            <a:r>
              <a:rPr lang="ko-KR" altLang="en-US" dirty="0">
                <a:latin typeface="+mn-ea"/>
              </a:rPr>
              <a:t>가 더 중요한지</a:t>
            </a:r>
            <a:r>
              <a:rPr lang="en-US" altLang="ko-KR" dirty="0">
                <a:latin typeface="+mn-ea"/>
              </a:rPr>
              <a:t>, temp</a:t>
            </a:r>
            <a:r>
              <a:rPr lang="ko-KR" altLang="en-US" dirty="0">
                <a:latin typeface="+mn-ea"/>
              </a:rPr>
              <a:t>가 더 중요한지</a:t>
            </a:r>
          </a:p>
        </p:txBody>
      </p:sp>
    </p:spTree>
    <p:extLst>
      <p:ext uri="{BB962C8B-B14F-4D97-AF65-F5344CB8AC3E}">
        <p14:creationId xmlns:p14="http://schemas.microsoft.com/office/powerpoint/2010/main" val="3987797100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76874-ECF7-43EE-898B-28ED85596622}"/>
              </a:ext>
            </a:extLst>
          </p:cNvPr>
          <p:cNvSpPr txBox="1"/>
          <p:nvPr/>
        </p:nvSpPr>
        <p:spPr>
          <a:xfrm>
            <a:off x="191344" y="812899"/>
            <a:ext cx="7488832" cy="26161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sklearn.ensemble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n_estimators=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나무 개수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각 나무의 최대 깊이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"Random Forest"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E6E926-66A9-480E-BDA8-4EB31A89B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098" y="2041630"/>
            <a:ext cx="4902902" cy="4793408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1645551264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047471-A60B-4C73-BE78-217CE383B853}"/>
              </a:ext>
            </a:extLst>
          </p:cNvPr>
          <p:cNvSpPr txBox="1"/>
          <p:nvPr/>
        </p:nvSpPr>
        <p:spPr>
          <a:xfrm>
            <a:off x="191344" y="764704"/>
            <a:ext cx="8240838" cy="48320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feature_names = [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np.asarray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).shape[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])]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ko-KR" sz="14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(c)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rf_clf.classes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_]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포레스트 안의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번째 트리 선택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 =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one_tree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rf_clf.estimators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_[n]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one_tree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feature_names=feature_names,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filled=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rounded=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impurity=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proportion=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"Random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Forest - Tree #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{n}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(showing up to depth=3)"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0D50A4-5BDA-4C06-BEB7-EE1A41210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06" y="3937175"/>
            <a:ext cx="4748874" cy="284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815851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047471-A60B-4C73-BE78-217CE383B853}"/>
              </a:ext>
            </a:extLst>
          </p:cNvPr>
          <p:cNvSpPr txBox="1"/>
          <p:nvPr/>
        </p:nvSpPr>
        <p:spPr>
          <a:xfrm>
            <a:off x="191344" y="764704"/>
            <a:ext cx="8240838" cy="8002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3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3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=20,  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7963D7-EB69-4D45-80E2-2F0EB3975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1" y="1412776"/>
            <a:ext cx="11012437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47657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E66D9-C628-4940-9C11-D7090341C2A9}"/>
              </a:ext>
            </a:extLst>
          </p:cNvPr>
          <p:cNvSpPr txBox="1"/>
          <p:nvPr/>
        </p:nvSpPr>
        <p:spPr>
          <a:xfrm>
            <a:off x="479376" y="817561"/>
            <a:ext cx="9217024" cy="69807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altLang="ko-KR" sz="1600" dirty="0">
                <a:latin typeface="+mn-ea"/>
              </a:rPr>
              <a:t>KNN</a:t>
            </a:r>
            <a:r>
              <a:rPr lang="ko-KR" altLang="en-US" sz="1600" dirty="0">
                <a:latin typeface="+mn-ea"/>
              </a:rPr>
              <a:t>은 </a:t>
            </a:r>
            <a:r>
              <a:rPr lang="ko-KR" altLang="en-US" sz="1600" b="1" dirty="0">
                <a:latin typeface="+mn-ea"/>
              </a:rPr>
              <a:t>새 데이터가 들어오면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과거에 저장해 둔 데이터 중에서 </a:t>
            </a:r>
            <a:r>
              <a:rPr lang="ko-KR" altLang="en-US" sz="1600" b="1" dirty="0">
                <a:latin typeface="+mn-ea"/>
              </a:rPr>
              <a:t>가장 가까운 </a:t>
            </a:r>
            <a:r>
              <a:rPr lang="en-US" altLang="ko-KR" sz="1600" b="1" dirty="0">
                <a:latin typeface="+mn-ea"/>
              </a:rPr>
              <a:t>K</a:t>
            </a:r>
            <a:r>
              <a:rPr lang="ko-KR" altLang="en-US" sz="1600" b="1" dirty="0">
                <a:latin typeface="+mn-ea"/>
              </a:rPr>
              <a:t>개를 찾아서</a:t>
            </a:r>
            <a:br>
              <a:rPr lang="ko-KR" altLang="en-US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그 이웃들이 </a:t>
            </a:r>
            <a:r>
              <a:rPr lang="ko-KR" altLang="en-US" sz="1600" b="1" dirty="0">
                <a:latin typeface="+mn-ea"/>
              </a:rPr>
              <a:t>대부분 </a:t>
            </a:r>
            <a:r>
              <a:rPr lang="en-US" altLang="ko-KR" sz="1600" b="1" dirty="0">
                <a:latin typeface="+mn-ea"/>
              </a:rPr>
              <a:t>OK</a:t>
            </a:r>
            <a:r>
              <a:rPr lang="ko-KR" altLang="en-US" sz="1600" b="1" dirty="0">
                <a:latin typeface="+mn-ea"/>
              </a:rPr>
              <a:t>면 </a:t>
            </a:r>
            <a:r>
              <a:rPr lang="en-US" altLang="ko-KR" sz="1600" b="1" dirty="0">
                <a:latin typeface="+mn-ea"/>
              </a:rPr>
              <a:t>OK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대부분 </a:t>
            </a:r>
            <a:r>
              <a:rPr lang="en-US" altLang="ko-KR" sz="1600" b="1" dirty="0">
                <a:latin typeface="+mn-ea"/>
              </a:rPr>
              <a:t>NOK</a:t>
            </a:r>
            <a:r>
              <a:rPr lang="ko-KR" altLang="en-US" sz="1600" b="1" dirty="0">
                <a:latin typeface="+mn-ea"/>
              </a:rPr>
              <a:t>면 </a:t>
            </a:r>
            <a:r>
              <a:rPr lang="en-US" altLang="ko-KR" sz="1600" b="1" dirty="0">
                <a:latin typeface="+mn-ea"/>
              </a:rPr>
              <a:t>NOK</a:t>
            </a:r>
            <a:r>
              <a:rPr lang="ko-KR" altLang="en-US" sz="1600" dirty="0">
                <a:latin typeface="+mn-ea"/>
              </a:rPr>
              <a:t>로 판단하는 모델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3702421-FD93-41B4-8C07-3F4E68BD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701604"/>
            <a:ext cx="8493031" cy="3454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원리(작동 방식) — 정말 쉽게</a:t>
            </a: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입력이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두 값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일 때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(1)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학습 단계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학습”을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거의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하지 않는다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그냥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훈련 데이터를 통째로 저장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 (그래서 “게으른 학습(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lazy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)”이라고도 함)</a:t>
            </a: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(2)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예측 단계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(새 샘플 하나가 들어오면):</a:t>
            </a:r>
          </a:p>
          <a:p>
            <a:pPr marR="0" lvl="1" indent="17145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새 샘플과 훈련 데이터 각 점 사이의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거리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계산</a:t>
            </a:r>
          </a:p>
          <a:p>
            <a:pPr marR="0" lvl="1" indent="17145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가장 가까운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K개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선택</a:t>
            </a:r>
          </a:p>
          <a:p>
            <a:pPr marR="0" lvl="1" indent="17145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K개가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가진 라벨(OK/NOK)을 보고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다수결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결정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717445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6E236BF-405C-4EB5-89E1-A9497119E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980728"/>
            <a:ext cx="7479712" cy="532859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145B6F6A-75EC-4550-B7AA-D90F11C27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176" y="2134588"/>
            <a:ext cx="4354077" cy="1094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원형/사각형 점: 훈련 데이터(OK/NOK)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별표: 새 샘플(분류 대상)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 3개: K=3개의 “가장 가까운 이웃” 연결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 옆 숫자: 거리 값(가까울수록 더 비슷하다고 판단)</a:t>
            </a:r>
          </a:p>
        </p:txBody>
      </p:sp>
    </p:spTree>
    <p:extLst>
      <p:ext uri="{BB962C8B-B14F-4D97-AF65-F5344CB8AC3E}">
        <p14:creationId xmlns:p14="http://schemas.microsoft.com/office/powerpoint/2010/main" val="4021388033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7E793-B88E-43E0-83D0-6A0426E8CED9}"/>
              </a:ext>
            </a:extLst>
          </p:cNvPr>
          <p:cNvSpPr txBox="1"/>
          <p:nvPr/>
        </p:nvSpPr>
        <p:spPr>
          <a:xfrm>
            <a:off x="263352" y="836712"/>
            <a:ext cx="11161240" cy="455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2) </a:t>
            </a:r>
            <a:r>
              <a:rPr lang="ko-KR" altLang="en-US" b="1" dirty="0">
                <a:latin typeface="+mn-ea"/>
              </a:rPr>
              <a:t>특징</a:t>
            </a:r>
            <a:endParaRPr lang="en-US" altLang="ko-KR" b="1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  (1) </a:t>
            </a:r>
            <a:r>
              <a:rPr lang="ko-KR" altLang="en-US" b="1" dirty="0">
                <a:latin typeface="+mn-ea"/>
              </a:rPr>
              <a:t>모델 식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공식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이 없다</a:t>
            </a:r>
          </a:p>
          <a:p>
            <a:pPr>
              <a:lnSpc>
                <a:spcPts val="2700"/>
              </a:lnSpc>
            </a:pPr>
            <a:r>
              <a:rPr lang="ko-KR" altLang="en-US" dirty="0">
                <a:latin typeface="+mn-ea"/>
              </a:rPr>
              <a:t>      로지스틱 회귀처럼 가중치가 있는 공식이 아니라</a:t>
            </a:r>
            <a:r>
              <a:rPr lang="en-US" altLang="ko-KR" dirty="0">
                <a:latin typeface="+mn-ea"/>
              </a:rPr>
              <a:t>,  </a:t>
            </a:r>
            <a:r>
              <a:rPr lang="ko-KR" altLang="en-US" b="1" dirty="0">
                <a:latin typeface="+mn-ea"/>
              </a:rPr>
              <a:t>데이터 자체가 모델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ts val="2700"/>
              </a:lnSpc>
            </a:pPr>
            <a:r>
              <a:rPr lang="ko-KR" altLang="en-US" b="1" dirty="0">
                <a:latin typeface="+mn-ea"/>
              </a:rPr>
              <a:t>  </a:t>
            </a:r>
            <a:r>
              <a:rPr lang="en-US" altLang="ko-KR" b="1" dirty="0">
                <a:latin typeface="+mn-ea"/>
              </a:rPr>
              <a:t>(2) </a:t>
            </a:r>
            <a:r>
              <a:rPr lang="ko-KR" altLang="en-US" b="1" dirty="0">
                <a:latin typeface="+mn-ea"/>
              </a:rPr>
              <a:t>비선형 경계를 아주 잘 만들 수 있음</a:t>
            </a:r>
          </a:p>
          <a:p>
            <a:pPr>
              <a:lnSpc>
                <a:spcPts val="2700"/>
              </a:lnSpc>
            </a:pPr>
            <a:r>
              <a:rPr lang="ko-KR" altLang="en-US" dirty="0">
                <a:latin typeface="+mn-ea"/>
              </a:rPr>
              <a:t>      데이터 모양대로 구불구불한 경계도 잘 표현합니다</a:t>
            </a:r>
            <a:r>
              <a:rPr lang="en-US" altLang="ko-KR" dirty="0">
                <a:latin typeface="+mn-ea"/>
              </a:rPr>
              <a:t>.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(</a:t>
            </a:r>
            <a:r>
              <a:rPr lang="ko-KR" altLang="en-US" dirty="0" err="1">
                <a:latin typeface="+mn-ea"/>
              </a:rPr>
              <a:t>결정트리와는</a:t>
            </a:r>
            <a:r>
              <a:rPr lang="ko-KR" altLang="en-US" dirty="0">
                <a:latin typeface="+mn-ea"/>
              </a:rPr>
              <a:t> 또 다른 방식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ts val="2700"/>
              </a:lnSpc>
            </a:pPr>
            <a:r>
              <a:rPr lang="ko-KR" altLang="en-US" b="1" dirty="0">
                <a:latin typeface="+mn-ea"/>
              </a:rPr>
              <a:t>  </a:t>
            </a:r>
            <a:r>
              <a:rPr lang="en-US" altLang="ko-KR" b="1" dirty="0">
                <a:latin typeface="+mn-ea"/>
              </a:rPr>
              <a:t>(3) </a:t>
            </a:r>
            <a:r>
              <a:rPr lang="ko-KR" altLang="en-US" b="1" dirty="0">
                <a:latin typeface="+mn-ea"/>
              </a:rPr>
              <a:t>스케일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단위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에 매우 민감</a:t>
            </a:r>
          </a:p>
          <a:p>
            <a:pPr marL="363538" indent="176213">
              <a:lnSpc>
                <a:spcPts val="2700"/>
              </a:lnSpc>
            </a:pPr>
            <a:r>
              <a:rPr lang="ko-KR" altLang="en-US" dirty="0">
                <a:latin typeface="+mn-ea"/>
              </a:rPr>
              <a:t>거리 계산을 하기 때문에</a:t>
            </a:r>
            <a:r>
              <a:rPr lang="en-US" altLang="ko-KR" dirty="0">
                <a:latin typeface="+mn-ea"/>
              </a:rPr>
              <a:t>,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온도 범위 </a:t>
            </a:r>
            <a:r>
              <a:rPr lang="en-US" altLang="ko-KR" dirty="0">
                <a:latin typeface="+mn-ea"/>
              </a:rPr>
              <a:t>20~30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습도 범위 </a:t>
            </a:r>
            <a:r>
              <a:rPr lang="en-US" altLang="ko-KR" dirty="0">
                <a:latin typeface="+mn-ea"/>
              </a:rPr>
              <a:t>50~90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처럼 범위가 다르면 습도가 거리 계산에 더 크게 영향을 준다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ts val="27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dirty="0">
                <a:latin typeface="+mn-ea"/>
              </a:rPr>
              <a:t> 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따라서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, </a:t>
            </a:r>
            <a:r>
              <a:rPr lang="en-US" altLang="ko-KR" dirty="0">
                <a:latin typeface="+mn-ea"/>
              </a:rPr>
              <a:t>KNN</a:t>
            </a:r>
            <a:r>
              <a:rPr lang="ko-KR" altLang="en-US" dirty="0">
                <a:latin typeface="+mn-ea"/>
              </a:rPr>
              <a:t>은 보통 표준화</a:t>
            </a:r>
            <a:r>
              <a:rPr lang="en-US" altLang="ko-KR" dirty="0">
                <a:latin typeface="+mn-ea"/>
              </a:rPr>
              <a:t>(StandardScaler)</a:t>
            </a:r>
            <a:r>
              <a:rPr lang="ko-KR" altLang="en-US" dirty="0">
                <a:latin typeface="+mn-ea"/>
              </a:rPr>
              <a:t>가 거의 필수이다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9714718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CA1FC-303F-4521-B3FA-610437672E72}"/>
              </a:ext>
            </a:extLst>
          </p:cNvPr>
          <p:cNvSpPr txBox="1"/>
          <p:nvPr/>
        </p:nvSpPr>
        <p:spPr>
          <a:xfrm>
            <a:off x="263352" y="836712"/>
            <a:ext cx="1159328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ko-KR" sz="1600" b="1" dirty="0">
                <a:latin typeface="+mn-ea"/>
              </a:rPr>
              <a:t>1) “</a:t>
            </a:r>
            <a:r>
              <a:rPr lang="ko-KR" altLang="en-US" sz="1600" b="1" dirty="0">
                <a:latin typeface="+mn-ea"/>
              </a:rPr>
              <a:t>비슷한 이미지 찾기”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이미지 검색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쇼핑몰에서 </a:t>
            </a:r>
            <a:r>
              <a:rPr lang="ko-KR" altLang="en-US" sz="1600" b="1" dirty="0">
                <a:latin typeface="+mn-ea"/>
              </a:rPr>
              <a:t>사진으로 검색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사용자가 올린 옷 사진과 비슷한 상품을 찾음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방식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이미지를 숫자 벡터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 err="1">
                <a:latin typeface="+mn-ea"/>
              </a:rPr>
              <a:t>임베딩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로 바꾼 뒤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가장 가까운 벡터 </a:t>
            </a:r>
            <a:r>
              <a:rPr lang="en-US" altLang="ko-KR" sz="1600" b="1" dirty="0">
                <a:latin typeface="+mn-ea"/>
              </a:rPr>
              <a:t>K</a:t>
            </a:r>
            <a:r>
              <a:rPr lang="ko-KR" altLang="en-US" sz="1600" b="1" dirty="0">
                <a:latin typeface="+mn-ea"/>
              </a:rPr>
              <a:t>개</a:t>
            </a:r>
            <a:r>
              <a:rPr lang="ko-KR" altLang="en-US" sz="1600" dirty="0">
                <a:latin typeface="+mn-ea"/>
              </a:rPr>
              <a:t>를 찾음</a:t>
            </a:r>
            <a:r>
              <a:rPr lang="en-US" altLang="ko-KR" sz="1600" dirty="0">
                <a:latin typeface="+mn-ea"/>
              </a:rPr>
              <a:t>(KNN)</a:t>
            </a: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en-US" altLang="ko-KR" sz="1600" b="1" dirty="0"/>
              <a:t>2) “</a:t>
            </a:r>
            <a:r>
              <a:rPr lang="ko-KR" altLang="en-US" sz="1600" b="1" dirty="0"/>
              <a:t>문장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문서 유사도 검색” </a:t>
            </a:r>
            <a:r>
              <a:rPr lang="en-US" altLang="ko-KR" sz="1600" b="1" dirty="0"/>
              <a:t>(RAG, FAQ </a:t>
            </a:r>
            <a:r>
              <a:rPr lang="ko-KR" altLang="en-US" sz="1600" b="1" dirty="0" err="1"/>
              <a:t>챗봇</a:t>
            </a:r>
            <a:r>
              <a:rPr lang="en-US" altLang="ko-KR" sz="1600" b="1" dirty="0"/>
              <a:t>)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고객 질문이 들어오면</a:t>
            </a:r>
            <a:r>
              <a:rPr lang="en-US" altLang="ko-KR" sz="1600" dirty="0"/>
              <a:t>, </a:t>
            </a:r>
            <a:r>
              <a:rPr lang="ko-KR" altLang="en-US" sz="1600" dirty="0"/>
              <a:t>기존 </a:t>
            </a:r>
            <a:r>
              <a:rPr lang="en-US" altLang="ko-KR" sz="1600" dirty="0"/>
              <a:t>FAQ/</a:t>
            </a:r>
            <a:r>
              <a:rPr lang="ko-KR" altLang="en-US" sz="1600" dirty="0"/>
              <a:t>문서 중 </a:t>
            </a:r>
            <a:r>
              <a:rPr lang="ko-KR" altLang="en-US" sz="1600" b="1" dirty="0"/>
              <a:t>가장 비슷한 문장</a:t>
            </a:r>
            <a:r>
              <a:rPr lang="ko-KR" altLang="en-US" sz="1600" dirty="0"/>
              <a:t>을 찾아 답변 후보로 제시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방식</a:t>
            </a:r>
            <a:r>
              <a:rPr lang="en-US" altLang="ko-KR" sz="1600" dirty="0"/>
              <a:t>: </a:t>
            </a:r>
            <a:r>
              <a:rPr lang="ko-KR" altLang="en-US" sz="1600" dirty="0"/>
              <a:t>문장을 </a:t>
            </a:r>
            <a:r>
              <a:rPr lang="ko-KR" altLang="en-US" sz="1600" dirty="0" err="1"/>
              <a:t>임베딩</a:t>
            </a:r>
            <a:r>
              <a:rPr lang="ko-KR" altLang="en-US" sz="1600" dirty="0"/>
              <a:t> 벡터로 바꾸고 </a:t>
            </a:r>
            <a:r>
              <a:rPr lang="ko-KR" altLang="en-US" sz="1600" b="1" dirty="0"/>
              <a:t>최근접 문서 </a:t>
            </a:r>
            <a:r>
              <a:rPr lang="en-US" altLang="ko-KR" sz="1600" b="1" dirty="0"/>
              <a:t>K</a:t>
            </a:r>
            <a:r>
              <a:rPr lang="ko-KR" altLang="en-US" sz="1600" b="1" dirty="0"/>
              <a:t>개 검색</a:t>
            </a:r>
            <a:endParaRPr lang="ko-KR" altLang="en-US" sz="1600" dirty="0"/>
          </a:p>
          <a:p>
            <a:pPr>
              <a:lnSpc>
                <a:spcPts val="24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en-US" altLang="ko-KR" sz="1600" b="1" dirty="0"/>
              <a:t>3) </a:t>
            </a:r>
            <a:r>
              <a:rPr lang="ko-KR" altLang="en-US" sz="1600" b="1" dirty="0"/>
              <a:t>추천 시스템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전통적 </a:t>
            </a:r>
            <a:r>
              <a:rPr lang="en-US" altLang="ko-KR" sz="1600" b="1" dirty="0" err="1"/>
              <a:t>kNN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추천</a:t>
            </a:r>
            <a:r>
              <a:rPr lang="en-US" altLang="ko-KR" sz="1600" b="1" dirty="0"/>
              <a:t>)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나와 비슷한 사용자를 찾아서 그 사람들이 좋아한 상품을 추천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또는 “이 상품과 비슷한 </a:t>
            </a:r>
            <a:r>
              <a:rPr lang="ko-KR" altLang="en-US" sz="1600" dirty="0" err="1"/>
              <a:t>상품”을</a:t>
            </a:r>
            <a:r>
              <a:rPr lang="ko-KR" altLang="en-US" sz="1600" dirty="0"/>
              <a:t> 찾아서 추천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/>
              <a:t>예</a:t>
            </a:r>
            <a:r>
              <a:rPr lang="en-US" altLang="ko-KR" sz="1600" dirty="0"/>
              <a:t>)  A </a:t>
            </a:r>
            <a:r>
              <a:rPr lang="ko-KR" altLang="en-US" sz="1600" dirty="0"/>
              <a:t>사용자가 좋아한 목록과 비슷한 사용자를 </a:t>
            </a:r>
            <a:r>
              <a:rPr lang="en-US" altLang="ko-KR" sz="1600" dirty="0"/>
              <a:t>K</a:t>
            </a:r>
            <a:r>
              <a:rPr lang="ko-KR" altLang="en-US" sz="1600" dirty="0"/>
              <a:t>명 찾고 그들이 좋아한 것 중 </a:t>
            </a:r>
            <a:r>
              <a:rPr lang="en-US" altLang="ko-KR" sz="1600" dirty="0"/>
              <a:t>A</a:t>
            </a:r>
            <a:r>
              <a:rPr lang="ko-KR" altLang="en-US" sz="1600" dirty="0"/>
              <a:t>가 안 본 것을 추천</a:t>
            </a:r>
          </a:p>
          <a:p>
            <a:pPr>
              <a:lnSpc>
                <a:spcPts val="24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en-US" altLang="ko-KR" sz="1600" b="1" dirty="0"/>
              <a:t>4) </a:t>
            </a:r>
            <a:r>
              <a:rPr lang="ko-KR" altLang="en-US" sz="1600" b="1" dirty="0"/>
              <a:t>품질 검사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센서 기반 판정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현장형</a:t>
            </a:r>
            <a:r>
              <a:rPr lang="en-US" altLang="ko-KR" sz="1600" b="1" dirty="0"/>
              <a:t>)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/>
              <a:t>온도</a:t>
            </a:r>
            <a:r>
              <a:rPr lang="en-US" altLang="ko-KR" sz="1600" dirty="0"/>
              <a:t>·</a:t>
            </a:r>
            <a:r>
              <a:rPr lang="ko-KR" altLang="en-US" sz="1600" dirty="0"/>
              <a:t>습도</a:t>
            </a:r>
            <a:r>
              <a:rPr lang="en-US" altLang="ko-KR" sz="1600" dirty="0"/>
              <a:t>·</a:t>
            </a:r>
            <a:r>
              <a:rPr lang="ko-KR" altLang="en-US" sz="1600" dirty="0"/>
              <a:t>가스</a:t>
            </a:r>
            <a:r>
              <a:rPr lang="en-US" altLang="ko-KR" sz="1600" dirty="0"/>
              <a:t>·</a:t>
            </a:r>
            <a:r>
              <a:rPr lang="ko-KR" altLang="en-US" sz="1600" dirty="0"/>
              <a:t>진동 같은 </a:t>
            </a:r>
            <a:r>
              <a:rPr lang="ko-KR" altLang="en-US" sz="1600" dirty="0" err="1"/>
              <a:t>센서값으로</a:t>
            </a:r>
            <a:r>
              <a:rPr lang="ko-KR" altLang="en-US" sz="1600" dirty="0"/>
              <a:t> </a:t>
            </a:r>
            <a:r>
              <a:rPr lang="en-US" altLang="ko-KR" sz="1600" dirty="0"/>
              <a:t>OK/NOK</a:t>
            </a:r>
            <a:r>
              <a:rPr lang="ko-KR" altLang="en-US" sz="1600" dirty="0"/>
              <a:t>를 판정할 때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새 측정값이 들어오면 과거 데이터 중 </a:t>
            </a:r>
            <a:r>
              <a:rPr lang="ko-KR" altLang="en-US" sz="1600" b="1" dirty="0"/>
              <a:t>가장 비슷한 </a:t>
            </a:r>
            <a:r>
              <a:rPr lang="en-US" altLang="ko-KR" sz="1600" b="1" dirty="0"/>
              <a:t>K</a:t>
            </a:r>
            <a:r>
              <a:rPr lang="ko-KR" altLang="en-US" sz="1600" b="1" dirty="0"/>
              <a:t>개 상태</a:t>
            </a:r>
            <a:r>
              <a:rPr lang="ko-KR" altLang="en-US" sz="1600" dirty="0"/>
              <a:t>를 찾아서</a:t>
            </a:r>
            <a:br>
              <a:rPr lang="ko-KR" altLang="en-US" sz="1600" dirty="0"/>
            </a:br>
            <a:r>
              <a:rPr lang="ko-KR" altLang="en-US" sz="1600" dirty="0"/>
              <a:t>   “과거에 이 값과 비슷할 때 대부분 불량이었나</a:t>
            </a:r>
            <a:r>
              <a:rPr lang="en-US" altLang="ko-KR" sz="1600" dirty="0"/>
              <a:t>?”</a:t>
            </a:r>
            <a:r>
              <a:rPr lang="ko-KR" altLang="en-US" sz="1600" dirty="0"/>
              <a:t>로 판단</a:t>
            </a:r>
          </a:p>
          <a:p>
            <a:pPr marL="176213" indent="187325">
              <a:lnSpc>
                <a:spcPts val="2400"/>
              </a:lnSpc>
            </a:pP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/>
              <a:t> 특히 </a:t>
            </a:r>
            <a:r>
              <a:rPr lang="ko-KR" altLang="en-US" sz="1600" b="1" dirty="0"/>
              <a:t>데이터가 많지 않거나</a:t>
            </a:r>
            <a:r>
              <a:rPr lang="ko-KR" altLang="en-US" sz="1600" dirty="0"/>
              <a:t> 모델을 복잡하게 만들기 어려울 때 “빠른 </a:t>
            </a:r>
            <a:r>
              <a:rPr lang="ko-KR" altLang="en-US" sz="1600" dirty="0" err="1"/>
              <a:t>베이스라인”으로</a:t>
            </a:r>
            <a:r>
              <a:rPr lang="ko-KR" altLang="en-US" sz="1600" dirty="0"/>
              <a:t> 실제로 사용한다</a:t>
            </a:r>
          </a:p>
          <a:p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8014846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2D81B-2A3E-495C-9A30-522BB070D0B8}"/>
              </a:ext>
            </a:extLst>
          </p:cNvPr>
          <p:cNvSpPr txBox="1"/>
          <p:nvPr/>
        </p:nvSpPr>
        <p:spPr>
          <a:xfrm>
            <a:off x="263352" y="824260"/>
            <a:ext cx="8888910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sklearn.neighbors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KNeighborsClassifier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knn_clf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Pipeline([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"scaler"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StandardScaler()),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거리 기반이므로 스케일링 필수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KNeighborsClassifier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n_neighbors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"KNN (k=5)"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knn_clf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3BEA451-7D54-421C-BCAC-E35C515D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80" y="3461063"/>
            <a:ext cx="57647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>
                <a:ln>
                  <a:noFill/>
                </a:ln>
                <a:solidFill>
                  <a:srgbClr val="0033CC"/>
                </a:solidFill>
                <a:effectLst/>
                <a:latin typeface="Arial Unicode MS"/>
              </a:rPr>
              <a:t>n_neighbors</a:t>
            </a:r>
            <a:r>
              <a:rPr kumimoji="0" lang="ko-KR" altLang="ko-KR" sz="1600" b="1" i="0" u="none" strike="noStrike" cap="none" normalizeH="0" baseline="0">
                <a:ln>
                  <a:noFill/>
                </a:ln>
                <a:solidFill>
                  <a:srgbClr val="0033CC"/>
                </a:solidFill>
                <a:effectLst/>
              </a:rPr>
              <a:t>를 1, 3, 5, 11 등으로 바꿔보고 성능 변화 비교 </a:t>
            </a:r>
            <a:endParaRPr kumimoji="0" lang="ko-KR" altLang="ko-KR" sz="1600" b="1" i="0" u="none" strike="noStrike" cap="none" normalizeH="0" baseline="0">
              <a:ln>
                <a:noFill/>
              </a:ln>
              <a:solidFill>
                <a:srgbClr val="0033CC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2E51DE-4601-479C-B654-39101FBE6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508" y="2726581"/>
            <a:ext cx="4220164" cy="4086795"/>
          </a:xfrm>
          <a:prstGeom prst="rect">
            <a:avLst/>
          </a:prstGeom>
          <a:ln w="254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708188784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B1A8D-9C86-43BC-B620-7E87CB6B9A95}"/>
              </a:ext>
            </a:extLst>
          </p:cNvPr>
          <p:cNvSpPr txBox="1"/>
          <p:nvPr/>
        </p:nvSpPr>
        <p:spPr>
          <a:xfrm>
            <a:off x="335360" y="836712"/>
            <a:ext cx="11737304" cy="431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2400" b="1" dirty="0">
                <a:solidFill>
                  <a:srgbClr val="0033CC"/>
                </a:solidFill>
                <a:latin typeface="+mn-ea"/>
              </a:rPr>
              <a:t>SVM</a:t>
            </a:r>
            <a:r>
              <a:rPr lang="ko-KR" altLang="en-US" sz="2400" b="1" dirty="0">
                <a:solidFill>
                  <a:srgbClr val="0033CC"/>
                </a:solidFill>
                <a:latin typeface="+mn-ea"/>
              </a:rPr>
              <a:t>의 핵심 아이디어 </a:t>
            </a:r>
            <a:r>
              <a:rPr lang="en-US" altLang="ko-KR" sz="2400" b="1" dirty="0">
                <a:solidFill>
                  <a:srgbClr val="0033CC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2400" b="1" dirty="0">
                <a:solidFill>
                  <a:srgbClr val="0033CC"/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rgbClr val="0033CC"/>
                </a:solidFill>
                <a:latin typeface="+mn-ea"/>
              </a:rPr>
              <a:t>가장 넓은 마진을 확보하는 선</a:t>
            </a:r>
            <a:br>
              <a:rPr lang="en-US" altLang="ko-KR" sz="2400" b="1" dirty="0">
                <a:solidFill>
                  <a:srgbClr val="0033CC"/>
                </a:solidFill>
                <a:latin typeface="+mn-ea"/>
              </a:rPr>
            </a:br>
            <a:endParaRPr lang="ko-KR" altLang="en-US" sz="2400" b="1" dirty="0">
              <a:solidFill>
                <a:srgbClr val="0033CC"/>
              </a:solidFill>
              <a:latin typeface="+mn-ea"/>
            </a:endParaRPr>
          </a:p>
          <a:p>
            <a:pPr>
              <a:lnSpc>
                <a:spcPts val="3100"/>
              </a:lnSpc>
            </a:pPr>
            <a:r>
              <a:rPr lang="ko-KR" altLang="en-US" dirty="0">
                <a:latin typeface="+mn-ea"/>
              </a:rPr>
              <a:t>  온도</a:t>
            </a:r>
            <a:r>
              <a:rPr lang="en-US" altLang="ko-KR" dirty="0">
                <a:latin typeface="+mn-ea"/>
              </a:rPr>
              <a:t>(temp)</a:t>
            </a:r>
            <a:r>
              <a:rPr lang="ko-KR" altLang="en-US" dirty="0">
                <a:latin typeface="+mn-ea"/>
              </a:rPr>
              <a:t>와 습도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humi</a:t>
            </a:r>
            <a:r>
              <a:rPr lang="en-US" altLang="ko-KR" dirty="0">
                <a:latin typeface="+mn-ea"/>
              </a:rPr>
              <a:t>) 2D </a:t>
            </a:r>
            <a:r>
              <a:rPr lang="ko-KR" altLang="en-US" dirty="0">
                <a:latin typeface="+mn-ea"/>
              </a:rPr>
              <a:t>평면에서 </a:t>
            </a:r>
            <a:r>
              <a:rPr lang="en-US" altLang="ko-KR" dirty="0">
                <a:latin typeface="+mn-ea"/>
              </a:rPr>
              <a:t>OK/NOK </a:t>
            </a:r>
            <a:r>
              <a:rPr lang="ko-KR" altLang="en-US" dirty="0">
                <a:latin typeface="+mn-ea"/>
              </a:rPr>
              <a:t>점들이 섞여 있을 때</a:t>
            </a:r>
            <a:r>
              <a:rPr lang="en-US" altLang="ko-KR" dirty="0">
                <a:latin typeface="+mn-ea"/>
              </a:rPr>
              <a:t>, 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선 하나로 경계선을 나누려면 선을 어디에 그릴까</a:t>
            </a:r>
            <a:r>
              <a:rPr lang="en-US" altLang="ko-KR" dirty="0">
                <a:latin typeface="+mn-ea"/>
              </a:rPr>
              <a:t>?</a:t>
            </a:r>
          </a:p>
          <a:p>
            <a:pPr>
              <a:lnSpc>
                <a:spcPts val="3100"/>
              </a:lnSpc>
            </a:pP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SVM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은 </a:t>
            </a:r>
            <a:endParaRPr lang="en-US" altLang="ko-KR" b="1" dirty="0">
              <a:solidFill>
                <a:srgbClr val="0033CC"/>
              </a:solidFill>
              <a:latin typeface="+mn-ea"/>
            </a:endParaRPr>
          </a:p>
          <a:p>
            <a:pPr marL="176213" indent="187325">
              <a:lnSpc>
                <a:spcPts val="3100"/>
              </a:lnSpc>
              <a:buFont typeface="+mj-lt"/>
              <a:buAutoNum type="arabicPeriod"/>
            </a:pPr>
            <a:r>
              <a:rPr lang="en-US" altLang="ko-KR" dirty="0">
                <a:latin typeface="+mn-ea"/>
              </a:rPr>
              <a:t> OK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NOK </a:t>
            </a:r>
            <a:r>
              <a:rPr lang="ko-KR" altLang="en-US" dirty="0">
                <a:latin typeface="+mn-ea"/>
              </a:rPr>
              <a:t>사이에 경계선을 하나 그린다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3100"/>
              </a:lnSpc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 그 경계선에서 </a:t>
            </a:r>
            <a:r>
              <a:rPr lang="ko-KR" altLang="en-US" b="1" dirty="0">
                <a:latin typeface="+mn-ea"/>
              </a:rPr>
              <a:t>가장 가까운 </a:t>
            </a:r>
            <a:r>
              <a:rPr lang="en-US" altLang="ko-KR" b="1" dirty="0">
                <a:latin typeface="+mn-ea"/>
              </a:rPr>
              <a:t>OK </a:t>
            </a:r>
            <a:r>
              <a:rPr lang="ko-KR" altLang="en-US" b="1" dirty="0">
                <a:latin typeface="+mn-ea"/>
              </a:rPr>
              <a:t>점</a:t>
            </a:r>
            <a:r>
              <a:rPr lang="ko-KR" altLang="en-US" dirty="0">
                <a:latin typeface="+mn-ea"/>
              </a:rPr>
              <a:t>과 </a:t>
            </a:r>
            <a:r>
              <a:rPr lang="ko-KR" altLang="en-US" b="1" dirty="0">
                <a:latin typeface="+mn-ea"/>
              </a:rPr>
              <a:t>가장 가까운 </a:t>
            </a:r>
            <a:r>
              <a:rPr lang="en-US" altLang="ko-KR" b="1" dirty="0">
                <a:latin typeface="+mn-ea"/>
              </a:rPr>
              <a:t>NOK </a:t>
            </a:r>
            <a:r>
              <a:rPr lang="ko-KR" altLang="en-US" b="1" dirty="0">
                <a:latin typeface="+mn-ea"/>
              </a:rPr>
              <a:t>점</a:t>
            </a:r>
            <a:r>
              <a:rPr lang="ko-KR" altLang="en-US" dirty="0">
                <a:latin typeface="+mn-ea"/>
              </a:rPr>
              <a:t>을 찾는다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3100"/>
              </a:lnSpc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 그 가장 가까운 </a:t>
            </a:r>
            <a:r>
              <a:rPr lang="ko-KR" altLang="en-US" dirty="0" err="1">
                <a:latin typeface="+mn-ea"/>
              </a:rPr>
              <a:t>점들과의</a:t>
            </a:r>
            <a:r>
              <a:rPr lang="ko-KR" altLang="en-US" dirty="0">
                <a:latin typeface="+mn-ea"/>
              </a:rPr>
              <a:t> 거리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마진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 </a:t>
            </a:r>
            <a:r>
              <a:rPr lang="ko-KR" altLang="en-US" b="1" dirty="0">
                <a:latin typeface="+mn-ea"/>
              </a:rPr>
              <a:t>최대</a:t>
            </a:r>
            <a:r>
              <a:rPr lang="ko-KR" altLang="en-US" dirty="0">
                <a:latin typeface="+mn-ea"/>
              </a:rPr>
              <a:t>가 되도록 경계선을 잡는다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3100"/>
              </a:lnSpc>
            </a:pPr>
            <a:r>
              <a:rPr lang="ko-KR" altLang="en-US" dirty="0">
                <a:latin typeface="+mn-ea"/>
              </a:rPr>
              <a:t>왜냐면 마진이 넓을수록</a:t>
            </a:r>
          </a:p>
          <a:p>
            <a:pPr marL="363538" indent="176213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약간의 노이즈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센서 튐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측정 오차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 있어도</a:t>
            </a:r>
          </a:p>
          <a:p>
            <a:pPr marL="363538" indent="176213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분류가 쉽게 뒤집히지 않아서 </a:t>
            </a:r>
            <a:r>
              <a:rPr lang="ko-KR" altLang="en-US" b="1" dirty="0">
                <a:latin typeface="+mn-ea"/>
              </a:rPr>
              <a:t>일반화가 잘 되기</a:t>
            </a:r>
            <a:r>
              <a:rPr lang="ko-KR" altLang="en-US" dirty="0">
                <a:latin typeface="+mn-ea"/>
              </a:rPr>
              <a:t> 때문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598564"/>
      </p:ext>
    </p:extLst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6949AE-EA54-4246-9136-1149A1EC7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32" y="908720"/>
            <a:ext cx="7593335" cy="566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73243"/>
      </p:ext>
    </p:extLst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1CEEBD1-9845-478E-92E0-552BC3389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908720"/>
            <a:ext cx="8136904" cy="3549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(서포트 벡터)란?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경계선을 결정하는 데 핵심이 되는 점들, 즉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경계선에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가장 가까이 붙어 있는 몇 개의 데이터 점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점들을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서포트 벡터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라고 부릅니다.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중요한 성질:</a:t>
            </a:r>
          </a:p>
          <a:p>
            <a:pPr marL="176213" marR="0" lvl="0" indent="276225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경계는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대부분의 점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아니라</a:t>
            </a:r>
          </a:p>
          <a:p>
            <a:pPr marL="176213" marR="0" lvl="0" indent="276225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서포트 벡터(경계 근처 점)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몇 개에 의해 결정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272386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2D7C099-9926-411E-AAA8-B0A0FEFC1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32" y="908720"/>
            <a:ext cx="8259615" cy="579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2862"/>
      </p:ext>
    </p:extLst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49A3C-004E-4569-BCB8-5147972826D1}"/>
              </a:ext>
            </a:extLst>
          </p:cNvPr>
          <p:cNvSpPr txBox="1"/>
          <p:nvPr/>
        </p:nvSpPr>
        <p:spPr>
          <a:xfrm>
            <a:off x="191344" y="980728"/>
            <a:ext cx="12000656" cy="423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AutoNum type="arabicParenR"/>
            </a:pPr>
            <a:r>
              <a:rPr lang="ko-KR" altLang="en-US" b="1" dirty="0">
                <a:latin typeface="+mn-ea"/>
              </a:rPr>
              <a:t>선형 </a:t>
            </a:r>
            <a:r>
              <a:rPr lang="en-US" altLang="ko-KR" b="1" dirty="0">
                <a:latin typeface="+mn-ea"/>
              </a:rPr>
              <a:t>SVM</a:t>
            </a:r>
            <a:r>
              <a:rPr lang="ko-KR" altLang="en-US" b="1" dirty="0">
                <a:latin typeface="+mn-ea"/>
              </a:rPr>
              <a:t>의 </a:t>
            </a:r>
            <a:r>
              <a:rPr lang="ko-KR" altLang="en-US" b="1" dirty="0" err="1">
                <a:latin typeface="+mn-ea"/>
              </a:rPr>
              <a:t>경계식</a:t>
            </a:r>
            <a:br>
              <a:rPr lang="en-US" altLang="ko-KR" b="1" dirty="0">
                <a:latin typeface="+mn-ea"/>
              </a:rPr>
            </a:br>
            <a:endParaRPr lang="en-US" altLang="ko-KR" b="1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sz="2400" b="1" dirty="0">
                <a:latin typeface="+mn-ea"/>
              </a:rPr>
              <a:t>    </a:t>
            </a:r>
            <a:r>
              <a:rPr lang="en-US" altLang="ko-K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altLang="ko-KR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US" altLang="ko-K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x+b=0</a:t>
            </a:r>
            <a:br>
              <a:rPr lang="en-US" altLang="ko-KR" b="1" dirty="0">
                <a:latin typeface="+mn-ea"/>
              </a:rPr>
            </a:br>
            <a:endParaRPr lang="en-US" altLang="ko-KR" dirty="0">
              <a:latin typeface="+mn-ea"/>
            </a:endParaRPr>
          </a:p>
          <a:p>
            <a:pPr marL="452438" marR="0" lvl="0" indent="263525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x: 입력(예: [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temp,humi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]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2438" marR="0" lvl="0" indent="263525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w: 경계선의 방향(기울기 역할)</a:t>
            </a:r>
          </a:p>
          <a:p>
            <a:pPr marL="452438" marR="0" lvl="0" indent="263525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b: 위치(절편 역할)</a:t>
            </a:r>
          </a:p>
          <a:p>
            <a:pPr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b="1" dirty="0">
                <a:latin typeface="+mn-ea"/>
              </a:rPr>
              <a:t>2) </a:t>
            </a:r>
            <a:r>
              <a:rPr lang="ko-KR" altLang="en-US" b="1" dirty="0">
                <a:latin typeface="+mn-ea"/>
              </a:rPr>
              <a:t>마진 최대화가 의미하는 것</a:t>
            </a:r>
          </a:p>
          <a:p>
            <a:pPr marL="265113">
              <a:lnSpc>
                <a:spcPts val="2500"/>
              </a:lnSpc>
            </a:pPr>
            <a:r>
              <a:rPr lang="en-US" altLang="ko-KR" dirty="0">
                <a:latin typeface="+mn-ea"/>
              </a:rPr>
              <a:t>SVM</a:t>
            </a:r>
            <a:r>
              <a:rPr lang="ko-KR" altLang="en-US" dirty="0">
                <a:latin typeface="+mn-ea"/>
              </a:rPr>
              <a:t> 목표</a:t>
            </a:r>
            <a:endParaRPr lang="en-US" altLang="ko-KR" dirty="0">
              <a:latin typeface="+mn-ea"/>
            </a:endParaRPr>
          </a:p>
          <a:p>
            <a:pPr marL="265113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 w</a:t>
            </a:r>
            <a:r>
              <a:rPr lang="ko-KR" altLang="en-US" b="1" dirty="0">
                <a:latin typeface="+mn-ea"/>
              </a:rPr>
              <a:t>가 너무 커지지 않게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경계가 너무 급해지지 않게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하면서</a:t>
            </a:r>
          </a:p>
          <a:p>
            <a:pPr marL="265113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 데이터를 잘 구분하도록 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265113">
              <a:lnSpc>
                <a:spcPts val="2500"/>
              </a:lnSpc>
            </a:pPr>
            <a:r>
              <a:rPr lang="en-US" altLang="ko-KR" dirty="0">
                <a:latin typeface="+mn-ea"/>
              </a:rPr>
              <a:t>  (</a:t>
            </a:r>
            <a:r>
              <a:rPr lang="ko-KR" altLang="en-US" dirty="0">
                <a:latin typeface="+mn-ea"/>
              </a:rPr>
              <a:t>엄밀한 최적화는 조금 복잡하지만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핵심은 마진 크게 </a:t>
            </a:r>
            <a:r>
              <a:rPr lang="en-US" altLang="ko-KR" dirty="0">
                <a:latin typeface="+mn-ea"/>
              </a:rPr>
              <a:t>= </a:t>
            </a:r>
            <a:r>
              <a:rPr lang="ko-KR" altLang="en-US" dirty="0">
                <a:latin typeface="+mn-ea"/>
              </a:rPr>
              <a:t>안정적이다</a:t>
            </a:r>
            <a:r>
              <a:rPr lang="en-US" altLang="ko-KR" dirty="0">
                <a:latin typeface="+mn-ea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931148516"/>
      </p:ext>
    </p:extLst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: </a:t>
            </a:r>
            <a:r>
              <a:rPr lang="ko-KR" altLang="en-US" sz="2000" b="1" dirty="0">
                <a:solidFill>
                  <a:schemeClr val="tx1"/>
                </a:solidFill>
              </a:rPr>
              <a:t>비선형 </a:t>
            </a:r>
            <a:r>
              <a:rPr lang="en-US" altLang="ko-KR" sz="2000" b="1" dirty="0">
                <a:solidFill>
                  <a:schemeClr val="tx1"/>
                </a:solidFill>
              </a:rPr>
              <a:t>SVM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10FB4C-86DA-4B06-A455-9E800D847DF3}"/>
              </a:ext>
            </a:extLst>
          </p:cNvPr>
          <p:cNvSpPr txBox="1"/>
          <p:nvPr/>
        </p:nvSpPr>
        <p:spPr>
          <a:xfrm>
            <a:off x="191344" y="908720"/>
            <a:ext cx="11377264" cy="4211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데이터가 직선으로 도저히 안 나뉘면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?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+mn-ea"/>
              </a:rPr>
              <a:t>SVM</a:t>
            </a:r>
            <a:r>
              <a:rPr lang="ko-KR" altLang="en-US" dirty="0">
                <a:latin typeface="+mn-ea"/>
              </a:rPr>
              <a:t>은 공간을 바꿔서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더 높은 차원으로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직선으로 나눌 수 있게 하자라는 아이디어 사용</a:t>
            </a:r>
            <a:r>
              <a:rPr lang="en-US" altLang="ko-KR" dirty="0">
                <a:latin typeface="+mn-ea"/>
              </a:rPr>
              <a:t>.</a:t>
            </a: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</a:t>
            </a:r>
            <a:r>
              <a:rPr lang="ko-KR" altLang="en-US" dirty="0">
                <a:latin typeface="+mn-ea"/>
              </a:rPr>
              <a:t>이때 사용하는 기술이 </a:t>
            </a:r>
            <a:r>
              <a:rPr lang="ko-KR" altLang="en-US" b="1" dirty="0">
                <a:latin typeface="+mn-ea"/>
              </a:rPr>
              <a:t>커널</a:t>
            </a:r>
            <a:r>
              <a:rPr lang="en-US" altLang="ko-KR" b="1" dirty="0">
                <a:latin typeface="+mn-ea"/>
              </a:rPr>
              <a:t>(kernel)</a:t>
            </a:r>
            <a:endParaRPr lang="en-US" altLang="ko-KR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ko-KR" altLang="en-US" dirty="0">
                <a:latin typeface="+mn-ea"/>
              </a:rPr>
              <a:t>  대표 커널</a:t>
            </a:r>
            <a:r>
              <a:rPr lang="en-US" altLang="ko-KR" dirty="0">
                <a:latin typeface="+mn-ea"/>
              </a:rPr>
              <a:t>: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Linear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빠르고 해석 쉬움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기본</a:t>
            </a:r>
            <a:r>
              <a:rPr lang="en-US" altLang="ko-KR" dirty="0">
                <a:latin typeface="+mn-ea"/>
              </a:rPr>
              <a:t>)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RBF(</a:t>
            </a:r>
            <a:r>
              <a:rPr lang="ko-KR" altLang="en-US" b="1" dirty="0" err="1">
                <a:latin typeface="+mn-ea"/>
              </a:rPr>
              <a:t>가우시안</a:t>
            </a:r>
            <a:r>
              <a:rPr lang="en-US" altLang="ko-KR" b="1" dirty="0">
                <a:latin typeface="+mn-ea"/>
              </a:rPr>
              <a:t>)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가장 많이 쓰는 비선형 커널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성능 잘 나옴</a:t>
            </a:r>
            <a:r>
              <a:rPr lang="en-US" altLang="ko-KR" dirty="0">
                <a:latin typeface="+mn-ea"/>
              </a:rPr>
              <a:t>)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Polynomial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다항식 형태의 비선형</a:t>
            </a:r>
            <a:endParaRPr lang="en-US" altLang="ko-KR" dirty="0">
              <a:latin typeface="+mn-ea"/>
            </a:endParaRP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ko-KR" altLang="en-US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dirty="0">
                <a:latin typeface="+mn-ea"/>
              </a:rPr>
              <a:t>RBF</a:t>
            </a:r>
            <a:r>
              <a:rPr lang="ko-KR" altLang="en-US" dirty="0">
                <a:latin typeface="+mn-ea"/>
              </a:rPr>
              <a:t>에서 자주 나오는 파라미터가 </a:t>
            </a:r>
            <a:r>
              <a:rPr lang="en-US" altLang="ko-KR" b="1" dirty="0">
                <a:latin typeface="+mn-ea"/>
              </a:rPr>
              <a:t>gamma(γ)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gamma</a:t>
            </a:r>
            <a:r>
              <a:rPr lang="ko-KR" altLang="en-US" b="1" dirty="0">
                <a:latin typeface="+mn-ea"/>
              </a:rPr>
              <a:t>가 크면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영향 범위가 </a:t>
            </a:r>
            <a:r>
              <a:rPr lang="ko-KR" altLang="en-US" dirty="0" err="1">
                <a:latin typeface="+mn-ea"/>
              </a:rPr>
              <a:t>좁아짐</a:t>
            </a:r>
            <a:r>
              <a:rPr lang="ko-KR" altLang="en-US" dirty="0">
                <a:latin typeface="+mn-ea"/>
              </a:rPr>
              <a:t> → 아주 구불구불하게 맞춤 → 과적합 위험↑</a:t>
            </a:r>
          </a:p>
          <a:p>
            <a:pPr marL="176213" indent="1873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gamma</a:t>
            </a:r>
            <a:r>
              <a:rPr lang="ko-KR" altLang="en-US" b="1" dirty="0">
                <a:latin typeface="+mn-ea"/>
              </a:rPr>
              <a:t>가 작으면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영향 범위가 넓어짐 → 더 매끈하게 → 과소적합 가능</a:t>
            </a:r>
          </a:p>
        </p:txBody>
      </p:sp>
    </p:spTree>
    <p:extLst>
      <p:ext uri="{BB962C8B-B14F-4D97-AF65-F5344CB8AC3E}">
        <p14:creationId xmlns:p14="http://schemas.microsoft.com/office/powerpoint/2010/main" val="731608244"/>
      </p:ext>
    </p:extLst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: </a:t>
            </a:r>
            <a:r>
              <a:rPr lang="ko-KR" altLang="en-US" sz="2000" b="1" dirty="0">
                <a:solidFill>
                  <a:schemeClr val="tx1"/>
                </a:solidFill>
              </a:rPr>
              <a:t>비선형 </a:t>
            </a:r>
            <a:r>
              <a:rPr lang="en-US" altLang="ko-KR" sz="2000" b="1" dirty="0">
                <a:solidFill>
                  <a:schemeClr val="tx1"/>
                </a:solidFill>
              </a:rPr>
              <a:t>SVM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F1368C7-C5B3-42B8-AF5C-94ABC4C72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875885"/>
            <a:ext cx="9502922" cy="37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커널(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kernel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) 트릭: “직선으로 못 나누면, 비교 방법을 바꾼다”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rgbClr val="0033CC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0033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선형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원래 이렇게 생각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좌표(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)에서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직선(2D)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또는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평면(3D)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같은 “선형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경계”로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나누자.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그런데 데이터가 원형(도넛),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XOR처럼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생기면 직선으로는 못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나눕다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Arial" panose="020B0604020202020204" pitchFamily="34" charset="0"/>
              </a:rPr>
              <a:t>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그래서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이런 경우에는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발상을 바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좌표를 직접 바꾸는 대신, 두 점이 얼마나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비슷한지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(유사도)를 계산하는 방식을 바꾸자.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Arial" panose="020B0604020202020204" pitchFamily="34" charset="0"/>
              </a:rPr>
              <a:t>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이때 “유사도 계산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공식”이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커널 함수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</p:txBody>
      </p:sp>
    </p:spTree>
    <p:extLst>
      <p:ext uri="{BB962C8B-B14F-4D97-AF65-F5344CB8AC3E}">
        <p14:creationId xmlns:p14="http://schemas.microsoft.com/office/powerpoint/2010/main" val="2992919837"/>
      </p:ext>
    </p:extLst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: </a:t>
            </a:r>
            <a:r>
              <a:rPr lang="ko-KR" altLang="en-US" sz="2000" b="1" dirty="0">
                <a:solidFill>
                  <a:schemeClr val="tx1"/>
                </a:solidFill>
              </a:rPr>
              <a:t>비선형 </a:t>
            </a:r>
            <a:r>
              <a:rPr lang="en-US" altLang="ko-KR" sz="2000" b="1" dirty="0">
                <a:solidFill>
                  <a:schemeClr val="tx1"/>
                </a:solidFill>
              </a:rPr>
              <a:t>SVM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12501FE-7C54-4305-8A19-86BAF2E31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836712"/>
            <a:ext cx="11521280" cy="362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2) RBF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Radial</a:t>
            </a:r>
            <a:r>
              <a:rPr lang="ko-KR" altLang="en-US" b="1" dirty="0">
                <a:solidFill>
                  <a:srgbClr val="0033CC"/>
                </a:solidFill>
                <a:latin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Basis</a:t>
            </a:r>
            <a:r>
              <a:rPr lang="ko-KR" altLang="en-US" b="1" dirty="0">
                <a:solidFill>
                  <a:srgbClr val="0033CC"/>
                </a:solidFill>
                <a:latin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Function, </a:t>
            </a:r>
            <a:r>
              <a:rPr lang="ko-KR" altLang="en-US" b="1" dirty="0">
                <a:solidFill>
                  <a:srgbClr val="0033CC"/>
                </a:solidFill>
                <a:latin typeface="Arial" panose="020B0604020202020204" pitchFamily="34" charset="0"/>
              </a:rPr>
              <a:t>방사 기저 함수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)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 커널은 거리를 유사도로 바꾸는 함수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RBF(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가우시안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커널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식은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K(x,x</a:t>
            </a:r>
            <a:r>
              <a:rPr kumimoji="0" lang="ko-KR" altLang="ko-KR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(−γ∥x−xi∥</a:t>
            </a:r>
            <a:r>
              <a:rPr kumimoji="0" lang="ko-KR" altLang="ko-KR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∥x−xi∥</a:t>
            </a:r>
            <a:r>
              <a:rPr kumimoji="0" lang="ko-KR" altLang="ko-KR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ko-KR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두 점 사이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거리(제곱거리)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⁡(−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something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거리가 멀어질수록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0에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가까워짐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즉,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가까우면 1에 가깝고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멀면 0에 가까운 유사도 점수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RBF 커널 = “두 점이 가까우면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비슷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(1), 멀면 다름(0)”을 만들어주는 유사도 함수</a:t>
            </a:r>
          </a:p>
        </p:txBody>
      </p:sp>
    </p:spTree>
    <p:extLst>
      <p:ext uri="{BB962C8B-B14F-4D97-AF65-F5344CB8AC3E}">
        <p14:creationId xmlns:p14="http://schemas.microsoft.com/office/powerpoint/2010/main" val="1474194452"/>
      </p:ext>
    </p:extLst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 : </a:t>
            </a:r>
            <a:r>
              <a:rPr lang="ko-KR" altLang="en-US" sz="2000" b="1" dirty="0">
                <a:solidFill>
                  <a:schemeClr val="tx1"/>
                </a:solidFill>
              </a:rPr>
              <a:t>사용 분야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DD82F62-BF20-483A-B55F-26BB0812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908720"/>
            <a:ext cx="10297144" cy="423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텍스트 분류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(스팸메일, 감성분석, 문서 분류)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선형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여전히 강력한 베이스라인인 경우가 많다.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생명과학/의료 데이터(표형, 고차원)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 유전자 발현 데이터로 질병/정상 분류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샘플 수는 적고 차원은 큰 데이터에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잘 맞는 경우가 있다.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제조/센서 기반 품질 판정(피처 기반)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진동/온도/전류/압력 등에서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특징값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(평균, RMS, FFT 피크 등)을 뽑아 분류할 때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데이터가 중간 규모이고 경계가 복잡하면 RBF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강할 때가 있다.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이상탐지(One-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SVM)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불량 데이터가 거의 없고 “정상만 잔뜩” 있을 때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정상 영역을 학습해 벗어나면 이상으로 보는 방식이 실무에서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B6597EB-A79C-4E3C-93F6-B0CD71A39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5301208"/>
            <a:ext cx="6433492" cy="107721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데이터가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수천~수만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수준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입력이 이미지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아니라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특징값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정리된 표 데이터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선형이 애매하고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비선형 경계가 필요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성능과 안정성을 빠르게 확보하고 싶음</a:t>
            </a:r>
          </a:p>
        </p:txBody>
      </p:sp>
    </p:spTree>
    <p:extLst>
      <p:ext uri="{BB962C8B-B14F-4D97-AF65-F5344CB8AC3E}">
        <p14:creationId xmlns:p14="http://schemas.microsoft.com/office/powerpoint/2010/main" val="2480952259"/>
      </p:ext>
    </p:extLst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858C8-0593-2F20-F6B7-FD2CFABF1F2A}"/>
              </a:ext>
            </a:extLst>
          </p:cNvPr>
          <p:cNvSpPr txBox="1"/>
          <p:nvPr/>
        </p:nvSpPr>
        <p:spPr>
          <a:xfrm>
            <a:off x="165984" y="675530"/>
            <a:ext cx="7416824" cy="28546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sklearn.svm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SVC</a:t>
            </a:r>
          </a:p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Pipeline([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"scaler"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StandardScaler()),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SVC(kernel=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rbf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gamma=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"SVM (RBF kernel)"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AAFE74-F596-4E77-AEBD-4B72D19C8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639" y="2348880"/>
            <a:ext cx="4586361" cy="4503537"/>
          </a:xfrm>
          <a:prstGeom prst="rect">
            <a:avLst/>
          </a:prstGeom>
          <a:ln w="3492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930444981"/>
      </p:ext>
    </p:extLst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ko-KR" altLang="en-US" sz="3200" b="1" dirty="0">
                <a:latin typeface="+mn-ea"/>
              </a:rPr>
              <a:t>현장에서 자주 사용하는 다른 모델들</a:t>
            </a:r>
            <a:r>
              <a:rPr lang="en-US" altLang="ko-KR" sz="3200" b="1" dirty="0">
                <a:latin typeface="+mn-ea"/>
              </a:rPr>
              <a:t>.</a:t>
            </a:r>
            <a:endParaRPr lang="ko-KR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9658123"/>
      </p:ext>
    </p:extLst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chemeClr val="tx1"/>
                </a:solidFill>
              </a:rPr>
              <a:t>종류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ko-KR" altLang="en-US" sz="2000" b="1" dirty="0"/>
              <a:t>트리 기반 부스팅 계열</a:t>
            </a:r>
          </a:p>
        </p:txBody>
      </p:sp>
      <p:graphicFrame>
        <p:nvGraphicFramePr>
          <p:cNvPr id="8" name="표 10">
            <a:extLst>
              <a:ext uri="{FF2B5EF4-FFF2-40B4-BE49-F238E27FC236}">
                <a16:creationId xmlns:a16="http://schemas.microsoft.com/office/drawing/2014/main" id="{2A15523D-DFA5-4430-8DE4-1E7D461C4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70560"/>
              </p:ext>
            </p:extLst>
          </p:nvPr>
        </p:nvGraphicFramePr>
        <p:xfrm>
          <a:off x="1019436" y="1142614"/>
          <a:ext cx="10153128" cy="208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236">
                  <a:extLst>
                    <a:ext uri="{9D8B030D-6E8A-4147-A177-3AD203B41FA5}">
                      <a16:colId xmlns:a16="http://schemas.microsoft.com/office/drawing/2014/main" val="3851742667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446840795"/>
                    </a:ext>
                  </a:extLst>
                </a:gridCol>
                <a:gridCol w="5580620">
                  <a:extLst>
                    <a:ext uri="{9D8B030D-6E8A-4147-A177-3AD203B41FA5}">
                      <a16:colId xmlns:a16="http://schemas.microsoft.com/office/drawing/2014/main" val="1731257107"/>
                    </a:ext>
                  </a:extLst>
                </a:gridCol>
              </a:tblGrid>
              <a:tr h="5220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모델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240432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ea"/>
                          <a:ea typeface="+mn-ea"/>
                        </a:rP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+mn-ea"/>
                          <a:ea typeface="+mn-ea"/>
                        </a:rPr>
                        <a:t>캐글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 대회 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위 단골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속도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성능 균형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355971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LightGBM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+mn-ea"/>
                          <a:ea typeface="+mn-ea"/>
                        </a:rPr>
                        <a:t>lightgbm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+mn-ea"/>
                          <a:ea typeface="+mn-ea"/>
                        </a:rPr>
                        <a:t>대용량 데이터에 매우 빠름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메모리 효율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145282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CatBoost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+mn-ea"/>
                          <a:ea typeface="+mn-ea"/>
                        </a:rPr>
                        <a:t>catboost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+mn-ea"/>
                          <a:ea typeface="+mn-ea"/>
                        </a:rPr>
                        <a:t>범주형 변수 자동 처리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튜닝 적게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784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125806"/>
      </p:ext>
    </p:extLst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chemeClr val="tx1"/>
                </a:solidFill>
              </a:rPr>
              <a:t>종류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ko-KR" altLang="en-US" sz="2000" b="1" dirty="0"/>
              <a:t>딥러닝 계열</a:t>
            </a:r>
          </a:p>
        </p:txBody>
      </p:sp>
      <p:graphicFrame>
        <p:nvGraphicFramePr>
          <p:cNvPr id="8" name="표 10">
            <a:extLst>
              <a:ext uri="{FF2B5EF4-FFF2-40B4-BE49-F238E27FC236}">
                <a16:creationId xmlns:a16="http://schemas.microsoft.com/office/drawing/2014/main" id="{2A15523D-DFA5-4430-8DE4-1E7D461C4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06500"/>
              </p:ext>
            </p:extLst>
          </p:nvPr>
        </p:nvGraphicFramePr>
        <p:xfrm>
          <a:off x="1019436" y="1142614"/>
          <a:ext cx="10153128" cy="3222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276">
                  <a:extLst>
                    <a:ext uri="{9D8B030D-6E8A-4147-A177-3AD203B41FA5}">
                      <a16:colId xmlns:a16="http://schemas.microsoft.com/office/drawing/2014/main" val="385174266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446840795"/>
                    </a:ext>
                  </a:extLst>
                </a:gridCol>
                <a:gridCol w="4572508">
                  <a:extLst>
                    <a:ext uri="{9D8B030D-6E8A-4147-A177-3AD203B41FA5}">
                      <a16:colId xmlns:a16="http://schemas.microsoft.com/office/drawing/2014/main" val="1731257107"/>
                    </a:ext>
                  </a:extLst>
                </a:gridCol>
              </a:tblGrid>
              <a:tr h="671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모델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적합한 상황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240432"/>
                  </a:ext>
                </a:extLst>
              </a:tr>
              <a:tr h="671010"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+mn-ea"/>
                          <a:ea typeface="+mn-ea"/>
                        </a:rPr>
                        <a:t>MLP (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다층 퍼셉트론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PyTorch, TensorFlow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+mn-ea"/>
                          <a:ea typeface="+mn-ea"/>
                        </a:rPr>
                        <a:t>복잡한 비선형 패턴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355971"/>
                  </a:ext>
                </a:extLst>
              </a:tr>
              <a:tr h="470118"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PyTorch, TensorFlow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+mn-ea"/>
                          <a:ea typeface="+mn-ea"/>
                        </a:rPr>
                        <a:t>이미지 불량 검사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145282"/>
                  </a:ext>
                </a:extLst>
              </a:tr>
              <a:tr h="470118"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LSTM / 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PyTorch, TensorFlow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+mn-ea"/>
                          <a:ea typeface="+mn-ea"/>
                        </a:rPr>
                        <a:t>시계열 센서 데이터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571739"/>
                  </a:ext>
                </a:extLst>
              </a:tr>
              <a:tr h="470118"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PyTorch, HuggingFace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+mn-ea"/>
                          <a:ea typeface="+mn-ea"/>
                        </a:rPr>
                        <a:t>복잡한 시계열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자연어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784249"/>
                  </a:ext>
                </a:extLst>
              </a:tr>
              <a:tr h="470118"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Autoencoder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PyTorch, TensorFlow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+mn-ea"/>
                          <a:ea typeface="+mn-ea"/>
                        </a:rPr>
                        <a:t>이상 탐지 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정상만 학습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57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47037"/>
      </p:ext>
    </p:extLst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chemeClr val="tx1"/>
                </a:solidFill>
              </a:rPr>
              <a:t>개념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EB4DA6-0B7B-4E55-B469-62D6022E1FDF}"/>
              </a:ext>
            </a:extLst>
          </p:cNvPr>
          <p:cNvSpPr txBox="1"/>
          <p:nvPr/>
        </p:nvSpPr>
        <p:spPr>
          <a:xfrm>
            <a:off x="119336" y="836712"/>
            <a:ext cx="11233248" cy="184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XGBoost = </a:t>
            </a:r>
            <a:r>
              <a:rPr lang="ko-KR" altLang="en-US" dirty="0">
                <a:latin typeface="+mn-ea"/>
              </a:rPr>
              <a:t>여러 개의 “작은 </a:t>
            </a:r>
            <a:r>
              <a:rPr lang="ko-KR" altLang="en-US" dirty="0" err="1">
                <a:latin typeface="+mn-ea"/>
              </a:rPr>
              <a:t>결정나무”를</a:t>
            </a:r>
            <a:r>
              <a:rPr lang="ko-KR" altLang="en-US" dirty="0">
                <a:latin typeface="+mn-ea"/>
              </a:rPr>
              <a:t> 계속 보완하면서 정답에 가까워지는 알고리즘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아이디어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“한 번에 잘 맞추지 말고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틀린 걸 계속 보완하자”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왜 이름이 </a:t>
            </a:r>
            <a:r>
              <a:rPr lang="en-US" altLang="ko-KR" dirty="0">
                <a:latin typeface="+mn-ea"/>
              </a:rPr>
              <a:t>XGBoost</a:t>
            </a:r>
            <a:r>
              <a:rPr lang="ko-KR" altLang="en-US" dirty="0">
                <a:latin typeface="+mn-ea"/>
              </a:rPr>
              <a:t>냐</a:t>
            </a:r>
            <a:r>
              <a:rPr lang="en-US" altLang="ko-KR" dirty="0">
                <a:latin typeface="+mn-ea"/>
              </a:rPr>
              <a:t>?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X = </a:t>
            </a:r>
            <a:r>
              <a:rPr lang="en-US" altLang="ko-KR" dirty="0" err="1">
                <a:latin typeface="+mn-ea"/>
              </a:rPr>
              <a:t>eXtreme</a:t>
            </a:r>
            <a:r>
              <a:rPr lang="en-US" altLang="ko-KR" dirty="0">
                <a:latin typeface="+mn-ea"/>
              </a:rPr>
              <a:t> (</a:t>
            </a:r>
            <a:r>
              <a:rPr lang="ko-KR" altLang="en-US" dirty="0">
                <a:latin typeface="+mn-ea"/>
              </a:rPr>
              <a:t>극단적으로 빠르고 강력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G = Gradient (</a:t>
            </a:r>
            <a:r>
              <a:rPr lang="ko-KR" altLang="en-US" dirty="0">
                <a:latin typeface="+mn-ea"/>
              </a:rPr>
              <a:t>기울기 사용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5086442"/>
      </p:ext>
    </p:extLst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chemeClr val="tx1"/>
                </a:solidFill>
              </a:rPr>
              <a:t>개념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0DB6FFCB-C93D-4C62-8256-1AA53C183412}"/>
              </a:ext>
            </a:extLst>
          </p:cNvPr>
          <p:cNvSpPr/>
          <p:nvPr/>
        </p:nvSpPr>
        <p:spPr>
          <a:xfrm>
            <a:off x="335360" y="980728"/>
            <a:ext cx="1433338" cy="1104265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71443DE-EC51-4CD2-8C6F-324AC34D2115}"/>
              </a:ext>
            </a:extLst>
          </p:cNvPr>
          <p:cNvSpPr/>
          <p:nvPr/>
        </p:nvSpPr>
        <p:spPr>
          <a:xfrm>
            <a:off x="335360" y="1045685"/>
            <a:ext cx="1433338" cy="487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1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9E5CB42-D6BE-492C-93FC-9CC92B6361BC}"/>
              </a:ext>
            </a:extLst>
          </p:cNvPr>
          <p:cNvSpPr/>
          <p:nvPr/>
        </p:nvSpPr>
        <p:spPr>
          <a:xfrm>
            <a:off x="335360" y="1565339"/>
            <a:ext cx="1433338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humi</a:t>
            </a:r>
            <a:endParaRPr lang="en-US" sz="1400" b="1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FC71111B-1FBC-4BF3-A379-9A5A98834ECE}"/>
              </a:ext>
            </a:extLst>
          </p:cNvPr>
          <p:cNvSpPr/>
          <p:nvPr/>
        </p:nvSpPr>
        <p:spPr>
          <a:xfrm>
            <a:off x="2027169" y="980728"/>
            <a:ext cx="1785798" cy="1104265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42410C73-EC57-4C0A-BE67-0C8F870CC992}"/>
              </a:ext>
            </a:extLst>
          </p:cNvPr>
          <p:cNvSpPr/>
          <p:nvPr/>
        </p:nvSpPr>
        <p:spPr>
          <a:xfrm>
            <a:off x="2027169" y="1045685"/>
            <a:ext cx="1785798" cy="487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2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64570979-7212-4BF8-8566-665530AF2EAB}"/>
              </a:ext>
            </a:extLst>
          </p:cNvPr>
          <p:cNvSpPr/>
          <p:nvPr/>
        </p:nvSpPr>
        <p:spPr>
          <a:xfrm>
            <a:off x="2027169" y="1565339"/>
            <a:ext cx="1785798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오차 학습</a:t>
            </a:r>
            <a:endParaRPr lang="en-US" sz="1400" b="1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FA5933E-2D2A-4464-9C48-A401CA920D71}"/>
              </a:ext>
            </a:extLst>
          </p:cNvPr>
          <p:cNvSpPr/>
          <p:nvPr/>
        </p:nvSpPr>
        <p:spPr>
          <a:xfrm>
            <a:off x="4047941" y="980728"/>
            <a:ext cx="1785798" cy="1104265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E218937-8166-47E7-B8B9-31E743675FC1}"/>
              </a:ext>
            </a:extLst>
          </p:cNvPr>
          <p:cNvSpPr/>
          <p:nvPr/>
        </p:nvSpPr>
        <p:spPr>
          <a:xfrm>
            <a:off x="4047941" y="1045685"/>
            <a:ext cx="1785798" cy="487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20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813C983-34D8-4934-8851-C3A18537CD7A}"/>
              </a:ext>
            </a:extLst>
          </p:cNvPr>
          <p:cNvSpPr/>
          <p:nvPr/>
        </p:nvSpPr>
        <p:spPr>
          <a:xfrm>
            <a:off x="4047941" y="1565339"/>
            <a:ext cx="1785798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오차 보완</a:t>
            </a:r>
            <a:endParaRPr lang="en-US" sz="1400" b="1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8D59E9C6-7B10-4387-B945-30E8FAF8438D}"/>
              </a:ext>
            </a:extLst>
          </p:cNvPr>
          <p:cNvSpPr/>
          <p:nvPr/>
        </p:nvSpPr>
        <p:spPr>
          <a:xfrm>
            <a:off x="6068713" y="980728"/>
            <a:ext cx="1785798" cy="1104265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E75FD48-0272-49D7-9C01-D259183D1933}"/>
              </a:ext>
            </a:extLst>
          </p:cNvPr>
          <p:cNvSpPr/>
          <p:nvPr/>
        </p:nvSpPr>
        <p:spPr>
          <a:xfrm>
            <a:off x="6068713" y="1045685"/>
            <a:ext cx="1785798" cy="487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N</a:t>
            </a:r>
            <a:endParaRPr lang="en-US" sz="20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7F6D03E-E1AF-470F-AA26-D9E47A2619C8}"/>
              </a:ext>
            </a:extLst>
          </p:cNvPr>
          <p:cNvSpPr/>
          <p:nvPr/>
        </p:nvSpPr>
        <p:spPr>
          <a:xfrm>
            <a:off x="6068713" y="1565339"/>
            <a:ext cx="1785798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보완</a:t>
            </a:r>
            <a:endParaRPr lang="en-US" sz="1400" b="1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48DB2DCF-FA93-442B-9D78-2F2FEA961F16}"/>
              </a:ext>
            </a:extLst>
          </p:cNvPr>
          <p:cNvSpPr/>
          <p:nvPr/>
        </p:nvSpPr>
        <p:spPr>
          <a:xfrm>
            <a:off x="8089485" y="980728"/>
            <a:ext cx="1292354" cy="1104265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A6886E91-4450-4BEA-8754-25474E2C44C9}"/>
              </a:ext>
            </a:extLst>
          </p:cNvPr>
          <p:cNvSpPr/>
          <p:nvPr/>
        </p:nvSpPr>
        <p:spPr>
          <a:xfrm>
            <a:off x="8089485" y="1045685"/>
            <a:ext cx="1292354" cy="487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합산</a:t>
            </a:r>
            <a:endParaRPr lang="en-US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F2475803-A883-4E7B-948B-0252AC355D6E}"/>
              </a:ext>
            </a:extLst>
          </p:cNvPr>
          <p:cNvSpPr/>
          <p:nvPr/>
        </p:nvSpPr>
        <p:spPr>
          <a:xfrm>
            <a:off x="8089485" y="1565339"/>
            <a:ext cx="1292354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합계</a:t>
            </a:r>
            <a:endParaRPr lang="en-US" sz="1400" b="1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441625D6-980B-4248-95B5-CBDDC3FF83D7}"/>
              </a:ext>
            </a:extLst>
          </p:cNvPr>
          <p:cNvSpPr/>
          <p:nvPr/>
        </p:nvSpPr>
        <p:spPr>
          <a:xfrm>
            <a:off x="9616812" y="980728"/>
            <a:ext cx="1879788" cy="1104265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B190DA55-B872-4FA2-960E-65A87CE03E74}"/>
              </a:ext>
            </a:extLst>
          </p:cNvPr>
          <p:cNvSpPr/>
          <p:nvPr/>
        </p:nvSpPr>
        <p:spPr>
          <a:xfrm>
            <a:off x="9616812" y="1045685"/>
            <a:ext cx="1879788" cy="487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판정</a:t>
            </a:r>
            <a:endParaRPr lang="en-US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B8AC073E-8A60-4C6A-A566-389DB50681D0}"/>
              </a:ext>
            </a:extLst>
          </p:cNvPr>
          <p:cNvSpPr/>
          <p:nvPr/>
        </p:nvSpPr>
        <p:spPr>
          <a:xfrm>
            <a:off x="9616812" y="1565339"/>
            <a:ext cx="1879788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/ 불량</a:t>
            </a:r>
            <a:endParaRPr lang="en-US" sz="1400" b="1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C6AF5A91-B518-4685-A5E7-85FD8CF54F2A}"/>
              </a:ext>
            </a:extLst>
          </p:cNvPr>
          <p:cNvSpPr/>
          <p:nvPr/>
        </p:nvSpPr>
        <p:spPr>
          <a:xfrm>
            <a:off x="2262142" y="2182428"/>
            <a:ext cx="1315851" cy="35726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3200" b="1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AFEE0CF1-2F18-4FB2-82BF-CF0F0120A3E5}"/>
              </a:ext>
            </a:extLst>
          </p:cNvPr>
          <p:cNvSpPr/>
          <p:nvPr/>
        </p:nvSpPr>
        <p:spPr>
          <a:xfrm>
            <a:off x="2262142" y="2182428"/>
            <a:ext cx="1315851" cy="35726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오차</a:t>
            </a:r>
            <a:endParaRPr lang="en-US" sz="1200" b="1" dirty="0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26A30A5F-96EA-4066-93FA-60FFDE3D7C85}"/>
              </a:ext>
            </a:extLst>
          </p:cNvPr>
          <p:cNvSpPr/>
          <p:nvPr/>
        </p:nvSpPr>
        <p:spPr>
          <a:xfrm>
            <a:off x="4282914" y="2182428"/>
            <a:ext cx="1315851" cy="35726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3200" b="1"/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9F24E3DF-D83C-46C8-9319-8631427A2113}"/>
              </a:ext>
            </a:extLst>
          </p:cNvPr>
          <p:cNvSpPr/>
          <p:nvPr/>
        </p:nvSpPr>
        <p:spPr>
          <a:xfrm>
            <a:off x="4282914" y="2182428"/>
            <a:ext cx="1315851" cy="35726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작은 오차</a:t>
            </a:r>
            <a:endParaRPr lang="en-US" sz="1200" b="1" dirty="0"/>
          </a:p>
        </p:txBody>
      </p:sp>
      <p:sp>
        <p:nvSpPr>
          <p:cNvPr id="45" name="Shape 30">
            <a:extLst>
              <a:ext uri="{FF2B5EF4-FFF2-40B4-BE49-F238E27FC236}">
                <a16:creationId xmlns:a16="http://schemas.microsoft.com/office/drawing/2014/main" id="{DD9226C2-35A7-4450-934D-014E09BA16B7}"/>
              </a:ext>
            </a:extLst>
          </p:cNvPr>
          <p:cNvSpPr/>
          <p:nvPr/>
        </p:nvSpPr>
        <p:spPr>
          <a:xfrm>
            <a:off x="6303686" y="2182428"/>
            <a:ext cx="1315851" cy="35726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 sz="3200" b="1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A5657AB7-C329-4BE9-8C65-69196ED4665D}"/>
              </a:ext>
            </a:extLst>
          </p:cNvPr>
          <p:cNvSpPr/>
          <p:nvPr/>
        </p:nvSpPr>
        <p:spPr>
          <a:xfrm>
            <a:off x="6303686" y="2182428"/>
            <a:ext cx="1315851" cy="35726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 최소화</a:t>
            </a:r>
            <a:endParaRPr lang="en-US" sz="1200" b="1" dirty="0"/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E3537405-EB19-4DC5-8E14-2CEE1D372448}"/>
              </a:ext>
            </a:extLst>
          </p:cNvPr>
          <p:cNvSpPr/>
          <p:nvPr/>
        </p:nvSpPr>
        <p:spPr>
          <a:xfrm>
            <a:off x="335360" y="2848235"/>
            <a:ext cx="3524602" cy="2143573"/>
          </a:xfrm>
          <a:prstGeom prst="roundRect">
            <a:avLst/>
          </a:prstGeom>
          <a:solidFill>
            <a:srgbClr val="0F1E3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8" name="Shape 33">
            <a:extLst>
              <a:ext uri="{FF2B5EF4-FFF2-40B4-BE49-F238E27FC236}">
                <a16:creationId xmlns:a16="http://schemas.microsoft.com/office/drawing/2014/main" id="{5DB4C9E2-6062-4250-984C-DA7EFB205E74}"/>
              </a:ext>
            </a:extLst>
          </p:cNvPr>
          <p:cNvSpPr/>
          <p:nvPr/>
        </p:nvSpPr>
        <p:spPr>
          <a:xfrm>
            <a:off x="335360" y="2848235"/>
            <a:ext cx="3524602" cy="487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49" name="Text 34">
            <a:extLst>
              <a:ext uri="{FF2B5EF4-FFF2-40B4-BE49-F238E27FC236}">
                <a16:creationId xmlns:a16="http://schemas.microsoft.com/office/drawing/2014/main" id="{8DAA08CD-37CC-400F-B62E-D53C5DB4A3E6}"/>
              </a:ext>
            </a:extLst>
          </p:cNvPr>
          <p:cNvSpPr/>
          <p:nvPr/>
        </p:nvSpPr>
        <p:spPr>
          <a:xfrm>
            <a:off x="452847" y="2864474"/>
            <a:ext cx="3289629" cy="45469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원리 — 순차 보완</a:t>
            </a:r>
            <a:endParaRPr lang="en-US" dirty="0"/>
          </a:p>
        </p:txBody>
      </p:sp>
      <p:sp>
        <p:nvSpPr>
          <p:cNvPr id="50" name="Text 35">
            <a:extLst>
              <a:ext uri="{FF2B5EF4-FFF2-40B4-BE49-F238E27FC236}">
                <a16:creationId xmlns:a16="http://schemas.microsoft.com/office/drawing/2014/main" id="{E7C169D1-8799-4715-A083-A8FD7E8953D6}"/>
              </a:ext>
            </a:extLst>
          </p:cNvPr>
          <p:cNvSpPr/>
          <p:nvPr/>
        </p:nvSpPr>
        <p:spPr>
          <a:xfrm>
            <a:off x="476344" y="3400368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Tree 1: 전체 오차(잔차) 학습</a:t>
            </a:r>
            <a:endParaRPr lang="en-US" sz="1600" dirty="0"/>
          </a:p>
        </p:txBody>
      </p:sp>
      <p:sp>
        <p:nvSpPr>
          <p:cNvPr id="51" name="Text 36">
            <a:extLst>
              <a:ext uri="{FF2B5EF4-FFF2-40B4-BE49-F238E27FC236}">
                <a16:creationId xmlns:a16="http://schemas.microsoft.com/office/drawing/2014/main" id="{59FDCD1F-DB91-4399-947F-95110A7D7A06}"/>
              </a:ext>
            </a:extLst>
          </p:cNvPr>
          <p:cNvSpPr/>
          <p:nvPr/>
        </p:nvSpPr>
        <p:spPr>
          <a:xfrm>
            <a:off x="476344" y="3790108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Tree 2: Tree 1 못 맞춘 오차 학습</a:t>
            </a:r>
            <a:endParaRPr lang="en-US" sz="1600" dirty="0"/>
          </a:p>
        </p:txBody>
      </p:sp>
      <p:sp>
        <p:nvSpPr>
          <p:cNvPr id="52" name="Text 37">
            <a:extLst>
              <a:ext uri="{FF2B5EF4-FFF2-40B4-BE49-F238E27FC236}">
                <a16:creationId xmlns:a16="http://schemas.microsoft.com/office/drawing/2014/main" id="{A8852C16-3D5D-494E-B6F2-5BE09146BA10}"/>
              </a:ext>
            </a:extLst>
          </p:cNvPr>
          <p:cNvSpPr/>
          <p:nvPr/>
        </p:nvSpPr>
        <p:spPr>
          <a:xfrm>
            <a:off x="476344" y="4179849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Tree N: 반복하며 오차 점점 줄임</a:t>
            </a:r>
            <a:endParaRPr lang="en-US" sz="1600" dirty="0"/>
          </a:p>
        </p:txBody>
      </p:sp>
      <p:sp>
        <p:nvSpPr>
          <p:cNvPr id="53" name="Text 38">
            <a:extLst>
              <a:ext uri="{FF2B5EF4-FFF2-40B4-BE49-F238E27FC236}">
                <a16:creationId xmlns:a16="http://schemas.microsoft.com/office/drawing/2014/main" id="{9715BBF4-4187-447C-B6E2-00AB52655C19}"/>
              </a:ext>
            </a:extLst>
          </p:cNvPr>
          <p:cNvSpPr/>
          <p:nvPr/>
        </p:nvSpPr>
        <p:spPr>
          <a:xfrm>
            <a:off x="476344" y="4569590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최종 = 모든 트리 출력의 합산</a:t>
            </a:r>
            <a:endParaRPr lang="en-US" sz="1600" dirty="0"/>
          </a:p>
        </p:txBody>
      </p:sp>
      <p:sp>
        <p:nvSpPr>
          <p:cNvPr id="54" name="Shape 39">
            <a:extLst>
              <a:ext uri="{FF2B5EF4-FFF2-40B4-BE49-F238E27FC236}">
                <a16:creationId xmlns:a16="http://schemas.microsoft.com/office/drawing/2014/main" id="{219CDB39-65D6-45A3-B2E0-1F755208BB8C}"/>
              </a:ext>
            </a:extLst>
          </p:cNvPr>
          <p:cNvSpPr/>
          <p:nvPr/>
        </p:nvSpPr>
        <p:spPr>
          <a:xfrm>
            <a:off x="4212422" y="2848235"/>
            <a:ext cx="3524602" cy="2143573"/>
          </a:xfrm>
          <a:prstGeom prst="roundRect">
            <a:avLst/>
          </a:prstGeom>
          <a:solidFill>
            <a:srgbClr val="0F1E35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5" name="Shape 40">
            <a:extLst>
              <a:ext uri="{FF2B5EF4-FFF2-40B4-BE49-F238E27FC236}">
                <a16:creationId xmlns:a16="http://schemas.microsoft.com/office/drawing/2014/main" id="{2C393819-9FF4-44C1-B746-4B523E506100}"/>
              </a:ext>
            </a:extLst>
          </p:cNvPr>
          <p:cNvSpPr/>
          <p:nvPr/>
        </p:nvSpPr>
        <p:spPr>
          <a:xfrm>
            <a:off x="4212422" y="2848235"/>
            <a:ext cx="3524602" cy="4871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6" name="Text 41">
            <a:extLst>
              <a:ext uri="{FF2B5EF4-FFF2-40B4-BE49-F238E27FC236}">
                <a16:creationId xmlns:a16="http://schemas.microsoft.com/office/drawing/2014/main" id="{36C92934-2875-424A-996D-8FA0E44D2A46}"/>
              </a:ext>
            </a:extLst>
          </p:cNvPr>
          <p:cNvSpPr/>
          <p:nvPr/>
        </p:nvSpPr>
        <p:spPr>
          <a:xfrm>
            <a:off x="4329909" y="2864474"/>
            <a:ext cx="3289629" cy="45469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파라미터</a:t>
            </a:r>
            <a:endParaRPr lang="en-US" dirty="0"/>
          </a:p>
        </p:txBody>
      </p:sp>
      <p:sp>
        <p:nvSpPr>
          <p:cNvPr id="57" name="Text 42">
            <a:extLst>
              <a:ext uri="{FF2B5EF4-FFF2-40B4-BE49-F238E27FC236}">
                <a16:creationId xmlns:a16="http://schemas.microsoft.com/office/drawing/2014/main" id="{559D126A-1E3A-4DD1-AAB7-381D6BC84455}"/>
              </a:ext>
            </a:extLst>
          </p:cNvPr>
          <p:cNvSpPr/>
          <p:nvPr/>
        </p:nvSpPr>
        <p:spPr>
          <a:xfrm>
            <a:off x="4353406" y="3400368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n_estimators: 트리 개수 (100)</a:t>
            </a:r>
            <a:endParaRPr lang="en-US" sz="1600" dirty="0"/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A2CC8DAB-29E1-4020-BF59-AEC66C41418B}"/>
              </a:ext>
            </a:extLst>
          </p:cNvPr>
          <p:cNvSpPr/>
          <p:nvPr/>
        </p:nvSpPr>
        <p:spPr>
          <a:xfrm>
            <a:off x="4353406" y="3790108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learning_rate: 각 트리 기여도 (0.1)</a:t>
            </a:r>
            <a:endParaRPr lang="en-US" sz="1600" dirty="0"/>
          </a:p>
        </p:txBody>
      </p:sp>
      <p:sp>
        <p:nvSpPr>
          <p:cNvPr id="59" name="Text 44">
            <a:extLst>
              <a:ext uri="{FF2B5EF4-FFF2-40B4-BE49-F238E27FC236}">
                <a16:creationId xmlns:a16="http://schemas.microsoft.com/office/drawing/2014/main" id="{80C9F5F6-D26A-43E9-A881-29749F915969}"/>
              </a:ext>
            </a:extLst>
          </p:cNvPr>
          <p:cNvSpPr/>
          <p:nvPr/>
        </p:nvSpPr>
        <p:spPr>
          <a:xfrm>
            <a:off x="4353406" y="4179849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max_depth: 트리 깊이 제한 (6)</a:t>
            </a:r>
            <a:endParaRPr lang="en-US" sz="1600" dirty="0"/>
          </a:p>
        </p:txBody>
      </p:sp>
      <p:sp>
        <p:nvSpPr>
          <p:cNvPr id="60" name="Text 45">
            <a:extLst>
              <a:ext uri="{FF2B5EF4-FFF2-40B4-BE49-F238E27FC236}">
                <a16:creationId xmlns:a16="http://schemas.microsoft.com/office/drawing/2014/main" id="{30401762-87A7-45A7-BE0D-D179E7EAA624}"/>
              </a:ext>
            </a:extLst>
          </p:cNvPr>
          <p:cNvSpPr/>
          <p:nvPr/>
        </p:nvSpPr>
        <p:spPr>
          <a:xfrm>
            <a:off x="4353406" y="4569590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early_stopping: 과적합 자동 방지</a:t>
            </a:r>
            <a:endParaRPr lang="en-US" sz="1600" dirty="0"/>
          </a:p>
        </p:txBody>
      </p:sp>
      <p:sp>
        <p:nvSpPr>
          <p:cNvPr id="61" name="Shape 46">
            <a:extLst>
              <a:ext uri="{FF2B5EF4-FFF2-40B4-BE49-F238E27FC236}">
                <a16:creationId xmlns:a16="http://schemas.microsoft.com/office/drawing/2014/main" id="{0CF88660-3920-4CFA-9CB7-739D92C3F599}"/>
              </a:ext>
            </a:extLst>
          </p:cNvPr>
          <p:cNvSpPr/>
          <p:nvPr/>
        </p:nvSpPr>
        <p:spPr>
          <a:xfrm>
            <a:off x="7971998" y="2848235"/>
            <a:ext cx="3524602" cy="2143573"/>
          </a:xfrm>
          <a:prstGeom prst="roundRect">
            <a:avLst/>
          </a:prstGeom>
          <a:solidFill>
            <a:srgbClr val="0F1E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62" name="Shape 47">
            <a:extLst>
              <a:ext uri="{FF2B5EF4-FFF2-40B4-BE49-F238E27FC236}">
                <a16:creationId xmlns:a16="http://schemas.microsoft.com/office/drawing/2014/main" id="{871F6B48-4F76-41D3-8B8D-6D0B184FA0ED}"/>
              </a:ext>
            </a:extLst>
          </p:cNvPr>
          <p:cNvSpPr/>
          <p:nvPr/>
        </p:nvSpPr>
        <p:spPr>
          <a:xfrm>
            <a:off x="7971998" y="2848235"/>
            <a:ext cx="3524602" cy="4871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63" name="Text 48">
            <a:extLst>
              <a:ext uri="{FF2B5EF4-FFF2-40B4-BE49-F238E27FC236}">
                <a16:creationId xmlns:a16="http://schemas.microsoft.com/office/drawing/2014/main" id="{061A6EE6-0BDA-4CD5-AF1C-F83D9A605BDB}"/>
              </a:ext>
            </a:extLst>
          </p:cNvPr>
          <p:cNvSpPr/>
          <p:nvPr/>
        </p:nvSpPr>
        <p:spPr>
          <a:xfrm>
            <a:off x="8089485" y="2864474"/>
            <a:ext cx="3289629" cy="45469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 Forest</a:t>
            </a:r>
            <a:endParaRPr lang="en-US" dirty="0"/>
          </a:p>
        </p:txBody>
      </p:sp>
      <p:sp>
        <p:nvSpPr>
          <p:cNvPr id="64" name="Text 49">
            <a:extLst>
              <a:ext uri="{FF2B5EF4-FFF2-40B4-BE49-F238E27FC236}">
                <a16:creationId xmlns:a16="http://schemas.microsoft.com/office/drawing/2014/main" id="{DCE43538-80D1-438C-876F-65611CB93F17}"/>
              </a:ext>
            </a:extLst>
          </p:cNvPr>
          <p:cNvSpPr/>
          <p:nvPr/>
        </p:nvSpPr>
        <p:spPr>
          <a:xfrm>
            <a:off x="8112982" y="3400368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RF: 독립 트리 → 다수결</a:t>
            </a:r>
            <a:endParaRPr lang="en-US" sz="1600" dirty="0"/>
          </a:p>
        </p:txBody>
      </p:sp>
      <p:sp>
        <p:nvSpPr>
          <p:cNvPr id="65" name="Text 50">
            <a:extLst>
              <a:ext uri="{FF2B5EF4-FFF2-40B4-BE49-F238E27FC236}">
                <a16:creationId xmlns:a16="http://schemas.microsoft.com/office/drawing/2014/main" id="{9286EFD7-DB7D-433F-95F8-AF17886AC9DF}"/>
              </a:ext>
            </a:extLst>
          </p:cNvPr>
          <p:cNvSpPr/>
          <p:nvPr/>
        </p:nvSpPr>
        <p:spPr>
          <a:xfrm>
            <a:off x="8112982" y="3790108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XGB: 오차 순차 보완 → 합산</a:t>
            </a:r>
            <a:endParaRPr lang="en-US" sz="1600" dirty="0"/>
          </a:p>
        </p:txBody>
      </p:sp>
      <p:sp>
        <p:nvSpPr>
          <p:cNvPr id="66" name="Text 51">
            <a:extLst>
              <a:ext uri="{FF2B5EF4-FFF2-40B4-BE49-F238E27FC236}">
                <a16:creationId xmlns:a16="http://schemas.microsoft.com/office/drawing/2014/main" id="{FE4EF906-5D58-4B98-86C2-B09A30E01BF8}"/>
              </a:ext>
            </a:extLst>
          </p:cNvPr>
          <p:cNvSpPr/>
          <p:nvPr/>
        </p:nvSpPr>
        <p:spPr>
          <a:xfrm>
            <a:off x="8112982" y="4179849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XGB가 정형 데이터에서 더 강함</a:t>
            </a:r>
            <a:endParaRPr lang="en-US" sz="1600" dirty="0"/>
          </a:p>
        </p:txBody>
      </p:sp>
      <p:sp>
        <p:nvSpPr>
          <p:cNvPr id="67" name="Text 52">
            <a:extLst>
              <a:ext uri="{FF2B5EF4-FFF2-40B4-BE49-F238E27FC236}">
                <a16:creationId xmlns:a16="http://schemas.microsoft.com/office/drawing/2014/main" id="{49C32C9E-D92E-499D-9192-01DB73FA5F18}"/>
              </a:ext>
            </a:extLst>
          </p:cNvPr>
          <p:cNvSpPr/>
          <p:nvPr/>
        </p:nvSpPr>
        <p:spPr>
          <a:xfrm>
            <a:off x="8112982" y="4569590"/>
            <a:ext cx="3266131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캐글 1위 단골 알고리즘</a:t>
            </a:r>
            <a:endParaRPr lang="en-US" sz="1600" dirty="0"/>
          </a:p>
        </p:txBody>
      </p:sp>
      <p:sp>
        <p:nvSpPr>
          <p:cNvPr id="68" name="Shape 53">
            <a:extLst>
              <a:ext uri="{FF2B5EF4-FFF2-40B4-BE49-F238E27FC236}">
                <a16:creationId xmlns:a16="http://schemas.microsoft.com/office/drawing/2014/main" id="{ECEC4120-5C66-4C65-8FBA-6D07108CB9FE}"/>
              </a:ext>
            </a:extLst>
          </p:cNvPr>
          <p:cNvSpPr/>
          <p:nvPr/>
        </p:nvSpPr>
        <p:spPr>
          <a:xfrm>
            <a:off x="335360" y="5284114"/>
            <a:ext cx="6696744" cy="1169222"/>
          </a:xfrm>
          <a:prstGeom prst="roundRect">
            <a:avLst/>
          </a:prstGeom>
          <a:solidFill>
            <a:srgbClr val="09162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69" name="Text 54">
            <a:extLst>
              <a:ext uri="{FF2B5EF4-FFF2-40B4-BE49-F238E27FC236}">
                <a16:creationId xmlns:a16="http://schemas.microsoft.com/office/drawing/2014/main" id="{9740AC4F-2D2D-4510-84B0-7338C2D09F83}"/>
              </a:ext>
            </a:extLst>
          </p:cNvPr>
          <p:cNvSpPr/>
          <p:nvPr/>
        </p:nvSpPr>
        <p:spPr>
          <a:xfrm>
            <a:off x="476344" y="5316592"/>
            <a:ext cx="704920" cy="38974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</a:t>
            </a:r>
            <a:endParaRPr lang="en-US" sz="1400" dirty="0"/>
          </a:p>
        </p:txBody>
      </p:sp>
      <p:sp>
        <p:nvSpPr>
          <p:cNvPr id="70" name="Text 55">
            <a:extLst>
              <a:ext uri="{FF2B5EF4-FFF2-40B4-BE49-F238E27FC236}">
                <a16:creationId xmlns:a16="http://schemas.microsoft.com/office/drawing/2014/main" id="{08F2D042-B644-4AF9-ACFA-39D3FBB9B235}"/>
              </a:ext>
            </a:extLst>
          </p:cNvPr>
          <p:cNvSpPr/>
          <p:nvPr/>
        </p:nvSpPr>
        <p:spPr>
          <a:xfrm>
            <a:off x="476344" y="5706333"/>
            <a:ext cx="6414776" cy="42221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F₀(x) + η·T₁(x) + η·T₂(x) + ... + η·Tₙ(x)</a:t>
            </a:r>
            <a:endParaRPr lang="en-US" sz="2000" dirty="0"/>
          </a:p>
        </p:txBody>
      </p:sp>
      <p:sp>
        <p:nvSpPr>
          <p:cNvPr id="71" name="Text 56">
            <a:extLst>
              <a:ext uri="{FF2B5EF4-FFF2-40B4-BE49-F238E27FC236}">
                <a16:creationId xmlns:a16="http://schemas.microsoft.com/office/drawing/2014/main" id="{4E3E52B8-030C-4A3E-8F83-3F3FF25400E5}"/>
              </a:ext>
            </a:extLst>
          </p:cNvPr>
          <p:cNvSpPr/>
          <p:nvPr/>
        </p:nvSpPr>
        <p:spPr>
          <a:xfrm>
            <a:off x="476344" y="6161031"/>
            <a:ext cx="6414776" cy="29230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learning_rate  |  Tᵢ = i번째 트리 출력값  |  오차 기반 순차 학습</a:t>
            </a:r>
            <a:endParaRPr lang="en-US" sz="1400" b="1" dirty="0"/>
          </a:p>
        </p:txBody>
      </p:sp>
      <p:sp>
        <p:nvSpPr>
          <p:cNvPr id="72" name="Shape 57">
            <a:extLst>
              <a:ext uri="{FF2B5EF4-FFF2-40B4-BE49-F238E27FC236}">
                <a16:creationId xmlns:a16="http://schemas.microsoft.com/office/drawing/2014/main" id="{DED68E4B-4392-43AF-950A-18560B14E7BE}"/>
              </a:ext>
            </a:extLst>
          </p:cNvPr>
          <p:cNvSpPr/>
          <p:nvPr/>
        </p:nvSpPr>
        <p:spPr>
          <a:xfrm>
            <a:off x="7267077" y="5284114"/>
            <a:ext cx="4229523" cy="116922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73" name="Text 58">
            <a:extLst>
              <a:ext uri="{FF2B5EF4-FFF2-40B4-BE49-F238E27FC236}">
                <a16:creationId xmlns:a16="http://schemas.microsoft.com/office/drawing/2014/main" id="{42677659-F863-43CB-A5D2-AA1D51353326}"/>
              </a:ext>
            </a:extLst>
          </p:cNvPr>
          <p:cNvSpPr/>
          <p:nvPr/>
        </p:nvSpPr>
        <p:spPr>
          <a:xfrm>
            <a:off x="7384564" y="5316592"/>
            <a:ext cx="3994549" cy="110426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트리의 실수를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트리가 집중 보완</a:t>
            </a:r>
            <a:endParaRPr lang="en-US" sz="2000" b="1" dirty="0">
              <a:solidFill>
                <a:schemeClr val="bg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27292C8-FA14-477A-803A-961F8055C1AC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1768698" y="1532861"/>
            <a:ext cx="258471" cy="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E4A8A5A-E759-4478-A742-22A25CA8FCB1}"/>
              </a:ext>
            </a:extLst>
          </p:cNvPr>
          <p:cNvCxnSpPr>
            <a:cxnSpLocks/>
          </p:cNvCxnSpPr>
          <p:nvPr/>
        </p:nvCxnSpPr>
        <p:spPr>
          <a:xfrm>
            <a:off x="3821305" y="1524751"/>
            <a:ext cx="258471" cy="8111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0860490-5ACE-4768-BF42-24C9DB0A699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833739" y="1532861"/>
            <a:ext cx="234974" cy="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22F31BD-5ADC-4885-9D00-6B303615E190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7854511" y="1532861"/>
            <a:ext cx="234974" cy="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4473AD76-76D8-48C1-92BF-916BC884DCA1}"/>
              </a:ext>
            </a:extLst>
          </p:cNvPr>
          <p:cNvCxnSpPr>
            <a:cxnSpLocks/>
            <a:stCxn id="30" idx="3"/>
            <a:endCxn id="33" idx="1"/>
          </p:cNvCxnSpPr>
          <p:nvPr/>
        </p:nvCxnSpPr>
        <p:spPr>
          <a:xfrm>
            <a:off x="9381839" y="1532861"/>
            <a:ext cx="234973" cy="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75511"/>
      </p:ext>
    </p:extLst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1. </a:t>
            </a:r>
            <a:r>
              <a:rPr lang="ko-KR" altLang="en-US" sz="2000" b="1" dirty="0">
                <a:solidFill>
                  <a:schemeClr val="tx1"/>
                </a:solidFill>
              </a:rPr>
              <a:t>라이브러리 설치 및 로드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9E66E-F240-4047-80DA-E8255B4F5332}"/>
              </a:ext>
            </a:extLst>
          </p:cNvPr>
          <p:cNvSpPr txBox="1"/>
          <p:nvPr/>
        </p:nvSpPr>
        <p:spPr>
          <a:xfrm>
            <a:off x="119336" y="801753"/>
            <a:ext cx="888862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!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pip install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xgboost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--upgrade -q</a:t>
            </a:r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설치 완료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필요한 라이브러리 전체 로드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matplotlib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matplotlib.rcParams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font.family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NanumGothic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한글 폰트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matplotlib.rcParams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axes.unicode_minus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xgboost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xgboost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XGBClassifier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GridSearchCV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StandardScaler</a:t>
            </a: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accuracy_score, precision_score, recall_score, f1_score,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roc_auc_score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버전 확인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"XGBoost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버전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__version__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라이브러리 로드 완료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A07B670-F6E8-4A3E-A5A4-794C22C87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360" y="6021288"/>
            <a:ext cx="2162477" cy="628738"/>
          </a:xfrm>
          <a:prstGeom prst="rect">
            <a:avLst/>
          </a:prstGeom>
          <a:ln w="4127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609204372"/>
      </p:ext>
    </p:extLst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2. </a:t>
            </a:r>
            <a:r>
              <a:rPr lang="ko-KR" altLang="en-US" sz="2000" b="1" dirty="0">
                <a:solidFill>
                  <a:schemeClr val="tx1"/>
                </a:solidFill>
              </a:rPr>
              <a:t>데이터 업로드 및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5E849-AF06-4371-A746-B8C3EC76C33B}"/>
              </a:ext>
            </a:extLst>
          </p:cNvPr>
          <p:cNvSpPr txBox="1"/>
          <p:nvPr/>
        </p:nvSpPr>
        <p:spPr>
          <a:xfrm>
            <a:off x="335360" y="836712"/>
            <a:ext cx="6108404" cy="203132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Colab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파일 업로드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google.colab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files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 = files.upload()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업로드된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파일명 확인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filename = </a:t>
            </a:r>
            <a:r>
              <a:rPr lang="en-US" altLang="ko-KR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uploaded.keys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())[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업로드된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파일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{filename}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0F984B3-7B70-4374-BB03-7F2981C4D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9" y="3073152"/>
            <a:ext cx="9969163" cy="134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52726"/>
      </p:ext>
    </p:extLst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2. </a:t>
            </a:r>
            <a:r>
              <a:rPr lang="ko-KR" altLang="en-US" sz="2000" b="1" dirty="0">
                <a:solidFill>
                  <a:schemeClr val="tx1"/>
                </a:solidFill>
              </a:rPr>
              <a:t>데이터 업로드 및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05202E-8D69-4BC5-BEC7-5D749C78813A}"/>
              </a:ext>
            </a:extLst>
          </p:cNvPr>
          <p:cNvSpPr txBox="1"/>
          <p:nvPr/>
        </p:nvSpPr>
        <p:spPr>
          <a:xfrm>
            <a:off x="126675" y="688031"/>
            <a:ext cx="7304446" cy="4031873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CSV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로드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※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파일명이 다르면 아래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filename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자리에 직접 입력하세요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   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예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 df =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("TH_quality_10000.csv")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(filename)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"="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데이터 크기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df.shape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행 수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열 수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"="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처음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행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display(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df.head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컬럼 정보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display(df.info())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기본 통계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display(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df.describe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1542EEE-ABED-4C37-AF22-5ABA23641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275" y="0"/>
            <a:ext cx="3797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32506"/>
      </p:ext>
    </p:extLst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2. </a:t>
            </a:r>
            <a:r>
              <a:rPr lang="ko-KR" altLang="en-US" sz="2000" b="1" dirty="0">
                <a:solidFill>
                  <a:schemeClr val="tx1"/>
                </a:solidFill>
              </a:rPr>
              <a:t>데이터 업로드 및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DBEE8-D7A3-46B2-86F7-06B339E27F7E}"/>
              </a:ext>
            </a:extLst>
          </p:cNvPr>
          <p:cNvSpPr txBox="1"/>
          <p:nvPr/>
        </p:nvSpPr>
        <p:spPr>
          <a:xfrm>
            <a:off x="119336" y="836712"/>
            <a:ext cx="8064896" cy="230832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결측값 확인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결측값 확인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df.isnull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레이블 분포 확인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레이블 분포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비율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(normalize=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round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7B1458-907B-4CE7-AE55-D7A0C519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984" y="2564904"/>
            <a:ext cx="3600400" cy="397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71223"/>
      </p:ext>
    </p:extLst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2. </a:t>
            </a:r>
            <a:r>
              <a:rPr lang="ko-KR" altLang="en-US" sz="2000" b="1" dirty="0">
                <a:solidFill>
                  <a:schemeClr val="tx1"/>
                </a:solidFill>
              </a:rPr>
              <a:t>데이터 업로드 및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1974F-DAB6-4626-8F4A-A159F9DD4E59}"/>
              </a:ext>
            </a:extLst>
          </p:cNvPr>
          <p:cNvSpPr txBox="1"/>
          <p:nvPr/>
        </p:nvSpPr>
        <p:spPr>
          <a:xfrm>
            <a:off x="191344" y="733246"/>
            <a:ext cx="64807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산점도로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데이터 분포 시각화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fig, axes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14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왼쪽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정상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불량 분포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colors = {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'#2196F3'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'#F44336'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labels_name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정상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(0)'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(1)'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mask = df[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cls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].scatter(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df[mask][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df[mask][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c=colors[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label=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labels_name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alpha=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set_xlabel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온도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(temp)'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set_ylabel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습도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set_title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온도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습도 분포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정상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vs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].legend()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오른쪽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레이블 비율 막대 그래프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counts = df[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].bar([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정상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(0)'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(1)'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counts.values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color=[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'#2196F3'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'#F44336'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alpha=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v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enumerate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counts.values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].text(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v +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(v), ha=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'center'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set_title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클래스 분포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axes[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set_ylabel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샘플 수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06817897"/>
      </p:ext>
    </p:extLst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2. </a:t>
            </a:r>
            <a:r>
              <a:rPr lang="ko-KR" altLang="en-US" sz="2000" b="1" dirty="0">
                <a:solidFill>
                  <a:schemeClr val="tx1"/>
                </a:solidFill>
              </a:rPr>
              <a:t>데이터 업로드 및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E2D2044-261C-45B7-8A05-1BEE66F2A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81" y="1418944"/>
            <a:ext cx="11374437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04619"/>
      </p:ext>
    </p:extLst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3. </a:t>
            </a:r>
            <a:r>
              <a:rPr lang="ko-KR" altLang="en-US" sz="2000" b="1" dirty="0">
                <a:solidFill>
                  <a:schemeClr val="tx1"/>
                </a:solidFill>
              </a:rPr>
              <a:t>데이터 전처리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97DCF3-E04F-484E-A1E0-0E75BB9448B4}"/>
              </a:ext>
            </a:extLst>
          </p:cNvPr>
          <p:cNvSpPr txBox="1"/>
          <p:nvPr/>
        </p:nvSpPr>
        <p:spPr>
          <a:xfrm>
            <a:off x="203615" y="908720"/>
            <a:ext cx="5904656" cy="4616648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특성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(X)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과 레이블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(y)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분리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df[[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]].values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df[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].values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"X shape:"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X.shape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샘플 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특성 수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"y shape:"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y.shape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"y 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고유값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np.unique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(y))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학습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테스트 데이터 분리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(8:2)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stratify=y →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불량 비율을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train/test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에서 동일하게 유지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 X_test, y_train, y_test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X, y,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stratify=y  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중요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!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클래스 비율 유지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크기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X_train.shape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  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크기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X_test.shape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nTrain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 비율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y_train.mean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round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  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 비율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y_test.mean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round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5D738C-99C7-4AC7-8AAB-3D4F373F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56" y="4221088"/>
            <a:ext cx="3482092" cy="228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47539"/>
      </p:ext>
    </p:extLst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4. XGBoost </a:t>
            </a:r>
            <a:r>
              <a:rPr lang="ko-KR" altLang="en-US" sz="2000" b="1" dirty="0">
                <a:solidFill>
                  <a:schemeClr val="tx1"/>
                </a:solidFill>
              </a:rPr>
              <a:t>모델 학습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9C3C2-FFE3-4B33-ADC8-FA2A3F7EBD92}"/>
              </a:ext>
            </a:extLst>
          </p:cNvPr>
          <p:cNvSpPr txBox="1"/>
          <p:nvPr/>
        </p:nvSpPr>
        <p:spPr>
          <a:xfrm>
            <a:off x="306932" y="764704"/>
            <a:ext cx="3453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XGBoost </a:t>
            </a:r>
            <a:r>
              <a:rPr lang="ko-KR" altLang="en-US" dirty="0"/>
              <a:t>주요 파라미터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AD4F497-ADFC-4B2C-8BD5-6455D195C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708951"/>
              </p:ext>
            </p:extLst>
          </p:nvPr>
        </p:nvGraphicFramePr>
        <p:xfrm>
          <a:off x="609600" y="1258381"/>
          <a:ext cx="10972800" cy="478807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22104">
                  <a:extLst>
                    <a:ext uri="{9D8B030D-6E8A-4147-A177-3AD203B41FA5}">
                      <a16:colId xmlns:a16="http://schemas.microsoft.com/office/drawing/2014/main" val="1536759352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628835310"/>
                    </a:ext>
                  </a:extLst>
                </a:gridCol>
                <a:gridCol w="2030016">
                  <a:extLst>
                    <a:ext uri="{9D8B030D-6E8A-4147-A177-3AD203B41FA5}">
                      <a16:colId xmlns:a16="http://schemas.microsoft.com/office/drawing/2014/main" val="572713554"/>
                    </a:ext>
                  </a:extLst>
                </a:gridCol>
              </a:tblGrid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파라미터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의미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기본값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932458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n_estimators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생성할 트리 개수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모델 반복 횟수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243701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max_depth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각 트리의 최대 깊이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복잡도 조절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636464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learning_rate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ko-KR" altLang="en-US" sz="1400" dirty="0"/>
                        <a:t>학습률 </a:t>
                      </a:r>
                      <a:r>
                        <a:rPr lang="en-US" altLang="ko-KR" sz="1400" dirty="0"/>
                        <a:t>– </a:t>
                      </a:r>
                      <a:r>
                        <a:rPr lang="ko-KR" altLang="en-US" sz="1400" dirty="0"/>
                        <a:t>각 트리가 최종 예측에 기여하는 비중을 축소하는 파라미터</a:t>
                      </a:r>
                      <a:endParaRPr lang="en-US" altLang="ko-KR" sz="1400" dirty="0"/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ko-KR" altLang="en-US" sz="1400" dirty="0"/>
                        <a:t>각 트리가 오차를 너무 공격적으로 수정하지 않도록 제어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726314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subsample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lang="ko-KR" altLang="en-US" sz="1400" dirty="0"/>
                        <a:t>각 트리를 학습할 때 훈련 데이터를 몇 </a:t>
                      </a:r>
                      <a:r>
                        <a:rPr lang="en-US" altLang="ko-KR" sz="1400" dirty="0"/>
                        <a:t>% </a:t>
                      </a:r>
                      <a:r>
                        <a:rPr lang="ko-KR" altLang="en-US" sz="1400" dirty="0"/>
                        <a:t>랜덤 샘플링해서 사용할지 결정</a:t>
                      </a:r>
                      <a:endParaRPr lang="en-US" altLang="ko-KR" sz="1400" dirty="0"/>
                    </a:p>
                    <a:p>
                      <a:pPr>
                        <a:lnSpc>
                          <a:spcPts val="2200"/>
                        </a:lnSpc>
                      </a:pPr>
                      <a:r>
                        <a:rPr lang="ko-KR" altLang="en-US" sz="1400" dirty="0"/>
                        <a:t>트리마다 매번 새로 </a:t>
                      </a:r>
                      <a:r>
                        <a:rPr lang="ko-KR" altLang="en-US" sz="1400" dirty="0" err="1"/>
                        <a:t>샘플링하므로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각 트리는 서로 다른 데이터 부분 집합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697653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colsample_bytree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</a:pPr>
                      <a:r>
                        <a:rPr lang="ko-KR" altLang="en-US" sz="1400" dirty="0"/>
                        <a:t>각 트리를 </a:t>
                      </a:r>
                      <a:r>
                        <a:rPr lang="ko-KR" altLang="en-US" sz="1400" dirty="0" err="1"/>
                        <a:t>만들때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feature(</a:t>
                      </a:r>
                      <a:r>
                        <a:rPr lang="ko-KR" altLang="en-US" sz="1400" dirty="0"/>
                        <a:t>열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를 몇 </a:t>
                      </a:r>
                      <a:r>
                        <a:rPr lang="en-US" altLang="ko-KR" sz="1400" dirty="0"/>
                        <a:t>% </a:t>
                      </a:r>
                      <a:r>
                        <a:rPr lang="ko-KR" altLang="en-US" sz="1400" dirty="0"/>
                        <a:t>랜덤 샘플링해서 사용할지 결정</a:t>
                      </a:r>
                      <a:endParaRPr lang="en-US" altLang="ko-KR" sz="1400" dirty="0"/>
                    </a:p>
                    <a:p>
                      <a:pPr>
                        <a:lnSpc>
                          <a:spcPts val="2200"/>
                        </a:lnSpc>
                      </a:pPr>
                      <a:r>
                        <a:rPr lang="en-US" altLang="ko-KR" sz="1400" dirty="0"/>
                        <a:t>feature </a:t>
                      </a:r>
                      <a:r>
                        <a:rPr lang="ko-KR" altLang="en-US" sz="1400" dirty="0"/>
                        <a:t>수가 많을수록 효과 커짐</a:t>
                      </a:r>
                      <a:r>
                        <a:rPr lang="en-US" altLang="ko-KR" sz="1400" dirty="0"/>
                        <a:t>, 10</a:t>
                      </a:r>
                      <a:r>
                        <a:rPr lang="ko-KR" altLang="en-US" sz="1400" dirty="0"/>
                        <a:t>개 미만이면 큰 차이 없을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768790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scale_pos_weight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클래스 불균형 문제를 해결하기 위한 파라미터</a:t>
                      </a:r>
                      <a:endParaRPr lang="en-US" altLang="ko-KR" sz="1400" dirty="0"/>
                    </a:p>
                    <a:p>
                      <a:r>
                        <a:rPr lang="ko-KR" altLang="en-US" sz="1400" dirty="0"/>
                        <a:t>소수 클래스 샘플에 가중치를 곱해서 모델이 더 주목하게 </a:t>
                      </a:r>
                      <a:r>
                        <a:rPr lang="ko-KR" altLang="en-US" sz="1400" dirty="0" err="1"/>
                        <a:t>만듬</a:t>
                      </a:r>
                      <a:endParaRPr lang="en-US" altLang="ko-KR" sz="1400" dirty="0"/>
                    </a:p>
                    <a:p>
                      <a:r>
                        <a:rPr lang="ko-KR" altLang="en-US" sz="1400" dirty="0"/>
                        <a:t>사기탐지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질병 진단처럼 소수 클래스를 놓치면 안되는 문제에 자주 사용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70325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eval_metric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학습 중 모델 성능을 어떤 지표로 평가할지 지정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dirty="0" err="1"/>
                        <a:t>logloss</a:t>
                      </a:r>
                      <a:r>
                        <a:rPr lang="en-US" altLang="ko-KR" sz="1400" dirty="0"/>
                        <a:t>, error </a:t>
                      </a:r>
                      <a:r>
                        <a:rPr lang="ko-KR" altLang="en-US" sz="1400" dirty="0"/>
                        <a:t>등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logloss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745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69004"/>
      </p:ext>
    </p:extLst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4. XGBoost </a:t>
            </a:r>
            <a:r>
              <a:rPr lang="ko-KR" altLang="en-US" sz="2000" b="1" dirty="0">
                <a:solidFill>
                  <a:schemeClr val="tx1"/>
                </a:solidFill>
              </a:rPr>
              <a:t>모델 학습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82EE6-D071-4866-B0C4-ACE62F8F7FBE}"/>
              </a:ext>
            </a:extLst>
          </p:cNvPr>
          <p:cNvSpPr txBox="1"/>
          <p:nvPr/>
        </p:nvSpPr>
        <p:spPr>
          <a:xfrm>
            <a:off x="119336" y="692696"/>
            <a:ext cx="881661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불균형 비율 계산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altLang="ko-KR" sz="12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scale_pos_weight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정상 수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불량 수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→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불량에 자동으로 더 높은 가중치 부여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2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class_weight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='balanced'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와 유사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n_neg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(y_train ==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ko-KR" sz="12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정상 수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n_pos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(y_train ==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ko-KR" sz="12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 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불량 수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scale =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n_neg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n_pos</a:t>
            </a:r>
            <a:endParaRPr lang="en-US" altLang="ko-KR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2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정상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n_neg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건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n_pos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건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2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"scale_pos_weight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{scale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:.2f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"→ 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 샘플에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{scale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:.1f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배 가중치 부여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XGBoost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모델 정의 및 학습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n_estimators         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     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learning_rate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 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subsample            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0.8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colsample_bytree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0.8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scale_pos_weight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= scale,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eval_metric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   = 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logloss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early_stopping_rounds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←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여기로 이동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  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verbosity            =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altLang="ko-KR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조기 종료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(Early Stopping)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설정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→ 10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번 연속 성능 향상 없으면 학습 중단 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과적합 방지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xgb_model.fit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X_train, y_train,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eval_set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=[(X_test, y_test)],</a:t>
            </a: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verbose=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             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← </a:t>
            </a:r>
            <a:r>
              <a:rPr lang="en-US" altLang="ko-KR" sz="12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early_stopping_rounds</a:t>
            </a:r>
            <a:r>
              <a:rPr lang="en-US" altLang="ko-KR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en-US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제거</a:t>
            </a:r>
            <a:endParaRPr lang="ko-KR" altLang="en-US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학습 완료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!"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실제 사용된 트리 수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xgb_model.best_iteration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altLang="ko-KR" sz="1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ko-KR" altLang="en-US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개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7B1E263-769F-465D-8FD0-63F921EFF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40" y="5545033"/>
            <a:ext cx="3714857" cy="1163832"/>
          </a:xfrm>
          <a:prstGeom prst="rect">
            <a:avLst/>
          </a:prstGeom>
          <a:ln w="34925">
            <a:solidFill>
              <a:schemeClr val="accent6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46826674"/>
      </p:ext>
    </p:extLst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5. </a:t>
            </a:r>
            <a:r>
              <a:rPr lang="ko-KR" altLang="en-US" sz="2000" b="1" dirty="0">
                <a:solidFill>
                  <a:schemeClr val="tx1"/>
                </a:solidFill>
              </a:rPr>
              <a:t>성능 평가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ECA9B7-565F-4B54-A75C-807B30F9B8CE}"/>
              </a:ext>
            </a:extLst>
          </p:cNvPr>
          <p:cNvSpPr txBox="1"/>
          <p:nvPr/>
        </p:nvSpPr>
        <p:spPr>
          <a:xfrm>
            <a:off x="191344" y="797510"/>
            <a:ext cx="8744606" cy="5262979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      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xgb_model.predict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(X_test)  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클래스 예측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(0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또는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1)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y_pred_prob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xgb_model.predict_proba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(X_test)[:,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불량 확률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(0.0 ~ 1.0)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ko-KR" alt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지표 계산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  = accuracy_score(y_test, y_pred)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prec = precision_score(y_test, y_pred, zero_division=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  = recall_score(y_test, y_pred, zero_division=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f1   = f1_score(y_test, y_pred, zero_division=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roc_auc_score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(y_test,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y_pred_prob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XGBoost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AUC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도 함께 확인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ko-KR" alt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"="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"[XGBoost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성능 결과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]"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"="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"Accuracy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 (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정확도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):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{acc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"Precision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정밀도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):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{prec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"Recall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   (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재현율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):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{rec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"F1-score         :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{f1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"AUC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-ROC          :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{auc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"\n[Confusion Matrix]"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(y_test, y_pred))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"\n[Classification Report]"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(y_test, y_pred, digits=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zero_division=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21CA23D-B2B8-43F3-8858-F4BED388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49" y="2821844"/>
            <a:ext cx="4182059" cy="3991532"/>
          </a:xfrm>
          <a:prstGeom prst="rect">
            <a:avLst/>
          </a:prstGeom>
          <a:ln w="254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858404628"/>
      </p:ext>
    </p:extLst>
  </p:cSld>
  <p:clrMapOvr>
    <a:masterClrMapping/>
  </p:clrMapOvr>
  <p:transition spd="slow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5. </a:t>
            </a:r>
            <a:r>
              <a:rPr lang="ko-KR" altLang="en-US" sz="2000" b="1" dirty="0">
                <a:solidFill>
                  <a:schemeClr val="tx1"/>
                </a:solidFill>
              </a:rPr>
              <a:t>성능 평가 </a:t>
            </a:r>
            <a:r>
              <a:rPr lang="en-US" altLang="ko-KR" sz="2000" b="1" dirty="0">
                <a:solidFill>
                  <a:schemeClr val="tx1"/>
                </a:solidFill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</a:rPr>
              <a:t>과적합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06DA1-2EA8-49A5-BD2D-CEC6F16FB911}"/>
              </a:ext>
            </a:extLst>
          </p:cNvPr>
          <p:cNvSpPr txBox="1"/>
          <p:nvPr/>
        </p:nvSpPr>
        <p:spPr>
          <a:xfrm>
            <a:off x="191344" y="908720"/>
            <a:ext cx="9073008" cy="4031873"/>
          </a:xfrm>
          <a:prstGeom prst="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과적합 확인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(Train vs Test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비교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xgb_model.predict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(X_train)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accuracy_score(y_train,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= accuracy_score(y_test,  y_pred)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과적합 확인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Accuracy: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{train_acc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 Accuracy: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{test_acc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차이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      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&lt;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"→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과적합 없음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좋은 모델입니다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elif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test_acc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&lt;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0.05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"→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약간의 과적합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허용 범위입니다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"→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과적합 의심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줄이기 또는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n_estimators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줄이기 필요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3CEAD01-6912-4A8F-8F78-8B73F0F8D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224" y="5283861"/>
            <a:ext cx="3952983" cy="1330837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3128267198"/>
      </p:ext>
    </p:extLst>
  </p:cSld>
  <p:clrMapOvr>
    <a:masterClrMapping/>
  </p:clrMapOvr>
  <p:transition spd="slow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5. </a:t>
            </a:r>
            <a:r>
              <a:rPr lang="ko-KR" altLang="en-US" sz="2000" b="1" dirty="0">
                <a:solidFill>
                  <a:schemeClr val="tx1"/>
                </a:solidFill>
              </a:rPr>
              <a:t>성능 평가 </a:t>
            </a:r>
            <a:r>
              <a:rPr lang="en-US" altLang="ko-KR" sz="2000" b="1" dirty="0">
                <a:solidFill>
                  <a:schemeClr val="tx1"/>
                </a:solidFill>
              </a:rPr>
              <a:t>: Confusion Matrix </a:t>
            </a:r>
            <a:r>
              <a:rPr lang="ko-KR" altLang="en-US" sz="2000" b="1" dirty="0">
                <a:solidFill>
                  <a:schemeClr val="tx1"/>
                </a:solidFill>
              </a:rPr>
              <a:t>시각화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2C7596-A353-46F2-88E2-CFC615CCB3A6}"/>
              </a:ext>
            </a:extLst>
          </p:cNvPr>
          <p:cNvSpPr txBox="1"/>
          <p:nvPr/>
        </p:nvSpPr>
        <p:spPr>
          <a:xfrm>
            <a:off x="191344" y="836712"/>
            <a:ext cx="5256584" cy="5478423"/>
          </a:xfrm>
          <a:prstGeom prst="rect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seaborn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(y_test, y_pred)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fig, ax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sns.heatmap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cm,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annot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fmt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'Blues'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xticklabels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정상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(0)'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(1)'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yticklabels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정상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(0)'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(1)'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ax=ax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ax.set_xlabel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예측값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ax.set_ylabel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실제값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'XGBoost Confusion Matrix'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각 셀 의미 표시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labels_cm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'TN'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'FP'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'FN'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'TP'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</a:t>
            </a:r>
          </a:p>
          <a:p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j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ax.text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(j+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i+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0.75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labels_cm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][j],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ha=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'center'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'center'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color=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'gray'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4F5E5D8-7CBC-4AFF-BBE3-C597947E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427" y="1268760"/>
            <a:ext cx="5425479" cy="448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91687"/>
      </p:ext>
    </p:extLst>
  </p:cSld>
  <p:clrMapOvr>
    <a:masterClrMapping/>
  </p:clrMapOvr>
  <p:transition spd="slow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2135560" y="1658"/>
            <a:ext cx="10056440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6. </a:t>
            </a:r>
            <a:r>
              <a:rPr lang="ko-KR" altLang="en-US" sz="2000" b="1" dirty="0">
                <a:solidFill>
                  <a:schemeClr val="tx1"/>
                </a:solidFill>
              </a:rPr>
              <a:t>특성 중요도 시각화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2135560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ECF8A-16E8-4D77-896D-B04E9E2D3847}"/>
              </a:ext>
            </a:extLst>
          </p:cNvPr>
          <p:cNvSpPr txBox="1"/>
          <p:nvPr/>
        </p:nvSpPr>
        <p:spPr>
          <a:xfrm>
            <a:off x="5672020" y="131132"/>
            <a:ext cx="6492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XGBoost</a:t>
            </a:r>
            <a:r>
              <a:rPr lang="ko-KR" altLang="en-US" dirty="0"/>
              <a:t>는 어떤 변수가 예측에 더 중요했는지 수치로 알려줌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CBE3A0-29D5-455D-8C6E-07B515B3B882}"/>
              </a:ext>
            </a:extLst>
          </p:cNvPr>
          <p:cNvSpPr txBox="1"/>
          <p:nvPr/>
        </p:nvSpPr>
        <p:spPr>
          <a:xfrm>
            <a:off x="191344" y="832638"/>
            <a:ext cx="885698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특성 중요도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가지 방식으로 비교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weight  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해당 변수가 분기에 사용된 횟수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gain    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해당 변수가 가져온 평균 성능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향상량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가장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의미있음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cover   :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해당 변수 분기가 커버하는 평균 샘플 수</a:t>
            </a:r>
            <a:br>
              <a:rPr lang="ko-KR" alt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importance_types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'weight'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'gain'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'cover'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fig, axes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14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feature_names = 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ax,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imp_type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zip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(axes,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importance_types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scores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xgb_model.get_booster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get_score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importance_type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imp_type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= 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scores.get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(feature_names))]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colors_bar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'#2196F3'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'#FF9800'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bars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ax.bar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(feature_names,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color=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colors_bar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alpha=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bar, v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zip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(bars,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ax.text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bar.get_x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()+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bar.get_width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()/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bar.get_height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()+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{v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:.1f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ha=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'center'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중요도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imp_type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ax.set_ylabel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중요도 점수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plt.suptitle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'XGBoost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특성 중요도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14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1.02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gain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기준 중요도 출력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ngain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기준 특성 중요도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클수록 중요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scores_gain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xgb_model.get_booster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get_score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importance_type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'gain'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enumerate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(feature_names):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scores_gain.get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  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fname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{val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:.2f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2010439"/>
      </p:ext>
    </p:extLst>
  </p:cSld>
  <p:clrMapOvr>
    <a:masterClrMapping/>
  </p:clrMapOvr>
  <p:transition spd="slow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2135560" y="1658"/>
            <a:ext cx="10056440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6. </a:t>
            </a:r>
            <a:r>
              <a:rPr lang="ko-KR" altLang="en-US" sz="2000" b="1" dirty="0">
                <a:solidFill>
                  <a:schemeClr val="tx1"/>
                </a:solidFill>
              </a:rPr>
              <a:t>특성 중요도 시각화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2135560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ECF8A-16E8-4D77-896D-B04E9E2D3847}"/>
              </a:ext>
            </a:extLst>
          </p:cNvPr>
          <p:cNvSpPr txBox="1"/>
          <p:nvPr/>
        </p:nvSpPr>
        <p:spPr>
          <a:xfrm>
            <a:off x="5672020" y="131132"/>
            <a:ext cx="6492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XGBoost</a:t>
            </a:r>
            <a:r>
              <a:rPr lang="ko-KR" altLang="en-US" dirty="0"/>
              <a:t>는 어떤 변수가 예측에 더 중요했는지 수치로 알려줌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3D42791-FF0B-4055-AE6F-DBCDB2912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1347497"/>
            <a:ext cx="11622122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00121"/>
      </p:ext>
    </p:extLst>
  </p:cSld>
  <p:clrMapOvr>
    <a:masterClrMapping/>
  </p:clrMapOvr>
  <p:transition spd="slow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2135560" y="1658"/>
            <a:ext cx="10056440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6. </a:t>
            </a:r>
            <a:r>
              <a:rPr lang="ko-KR" altLang="en-US" sz="2000" b="1" dirty="0">
                <a:solidFill>
                  <a:schemeClr val="tx1"/>
                </a:solidFill>
              </a:rPr>
              <a:t>특성 중요도 시각화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2135560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ECF8A-16E8-4D77-896D-B04E9E2D3847}"/>
              </a:ext>
            </a:extLst>
          </p:cNvPr>
          <p:cNvSpPr txBox="1"/>
          <p:nvPr/>
        </p:nvSpPr>
        <p:spPr>
          <a:xfrm>
            <a:off x="5672020" y="131132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결정 경계 시각화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D012A-A101-4690-842F-25F4D6C88460}"/>
              </a:ext>
            </a:extLst>
          </p:cNvPr>
          <p:cNvSpPr txBox="1"/>
          <p:nvPr/>
        </p:nvSpPr>
        <p:spPr>
          <a:xfrm>
            <a:off x="191344" y="761070"/>
            <a:ext cx="856895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결정 경계 시각화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(temp-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공간에서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xx,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np.meshgrid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np.linspace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df[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()+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np.linspace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df[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()+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xgb_model.predict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xx.ravel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yy.ravel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()])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Z.reshape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xx.shape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fig, ax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ax.contourf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(xx,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Z, alpha=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RdYlGn_r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ax.contour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(xx,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Z, colors=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'black'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linewidths=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color, label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[(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'#1a73e8'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정상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(0)'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'#d93025'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불량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(1)'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)]: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mask = y_test ==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cls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ax.scatter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(X_test[mask,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X_test[mask,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c=color, label=label, alpha=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0.6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edgecolors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'none'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ax.set_xlabel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온도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(temp)'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ax.set_ylabel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습도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'XGBoost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결정 경계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테스트 데이터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ax.legend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07905926"/>
      </p:ext>
    </p:extLst>
  </p:cSld>
  <p:clrMapOvr>
    <a:masterClrMapping/>
  </p:clrMapOvr>
  <p:transition spd="slow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2135560" y="1658"/>
            <a:ext cx="10056440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6. </a:t>
            </a:r>
            <a:r>
              <a:rPr lang="ko-KR" altLang="en-US" sz="2000" b="1" dirty="0">
                <a:solidFill>
                  <a:schemeClr val="tx1"/>
                </a:solidFill>
              </a:rPr>
              <a:t>특성 중요도 시각화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2135560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ECF8A-16E8-4D77-896D-B04E9E2D3847}"/>
              </a:ext>
            </a:extLst>
          </p:cNvPr>
          <p:cNvSpPr txBox="1"/>
          <p:nvPr/>
        </p:nvSpPr>
        <p:spPr>
          <a:xfrm>
            <a:off x="5672020" y="131132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결정 경계 시각화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5CBD993-6F23-4145-A57D-44761BCC0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770637"/>
            <a:ext cx="9308074" cy="5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93012"/>
      </p:ext>
    </p:extLst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2135560" y="1658"/>
            <a:ext cx="10056440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7. </a:t>
            </a:r>
            <a:r>
              <a:rPr lang="ko-KR" altLang="en-US" sz="2000" b="1" dirty="0" err="1">
                <a:solidFill>
                  <a:schemeClr val="tx1"/>
                </a:solidFill>
              </a:rPr>
              <a:t>하이퍼</a:t>
            </a:r>
            <a:r>
              <a:rPr lang="ko-KR" altLang="en-US" sz="2000" b="1" dirty="0">
                <a:solidFill>
                  <a:schemeClr val="tx1"/>
                </a:solidFill>
              </a:rPr>
              <a:t> 파라미터 튜닝</a:t>
            </a:r>
            <a:r>
              <a:rPr lang="en-US" altLang="ko-KR" sz="2000" b="1" dirty="0">
                <a:solidFill>
                  <a:schemeClr val="tx1"/>
                </a:solidFill>
              </a:rPr>
              <a:t>(</a:t>
            </a:r>
            <a:r>
              <a:rPr lang="en-US" altLang="ko-KR" sz="2000" b="1" dirty="0" err="1">
                <a:solidFill>
                  <a:schemeClr val="tx1"/>
                </a:solidFill>
              </a:rPr>
              <a:t>GridSearchCV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2135560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AD919-12B5-48D1-A2B8-3022BD810DEC}"/>
              </a:ext>
            </a:extLst>
          </p:cNvPr>
          <p:cNvSpPr txBox="1"/>
          <p:nvPr/>
        </p:nvSpPr>
        <p:spPr>
          <a:xfrm>
            <a:off x="191344" y="675530"/>
            <a:ext cx="6552728" cy="5693866"/>
          </a:xfrm>
          <a:prstGeom prst="rect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altLang="ko-KR" sz="14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GridSearchCV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로 최적 파라미터 탐색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'n_estimators'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: 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: 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learning_rate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: 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'subsample'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: 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0.8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xgb_base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scale_pos_weight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scale,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eval_metric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logloss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=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verbosity        =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grid_search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GridSearchCV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estimator  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xgb_base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cv         =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5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겹 교차검증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scoring    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'f1'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불균형 데이터이므로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F1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기준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n_jobs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=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  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병렬 처리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verbose    =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grid_search.fit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(X_train, y_train)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최적 파라미터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grid_search.best_params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_)</a:t>
            </a:r>
          </a:p>
          <a:p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최적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F1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점수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grid_search.best_score_.</a:t>
            </a:r>
            <a:r>
              <a:rPr lang="en-US" altLang="ko-KR" sz="14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round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0DAEDEC-2973-44DA-B93A-CC054F922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968" y="4941168"/>
            <a:ext cx="6552728" cy="6829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78E2BC-6914-44BB-B82D-29B05C37E898}"/>
              </a:ext>
            </a:extLst>
          </p:cNvPr>
          <p:cNvSpPr txBox="1"/>
          <p:nvPr/>
        </p:nvSpPr>
        <p:spPr>
          <a:xfrm>
            <a:off x="6794047" y="710594"/>
            <a:ext cx="4686219" cy="1384995"/>
          </a:xfrm>
          <a:prstGeom prst="rect">
            <a:avLst/>
          </a:prstGeom>
          <a:noFill/>
          <a:ln w="15875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모든 조합을 전부 시도해보고 가장 성능이 좋은 조합을 선택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총 조합 수는 </a:t>
            </a:r>
            <a:r>
              <a:rPr lang="en-US" altLang="ko-KR" sz="1200" dirty="0">
                <a:latin typeface="+mn-ea"/>
              </a:rPr>
              <a:t>3x3x3x2=54</a:t>
            </a:r>
            <a:r>
              <a:rPr lang="ko-KR" altLang="en-US" sz="1200" dirty="0">
                <a:latin typeface="+mn-ea"/>
              </a:rPr>
              <a:t>가지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estimators : </a:t>
            </a:r>
            <a:r>
              <a:rPr lang="ko-KR" altLang="en-US" sz="1200" dirty="0">
                <a:latin typeface="+mn-ea"/>
              </a:rPr>
              <a:t>트리를 몇 개 </a:t>
            </a:r>
            <a:r>
              <a:rPr lang="ko-KR" altLang="en-US" sz="1200" dirty="0" err="1">
                <a:latin typeface="+mn-ea"/>
              </a:rPr>
              <a:t>쌓을것인지</a:t>
            </a:r>
            <a:r>
              <a:rPr lang="ko-KR" altLang="en-US" sz="1200" dirty="0">
                <a:latin typeface="+mn-ea"/>
              </a:rPr>
              <a:t> 지정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많이 쌓을 수록 정확해지지만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학습 속도 느려지고 과적합 우려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max_depth</a:t>
            </a:r>
            <a:r>
              <a:rPr lang="en-US" altLang="ko-KR" sz="1200" dirty="0">
                <a:latin typeface="+mn-ea"/>
              </a:rPr>
              <a:t> : </a:t>
            </a:r>
            <a:r>
              <a:rPr lang="ko-KR" altLang="en-US" sz="1200" dirty="0">
                <a:latin typeface="+mn-ea"/>
              </a:rPr>
              <a:t>각 결정 트리의 깊이 한도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learning_rate</a:t>
            </a:r>
            <a:r>
              <a:rPr lang="en-US" altLang="ko-KR" sz="1200" dirty="0">
                <a:latin typeface="+mn-ea"/>
              </a:rPr>
              <a:t> : </a:t>
            </a:r>
            <a:r>
              <a:rPr lang="ko-KR" altLang="en-US" sz="1200" dirty="0">
                <a:latin typeface="+mn-ea"/>
              </a:rPr>
              <a:t>각 트리의 기여도를 얼마나 줄여서 더할지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subsample : </a:t>
            </a:r>
            <a:r>
              <a:rPr lang="ko-KR" altLang="en-US" sz="1200" dirty="0">
                <a:latin typeface="+mn-ea"/>
              </a:rPr>
              <a:t>각 트리 학습할 때 전체 데이터에서 몇 </a:t>
            </a:r>
            <a:r>
              <a:rPr lang="en-US" altLang="ko-KR" sz="1200" dirty="0">
                <a:latin typeface="+mn-ea"/>
              </a:rPr>
              <a:t>% </a:t>
            </a:r>
            <a:r>
              <a:rPr lang="ko-KR" altLang="en-US" sz="1200" dirty="0">
                <a:latin typeface="+mn-ea"/>
              </a:rPr>
              <a:t>사용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5742C-E785-4120-B5CC-71A38438FB06}"/>
              </a:ext>
            </a:extLst>
          </p:cNvPr>
          <p:cNvSpPr txBox="1"/>
          <p:nvPr/>
        </p:nvSpPr>
        <p:spPr>
          <a:xfrm>
            <a:off x="6804807" y="2174587"/>
            <a:ext cx="5143075" cy="1015663"/>
          </a:xfrm>
          <a:prstGeom prst="rect">
            <a:avLst/>
          </a:prstGeom>
          <a:noFill/>
          <a:ln w="15875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XGBClassifier</a:t>
            </a:r>
            <a:r>
              <a:rPr lang="en-US" altLang="ko-KR" sz="1200" dirty="0">
                <a:latin typeface="+mn-ea"/>
              </a:rPr>
              <a:t> : </a:t>
            </a:r>
            <a:r>
              <a:rPr lang="ko-KR" altLang="en-US" sz="1200" dirty="0">
                <a:latin typeface="+mn-ea"/>
              </a:rPr>
              <a:t>분류 문제 사용하겠다는 선언 </a:t>
            </a:r>
            <a:r>
              <a:rPr lang="en-US" altLang="ko-KR" sz="1200" dirty="0">
                <a:latin typeface="+mn-ea"/>
              </a:rPr>
              <a:t>(: </a:t>
            </a:r>
            <a:r>
              <a:rPr lang="en-US" altLang="ko-KR" sz="1200" dirty="0" err="1">
                <a:latin typeface="+mn-ea"/>
              </a:rPr>
              <a:t>XGBRegressor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scale_pos_weight</a:t>
            </a:r>
            <a:r>
              <a:rPr lang="en-US" altLang="ko-KR" sz="1200" dirty="0">
                <a:latin typeface="+mn-ea"/>
              </a:rPr>
              <a:t> : </a:t>
            </a:r>
            <a:r>
              <a:rPr lang="ko-KR" altLang="en-US" sz="1200" dirty="0">
                <a:latin typeface="+mn-ea"/>
              </a:rPr>
              <a:t>클래스 불균형 보정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eval_metric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모델 성능을 어떤 기준으로 측정할지 선언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 err="1">
                <a:latin typeface="+mn-ea"/>
              </a:rPr>
              <a:t>logloss</a:t>
            </a:r>
            <a:r>
              <a:rPr lang="ko-KR" altLang="en-US" sz="1200" dirty="0">
                <a:latin typeface="+mn-ea"/>
              </a:rPr>
              <a:t>는 분류문제에서 예측 확률이 실제 정답과 얼마나 </a:t>
            </a:r>
            <a:r>
              <a:rPr lang="ko-KR" altLang="en-US" sz="1200" dirty="0" err="1">
                <a:latin typeface="+mn-ea"/>
              </a:rPr>
              <a:t>다른지</a:t>
            </a:r>
            <a:r>
              <a:rPr lang="ko-KR" altLang="en-US" sz="1200" dirty="0">
                <a:latin typeface="+mn-ea"/>
              </a:rPr>
              <a:t> 측정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verbosity : </a:t>
            </a:r>
            <a:r>
              <a:rPr lang="ko-KR" altLang="en-US" sz="1200" dirty="0">
                <a:latin typeface="+mn-ea"/>
              </a:rPr>
              <a:t>학습 중에 출력할 로그 양 조절  </a:t>
            </a:r>
            <a:r>
              <a:rPr lang="en-US" altLang="ko-KR" sz="1200" dirty="0">
                <a:latin typeface="+mn-ea"/>
              </a:rPr>
              <a:t>0 = </a:t>
            </a:r>
            <a:r>
              <a:rPr lang="ko-KR" altLang="en-US" sz="1200" dirty="0">
                <a:latin typeface="+mn-ea"/>
              </a:rPr>
              <a:t>출력하지 않음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E66B3F-A08E-4D0E-92F4-15EB2FA586C1}"/>
              </a:ext>
            </a:extLst>
          </p:cNvPr>
          <p:cNvSpPr txBox="1"/>
          <p:nvPr/>
        </p:nvSpPr>
        <p:spPr>
          <a:xfrm>
            <a:off x="6804807" y="3429000"/>
            <a:ext cx="4732706" cy="1200329"/>
          </a:xfrm>
          <a:prstGeom prst="rect">
            <a:avLst/>
          </a:prstGeom>
          <a:noFill/>
          <a:ln w="15875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cv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Cross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Validation , </a:t>
            </a:r>
            <a:r>
              <a:rPr lang="ko-KR" altLang="en-US" sz="1200" dirty="0">
                <a:latin typeface="+mn-ea"/>
              </a:rPr>
              <a:t>전체 학습 데이터를 </a:t>
            </a:r>
            <a:r>
              <a:rPr lang="en-US" altLang="ko-KR" sz="1200" dirty="0">
                <a:latin typeface="+mn-ea"/>
              </a:rPr>
              <a:t>5</a:t>
            </a:r>
            <a:r>
              <a:rPr lang="ko-KR" altLang="en-US" sz="1200" dirty="0">
                <a:latin typeface="+mn-ea"/>
              </a:rPr>
              <a:t>등분해서</a:t>
            </a:r>
            <a:r>
              <a:rPr lang="en-US" altLang="ko-KR" sz="1200" dirty="0">
                <a:latin typeface="+mn-ea"/>
              </a:rPr>
              <a:t>, 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개로 학습하고 나머지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개로 검증하는 과정을 </a:t>
            </a:r>
            <a:r>
              <a:rPr lang="en-US" altLang="ko-KR" sz="1200" dirty="0">
                <a:latin typeface="+mn-ea"/>
              </a:rPr>
              <a:t>5</a:t>
            </a:r>
            <a:r>
              <a:rPr lang="ko-KR" altLang="en-US" sz="1200" dirty="0">
                <a:latin typeface="+mn-ea"/>
              </a:rPr>
              <a:t>번 반복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scoring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어떤 지표를 기준으로 가장 좋은 파라미터를 선택할지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+mn-ea"/>
              </a:rPr>
              <a:t>n_jobs</a:t>
            </a:r>
            <a:r>
              <a:rPr lang="en-US" altLang="ko-KR" sz="1200" dirty="0">
                <a:latin typeface="+mn-ea"/>
              </a:rPr>
              <a:t> :  </a:t>
            </a:r>
            <a:r>
              <a:rPr lang="ko-KR" altLang="en-US" sz="1200" dirty="0">
                <a:latin typeface="+mn-ea"/>
              </a:rPr>
              <a:t>병렬 처리에 사용할 </a:t>
            </a:r>
            <a:r>
              <a:rPr lang="en-US" altLang="ko-KR" sz="1200" dirty="0">
                <a:latin typeface="+mn-ea"/>
              </a:rPr>
              <a:t>CPU </a:t>
            </a:r>
            <a:r>
              <a:rPr lang="ko-KR" altLang="en-US" sz="1200" dirty="0">
                <a:latin typeface="+mn-ea"/>
              </a:rPr>
              <a:t>코어 수</a:t>
            </a:r>
            <a:r>
              <a:rPr lang="en-US" altLang="ko-KR" sz="1200" dirty="0">
                <a:latin typeface="+mn-ea"/>
              </a:rPr>
              <a:t>, -1</a:t>
            </a:r>
            <a:r>
              <a:rPr lang="ko-KR" altLang="en-US" sz="1200" dirty="0">
                <a:latin typeface="+mn-ea"/>
              </a:rPr>
              <a:t>은 모두 사용</a:t>
            </a:r>
            <a:endParaRPr lang="en-US" altLang="ko-KR" sz="1200" dirty="0">
              <a:latin typeface="+mn-ea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verbose : </a:t>
            </a:r>
            <a:r>
              <a:rPr lang="ko-KR" altLang="en-US" sz="1200" dirty="0">
                <a:latin typeface="+mn-ea"/>
              </a:rPr>
              <a:t>탐색 진행 상황을 얼마나 출력할 지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이면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각 조합이 완료될 때마다 간단한 진행 메시지 출력</a:t>
            </a:r>
          </a:p>
        </p:txBody>
      </p:sp>
    </p:spTree>
    <p:extLst>
      <p:ext uri="{BB962C8B-B14F-4D97-AF65-F5344CB8AC3E}">
        <p14:creationId xmlns:p14="http://schemas.microsoft.com/office/powerpoint/2010/main" val="2890075807"/>
      </p:ext>
    </p:extLst>
  </p:cSld>
  <p:clrMapOvr>
    <a:masterClrMapping/>
  </p:clrMapOvr>
  <p:transition spd="slow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2135560" y="1658"/>
            <a:ext cx="10056440" cy="6299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STEP 7. </a:t>
            </a:r>
            <a:r>
              <a:rPr lang="ko-KR" altLang="en-US" sz="2000" b="1" dirty="0" err="1">
                <a:solidFill>
                  <a:schemeClr val="tx1"/>
                </a:solidFill>
              </a:rPr>
              <a:t>하이퍼</a:t>
            </a:r>
            <a:r>
              <a:rPr lang="ko-KR" altLang="en-US" sz="2000" b="1" dirty="0">
                <a:solidFill>
                  <a:schemeClr val="tx1"/>
                </a:solidFill>
              </a:rPr>
              <a:t> 파라미터 튜닝</a:t>
            </a:r>
            <a:r>
              <a:rPr lang="en-US" altLang="ko-KR" sz="2000" b="1" dirty="0">
                <a:solidFill>
                  <a:schemeClr val="tx1"/>
                </a:solidFill>
              </a:rPr>
              <a:t>(</a:t>
            </a:r>
            <a:r>
              <a:rPr lang="en-US" altLang="ko-KR" sz="2000" b="1" dirty="0" err="1">
                <a:solidFill>
                  <a:schemeClr val="tx1"/>
                </a:solidFill>
              </a:rPr>
              <a:t>GridSearchCV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2135560" cy="63159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XGBoost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EB4FD-8418-4152-B485-9C7E0C74C66E}"/>
              </a:ext>
            </a:extLst>
          </p:cNvPr>
          <p:cNvSpPr txBox="1"/>
          <p:nvPr/>
        </p:nvSpPr>
        <p:spPr>
          <a:xfrm>
            <a:off x="119336" y="764704"/>
            <a:ext cx="8744606" cy="415498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최적 파라미터로 최종 평가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best_model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grid_search.best_estimator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y_pred_best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best_model.predict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(X_test)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"="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"[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최적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XGBoost </a:t>
            </a:r>
            <a:r>
              <a:rPr lang="ko-KR" alt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최종 결과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"="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"Accuracy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{accuracy_score(y_test,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y_pred_best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"Precision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{precision_score(y_test,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y_pred_best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zero_division=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"Recall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 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{recall_score(y_test,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y_pred_best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zero_division=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"F1-score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{f1_score(y_test,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y_pred_best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zero_division=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"\n[Confusion Matrix]"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(y_test,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y_pred_best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39EF0D-7911-4630-BAB7-0390F512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280" y="3711348"/>
            <a:ext cx="3252123" cy="305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75167"/>
      </p:ext>
    </p:extLst>
  </p:cSld>
  <p:clrMapOvr>
    <a:masterClrMapping/>
  </p:clrMapOvr>
  <p:transition spd="slow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890FF-6EFF-7B4B-25D0-B4632CB6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스크린샷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5B0B74-445C-E2C9-E6F3-47BB9DA1DD6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9F9"/>
              </a:clrFrom>
              <a:clrTo>
                <a:srgbClr val="F7F9F9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8777" y="2733099"/>
            <a:ext cx="8583223" cy="41249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57278A-92DE-D55C-62A4-F174F4A3E557}"/>
              </a:ext>
            </a:extLst>
          </p:cNvPr>
          <p:cNvSpPr txBox="1"/>
          <p:nvPr/>
        </p:nvSpPr>
        <p:spPr>
          <a:xfrm>
            <a:off x="1136950" y="1625103"/>
            <a:ext cx="991810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 공장 </a:t>
            </a:r>
            <a:r>
              <a:rPr lang="en-US" altLang="ko-KR" sz="6600" dirty="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 </a:t>
            </a:r>
            <a:r>
              <a:rPr lang="ko-KR" altLang="en-US" sz="6600" dirty="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예지 보전</a:t>
            </a:r>
          </a:p>
        </p:txBody>
      </p:sp>
    </p:spTree>
    <p:extLst>
      <p:ext uri="{BB962C8B-B14F-4D97-AF65-F5344CB8AC3E}">
        <p14:creationId xmlns:p14="http://schemas.microsoft.com/office/powerpoint/2010/main" val="3212448582"/>
      </p:ext>
    </p:extLst>
  </p:cSld>
  <p:clrMapOvr>
    <a:masterClrMapping/>
  </p:clrMapOvr>
  <p:transition spd="slow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816EB-8983-998C-1DF3-3FFBF0953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12089F6-FCAD-BDD2-8034-D84B78FD0CC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D939F8-1B5D-9C35-A6CE-B85986FCEB8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AA8D40-03EF-97C9-BBEC-5B3197D8DB2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984A7C-9781-660D-838F-033C63CB9A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9EA216-279C-04E4-7CD3-2542F4C4325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79E47D1-7413-1C1A-8498-8A6CDD496BD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22B369-FEA9-A39F-AC86-E6304788C22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4209330-4D1E-F23D-D1D4-7161002E302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BCB76D-565E-8D02-276F-BB6C13D14FD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학습 목표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91FBF3-75E1-5F78-775F-1061C0C25A1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AI </a:t>
            </a:r>
            <a:r>
              <a:rPr lang="ko-KR" altLang="en-US" sz="2000" b="1" dirty="0"/>
              <a:t>예지 보전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EAAFBB8-F924-9285-B09A-EFC599AF8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980728"/>
            <a:ext cx="11259942" cy="2830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예지보전에서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시계열·다채널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센서 데이터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어떻게 생기는지 이해한다.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RNN, GRU,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BiGRU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1D-CNN,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의 기본 개념을 설명할 수 있다.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AM-CNN-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BiGRU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구조를 그림으로 설명하고, 각 블록의 역할을 말할 수 있다.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Colab에서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간단한 AM-CNN-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BiGRU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모델을 직접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구현·학습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보고, 다른 모델과 성능을 비교한다.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예지보전 프로젝트에 어떤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센서·데이터에서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 모델을 쓸 수 있을지 토의한다.</a:t>
            </a:r>
          </a:p>
        </p:txBody>
      </p:sp>
    </p:spTree>
    <p:extLst>
      <p:ext uri="{BB962C8B-B14F-4D97-AF65-F5344CB8AC3E}">
        <p14:creationId xmlns:p14="http://schemas.microsoft.com/office/powerpoint/2010/main" val="3160853946"/>
      </p:ext>
    </p:extLst>
  </p:cSld>
  <p:clrMapOvr>
    <a:masterClrMapping/>
  </p:clrMapOvr>
  <p:transition spd="slow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48C6A-E4F2-3730-3DED-6F87950A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AA54BED-F108-FEA5-2B65-17B537F150F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C3DA7-1A77-6484-8743-DDADBA59E84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1AAED2-CF47-8CC5-B356-1057CAC5AC1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312C31-98DF-A067-8DC8-31897E013FE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EE3ECC4-7F64-47AF-0B0E-3AA8C97B85B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6CD1FCE-F91D-4128-BDAA-A0A32FB2E4A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B5ACB8E-7195-B9B3-DB40-6E6DE510A61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7621BFB-7238-60FF-F202-DAA2C09BA89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DABDAA-08C4-BEC4-2F8B-236B692450A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예지 보전이란</a:t>
            </a:r>
            <a:r>
              <a:rPr lang="en-US" altLang="ko-KR" sz="2000" b="1" dirty="0">
                <a:solidFill>
                  <a:schemeClr val="tx1"/>
                </a:solidFill>
              </a:rPr>
              <a:t>?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AFBB0E-8E73-20D9-E397-2688EA1C66C9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AI </a:t>
            </a:r>
            <a:r>
              <a:rPr lang="ko-KR" altLang="en-US" sz="2000" b="1" dirty="0"/>
              <a:t>예지 보전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333DB-872D-DB34-EC76-4B8F6B83E36C}"/>
              </a:ext>
            </a:extLst>
          </p:cNvPr>
          <p:cNvSpPr txBox="1"/>
          <p:nvPr/>
        </p:nvSpPr>
        <p:spPr>
          <a:xfrm>
            <a:off x="191344" y="795386"/>
            <a:ext cx="9361040" cy="521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buNone/>
            </a:pPr>
            <a:r>
              <a:rPr lang="en-US" altLang="ko-KR" b="1" dirty="0">
                <a:latin typeface="+mn-ea"/>
              </a:rPr>
              <a:t>(1) </a:t>
            </a:r>
            <a:r>
              <a:rPr lang="ko-KR" altLang="en-US" b="1" dirty="0">
                <a:latin typeface="+mn-ea"/>
              </a:rPr>
              <a:t>예지보전</a:t>
            </a:r>
            <a:r>
              <a:rPr lang="en-US" altLang="ko-KR" b="1" dirty="0">
                <a:latin typeface="+mn-ea"/>
              </a:rPr>
              <a:t>(</a:t>
            </a:r>
            <a:r>
              <a:rPr lang="en-US" altLang="ko-KR" b="1" dirty="0" err="1">
                <a:latin typeface="+mn-ea"/>
              </a:rPr>
              <a:t>PdM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의 목적</a:t>
            </a:r>
            <a:endParaRPr lang="ko-KR" altLang="en-US" dirty="0">
              <a:latin typeface="+mn-ea"/>
            </a:endParaRP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고장이 나기 전에 </a:t>
            </a:r>
            <a:r>
              <a:rPr lang="ko-KR" altLang="en-US" b="1" dirty="0">
                <a:latin typeface="+mn-ea"/>
              </a:rPr>
              <a:t>상태를 예측</a:t>
            </a:r>
            <a:r>
              <a:rPr lang="ko-KR" altLang="en-US" dirty="0">
                <a:latin typeface="+mn-ea"/>
              </a:rPr>
              <a:t>해서</a:t>
            </a:r>
          </a:p>
          <a:p>
            <a:pPr lvl="1">
              <a:lnSpc>
                <a:spcPts val="2600"/>
              </a:lnSpc>
              <a:spcAft>
                <a:spcPts val="600"/>
              </a:spcAft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계획 정비</a:t>
            </a:r>
            <a:r>
              <a:rPr lang="en-US" altLang="ko-KR" dirty="0">
                <a:latin typeface="+mn-ea"/>
              </a:rPr>
              <a:t>(Planed Maintenance),  </a:t>
            </a:r>
            <a:r>
              <a:rPr lang="ko-KR" altLang="en-US" dirty="0">
                <a:latin typeface="+mn-ea"/>
              </a:rPr>
              <a:t>다운타임 최소화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부품 수명 최적 사용</a:t>
            </a:r>
          </a:p>
          <a:p>
            <a:pPr>
              <a:lnSpc>
                <a:spcPts val="2600"/>
              </a:lnSpc>
              <a:buNone/>
            </a:pPr>
            <a:r>
              <a:rPr lang="en-US" altLang="ko-KR" b="1" dirty="0">
                <a:latin typeface="+mn-ea"/>
              </a:rPr>
              <a:t>(2) </a:t>
            </a:r>
            <a:r>
              <a:rPr lang="ko-KR" altLang="en-US" b="1" dirty="0">
                <a:latin typeface="+mn-ea"/>
              </a:rPr>
              <a:t>예지보전 데이터의 특징</a:t>
            </a:r>
            <a:endParaRPr lang="ko-KR" altLang="en-US" dirty="0">
              <a:latin typeface="+mn-ea"/>
            </a:endParaRPr>
          </a:p>
          <a:p>
            <a:pPr marL="363538" indent="-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시계열</a:t>
            </a:r>
            <a:r>
              <a:rPr lang="en-US" altLang="ko-KR" dirty="0">
                <a:latin typeface="+mn-ea"/>
              </a:rPr>
              <a:t>(Time-series)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센서가 계속 값을 찍는다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다채널</a:t>
            </a:r>
            <a:r>
              <a:rPr lang="en-US" altLang="ko-KR" dirty="0">
                <a:latin typeface="+mn-ea"/>
              </a:rPr>
              <a:t>(Multi-sensor)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진동 </a:t>
            </a:r>
            <a:r>
              <a:rPr lang="en-US" altLang="ko-KR" dirty="0">
                <a:latin typeface="+mn-ea"/>
              </a:rPr>
              <a:t>x/y/z + </a:t>
            </a:r>
            <a:r>
              <a:rPr lang="ko-KR" altLang="en-US" dirty="0">
                <a:latin typeface="+mn-ea"/>
              </a:rPr>
              <a:t>모터 전류 </a:t>
            </a:r>
            <a:r>
              <a:rPr lang="en-US" altLang="ko-KR" dirty="0">
                <a:latin typeface="+mn-ea"/>
              </a:rPr>
              <a:t>+ </a:t>
            </a:r>
            <a:r>
              <a:rPr lang="ko-KR" altLang="en-US" dirty="0">
                <a:latin typeface="+mn-ea"/>
              </a:rPr>
              <a:t>토크 </a:t>
            </a:r>
            <a:r>
              <a:rPr lang="en-US" altLang="ko-KR" dirty="0">
                <a:latin typeface="+mn-ea"/>
              </a:rPr>
              <a:t>+ </a:t>
            </a:r>
            <a:r>
              <a:rPr lang="ko-KR" altLang="en-US" dirty="0">
                <a:latin typeface="+mn-ea"/>
              </a:rPr>
              <a:t>온도 </a:t>
            </a:r>
            <a:r>
              <a:rPr lang="en-US" altLang="ko-KR" dirty="0">
                <a:latin typeface="+mn-ea"/>
              </a:rPr>
              <a:t>…</a:t>
            </a: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목표</a:t>
            </a:r>
            <a:r>
              <a:rPr lang="en-US" altLang="ko-KR" dirty="0">
                <a:latin typeface="+mn-ea"/>
              </a:rPr>
              <a:t>:</a:t>
            </a:r>
          </a:p>
          <a:p>
            <a:pPr lvl="1">
              <a:lnSpc>
                <a:spcPts val="26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일정 시간 구간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윈도우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보고 고장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정상 분류 또는</a:t>
            </a:r>
          </a:p>
          <a:p>
            <a:pPr lvl="1">
              <a:lnSpc>
                <a:spcPts val="2600"/>
              </a:lnSpc>
              <a:spcAft>
                <a:spcPts val="600"/>
              </a:spcAft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남은 수명</a:t>
            </a:r>
            <a:r>
              <a:rPr lang="en-US" altLang="ko-KR" dirty="0">
                <a:latin typeface="+mn-ea"/>
              </a:rPr>
              <a:t>(RUL)</a:t>
            </a:r>
            <a:r>
              <a:rPr lang="ko-KR" altLang="en-US" dirty="0">
                <a:latin typeface="+mn-ea"/>
              </a:rPr>
              <a:t> 회귀</a:t>
            </a:r>
          </a:p>
          <a:p>
            <a:pPr>
              <a:lnSpc>
                <a:spcPts val="2600"/>
              </a:lnSpc>
              <a:buNone/>
            </a:pPr>
            <a:r>
              <a:rPr lang="en-US" altLang="ko-KR" b="1" dirty="0">
                <a:latin typeface="+mn-ea"/>
              </a:rPr>
              <a:t>(3) </a:t>
            </a:r>
            <a:r>
              <a:rPr lang="ko-KR" altLang="en-US" b="1" dirty="0">
                <a:latin typeface="+mn-ea"/>
              </a:rPr>
              <a:t>단순 모델의 한계</a:t>
            </a:r>
            <a:endParaRPr lang="ko-KR" altLang="en-US" dirty="0">
              <a:latin typeface="+mn-ea"/>
            </a:endParaRP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전통 </a:t>
            </a:r>
            <a:r>
              <a:rPr lang="en-US" altLang="ko-KR" dirty="0">
                <a:latin typeface="+mn-ea"/>
              </a:rPr>
              <a:t>ML (Random Forest, SVM </a:t>
            </a:r>
            <a:r>
              <a:rPr lang="ko-KR" altLang="en-US" dirty="0">
                <a:latin typeface="+mn-ea"/>
              </a:rPr>
              <a:t>등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은</a:t>
            </a:r>
          </a:p>
          <a:p>
            <a:pPr lvl="1">
              <a:lnSpc>
                <a:spcPts val="2600"/>
              </a:lnSpc>
            </a:pPr>
            <a:r>
              <a:rPr lang="en-US" altLang="ko-KR" dirty="0">
                <a:latin typeface="+mn-ea"/>
              </a:rPr>
              <a:t>-  </a:t>
            </a:r>
            <a:r>
              <a:rPr lang="ko-KR" altLang="en-US" dirty="0">
                <a:latin typeface="+mn-ea"/>
              </a:rPr>
              <a:t>요약된 특징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평균</a:t>
            </a:r>
            <a:r>
              <a:rPr lang="en-US" altLang="ko-KR" dirty="0">
                <a:latin typeface="+mn-ea"/>
              </a:rPr>
              <a:t>, RMS, </a:t>
            </a:r>
            <a:r>
              <a:rPr lang="ko-KR" altLang="en-US" dirty="0">
                <a:latin typeface="+mn-ea"/>
              </a:rPr>
              <a:t>피크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주파수 피크 등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넣어 학습</a:t>
            </a:r>
          </a:p>
          <a:p>
            <a:pPr lvl="1">
              <a:lnSpc>
                <a:spcPts val="2600"/>
              </a:lnSpc>
            </a:pPr>
            <a:r>
              <a:rPr lang="en-US" altLang="ko-KR" dirty="0">
                <a:latin typeface="+mn-ea"/>
              </a:rPr>
              <a:t>-  </a:t>
            </a:r>
            <a:r>
              <a:rPr lang="ko-KR" altLang="en-US" dirty="0">
                <a:latin typeface="+mn-ea"/>
              </a:rPr>
              <a:t>시계열의 </a:t>
            </a:r>
            <a:r>
              <a:rPr lang="ko-KR" altLang="en-US" b="1" dirty="0">
                <a:latin typeface="+mn-ea"/>
              </a:rPr>
              <a:t>세밀한 패턴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국소 패턴 </a:t>
            </a:r>
            <a:r>
              <a:rPr lang="en-US" altLang="ko-KR" b="1" dirty="0">
                <a:latin typeface="+mn-ea"/>
              </a:rPr>
              <a:t>+ </a:t>
            </a:r>
            <a:r>
              <a:rPr lang="ko-KR" altLang="en-US" b="1" dirty="0">
                <a:latin typeface="+mn-ea"/>
              </a:rPr>
              <a:t>장기 의존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을 충분히 활용하지 못할 수 있다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ts val="26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ko-KR" dirty="0">
                <a:latin typeface="+mn-ea"/>
              </a:rPr>
              <a:t>     </a:t>
            </a:r>
            <a:r>
              <a:rPr lang="ko-KR" altLang="en-US" dirty="0">
                <a:latin typeface="+mn-ea"/>
              </a:rPr>
              <a:t>그래서 나온 것이 </a:t>
            </a:r>
            <a:r>
              <a:rPr lang="en-US" altLang="ko-KR" b="1" dirty="0">
                <a:latin typeface="+mn-ea"/>
              </a:rPr>
              <a:t>CNN·RNN </a:t>
            </a:r>
            <a:r>
              <a:rPr lang="ko-KR" altLang="en-US" b="1" dirty="0">
                <a:latin typeface="+mn-ea"/>
              </a:rPr>
              <a:t>계열 딥러닝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190666"/>
      </p:ext>
    </p:extLst>
  </p:cSld>
  <p:clrMapOvr>
    <a:masterClrMapping/>
  </p:clrMapOvr>
  <p:transition spd="slow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ED2E6-A34E-BB41-BA9E-C826E308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FC970A-BC7E-7F69-064B-2CF3CC68DDC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9561E0-9D88-9BC8-A99A-DCF0BFD78AA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8F741A-AC73-B8B7-DC2F-00AC87B8FF6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C22F61-D233-66C2-1650-5C166E2F458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9A0F1D-E258-B7A3-481D-0D71EAA0ACA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63F7115-F5F6-5A81-C4E6-A8724128376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0535165-7192-2063-82CF-D4B89D834A3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49AEA8F-DE0E-84E4-A056-6F74E00AD8A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097F79-8028-5532-7622-4C739971AF9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사례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A1BAD3-10EC-F1E1-1B0F-7F19D1A0E8A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AI </a:t>
            </a:r>
            <a:r>
              <a:rPr lang="ko-KR" altLang="en-US" sz="2000" b="1" dirty="0"/>
              <a:t>예지 보전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F6CA836-985A-433B-E625-F04939326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718159"/>
              </p:ext>
            </p:extLst>
          </p:nvPr>
        </p:nvGraphicFramePr>
        <p:xfrm>
          <a:off x="371364" y="836712"/>
          <a:ext cx="11449272" cy="5760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359520214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176134056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3495524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1666430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512144146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97707406"/>
                    </a:ext>
                  </a:extLst>
                </a:gridCol>
              </a:tblGrid>
              <a:tr h="298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설비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공정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센서 종류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분석하는 특성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사용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AI/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알고리즘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출처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요약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396984"/>
                  </a:ext>
                </a:extLst>
              </a:tr>
              <a:tr h="913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CNC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머시닝센터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밀링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머신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스핀들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공구 상태 감시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진동 센서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가속도 센서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스핀들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공구에서 나오는 진동 시계열 → 채터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(chatter),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공구 마모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이상 가공 상태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latin typeface="+mn-ea"/>
                          <a:ea typeface="+mn-ea"/>
                        </a:rPr>
                        <a:t>RoughLSTM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(rough set + LSTM),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LSTM, CNN-LSTM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등 딥러닝 기반 이상 탐지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실제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CNC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밀링 머신의 진동 데이터를 수집해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RoughLSTM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으로 이상 탐지를 수행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94%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대 정확도로 스마트공장 가공라인의 예지보전에 활용 가능함을 보임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  <a:hlinkClick r:id="rId2" tooltip="Deep Learning for Anomaly Detection in CNC Machine Vibration Data: A RoughLSTM-Based Approach | MDPI"/>
                        </a:rPr>
                        <a:t>MDPI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1771563554"/>
                  </a:ext>
                </a:extLst>
              </a:tr>
              <a:tr h="913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조인트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감속기 예지보전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진동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상 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토크 신호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(PLC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통해 취득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각 로봇 관절의 진동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토크 시계열 → 조인트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감속기 상태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백래시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하모닉 드라이브 이상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AM-CNN-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BiGRU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실제 자동차 조립 스마트라인의 로봇 조인트에서 진동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토크를 수집해 결함을 예측하는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PdM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프레임워크 제안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다센서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멀티소스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융합이 핵심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  <a:hlinkClick r:id="rId3" tooltip="An AM-CNN-BiGRU network with spatiotemporal feature fusion for industrial robot predictive maintenance | Scientific Reports"/>
                        </a:rPr>
                        <a:t>Nature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2154853262"/>
                  </a:ext>
                </a:extLst>
              </a:tr>
              <a:tr h="11372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공장 내 소형 모터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펌프 등 회전기기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축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IMU 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가속도계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자이로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), g-force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펌프의 진동 패턴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주파수 영역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→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밸런스 이상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베어링 초기 결함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Isolation Forest(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비지도 이상 탐지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특징 추출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간단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ML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저가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IoT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노드에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IMU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를 붙여 소형 산업용 모터를 모니터링하고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정상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바퀴 일부 막음으로 불균형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데이터를 기반으로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Isolation Forest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이상 상태를 판정하는 예지보전 아키텍처 제안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>
                          <a:latin typeface="+mn-ea"/>
                          <a:ea typeface="+mn-ea"/>
                          <a:hlinkClick r:id="rId4" tooltip="&#10;            Low-Cost IoT-Based Predictive Maintenance Using Vibration - PMC&#10;        "/>
                        </a:rPr>
                        <a:t>PMC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2688520237"/>
                  </a:ext>
                </a:extLst>
              </a:tr>
              <a:tr h="11372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금속가공 공장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압연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절삭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생산설비 전체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다양한 공정 센서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압력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진동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생산 자산에서 나오는 다변량 시계열 → 상태 변화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파라미터 간 상호 영향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남은 수명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(RUL)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LSTM-Autoencoder + Transformer Encoder</a:t>
                      </a:r>
                    </a:p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시계열 예측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이상 탐지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실제 금속 가공 제조 공장의 시계열 데이터를 사용해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LSTM-AE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Transformer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를 결합한 예지보전 모델을 만들고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자산의 상태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고장 시점을 예측하는 연구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스마트공장 전체 설비의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PdM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프레임워크 사례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  <a:hlinkClick r:id="rId5" tooltip="Condition Monitoring and Predictive Maintenance of Assets in Manufacturing Using LSTM-Autoencoders and Transformer Encoders"/>
                        </a:rPr>
                        <a:t>MDPI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2331331792"/>
                  </a:ext>
                </a:extLst>
              </a:tr>
              <a:tr h="1361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제조라인의 전동기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컨베이어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펌프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제너레이터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기계 진동 센서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전동기 전류 센서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모터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외함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온도 센서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모터의 진동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온도 → 베어링 손상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언밸런스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과부하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과열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KNN, ANN 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Smart Maintenance System(SMAT)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불리는 시스템에서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라즈베리파이로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센서 데이터를 수집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전송하고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KNN/ANN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으로 정상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고장 상태를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92~96%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정확도로 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제조 공장의 다양한 모터에 적용하는 예지보전 사례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>
                          <a:latin typeface="+mn-ea"/>
                          <a:ea typeface="+mn-ea"/>
                          <a:hlinkClick r:id="rId6" tooltip="(PDF) Smart Maintenance System (SMAT): Predictive Maintenance of Electrical Motor Applications"/>
                        </a:rPr>
                        <a:t>ResearchGate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4136292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453938"/>
      </p:ext>
    </p:extLst>
  </p:cSld>
  <p:clrMapOvr>
    <a:masterClrMapping/>
  </p:clrMapOvr>
  <p:transition spd="slow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654EF-4AD8-5985-7154-2C098E915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EBD2A54-7407-0D91-AA84-CC34AAB54E36}"/>
              </a:ext>
            </a:extLst>
          </p:cNvPr>
          <p:cNvSpPr txBox="1"/>
          <p:nvPr/>
        </p:nvSpPr>
        <p:spPr>
          <a:xfrm>
            <a:off x="335360" y="188640"/>
            <a:ext cx="582723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관련 논문 분석</a:t>
            </a:r>
            <a:endParaRPr lang="ko-KR" altLang="en-US" sz="6600" dirty="0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848993"/>
      </p:ext>
    </p:extLst>
  </p:cSld>
  <p:clrMapOvr>
    <a:masterClrMapping/>
  </p:clrMapOvr>
  <p:transition spd="slow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FDB0-25C8-BF46-E0C9-C45C4CF9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34D0C6-0585-51DE-6C0E-07641834F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567734"/>
              </p:ext>
            </p:extLst>
          </p:nvPr>
        </p:nvGraphicFramePr>
        <p:xfrm>
          <a:off x="695400" y="476672"/>
          <a:ext cx="10972800" cy="52424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3062131312"/>
                    </a:ext>
                  </a:extLst>
                </a:gridCol>
                <a:gridCol w="9100592">
                  <a:extLst>
                    <a:ext uri="{9D8B030D-6E8A-4147-A177-3AD203B41FA5}">
                      <a16:colId xmlns:a16="http://schemas.microsoft.com/office/drawing/2014/main" val="1050003440"/>
                    </a:ext>
                  </a:extLst>
                </a:gridCol>
              </a:tblGrid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877905"/>
                  </a:ext>
                </a:extLst>
              </a:tr>
              <a:tr h="8455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논문 제목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50% reduction in energy consumption in an actual cold storage facility using a deep reinforcement learning-based control algorithm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679096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저자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Jong-Whi Park, Young-Min Ju, You-Gwon Kim, Hak-Sung Kim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090189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>
                          <a:latin typeface="+mn-ea"/>
                          <a:ea typeface="+mn-ea"/>
                        </a:rPr>
                        <a:t>발표처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저널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Applied Energy (Elsevier)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658928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게재일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2023-12-15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 (Vol. 352)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014124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DOI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10.1016/j.apenergy.2023.121996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475519"/>
                  </a:ext>
                </a:extLst>
              </a:tr>
              <a:tr h="241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링크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ScienceDirect: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사용자가 제공한 링크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동일 논문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en-US" sz="1600" dirty="0">
                          <a:latin typeface="+mn-ea"/>
                          <a:ea typeface="+mn-ea"/>
                          <a:hlinkClick r:id="rId2" tooltip="50% reduction in energy consumption in an actual cold storage facility using a deep reinforcement learning-based control algorithm - ScienceDirect"/>
                        </a:rPr>
                        <a:t>ScienceDirect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66847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연구 배경과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문제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실제 냉동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냉장 저장시설은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문 개폐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제상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(defrost),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외기 변화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등으로 조건이 계속 바뀌어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PID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같은 고정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전통 제어는 </a:t>
                      </a:r>
                      <a:r>
                        <a:rPr lang="ko-KR" altLang="en-US" sz="1600" b="1" dirty="0" err="1">
                          <a:latin typeface="+mn-ea"/>
                          <a:ea typeface="+mn-ea"/>
                        </a:rPr>
                        <a:t>재튜닝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 부담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과 성능 한계가 큼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DRL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연구는 시뮬레이터 기반 검증이 많아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실시설비 적용 가능성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 불확실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→ 본 논문은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실제 소규모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저장고에 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DRL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제어를 직접 적용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91579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핵심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목표 온도 범위 </a:t>
                      </a:r>
                      <a:r>
                        <a:rPr lang="ko-KR" altLang="en-US" sz="1600" b="1" dirty="0"/>
                        <a:t>−</a:t>
                      </a:r>
                      <a:r>
                        <a:rPr lang="en-US" altLang="ko-KR" sz="1600" b="1" dirty="0"/>
                        <a:t>8°C ~ −12°C</a:t>
                      </a:r>
                      <a:r>
                        <a:rPr lang="ko-KR" altLang="en-US" sz="1600" dirty="0"/>
                        <a:t>를 유지하면서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r>
                        <a:rPr lang="ko-KR" altLang="en-US" sz="1600" dirty="0"/>
                        <a:t>냉동설비의 </a:t>
                      </a:r>
                      <a:r>
                        <a:rPr lang="ko-KR" altLang="en-US" sz="1600" b="1" dirty="0"/>
                        <a:t>전력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에너지</a:t>
                      </a:r>
                      <a:r>
                        <a:rPr lang="en-US" altLang="ko-KR" sz="1600" b="1" dirty="0"/>
                        <a:t>) </a:t>
                      </a:r>
                      <a:r>
                        <a:rPr lang="ko-KR" altLang="en-US" sz="1600" b="1" dirty="0"/>
                        <a:t>소비를 최소화</a:t>
                      </a:r>
                      <a:r>
                        <a:rPr lang="ko-KR" altLang="en-US" sz="1600" dirty="0"/>
                        <a:t>하는 제어 알고리즘 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883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794578"/>
      </p:ext>
    </p:extLst>
  </p:cSld>
  <p:clrMapOvr>
    <a:masterClrMapping/>
  </p:clrMapOvr>
  <p:transition spd="slow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7D50-BC13-E41D-D9D9-E2E16BD3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5B9E1B-1FA5-F8B7-37F3-ED316749D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01264"/>
              </p:ext>
            </p:extLst>
          </p:nvPr>
        </p:nvGraphicFramePr>
        <p:xfrm>
          <a:off x="695400" y="476672"/>
          <a:ext cx="10972800" cy="59347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062131312"/>
                    </a:ext>
                  </a:extLst>
                </a:gridCol>
                <a:gridCol w="9676656">
                  <a:extLst>
                    <a:ext uri="{9D8B030D-6E8A-4147-A177-3AD203B41FA5}">
                      <a16:colId xmlns:a16="http://schemas.microsoft.com/office/drawing/2014/main" val="1050003440"/>
                    </a:ext>
                  </a:extLst>
                </a:gridCol>
              </a:tblGrid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877905"/>
                  </a:ext>
                </a:extLst>
              </a:tr>
              <a:tr h="8455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방법론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(1)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제어 접근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Deep Reinforcement Learning(DRL)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기반 온도 제어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알고리즘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DDPG (Deep Deterministic Policy Gradient)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lvl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연속 제어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(continuous action)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에 강점이 있어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온도 설정값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(setpoint)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을 연속적으로 조정하는 문제에 적합 </a:t>
                      </a:r>
                    </a:p>
                    <a:p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(2)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실제 시스템 구성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면적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2.8 m²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규모의 실제 냉동 저장공간 구성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센서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열전대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(thermocouples)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전력량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="1" dirty="0" err="1">
                          <a:latin typeface="+mn-ea"/>
                          <a:ea typeface="+mn-ea"/>
                        </a:rPr>
                        <a:t>Wh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계측기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온도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전력 데이터를 실시간 수집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수집 데이터는 딥러닝 연산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제어 시스템으로 전송되어 학습 및 제어에 사용 </a:t>
                      </a:r>
                    </a:p>
                    <a:p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(3)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실사용 적용을 위한 “현장형” 개선 포인트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 성능에 큰 영향을 주는 </a:t>
                      </a:r>
                      <a:r>
                        <a:rPr lang="ko-KR" altLang="en-US" sz="1400" b="1" dirty="0" err="1">
                          <a:latin typeface="+mn-ea"/>
                          <a:ea typeface="+mn-ea"/>
                        </a:rPr>
                        <a:t>하이퍼파라미터를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최적화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실제 운영에서 발생하는 복합 상황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문 열림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을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경험시키며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학습 → 현장 적응성 강화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데이터가 방대하므로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측정값 변화가 있을 때만 데이터 누적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로그 효율화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실제 적용을 위해 알고리즘을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훈련 파트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의사결정 파트로 분리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해 운영 중 학습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제어 동시 수행을 지향 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679096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실험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목표 온도 범위를 유지하면서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에너지 소비를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47.64%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절감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(PID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090189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논문의 기여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3538" indent="-187325">
                        <a:lnSpc>
                          <a:spcPts val="2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시뮬레이션이 아니라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실제 냉동 저장시설에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DRL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을 적용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해 에너지 절감 효과를 보임 </a:t>
                      </a:r>
                    </a:p>
                    <a:p>
                      <a:pPr marL="363538" indent="-187325">
                        <a:lnSpc>
                          <a:spcPts val="2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냉동 저장고처럼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외란이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크고 비선형성이 강한 환경에서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DDPG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기반 제어의 실용성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을 제시 </a:t>
                      </a:r>
                    </a:p>
                    <a:p>
                      <a:pPr marL="363538" indent="-187325">
                        <a:lnSpc>
                          <a:spcPts val="2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“현장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적용”에서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자주 막히는 데이터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운영 이슈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로그 폭증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제어 분리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를 실무적으로 다룸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658928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한계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3538" indent="-187325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실증이 “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실제”이긴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하지만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규모는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2.8 m²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비교적 작음 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→ 대형 물류창고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m²)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확장 시 동일 성능이 보장되는지 추가 검증 필요 </a:t>
                      </a:r>
                    </a:p>
                    <a:p>
                      <a:pPr marL="363538" indent="-187325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결과는 특정 실험 조건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환경에서 도출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외기 조건 통제 등 언급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→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다양한 계절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부하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출입 패턴에서의 일반화가 중요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01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83693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23779</TotalTime>
  <Words>14926</Words>
  <Application>Microsoft Office PowerPoint</Application>
  <PresentationFormat>와이드스크린</PresentationFormat>
  <Paragraphs>1751</Paragraphs>
  <Slides>122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122</vt:i4>
      </vt:variant>
    </vt:vector>
  </HeadingPairs>
  <TitlesOfParts>
    <vt:vector size="138" baseType="lpstr">
      <vt:lpstr>Arial Unicode MS</vt:lpstr>
      <vt:lpstr>HY견고딕</vt:lpstr>
      <vt:lpstr>HY목각파임B</vt:lpstr>
      <vt:lpstr>LG Smart UI SemiBold</vt:lpstr>
      <vt:lpstr>맑은 고딕</vt:lpstr>
      <vt:lpstr>한양신명조</vt:lpstr>
      <vt:lpstr>휴먼명조</vt:lpstr>
      <vt:lpstr>Arial</vt:lpstr>
      <vt:lpstr>Arial Black</vt:lpstr>
      <vt:lpstr>Calibri</vt:lpstr>
      <vt:lpstr>Cambria Math</vt:lpstr>
      <vt:lpstr>Courier New</vt:lpstr>
      <vt:lpstr>Mongolian Baiti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PoDIT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mr.son</dc:creator>
  <cp:lastModifiedBy>Dev DW</cp:lastModifiedBy>
  <cp:revision>1573</cp:revision>
  <dcterms:created xsi:type="dcterms:W3CDTF">2012-11-28T13:05:29Z</dcterms:created>
  <dcterms:modified xsi:type="dcterms:W3CDTF">2026-05-25T13:40:58Z</dcterms:modified>
</cp:coreProperties>
</file>