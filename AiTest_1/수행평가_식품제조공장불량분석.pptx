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DFC29B-E5C7-4587-ABFC-A76614A5EF56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62BFD7-F085-41E8-AC5B-88D53DED5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39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62BFD7-F085-41E8-AC5B-88D53DED512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73201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62BFD7-F085-41E8-AC5B-88D53DED512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1693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62BFD7-F085-41E8-AC5B-88D53DED512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51357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62BFD7-F085-41E8-AC5B-88D53DED512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3773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62BFD7-F085-41E8-AC5B-88D53DED512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28869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62BFD7-F085-41E8-AC5B-88D53DED512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73085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62BFD7-F085-41E8-AC5B-88D53DED512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1704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62BFD7-F085-41E8-AC5B-88D53DED512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210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B64C3D-53EC-8F2C-5417-F36EC2CBC6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43383B2-4D1C-74A1-A709-A0F9132A0A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CAE27C-CB62-E9CE-C99F-F008AAB34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713DD-E9BA-4211-BF32-8AB1B5C38BD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10FD72-9393-8B14-C43B-759B93837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1B3C8B-F126-D29F-D264-EF50A9955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AE2A-B6E1-4782-88B1-3D7A30D386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0295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CC9177-90A8-680D-1CE6-4CECDE2FA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BFA290-3445-3F79-0A64-A5D8E27B8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1CF9C7-6041-32DB-B8CE-F5E4BF0C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713DD-E9BA-4211-BF32-8AB1B5C38BD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C99172-F54E-2F87-0CEF-37E80EFFB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3324AE-801F-D614-1C20-A47DFCEAD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AE2A-B6E1-4782-88B1-3D7A30D386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1461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11EF4D-2F73-1F39-4061-AB9B4FA79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65E474-D545-6A5A-933C-E7576CA87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2C28D9-13F6-7CBD-64AB-628E6385B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713DD-E9BA-4211-BF32-8AB1B5C38BD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5657D0-4A1C-7DA1-D1F9-56A8C5349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447F80-203D-3A5A-FF57-B5CDCA632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AE2A-B6E1-4782-88B1-3D7A30D386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52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EF8F95-2C2E-8432-446E-AB2FE8DD8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71C49D-77D0-B5DC-A220-D816BD1B06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52186F-8197-9EE4-77C8-5039189E35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886CF1-9F00-0875-4B4D-35F01E470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713DD-E9BA-4211-BF32-8AB1B5C38BD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AA0AB56-7C7C-1B83-BB1B-C7A998037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5ADEFFB-A8F8-046D-8BB3-3A6DEA27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AE2A-B6E1-4782-88B1-3D7A30D386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3087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803D02-D028-FB3F-1EBF-D61EE8C44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217686-068E-9EBD-D69C-2C8EDF5783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9EDAAA-F918-58B2-5701-BA32CC251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B685E15-5A7D-C983-6642-96E23DEB01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4444B81-8527-4EE8-9A0F-3D6F2388AC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032F716-4719-42CA-5657-0DDE8ABB8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713DD-E9BA-4211-BF32-8AB1B5C38BD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22FAB77-CDD2-F78D-B809-B0A7B802E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B040B4C-6066-2472-4C12-5D09A73C1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AE2A-B6E1-4782-88B1-3D7A30D386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9390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6AC6D0-32CF-0E7C-E806-AB3158A24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66216FD-4356-0609-38EF-DA20BC227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713DD-E9BA-4211-BF32-8AB1B5C38BD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CD0A169-ABF1-8E88-1D97-DD9383B79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F547CE3-B450-0072-F95E-73B41D677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AE2A-B6E1-4782-88B1-3D7A30D386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7157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74A787E-89D3-30A6-16B6-AD466086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713DD-E9BA-4211-BF32-8AB1B5C38BD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34A5C29-27DD-6EEC-29E2-55544DAA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AA0501-02C7-DB26-5D55-A955BAD45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AE2A-B6E1-4782-88B1-3D7A30D386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959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EC0627-E62F-4C08-483C-7877DA27B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C41D9E-06C4-CE6F-3042-D80CF748C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7E8A50F-AC1C-5722-A92A-75D0D69F6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446000-3A2C-6E5F-C9B0-463A9D2B3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713DD-E9BA-4211-BF32-8AB1B5C38BD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B85904-15EC-94CB-7ECA-9AE046ECF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14B39D-3235-FDF9-8501-8E2845622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AE2A-B6E1-4782-88B1-3D7A30D386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1448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F3CFAE-7225-BA7E-EA6A-A28610819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84C8137-5EEA-8FD7-32D0-B8F0C9F348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70567B-60B6-3630-236A-F92356FCD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833F7F8-2D1A-8413-6FDD-2F1932B9B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713DD-E9BA-4211-BF32-8AB1B5C38BD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36E103-93E7-E33B-69D9-DBAD90481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39D34B-B0BC-736A-F299-2DB1F4AA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AE2A-B6E1-4782-88B1-3D7A30D386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6324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DC0BBC-CFE4-39C5-12B1-3BC80492B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C4B6661-B93C-5102-E389-959ABEAFF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D787DC-5228-867C-A9F1-4780604C6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713DD-E9BA-4211-BF32-8AB1B5C38BD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AEC8F4-D6A7-6BFC-1477-67065BA98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EEBC03-A0AE-7C67-D6B4-1E6FFC636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AE2A-B6E1-4782-88B1-3D7A30D386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7813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A1BCD3C-E4AE-FE8A-4BD1-313DD33B7E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F3D04D1-A62C-F130-DB85-CD5B8BBACD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C52F1D-33E3-603F-3F48-C322FF1CA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713DD-E9BA-4211-BF32-8AB1B5C38BD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6D5B21-AEF1-005F-057A-ADE410C77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82F25D-85FD-082D-CD56-1AB6CB37C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AE2A-B6E1-4782-88B1-3D7A30D386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505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FC7BE80-28B2-F69E-0545-33E09F163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E80B73A-669D-B033-3FF3-FD1B57E6F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A163D3-199C-1896-6B0C-EAF28AD1E3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2713DD-E9BA-4211-BF32-8AB1B5C38BD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C9CFF9-1E8A-AD8E-B277-55E8D69E0A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F00DEC-3197-BAB6-9590-9A3819FEB8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4AE2A-B6E1-4782-88B1-3D7A30D386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0168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eartcom/Linux-Progra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AA46DC2F-BE33-2CC2-7DD8-2D1AEC02F438}"/>
              </a:ext>
            </a:extLst>
          </p:cNvPr>
          <p:cNvSpPr/>
          <p:nvPr/>
        </p:nvSpPr>
        <p:spPr>
          <a:xfrm>
            <a:off x="0" y="0"/>
            <a:ext cx="12192000" cy="6489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541338" indent="-365125">
              <a:buFont typeface="Wingdings" panose="05000000000000000000" pitchFamily="2" charset="2"/>
              <a:buChar char="§"/>
            </a:pPr>
            <a:r>
              <a:rPr lang="ko-KR" altLang="en-US" sz="2000" b="1" dirty="0">
                <a:latin typeface="+mn-ea"/>
              </a:rPr>
              <a:t>수행 평가 </a:t>
            </a:r>
            <a:r>
              <a:rPr lang="en-US" altLang="ko-KR" sz="2000" b="1" dirty="0">
                <a:latin typeface="+mn-ea"/>
              </a:rPr>
              <a:t>: </a:t>
            </a:r>
            <a:r>
              <a:rPr lang="ko-KR" altLang="en-US" sz="2000" b="1" dirty="0">
                <a:latin typeface="+mn-ea"/>
              </a:rPr>
              <a:t>식품 불량 원인 예측 학습 모델 개발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85DA7A-BC73-4836-96B0-B1D45B939A4B}"/>
              </a:ext>
            </a:extLst>
          </p:cNvPr>
          <p:cNvSpPr txBox="1"/>
          <p:nvPr/>
        </p:nvSpPr>
        <p:spPr>
          <a:xfrm>
            <a:off x="204280" y="760114"/>
            <a:ext cx="11702375" cy="3268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ko-KR" altLang="en-US" dirty="0">
                <a:latin typeface="+mn-ea"/>
              </a:rPr>
              <a:t>  한 식품 제조 공장에서 제품의 품질을 자동으로 판정하기 위해 머신러닝 기반의 불량 예측 시스템을 개발하려고 한다</a:t>
            </a:r>
            <a:r>
              <a:rPr lang="en-US" altLang="ko-KR" dirty="0">
                <a:latin typeface="+mn-ea"/>
              </a:rPr>
              <a:t>.  </a:t>
            </a:r>
            <a:r>
              <a:rPr lang="ko-KR" altLang="en-US" dirty="0">
                <a:latin typeface="+mn-ea"/>
              </a:rPr>
              <a:t>공정에서 수집되는 데이터는 온도</a:t>
            </a:r>
            <a:r>
              <a:rPr lang="en-US" altLang="ko-KR" dirty="0">
                <a:latin typeface="+mn-ea"/>
              </a:rPr>
              <a:t>(Temperature), </a:t>
            </a:r>
            <a:r>
              <a:rPr lang="ko-KR" altLang="en-US" dirty="0">
                <a:latin typeface="+mn-ea"/>
              </a:rPr>
              <a:t>습도</a:t>
            </a:r>
            <a:r>
              <a:rPr lang="en-US" altLang="ko-KR" dirty="0">
                <a:latin typeface="+mn-ea"/>
              </a:rPr>
              <a:t>(Humidity), </a:t>
            </a:r>
            <a:r>
              <a:rPr lang="ko-KR" altLang="en-US" dirty="0">
                <a:latin typeface="+mn-ea"/>
              </a:rPr>
              <a:t>조리 시간</a:t>
            </a:r>
            <a:r>
              <a:rPr lang="en-US" altLang="ko-KR" dirty="0">
                <a:latin typeface="+mn-ea"/>
              </a:rPr>
              <a:t>(Cooking Time), </a:t>
            </a:r>
            <a:r>
              <a:rPr lang="ko-KR" altLang="en-US" dirty="0">
                <a:latin typeface="+mn-ea"/>
              </a:rPr>
              <a:t>압력</a:t>
            </a:r>
            <a:r>
              <a:rPr lang="en-US" altLang="ko-KR" dirty="0">
                <a:latin typeface="+mn-ea"/>
              </a:rPr>
              <a:t>(Pressure), </a:t>
            </a:r>
            <a:r>
              <a:rPr lang="ko-KR" altLang="en-US" dirty="0">
                <a:latin typeface="+mn-ea"/>
              </a:rPr>
              <a:t>원재료 수분율</a:t>
            </a:r>
            <a:r>
              <a:rPr lang="en-US" altLang="ko-KR" dirty="0">
                <a:latin typeface="+mn-ea"/>
              </a:rPr>
              <a:t>(Moisture), </a:t>
            </a:r>
            <a:r>
              <a:rPr lang="ko-KR" altLang="en-US" dirty="0">
                <a:latin typeface="+mn-ea"/>
              </a:rPr>
              <a:t>기계 진동</a:t>
            </a:r>
            <a:r>
              <a:rPr lang="en-US" altLang="ko-KR" dirty="0">
                <a:latin typeface="+mn-ea"/>
              </a:rPr>
              <a:t>(Vibration), </a:t>
            </a:r>
            <a:r>
              <a:rPr lang="ko-KR" altLang="en-US" dirty="0">
                <a:latin typeface="+mn-ea"/>
              </a:rPr>
              <a:t>생산 속도</a:t>
            </a:r>
            <a:r>
              <a:rPr lang="en-US" altLang="ko-KR" dirty="0">
                <a:latin typeface="+mn-ea"/>
              </a:rPr>
              <a:t>(Speed)</a:t>
            </a:r>
            <a:r>
              <a:rPr lang="ko-KR" altLang="en-US" dirty="0">
                <a:latin typeface="+mn-ea"/>
              </a:rPr>
              <a:t>로 구성되며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각 데이터는 제품의 품질에 영향을 미치는 주요 요소이다</a:t>
            </a:r>
            <a:r>
              <a:rPr lang="en-US" altLang="ko-KR" dirty="0">
                <a:latin typeface="+mn-ea"/>
              </a:rPr>
              <a:t>.  </a:t>
            </a:r>
            <a:r>
              <a:rPr lang="ko-KR" altLang="en-US" dirty="0">
                <a:latin typeface="+mn-ea"/>
              </a:rPr>
              <a:t>이 데이터를 활용하여 </a:t>
            </a:r>
            <a:r>
              <a:rPr lang="en-US" altLang="ko-KR" dirty="0">
                <a:latin typeface="+mn-ea"/>
              </a:rPr>
              <a:t>XGBoost </a:t>
            </a:r>
            <a:r>
              <a:rPr lang="ko-KR" altLang="en-US" dirty="0">
                <a:latin typeface="+mn-ea"/>
              </a:rPr>
              <a:t>알고리즘을 이용한 분류 모델을 학습시키고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제품이 </a:t>
            </a:r>
            <a:r>
              <a:rPr lang="ko-KR" altLang="en-US" b="1" dirty="0">
                <a:latin typeface="+mn-ea"/>
              </a:rPr>
              <a:t>양품</a:t>
            </a:r>
            <a:r>
              <a:rPr lang="en-US" altLang="ko-KR" b="1" dirty="0">
                <a:latin typeface="+mn-ea"/>
              </a:rPr>
              <a:t>(0)</a:t>
            </a:r>
            <a:r>
              <a:rPr lang="ko-KR" altLang="en-US" b="1" dirty="0">
                <a:latin typeface="+mn-ea"/>
              </a:rPr>
              <a:t>인지 불량</a:t>
            </a:r>
            <a:r>
              <a:rPr lang="en-US" altLang="ko-KR" b="1" dirty="0">
                <a:latin typeface="+mn-ea"/>
              </a:rPr>
              <a:t>(1)</a:t>
            </a:r>
            <a:r>
              <a:rPr lang="ko-KR" altLang="en-US" b="1" dirty="0">
                <a:latin typeface="+mn-ea"/>
              </a:rPr>
              <a:t>인지 예측하는 모델을 구현하고자 한다</a:t>
            </a:r>
            <a:r>
              <a:rPr lang="en-US" altLang="ko-KR" b="1" dirty="0">
                <a:latin typeface="+mn-ea"/>
              </a:rPr>
              <a:t>.</a:t>
            </a:r>
          </a:p>
          <a:p>
            <a:pPr>
              <a:lnSpc>
                <a:spcPts val="2500"/>
              </a:lnSpc>
            </a:pPr>
            <a:endParaRPr lang="en-US" altLang="ko-KR" b="1" dirty="0">
              <a:latin typeface="+mn-ea"/>
            </a:endParaRP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+mn-ea"/>
              </a:rPr>
              <a:t>아래 </a:t>
            </a:r>
            <a:r>
              <a:rPr lang="en-US" altLang="ko-KR" sz="2000" b="1" dirty="0" err="1">
                <a:latin typeface="+mn-ea"/>
              </a:rPr>
              <a:t>github</a:t>
            </a:r>
            <a:r>
              <a:rPr lang="ko-KR" altLang="en-US" sz="2000" b="1" dirty="0">
                <a:latin typeface="+mn-ea"/>
              </a:rPr>
              <a:t>에서 문제지와 </a:t>
            </a:r>
            <a:r>
              <a:rPr lang="en-US" altLang="ko-KR" sz="2000" b="1" dirty="0">
                <a:latin typeface="+mn-ea"/>
              </a:rPr>
              <a:t>dataset</a:t>
            </a:r>
            <a:r>
              <a:rPr lang="ko-KR" altLang="en-US" sz="2000" b="1" dirty="0">
                <a:latin typeface="+mn-ea"/>
              </a:rPr>
              <a:t>을 다운로드 </a:t>
            </a:r>
            <a:r>
              <a:rPr lang="ko-KR" altLang="en-US" sz="2000" b="1" dirty="0" err="1">
                <a:latin typeface="+mn-ea"/>
              </a:rPr>
              <a:t>받으시오</a:t>
            </a:r>
            <a:r>
              <a:rPr lang="en-US" altLang="ko-KR" sz="2000" b="1" dirty="0">
                <a:latin typeface="+mn-ea"/>
              </a:rPr>
              <a:t>. (foodDataset.csv)</a:t>
            </a: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+mn-ea"/>
              </a:rPr>
              <a:t>문제지에서 요구하는 내용을 화면 캡처하여 정답란에 붙여 </a:t>
            </a:r>
            <a:r>
              <a:rPr lang="ko-KR" altLang="en-US" sz="2000" b="1" dirty="0" err="1">
                <a:latin typeface="+mn-ea"/>
              </a:rPr>
              <a:t>넣으시오</a:t>
            </a:r>
            <a:r>
              <a:rPr lang="en-US" altLang="ko-KR" sz="2000" b="1" dirty="0">
                <a:latin typeface="+mn-ea"/>
              </a:rPr>
              <a:t>.</a:t>
            </a:r>
          </a:p>
          <a:p>
            <a:pPr>
              <a:lnSpc>
                <a:spcPts val="2500"/>
              </a:lnSpc>
            </a:pPr>
            <a:endParaRPr lang="en-US" altLang="ko-KR" b="1" dirty="0">
              <a:latin typeface="+mn-ea"/>
            </a:endParaRPr>
          </a:p>
          <a:p>
            <a:pPr>
              <a:lnSpc>
                <a:spcPts val="2500"/>
              </a:lnSpc>
            </a:pPr>
            <a:endParaRPr lang="ko-KR" altLang="en-US" dirty="0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DB2A5F-117A-4F7B-B630-C378F3808E61}"/>
              </a:ext>
            </a:extLst>
          </p:cNvPr>
          <p:cNvSpPr txBox="1"/>
          <p:nvPr/>
        </p:nvSpPr>
        <p:spPr>
          <a:xfrm>
            <a:off x="562838" y="3555047"/>
            <a:ext cx="84598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dirty="0">
                <a:hlinkClick r:id="rId3"/>
              </a:rPr>
              <a:t>https://github.com/heartcom/Linux-Program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759160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AA46DC2F-BE33-2CC2-7DD8-2D1AEC02F438}"/>
              </a:ext>
            </a:extLst>
          </p:cNvPr>
          <p:cNvSpPr/>
          <p:nvPr/>
        </p:nvSpPr>
        <p:spPr>
          <a:xfrm>
            <a:off x="0" y="0"/>
            <a:ext cx="12192000" cy="6489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541338" indent="-365125">
              <a:buFont typeface="Wingdings" panose="05000000000000000000" pitchFamily="2" charset="2"/>
              <a:buChar char="§"/>
            </a:pPr>
            <a:r>
              <a:rPr lang="ko-KR" altLang="en-US" sz="2000" b="1" dirty="0">
                <a:latin typeface="+mn-ea"/>
              </a:rPr>
              <a:t>수행 평가 </a:t>
            </a:r>
            <a:r>
              <a:rPr lang="en-US" altLang="ko-KR" sz="2000" b="1" dirty="0">
                <a:latin typeface="+mn-ea"/>
              </a:rPr>
              <a:t>: </a:t>
            </a:r>
            <a:r>
              <a:rPr lang="ko-KR" altLang="en-US" sz="2000" b="1" dirty="0">
                <a:latin typeface="+mn-ea"/>
              </a:rPr>
              <a:t>식품 불량 원인 예측 학습 모델 개발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85DA7A-BC73-4836-96B0-B1D45B939A4B}"/>
              </a:ext>
            </a:extLst>
          </p:cNvPr>
          <p:cNvSpPr txBox="1"/>
          <p:nvPr/>
        </p:nvSpPr>
        <p:spPr>
          <a:xfrm>
            <a:off x="204280" y="760114"/>
            <a:ext cx="11702375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en-US" altLang="ko-KR" dirty="0">
                <a:latin typeface="+mn-ea"/>
              </a:rPr>
              <a:t>1. </a:t>
            </a:r>
            <a:r>
              <a:rPr lang="en-US" altLang="ko-KR" dirty="0" err="1">
                <a:latin typeface="+mn-ea"/>
              </a:rPr>
              <a:t>colab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환경에서 </a:t>
            </a:r>
            <a:r>
              <a:rPr lang="en-US" altLang="ko-KR" dirty="0">
                <a:latin typeface="+mn-ea"/>
              </a:rPr>
              <a:t>dataset</a:t>
            </a:r>
            <a:r>
              <a:rPr lang="ko-KR" altLang="en-US" dirty="0">
                <a:latin typeface="+mn-ea"/>
              </a:rPr>
              <a:t>을 업로드한 후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기본 통계 데이터를 출력하고 아래에 붙여 </a:t>
            </a:r>
            <a:r>
              <a:rPr lang="ko-KR" altLang="en-US" dirty="0" err="1">
                <a:latin typeface="+mn-ea"/>
              </a:rPr>
              <a:t>넣으시오</a:t>
            </a:r>
            <a:r>
              <a:rPr lang="en-US" altLang="ko-KR" dirty="0">
                <a:latin typeface="+mn-ea"/>
              </a:rPr>
              <a:t>. (1</a:t>
            </a:r>
            <a:r>
              <a:rPr lang="ko-KR" altLang="en-US" dirty="0">
                <a:latin typeface="+mn-ea"/>
              </a:rPr>
              <a:t>점</a:t>
            </a:r>
            <a:r>
              <a:rPr lang="en-US" altLang="ko-KR" dirty="0">
                <a:latin typeface="+mn-ea"/>
              </a:rPr>
              <a:t>)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   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df.describe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pPr>
              <a:lnSpc>
                <a:spcPts val="2500"/>
              </a:lnSpc>
            </a:pPr>
            <a:endParaRPr lang="ko-KR" altLang="en-US" dirty="0">
              <a:latin typeface="+mn-ea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706F616-3FE8-418A-91A5-D15ABC501E41}"/>
              </a:ext>
            </a:extLst>
          </p:cNvPr>
          <p:cNvCxnSpPr/>
          <p:nvPr/>
        </p:nvCxnSpPr>
        <p:spPr>
          <a:xfrm>
            <a:off x="525294" y="2159540"/>
            <a:ext cx="10836612" cy="0"/>
          </a:xfrm>
          <a:prstGeom prst="line">
            <a:avLst/>
          </a:prstGeom>
          <a:ln w="317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82E410B-A4A4-4551-97F0-866DE4835B51}"/>
              </a:ext>
            </a:extLst>
          </p:cNvPr>
          <p:cNvSpPr txBox="1"/>
          <p:nvPr/>
        </p:nvSpPr>
        <p:spPr>
          <a:xfrm>
            <a:off x="525294" y="176614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0000FF"/>
                </a:solidFill>
              </a:rPr>
              <a:t>정답</a:t>
            </a:r>
          </a:p>
        </p:txBody>
      </p:sp>
    </p:spTree>
    <p:extLst>
      <p:ext uri="{BB962C8B-B14F-4D97-AF65-F5344CB8AC3E}">
        <p14:creationId xmlns:p14="http://schemas.microsoft.com/office/powerpoint/2010/main" val="392050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AA46DC2F-BE33-2CC2-7DD8-2D1AEC02F438}"/>
              </a:ext>
            </a:extLst>
          </p:cNvPr>
          <p:cNvSpPr/>
          <p:nvPr/>
        </p:nvSpPr>
        <p:spPr>
          <a:xfrm>
            <a:off x="0" y="0"/>
            <a:ext cx="12192000" cy="6489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541338" indent="-365125">
              <a:buFont typeface="Wingdings" panose="05000000000000000000" pitchFamily="2" charset="2"/>
              <a:buChar char="§"/>
            </a:pPr>
            <a:r>
              <a:rPr lang="ko-KR" altLang="en-US" sz="2000" b="1" dirty="0">
                <a:latin typeface="+mn-ea"/>
              </a:rPr>
              <a:t>수행 평가 </a:t>
            </a:r>
            <a:r>
              <a:rPr lang="en-US" altLang="ko-KR" sz="2000" b="1" dirty="0">
                <a:latin typeface="+mn-ea"/>
              </a:rPr>
              <a:t>: </a:t>
            </a:r>
            <a:r>
              <a:rPr lang="ko-KR" altLang="en-US" sz="2000" b="1" dirty="0">
                <a:latin typeface="+mn-ea"/>
              </a:rPr>
              <a:t>식품 불량 원인 예측 학습 모델 개발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85DA7A-BC73-4836-96B0-B1D45B939A4B}"/>
              </a:ext>
            </a:extLst>
          </p:cNvPr>
          <p:cNvSpPr txBox="1"/>
          <p:nvPr/>
        </p:nvSpPr>
        <p:spPr>
          <a:xfrm>
            <a:off x="204280" y="760114"/>
            <a:ext cx="11702375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en-US" altLang="ko-KR" dirty="0">
                <a:latin typeface="+mn-ea"/>
              </a:rPr>
              <a:t>2. 10,000</a:t>
            </a:r>
            <a:r>
              <a:rPr lang="ko-KR" altLang="en-US" dirty="0">
                <a:latin typeface="+mn-ea"/>
              </a:rPr>
              <a:t>개의 </a:t>
            </a:r>
            <a:r>
              <a:rPr lang="en-US" altLang="ko-KR" dirty="0">
                <a:latin typeface="+mn-ea"/>
              </a:rPr>
              <a:t>dataset</a:t>
            </a:r>
            <a:r>
              <a:rPr lang="ko-KR" altLang="en-US" dirty="0">
                <a:latin typeface="+mn-ea"/>
              </a:rPr>
              <a:t>을  </a:t>
            </a:r>
            <a:r>
              <a:rPr lang="en-US" altLang="ko-KR" dirty="0">
                <a:latin typeface="+mn-ea"/>
              </a:rPr>
              <a:t>Train, Test </a:t>
            </a:r>
            <a:r>
              <a:rPr lang="ko-KR" altLang="en-US" dirty="0">
                <a:latin typeface="+mn-ea"/>
              </a:rPr>
              <a:t>데이터셋으로 </a:t>
            </a:r>
            <a:r>
              <a:rPr lang="ko-KR" altLang="en-US" dirty="0" err="1">
                <a:latin typeface="+mn-ea"/>
              </a:rPr>
              <a:t>분리하시오</a:t>
            </a:r>
            <a:r>
              <a:rPr lang="en-US" altLang="ko-KR" dirty="0">
                <a:latin typeface="+mn-ea"/>
              </a:rPr>
              <a:t>.(</a:t>
            </a:r>
            <a:r>
              <a:rPr lang="ko-KR" altLang="en-US" dirty="0">
                <a:latin typeface="+mn-ea"/>
              </a:rPr>
              <a:t>비율 </a:t>
            </a:r>
            <a:r>
              <a:rPr lang="en-US" altLang="ko-KR" dirty="0">
                <a:latin typeface="+mn-ea"/>
              </a:rPr>
              <a:t>8:2)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   Train </a:t>
            </a:r>
            <a:r>
              <a:rPr lang="ko-KR" altLang="en-US" dirty="0">
                <a:latin typeface="+mn-ea"/>
              </a:rPr>
              <a:t>크기와 </a:t>
            </a:r>
            <a:r>
              <a:rPr lang="en-US" altLang="ko-KR" dirty="0">
                <a:latin typeface="+mn-ea"/>
              </a:rPr>
              <a:t>Test </a:t>
            </a:r>
            <a:r>
              <a:rPr lang="ko-KR" altLang="en-US" dirty="0">
                <a:latin typeface="+mn-ea"/>
              </a:rPr>
              <a:t>크기를 표시하고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불량 비율을 각각 </a:t>
            </a:r>
            <a:r>
              <a:rPr lang="ko-KR" altLang="en-US" dirty="0" err="1">
                <a:latin typeface="+mn-ea"/>
              </a:rPr>
              <a:t>출력하시오</a:t>
            </a:r>
            <a:r>
              <a:rPr lang="en-US" altLang="ko-KR" dirty="0">
                <a:latin typeface="+mn-ea"/>
              </a:rPr>
              <a:t>. (1</a:t>
            </a:r>
            <a:r>
              <a:rPr lang="ko-KR" altLang="en-US" dirty="0">
                <a:latin typeface="+mn-ea"/>
              </a:rPr>
              <a:t>점</a:t>
            </a:r>
            <a:r>
              <a:rPr lang="en-US" altLang="ko-KR" dirty="0">
                <a:latin typeface="+mn-ea"/>
              </a:rPr>
              <a:t>) </a:t>
            </a:r>
            <a:endParaRPr lang="en-US" altLang="ko-K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500"/>
              </a:lnSpc>
            </a:pPr>
            <a:endParaRPr lang="ko-KR" altLang="en-US" dirty="0">
              <a:latin typeface="+mn-ea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706F616-3FE8-418A-91A5-D15ABC501E41}"/>
              </a:ext>
            </a:extLst>
          </p:cNvPr>
          <p:cNvCxnSpPr/>
          <p:nvPr/>
        </p:nvCxnSpPr>
        <p:spPr>
          <a:xfrm>
            <a:off x="525294" y="2159540"/>
            <a:ext cx="10836612" cy="0"/>
          </a:xfrm>
          <a:prstGeom prst="line">
            <a:avLst/>
          </a:prstGeom>
          <a:ln w="317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82E410B-A4A4-4551-97F0-866DE4835B51}"/>
              </a:ext>
            </a:extLst>
          </p:cNvPr>
          <p:cNvSpPr txBox="1"/>
          <p:nvPr/>
        </p:nvSpPr>
        <p:spPr>
          <a:xfrm>
            <a:off x="525294" y="1766144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0000FF"/>
                </a:solidFill>
              </a:rPr>
              <a:t>정답 </a:t>
            </a:r>
          </a:p>
        </p:txBody>
      </p:sp>
    </p:spTree>
    <p:extLst>
      <p:ext uri="{BB962C8B-B14F-4D97-AF65-F5344CB8AC3E}">
        <p14:creationId xmlns:p14="http://schemas.microsoft.com/office/powerpoint/2010/main" val="559150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AA46DC2F-BE33-2CC2-7DD8-2D1AEC02F438}"/>
              </a:ext>
            </a:extLst>
          </p:cNvPr>
          <p:cNvSpPr/>
          <p:nvPr/>
        </p:nvSpPr>
        <p:spPr>
          <a:xfrm>
            <a:off x="0" y="0"/>
            <a:ext cx="12192000" cy="6489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541338" indent="-365125">
              <a:buFont typeface="Wingdings" panose="05000000000000000000" pitchFamily="2" charset="2"/>
              <a:buChar char="§"/>
            </a:pPr>
            <a:r>
              <a:rPr lang="ko-KR" altLang="en-US" sz="2000" b="1" dirty="0">
                <a:latin typeface="+mn-ea"/>
              </a:rPr>
              <a:t>수행 평가 </a:t>
            </a:r>
            <a:r>
              <a:rPr lang="en-US" altLang="ko-KR" sz="2000" b="1" dirty="0">
                <a:latin typeface="+mn-ea"/>
              </a:rPr>
              <a:t>: </a:t>
            </a:r>
            <a:r>
              <a:rPr lang="ko-KR" altLang="en-US" sz="2000" b="1" dirty="0">
                <a:latin typeface="+mn-ea"/>
              </a:rPr>
              <a:t>식품 불량 원인 예측 학습 모델 개발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85DA7A-BC73-4836-96B0-B1D45B939A4B}"/>
              </a:ext>
            </a:extLst>
          </p:cNvPr>
          <p:cNvSpPr txBox="1"/>
          <p:nvPr/>
        </p:nvSpPr>
        <p:spPr>
          <a:xfrm>
            <a:off x="204280" y="760114"/>
            <a:ext cx="11702375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en-US" altLang="ko-KR" dirty="0">
                <a:latin typeface="+mn-ea"/>
              </a:rPr>
              <a:t>3. XGBoost </a:t>
            </a:r>
            <a:r>
              <a:rPr lang="ko-KR" altLang="en-US" dirty="0">
                <a:latin typeface="+mn-ea"/>
              </a:rPr>
              <a:t>를 사용하여 모델 학습을 </a:t>
            </a:r>
            <a:r>
              <a:rPr lang="ko-KR" altLang="en-US" dirty="0" err="1">
                <a:latin typeface="+mn-ea"/>
              </a:rPr>
              <a:t>수행하시오</a:t>
            </a:r>
            <a:r>
              <a:rPr lang="en-US" altLang="ko-KR" dirty="0">
                <a:latin typeface="+mn-ea"/>
              </a:rPr>
              <a:t>.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   XGBoost </a:t>
            </a:r>
            <a:r>
              <a:rPr lang="ko-KR" altLang="en-US" dirty="0">
                <a:latin typeface="+mn-ea"/>
              </a:rPr>
              <a:t>성능 결과인 정확도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정밀도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 err="1">
                <a:latin typeface="+mn-ea"/>
              </a:rPr>
              <a:t>재현율</a:t>
            </a:r>
            <a:r>
              <a:rPr lang="en-US" altLang="ko-KR" dirty="0">
                <a:latin typeface="+mn-ea"/>
              </a:rPr>
              <a:t>, F1-Score </a:t>
            </a:r>
            <a:r>
              <a:rPr lang="ko-KR" altLang="en-US" dirty="0">
                <a:latin typeface="+mn-ea"/>
              </a:rPr>
              <a:t>를 </a:t>
            </a:r>
            <a:r>
              <a:rPr lang="ko-KR" altLang="en-US" dirty="0" err="1">
                <a:latin typeface="+mn-ea"/>
              </a:rPr>
              <a:t>출력하시오</a:t>
            </a:r>
            <a:r>
              <a:rPr lang="en-US" altLang="ko-KR" dirty="0">
                <a:latin typeface="+mn-ea"/>
              </a:rPr>
              <a:t>.  (1</a:t>
            </a:r>
            <a:r>
              <a:rPr lang="ko-KR" altLang="en-US" dirty="0">
                <a:latin typeface="+mn-ea"/>
              </a:rPr>
              <a:t>점</a:t>
            </a:r>
            <a:r>
              <a:rPr lang="en-US" altLang="ko-KR" dirty="0">
                <a:latin typeface="+mn-ea"/>
              </a:rPr>
              <a:t>)</a:t>
            </a:r>
            <a:endParaRPr lang="en-US" altLang="ko-K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2500"/>
              </a:lnSpc>
            </a:pPr>
            <a:endParaRPr lang="ko-KR" altLang="en-US" dirty="0">
              <a:latin typeface="+mn-ea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706F616-3FE8-418A-91A5-D15ABC501E41}"/>
              </a:ext>
            </a:extLst>
          </p:cNvPr>
          <p:cNvCxnSpPr/>
          <p:nvPr/>
        </p:nvCxnSpPr>
        <p:spPr>
          <a:xfrm>
            <a:off x="525294" y="2159540"/>
            <a:ext cx="10836612" cy="0"/>
          </a:xfrm>
          <a:prstGeom prst="line">
            <a:avLst/>
          </a:prstGeom>
          <a:ln w="317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82E410B-A4A4-4551-97F0-866DE4835B51}"/>
              </a:ext>
            </a:extLst>
          </p:cNvPr>
          <p:cNvSpPr txBox="1"/>
          <p:nvPr/>
        </p:nvSpPr>
        <p:spPr>
          <a:xfrm>
            <a:off x="525294" y="1766144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0000FF"/>
                </a:solidFill>
              </a:rPr>
              <a:t>정답 </a:t>
            </a:r>
          </a:p>
        </p:txBody>
      </p:sp>
    </p:spTree>
    <p:extLst>
      <p:ext uri="{BB962C8B-B14F-4D97-AF65-F5344CB8AC3E}">
        <p14:creationId xmlns:p14="http://schemas.microsoft.com/office/powerpoint/2010/main" val="3163221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AA46DC2F-BE33-2CC2-7DD8-2D1AEC02F438}"/>
              </a:ext>
            </a:extLst>
          </p:cNvPr>
          <p:cNvSpPr/>
          <p:nvPr/>
        </p:nvSpPr>
        <p:spPr>
          <a:xfrm>
            <a:off x="0" y="0"/>
            <a:ext cx="12192000" cy="6489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541338" indent="-365125">
              <a:buFont typeface="Wingdings" panose="05000000000000000000" pitchFamily="2" charset="2"/>
              <a:buChar char="§"/>
            </a:pPr>
            <a:r>
              <a:rPr lang="ko-KR" altLang="en-US" sz="2000" b="1" dirty="0">
                <a:latin typeface="+mn-ea"/>
              </a:rPr>
              <a:t>수행 평가 </a:t>
            </a:r>
            <a:r>
              <a:rPr lang="en-US" altLang="ko-KR" sz="2000" b="1" dirty="0">
                <a:latin typeface="+mn-ea"/>
              </a:rPr>
              <a:t>: </a:t>
            </a:r>
            <a:r>
              <a:rPr lang="ko-KR" altLang="en-US" sz="2000" b="1" dirty="0">
                <a:latin typeface="+mn-ea"/>
              </a:rPr>
              <a:t>식품 불량 원인 예측 학습 모델 개발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85DA7A-BC73-4836-96B0-B1D45B939A4B}"/>
              </a:ext>
            </a:extLst>
          </p:cNvPr>
          <p:cNvSpPr txBox="1"/>
          <p:nvPr/>
        </p:nvSpPr>
        <p:spPr>
          <a:xfrm>
            <a:off x="204280" y="760114"/>
            <a:ext cx="11702375" cy="383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en-US" altLang="ko-KR" dirty="0">
                <a:latin typeface="+mn-ea"/>
              </a:rPr>
              <a:t>4. XGBoost </a:t>
            </a:r>
            <a:r>
              <a:rPr lang="ko-KR" altLang="en-US" dirty="0">
                <a:latin typeface="+mn-ea"/>
              </a:rPr>
              <a:t>학습 결과를 </a:t>
            </a:r>
            <a:r>
              <a:rPr lang="en-US" altLang="ko-KR" dirty="0">
                <a:latin typeface="+mn-ea"/>
              </a:rPr>
              <a:t>Confusion Matrix </a:t>
            </a:r>
            <a:r>
              <a:rPr lang="ko-KR" altLang="en-US" dirty="0">
                <a:latin typeface="+mn-ea"/>
              </a:rPr>
              <a:t>로 </a:t>
            </a:r>
            <a:r>
              <a:rPr lang="ko-KR" altLang="en-US" dirty="0" err="1">
                <a:latin typeface="+mn-ea"/>
              </a:rPr>
              <a:t>시각화하여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표시하시오</a:t>
            </a:r>
            <a:r>
              <a:rPr lang="en-US" altLang="ko-KR" dirty="0">
                <a:latin typeface="+mn-ea"/>
              </a:rPr>
              <a:t>.  ( 1</a:t>
            </a:r>
            <a:r>
              <a:rPr lang="ko-KR" altLang="en-US" dirty="0">
                <a:latin typeface="+mn-ea"/>
              </a:rPr>
              <a:t>점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706F616-3FE8-418A-91A5-D15ABC501E41}"/>
              </a:ext>
            </a:extLst>
          </p:cNvPr>
          <p:cNvCxnSpPr/>
          <p:nvPr/>
        </p:nvCxnSpPr>
        <p:spPr>
          <a:xfrm>
            <a:off x="525294" y="2159540"/>
            <a:ext cx="10836612" cy="0"/>
          </a:xfrm>
          <a:prstGeom prst="line">
            <a:avLst/>
          </a:prstGeom>
          <a:ln w="317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82E410B-A4A4-4551-97F0-866DE4835B51}"/>
              </a:ext>
            </a:extLst>
          </p:cNvPr>
          <p:cNvSpPr txBox="1"/>
          <p:nvPr/>
        </p:nvSpPr>
        <p:spPr>
          <a:xfrm>
            <a:off x="525294" y="176614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0000FF"/>
                </a:solidFill>
              </a:rPr>
              <a:t>정답</a:t>
            </a:r>
          </a:p>
        </p:txBody>
      </p:sp>
    </p:spTree>
    <p:extLst>
      <p:ext uri="{BB962C8B-B14F-4D97-AF65-F5344CB8AC3E}">
        <p14:creationId xmlns:p14="http://schemas.microsoft.com/office/powerpoint/2010/main" val="3675826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AA46DC2F-BE33-2CC2-7DD8-2D1AEC02F438}"/>
              </a:ext>
            </a:extLst>
          </p:cNvPr>
          <p:cNvSpPr/>
          <p:nvPr/>
        </p:nvSpPr>
        <p:spPr>
          <a:xfrm>
            <a:off x="0" y="0"/>
            <a:ext cx="12192000" cy="6489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541338" indent="-365125">
              <a:buFont typeface="Wingdings" panose="05000000000000000000" pitchFamily="2" charset="2"/>
              <a:buChar char="§"/>
            </a:pPr>
            <a:r>
              <a:rPr lang="ko-KR" altLang="en-US" sz="2000" b="1" dirty="0">
                <a:latin typeface="+mn-ea"/>
              </a:rPr>
              <a:t>수행 평가 </a:t>
            </a:r>
            <a:r>
              <a:rPr lang="en-US" altLang="ko-KR" sz="2000" b="1" dirty="0">
                <a:latin typeface="+mn-ea"/>
              </a:rPr>
              <a:t>: </a:t>
            </a:r>
            <a:r>
              <a:rPr lang="ko-KR" altLang="en-US" sz="2000" b="1" dirty="0">
                <a:latin typeface="+mn-ea"/>
              </a:rPr>
              <a:t>식품 불량 원인 예측 학습 모델 개발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85DA7A-BC73-4836-96B0-B1D45B939A4B}"/>
              </a:ext>
            </a:extLst>
          </p:cNvPr>
          <p:cNvSpPr txBox="1"/>
          <p:nvPr/>
        </p:nvSpPr>
        <p:spPr>
          <a:xfrm>
            <a:off x="204280" y="760114"/>
            <a:ext cx="11702375" cy="703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어떤 </a:t>
            </a:r>
            <a:r>
              <a:rPr lang="ko-KR" altLang="en-US" dirty="0" err="1">
                <a:latin typeface="+mn-ea"/>
              </a:rPr>
              <a:t>입력값이</a:t>
            </a:r>
            <a:r>
              <a:rPr lang="ko-KR" altLang="en-US" dirty="0">
                <a:latin typeface="+mn-ea"/>
              </a:rPr>
              <a:t> 품질에 영향을 얼마나 미치는지 판단하기 위하여 </a:t>
            </a:r>
            <a:r>
              <a:rPr lang="en-US" altLang="ko-KR" dirty="0">
                <a:latin typeface="+mn-ea"/>
              </a:rPr>
              <a:t>weight, gain, cover</a:t>
            </a:r>
            <a:r>
              <a:rPr lang="ko-KR" altLang="en-US" dirty="0">
                <a:latin typeface="+mn-ea"/>
              </a:rPr>
              <a:t> 그래프를 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   </a:t>
            </a:r>
            <a:r>
              <a:rPr lang="ko-KR" altLang="en-US" dirty="0" err="1">
                <a:latin typeface="+mn-ea"/>
              </a:rPr>
              <a:t>출력하시오</a:t>
            </a:r>
            <a:r>
              <a:rPr lang="en-US" altLang="ko-KR" dirty="0">
                <a:latin typeface="+mn-ea"/>
              </a:rPr>
              <a:t>.  ( 1</a:t>
            </a:r>
            <a:r>
              <a:rPr lang="ko-KR" altLang="en-US" dirty="0">
                <a:latin typeface="+mn-ea"/>
              </a:rPr>
              <a:t>점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706F616-3FE8-418A-91A5-D15ABC501E41}"/>
              </a:ext>
            </a:extLst>
          </p:cNvPr>
          <p:cNvCxnSpPr/>
          <p:nvPr/>
        </p:nvCxnSpPr>
        <p:spPr>
          <a:xfrm>
            <a:off x="525294" y="2159540"/>
            <a:ext cx="10836612" cy="0"/>
          </a:xfrm>
          <a:prstGeom prst="line">
            <a:avLst/>
          </a:prstGeom>
          <a:ln w="317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82E410B-A4A4-4551-97F0-866DE4835B51}"/>
              </a:ext>
            </a:extLst>
          </p:cNvPr>
          <p:cNvSpPr txBox="1"/>
          <p:nvPr/>
        </p:nvSpPr>
        <p:spPr>
          <a:xfrm>
            <a:off x="525294" y="176614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0000FF"/>
                </a:solidFill>
              </a:rPr>
              <a:t>정답</a:t>
            </a:r>
          </a:p>
        </p:txBody>
      </p:sp>
    </p:spTree>
    <p:extLst>
      <p:ext uri="{BB962C8B-B14F-4D97-AF65-F5344CB8AC3E}">
        <p14:creationId xmlns:p14="http://schemas.microsoft.com/office/powerpoint/2010/main" val="2523614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AA46DC2F-BE33-2CC2-7DD8-2D1AEC02F438}"/>
              </a:ext>
            </a:extLst>
          </p:cNvPr>
          <p:cNvSpPr/>
          <p:nvPr/>
        </p:nvSpPr>
        <p:spPr>
          <a:xfrm>
            <a:off x="0" y="0"/>
            <a:ext cx="12192000" cy="6489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541338" indent="-365125">
              <a:buFont typeface="Wingdings" panose="05000000000000000000" pitchFamily="2" charset="2"/>
              <a:buChar char="§"/>
            </a:pPr>
            <a:r>
              <a:rPr lang="ko-KR" altLang="en-US" sz="2000" b="1" dirty="0">
                <a:latin typeface="+mn-ea"/>
              </a:rPr>
              <a:t>수행 평가 </a:t>
            </a:r>
            <a:r>
              <a:rPr lang="en-US" altLang="ko-KR" sz="2000" b="1" dirty="0">
                <a:latin typeface="+mn-ea"/>
              </a:rPr>
              <a:t>: </a:t>
            </a:r>
            <a:r>
              <a:rPr lang="ko-KR" altLang="en-US" sz="2000" b="1" dirty="0">
                <a:latin typeface="+mn-ea"/>
              </a:rPr>
              <a:t>식품 불량 원인 예측 학습 모델 개발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85DA7A-BC73-4836-96B0-B1D45B939A4B}"/>
              </a:ext>
            </a:extLst>
          </p:cNvPr>
          <p:cNvSpPr txBox="1"/>
          <p:nvPr/>
        </p:nvSpPr>
        <p:spPr>
          <a:xfrm>
            <a:off x="204280" y="760114"/>
            <a:ext cx="11702375" cy="383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en-US" altLang="ko-KR" dirty="0">
                <a:latin typeface="+mn-ea"/>
              </a:rPr>
              <a:t>6. XGBoost </a:t>
            </a:r>
            <a:r>
              <a:rPr lang="ko-KR" altLang="en-US" dirty="0">
                <a:latin typeface="+mn-ea"/>
              </a:rPr>
              <a:t>학습 모델을 </a:t>
            </a:r>
            <a:r>
              <a:rPr lang="en-US" altLang="ko-KR" dirty="0" err="1">
                <a:latin typeface="+mn-ea"/>
              </a:rPr>
              <a:t>pkl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파일로 </a:t>
            </a:r>
            <a:r>
              <a:rPr lang="en-US" altLang="ko-KR" dirty="0">
                <a:latin typeface="+mn-ea"/>
              </a:rPr>
              <a:t>7</a:t>
            </a:r>
            <a:r>
              <a:rPr lang="ko-KR" altLang="en-US" dirty="0">
                <a:latin typeface="+mn-ea"/>
              </a:rPr>
              <a:t>가지 입력 값의 </a:t>
            </a:r>
            <a:r>
              <a:rPr lang="en-US" altLang="ko-KR" dirty="0">
                <a:latin typeface="+mn-ea"/>
              </a:rPr>
              <a:t>min, max </a:t>
            </a:r>
            <a:r>
              <a:rPr lang="ko-KR" altLang="en-US" dirty="0">
                <a:latin typeface="+mn-ea"/>
              </a:rPr>
              <a:t>값을 </a:t>
            </a:r>
            <a:r>
              <a:rPr lang="en-US" altLang="ko-KR" dirty="0">
                <a:latin typeface="+mn-ea"/>
              </a:rPr>
              <a:t>json </a:t>
            </a:r>
            <a:r>
              <a:rPr lang="ko-KR" altLang="en-US" dirty="0">
                <a:latin typeface="+mn-ea"/>
              </a:rPr>
              <a:t>파일로 </a:t>
            </a:r>
            <a:r>
              <a:rPr lang="ko-KR" altLang="en-US" dirty="0" err="1">
                <a:latin typeface="+mn-ea"/>
              </a:rPr>
              <a:t>저장하시오</a:t>
            </a:r>
            <a:r>
              <a:rPr lang="en-US" altLang="ko-KR" dirty="0">
                <a:latin typeface="+mn-ea"/>
              </a:rPr>
              <a:t>. .  ( 1</a:t>
            </a:r>
            <a:r>
              <a:rPr lang="ko-KR" altLang="en-US" dirty="0">
                <a:latin typeface="+mn-ea"/>
              </a:rPr>
              <a:t>점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706F616-3FE8-418A-91A5-D15ABC501E41}"/>
              </a:ext>
            </a:extLst>
          </p:cNvPr>
          <p:cNvCxnSpPr/>
          <p:nvPr/>
        </p:nvCxnSpPr>
        <p:spPr>
          <a:xfrm>
            <a:off x="525294" y="2159540"/>
            <a:ext cx="10836612" cy="0"/>
          </a:xfrm>
          <a:prstGeom prst="line">
            <a:avLst/>
          </a:prstGeom>
          <a:ln w="317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82E410B-A4A4-4551-97F0-866DE4835B51}"/>
              </a:ext>
            </a:extLst>
          </p:cNvPr>
          <p:cNvSpPr txBox="1"/>
          <p:nvPr/>
        </p:nvSpPr>
        <p:spPr>
          <a:xfrm>
            <a:off x="525294" y="1766144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0000FF"/>
                </a:solidFill>
              </a:rPr>
              <a:t>정답 </a:t>
            </a:r>
          </a:p>
        </p:txBody>
      </p:sp>
    </p:spTree>
    <p:extLst>
      <p:ext uri="{BB962C8B-B14F-4D97-AF65-F5344CB8AC3E}">
        <p14:creationId xmlns:p14="http://schemas.microsoft.com/office/powerpoint/2010/main" val="2362213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AA46DC2F-BE33-2CC2-7DD8-2D1AEC02F438}"/>
              </a:ext>
            </a:extLst>
          </p:cNvPr>
          <p:cNvSpPr/>
          <p:nvPr/>
        </p:nvSpPr>
        <p:spPr>
          <a:xfrm>
            <a:off x="0" y="0"/>
            <a:ext cx="12192000" cy="6489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541338" indent="-365125">
              <a:buFont typeface="Wingdings" panose="05000000000000000000" pitchFamily="2" charset="2"/>
              <a:buChar char="§"/>
            </a:pPr>
            <a:r>
              <a:rPr lang="ko-KR" altLang="en-US" sz="2000" b="1" dirty="0">
                <a:latin typeface="+mn-ea"/>
              </a:rPr>
              <a:t>수행 평가 </a:t>
            </a:r>
            <a:r>
              <a:rPr lang="en-US" altLang="ko-KR" sz="2000" b="1" dirty="0">
                <a:latin typeface="+mn-ea"/>
              </a:rPr>
              <a:t>: </a:t>
            </a:r>
            <a:r>
              <a:rPr lang="ko-KR" altLang="en-US" sz="2000" b="1" dirty="0">
                <a:latin typeface="+mn-ea"/>
              </a:rPr>
              <a:t>식품 불량 원인 예측 학습 모델 개발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85DA7A-BC73-4836-96B0-B1D45B939A4B}"/>
              </a:ext>
            </a:extLst>
          </p:cNvPr>
          <p:cNvSpPr txBox="1"/>
          <p:nvPr/>
        </p:nvSpPr>
        <p:spPr>
          <a:xfrm>
            <a:off x="204280" y="760114"/>
            <a:ext cx="11702375" cy="1986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en-US" altLang="ko-KR" dirty="0">
                <a:latin typeface="+mn-ea"/>
              </a:rPr>
              <a:t>7. </a:t>
            </a:r>
            <a:r>
              <a:rPr lang="ko-KR" altLang="en-US" dirty="0">
                <a:latin typeface="+mn-ea"/>
              </a:rPr>
              <a:t>모델을 사용하여 추론 프로그램을 작성하고 동작 화면을 </a:t>
            </a:r>
            <a:r>
              <a:rPr lang="ko-KR" altLang="en-US" dirty="0" err="1">
                <a:latin typeface="+mn-ea"/>
              </a:rPr>
              <a:t>제시하시오</a:t>
            </a:r>
            <a:r>
              <a:rPr lang="en-US" altLang="ko-KR" dirty="0">
                <a:latin typeface="+mn-ea"/>
              </a:rPr>
              <a:t>.  ( </a:t>
            </a:r>
            <a:r>
              <a:rPr lang="ko-KR" altLang="en-US" dirty="0">
                <a:latin typeface="+mn-ea"/>
              </a:rPr>
              <a:t>총 </a:t>
            </a:r>
            <a:r>
              <a:rPr lang="en-US" altLang="ko-KR" dirty="0">
                <a:latin typeface="+mn-ea"/>
              </a:rPr>
              <a:t>4</a:t>
            </a:r>
            <a:r>
              <a:rPr lang="ko-KR" altLang="en-US" dirty="0">
                <a:latin typeface="+mn-ea"/>
              </a:rPr>
              <a:t>점</a:t>
            </a:r>
            <a:r>
              <a:rPr lang="en-US" altLang="ko-KR" dirty="0">
                <a:latin typeface="+mn-ea"/>
              </a:rPr>
              <a:t>)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   1) 7</a:t>
            </a:r>
            <a:r>
              <a:rPr lang="ko-KR" altLang="en-US" dirty="0">
                <a:latin typeface="+mn-ea"/>
              </a:rPr>
              <a:t>가지 입력 데이터를 </a:t>
            </a:r>
            <a:r>
              <a:rPr lang="en-US" altLang="ko-KR" dirty="0">
                <a:latin typeface="+mn-ea"/>
              </a:rPr>
              <a:t>1</a:t>
            </a:r>
            <a:r>
              <a:rPr lang="ko-KR" altLang="en-US" dirty="0">
                <a:latin typeface="+mn-ea"/>
              </a:rPr>
              <a:t>초마다 </a:t>
            </a:r>
            <a:r>
              <a:rPr lang="en-US" altLang="ko-KR" dirty="0">
                <a:latin typeface="+mn-ea"/>
              </a:rPr>
              <a:t>random </a:t>
            </a:r>
            <a:r>
              <a:rPr lang="ko-KR" altLang="en-US" dirty="0">
                <a:latin typeface="+mn-ea"/>
              </a:rPr>
              <a:t>값으로 만들어 표시할 것 </a:t>
            </a:r>
            <a:r>
              <a:rPr lang="en-US" altLang="ko-KR" dirty="0">
                <a:latin typeface="+mn-ea"/>
              </a:rPr>
              <a:t>(1</a:t>
            </a:r>
            <a:r>
              <a:rPr lang="ko-KR" altLang="en-US" dirty="0">
                <a:latin typeface="+mn-ea"/>
              </a:rPr>
              <a:t>점</a:t>
            </a:r>
            <a:r>
              <a:rPr lang="en-US" altLang="ko-KR" dirty="0">
                <a:latin typeface="+mn-ea"/>
              </a:rPr>
              <a:t>)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   2) </a:t>
            </a:r>
            <a:r>
              <a:rPr lang="ko-KR" altLang="en-US" dirty="0">
                <a:latin typeface="+mn-ea"/>
              </a:rPr>
              <a:t>입력 데이터에 따른 추론 결과를 표시할 것</a:t>
            </a:r>
            <a:r>
              <a:rPr lang="en-US" altLang="ko-KR" dirty="0">
                <a:latin typeface="+mn-ea"/>
              </a:rPr>
              <a:t>(1</a:t>
            </a:r>
            <a:r>
              <a:rPr lang="ko-KR" altLang="en-US" dirty="0">
                <a:latin typeface="+mn-ea"/>
              </a:rPr>
              <a:t>점</a:t>
            </a:r>
            <a:r>
              <a:rPr lang="en-US" altLang="ko-KR" dirty="0">
                <a:latin typeface="+mn-ea"/>
              </a:rPr>
              <a:t>)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   3) 1</a:t>
            </a:r>
            <a:r>
              <a:rPr lang="ko-KR" altLang="en-US" dirty="0">
                <a:latin typeface="+mn-ea"/>
              </a:rPr>
              <a:t>초마다 들어온 데이터셋을 테이블 형식으로 표시할 것</a:t>
            </a:r>
            <a:r>
              <a:rPr lang="en-US" altLang="ko-KR" dirty="0">
                <a:latin typeface="+mn-ea"/>
              </a:rPr>
              <a:t>(1</a:t>
            </a:r>
            <a:r>
              <a:rPr lang="ko-KR" altLang="en-US" dirty="0">
                <a:latin typeface="+mn-ea"/>
              </a:rPr>
              <a:t>점</a:t>
            </a:r>
            <a:r>
              <a:rPr lang="en-US" altLang="ko-KR" dirty="0">
                <a:latin typeface="+mn-ea"/>
              </a:rPr>
              <a:t>)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   4) </a:t>
            </a:r>
            <a:r>
              <a:rPr lang="ko-KR" altLang="en-US" dirty="0">
                <a:latin typeface="+mn-ea"/>
              </a:rPr>
              <a:t>프로그램이 멈추지 않고 실시간 동작할 것</a:t>
            </a:r>
            <a:r>
              <a:rPr lang="en-US" altLang="ko-KR" dirty="0">
                <a:latin typeface="+mn-ea"/>
              </a:rPr>
              <a:t>(1</a:t>
            </a:r>
            <a:r>
              <a:rPr lang="ko-KR" altLang="en-US" dirty="0">
                <a:latin typeface="+mn-ea"/>
              </a:rPr>
              <a:t>점</a:t>
            </a:r>
            <a:r>
              <a:rPr lang="en-US" altLang="ko-KR" dirty="0">
                <a:latin typeface="+mn-ea"/>
              </a:rPr>
              <a:t>)</a:t>
            </a:r>
          </a:p>
          <a:p>
            <a:pPr>
              <a:lnSpc>
                <a:spcPts val="2500"/>
              </a:lnSpc>
            </a:pPr>
            <a:r>
              <a:rPr lang="en-US" altLang="ko-KR" dirty="0">
                <a:latin typeface="+mn-ea"/>
              </a:rPr>
              <a:t>   </a:t>
            </a:r>
            <a:endParaRPr lang="ko-KR" altLang="en-US" dirty="0">
              <a:latin typeface="+mn-ea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706F616-3FE8-418A-91A5-D15ABC501E41}"/>
              </a:ext>
            </a:extLst>
          </p:cNvPr>
          <p:cNvCxnSpPr>
            <a:cxnSpLocks/>
          </p:cNvCxnSpPr>
          <p:nvPr/>
        </p:nvCxnSpPr>
        <p:spPr>
          <a:xfrm>
            <a:off x="204280" y="2953880"/>
            <a:ext cx="6308643" cy="24064"/>
          </a:xfrm>
          <a:prstGeom prst="line">
            <a:avLst/>
          </a:prstGeom>
          <a:ln w="317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82E410B-A4A4-4551-97F0-866DE4835B51}"/>
              </a:ext>
            </a:extLst>
          </p:cNvPr>
          <p:cNvSpPr txBox="1"/>
          <p:nvPr/>
        </p:nvSpPr>
        <p:spPr>
          <a:xfrm>
            <a:off x="204280" y="2561126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0000FF"/>
                </a:solidFill>
              </a:rPr>
              <a:t>정답 </a:t>
            </a:r>
          </a:p>
        </p:txBody>
      </p:sp>
    </p:spTree>
    <p:extLst>
      <p:ext uri="{BB962C8B-B14F-4D97-AF65-F5344CB8AC3E}">
        <p14:creationId xmlns:p14="http://schemas.microsoft.com/office/powerpoint/2010/main" val="679285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</TotalTime>
  <Words>450</Words>
  <Application>Microsoft Office PowerPoint</Application>
  <PresentationFormat>와이드스크린</PresentationFormat>
  <Paragraphs>36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맑은 고딕</vt:lpstr>
      <vt:lpstr>Arial</vt:lpstr>
      <vt:lpstr>Courier New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Dev DW</dc:creator>
  <cp:lastModifiedBy>Dev DW</cp:lastModifiedBy>
  <cp:revision>28</cp:revision>
  <dcterms:created xsi:type="dcterms:W3CDTF">2025-12-25T01:22:16Z</dcterms:created>
  <dcterms:modified xsi:type="dcterms:W3CDTF">2026-06-10T23:29:41Z</dcterms:modified>
</cp:coreProperties>
</file>