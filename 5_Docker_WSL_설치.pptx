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82" r:id="rId4"/>
    <p:sldId id="281" r:id="rId5"/>
    <p:sldId id="280" r:id="rId6"/>
    <p:sldId id="265" r:id="rId7"/>
    <p:sldId id="266" r:id="rId8"/>
    <p:sldId id="263" r:id="rId9"/>
    <p:sldId id="260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74" r:id="rId18"/>
    <p:sldId id="275" r:id="rId19"/>
    <p:sldId id="277" r:id="rId20"/>
    <p:sldId id="276" r:id="rId21"/>
    <p:sldId id="261" r:id="rId22"/>
    <p:sldId id="26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CF797-C29B-4505-ADBF-5125D7371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BFDA43-365A-4982-BD4F-CBFEF95FF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767F0C-4358-4EAC-BC53-AA682FD3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B0D56-C9F5-4E41-8AEB-640D58E2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11106-DA5D-4587-A1F9-78C461E6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4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01885-2119-403E-976D-2B6CB1ED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01627-0C7C-4A82-8021-2C7BAF4DB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98D15-F67D-4CCA-B6DB-EF26D6BB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0A71-24D8-40D1-8F22-9827978D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69A02A-238B-4EE9-BB18-32D0C33E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67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270DF-2204-49B1-BC7C-DED4E81B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235B5B-CC93-4AF7-93A2-CFF23DF8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F5D21-A097-44E1-8DC6-8615E63B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0499F-E01E-498B-92A2-CC57BD34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3768B-70CF-4FE3-86DF-E8998631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284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A84E6-274E-4886-BD9D-ED309C0D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7197B-C7D9-44D8-A865-130013F0D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46FEEA-FE41-43BA-BB5F-4212704C6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593BB-F0FB-497A-A6E5-EF778636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774DBF-159F-4829-A765-F89B2AED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CB000-B7CE-4E9A-A0C7-551F40D7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24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03E17-6D37-470E-934E-FABFCE7E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A92238-72F3-4A5C-97F4-DA00EF965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041DEE-0A5E-4CD7-BACD-674B05E17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51D166-6994-4C40-8F31-D70514973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5290EC-646A-447F-A189-52291C819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CB3F75-B091-46D9-8CB4-1A801122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67D921-571B-43F7-9B59-2029A3F36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617873-9A01-4FC0-AAC1-9AB70F10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1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5D458-6EAE-416D-BCAE-5C0FC726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F401A2-3299-4F4A-9AA6-7DA2332E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2AAF98-D258-43D8-85E5-1BEB5692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19047E-C41B-4FE1-9A08-5E211DA1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27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CE4022-6FEF-40F4-9CAF-E2F57990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A655F4-5E06-4B22-B3F8-068A3BF1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B5258D-99E5-486A-8304-929486AF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7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D3363-1182-4498-97C2-41CFEE1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F2FE2-F15E-406B-9D4D-9BFD36D4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348FF7-B5A9-4EFB-B75C-06FEB30E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64A70-0712-4300-94FC-3F99ADA2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0D5A58-93C8-4E26-BCC6-979897D0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7EF183-12C3-4558-B014-6895975E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35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E00F2-1566-4488-9A33-2FFFC34D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C05367-8170-4E07-9713-8C51FBB31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0F9DF1-2DAB-415A-9EEC-CEC99D9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88F623-F293-4EDC-9E7A-17DBB925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CB316B-F5A9-4422-9836-A06766B8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79BBA3-7CAB-4B45-9AE5-434ED346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86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12901-9A4C-4D7A-B728-491AE3AA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13E852-73B9-4319-B7D0-86A3EFC76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A8CD8-F235-490A-8280-F1F08B52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42B8E4-243A-4A34-B5A5-8C931431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E782A-38C5-4664-937A-42D8BE16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94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A714215-7A69-4FA2-B8C4-DF1D59263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727AB0-CB13-4BE2-91AE-5010A550C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44E5F-A8BF-40FF-A87F-601F66EB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911B34-9CA5-4208-8A6D-8177EF66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B1E81-F13C-4FED-BDBA-2FCC135A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734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A52F10-A27C-4DE5-99E9-14861551F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C5C3D8-49C1-46D1-9BDB-7F3D83318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434E8-8799-4AA0-BD0D-D95B3B7DC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DFE53-5367-44D0-914F-C27647E05E25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A261A-B03B-4CDD-8028-280B7A6C0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C152E6-B427-45AF-BFBF-0724BC52D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D745C-C556-4EC5-A10B-AF0F2C867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81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ocker.com/resources/what-container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docker.com/get-started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docker.com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2F3B9E-3B25-F18B-D137-E2338F429220}"/>
              </a:ext>
            </a:extLst>
          </p:cNvPr>
          <p:cNvSpPr/>
          <p:nvPr/>
        </p:nvSpPr>
        <p:spPr>
          <a:xfrm>
            <a:off x="0" y="0"/>
            <a:ext cx="12192000" cy="3108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</a:rPr>
              <a:t>Docker &amp; Container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38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CE6B-9329-32A1-DCAC-AF4B835E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9041DC9-EB33-CC5E-F8AD-26B1509C390B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en-US" altLang="ko-KR" b="1" dirty="0"/>
              <a:t>Docker &amp; Container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8D4435-67CB-AA63-108E-648085B9B760}"/>
              </a:ext>
            </a:extLst>
          </p:cNvPr>
          <p:cNvSpPr txBox="1"/>
          <p:nvPr/>
        </p:nvSpPr>
        <p:spPr>
          <a:xfrm>
            <a:off x="4246880" y="74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What is a Container? | Docker</a:t>
            </a:r>
            <a:endParaRPr lang="ko-KR" altLang="en-US" dirty="0"/>
          </a:p>
        </p:txBody>
      </p:sp>
      <p:pic>
        <p:nvPicPr>
          <p:cNvPr id="21" name="그림 2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A75DDD-C70E-D2CA-C0BA-F5670128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52254"/>
            <a:ext cx="11955543" cy="47726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A3A59F-26F8-4512-D7D8-2920C13E8A55}"/>
              </a:ext>
            </a:extLst>
          </p:cNvPr>
          <p:cNvSpPr txBox="1"/>
          <p:nvPr/>
        </p:nvSpPr>
        <p:spPr>
          <a:xfrm>
            <a:off x="166565" y="676895"/>
            <a:ext cx="9938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코드와 종속성을 함께 </a:t>
            </a:r>
            <a:r>
              <a:rPr lang="ko-KR" altLang="en-US" dirty="0" err="1"/>
              <a:t>패키징하는</a:t>
            </a:r>
            <a:r>
              <a:rPr lang="ko-KR" altLang="en-US" dirty="0"/>
              <a:t> 앱 계층의 추상화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여러 컨테이너가 동일한 컴퓨터에서 실행되고</a:t>
            </a:r>
            <a:r>
              <a:rPr lang="en-US" altLang="ko-KR" dirty="0"/>
              <a:t>, OS </a:t>
            </a:r>
            <a:r>
              <a:rPr lang="ko-KR" altLang="en-US" dirty="0"/>
              <a:t>커널을 다른 컨테이너와 공유할 수 있다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컨테이너는 사용자 공간에서 독립적인 프로세스로 실행</a:t>
            </a:r>
          </a:p>
        </p:txBody>
      </p:sp>
    </p:spTree>
    <p:extLst>
      <p:ext uri="{BB962C8B-B14F-4D97-AF65-F5344CB8AC3E}">
        <p14:creationId xmlns:p14="http://schemas.microsoft.com/office/powerpoint/2010/main" val="355561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00543-CD4B-7601-1FD6-A3056B1E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F9683E-9437-AC52-1A81-BC3387D7A6AB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en-US" altLang="ko-KR" b="1" dirty="0"/>
              <a:t>Docker </a:t>
            </a:r>
            <a:r>
              <a:rPr lang="ko-KR" altLang="en-US" b="1" dirty="0"/>
              <a:t>구조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A0127-7EC8-731F-53C7-25A83D26C96F}"/>
              </a:ext>
            </a:extLst>
          </p:cNvPr>
          <p:cNvSpPr txBox="1"/>
          <p:nvPr/>
        </p:nvSpPr>
        <p:spPr>
          <a:xfrm>
            <a:off x="4155440" y="74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Get started | Docker Docs</a:t>
            </a:r>
            <a:endParaRPr lang="ko-KR" altLang="en-US" dirty="0"/>
          </a:p>
        </p:txBody>
      </p:sp>
      <p:pic>
        <p:nvPicPr>
          <p:cNvPr id="10" name="그림 9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B95889-9238-6AFE-BE86-72ED30503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246" y="1019757"/>
            <a:ext cx="9974067" cy="53061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F52E53-E761-0DB7-CE83-05B543F422A0}"/>
              </a:ext>
            </a:extLst>
          </p:cNvPr>
          <p:cNvSpPr txBox="1"/>
          <p:nvPr/>
        </p:nvSpPr>
        <p:spPr>
          <a:xfrm>
            <a:off x="1178560" y="4785360"/>
            <a:ext cx="1910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terminal </a:t>
            </a:r>
            <a:r>
              <a:rPr lang="ko-KR" altLang="en-US" sz="1600" dirty="0"/>
              <a:t>에서 실행</a:t>
            </a:r>
            <a:endParaRPr lang="en-US" altLang="ko-KR" sz="1600" dirty="0"/>
          </a:p>
          <a:p>
            <a:r>
              <a:rPr lang="ko-KR" altLang="en-US" sz="1600" dirty="0"/>
              <a:t>명령 요청</a:t>
            </a:r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24746-2A40-EE63-F1D1-3C50EBDAC392}"/>
              </a:ext>
            </a:extLst>
          </p:cNvPr>
          <p:cNvSpPr txBox="1"/>
          <p:nvPr/>
        </p:nvSpPr>
        <p:spPr>
          <a:xfrm>
            <a:off x="5089142" y="4369861"/>
            <a:ext cx="275979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600" dirty="0"/>
              <a:t>docker</a:t>
            </a:r>
            <a:r>
              <a:rPr lang="ko-KR" altLang="en-US" sz="1600" dirty="0"/>
              <a:t> </a:t>
            </a:r>
            <a:r>
              <a:rPr lang="en-US" altLang="ko-KR" sz="1600" dirty="0"/>
              <a:t>build(</a:t>
            </a:r>
            <a:r>
              <a:rPr lang="ko-KR" altLang="en-US" sz="1600" dirty="0"/>
              <a:t>이미지 빌드</a:t>
            </a:r>
            <a:r>
              <a:rPr lang="en-US" altLang="ko-KR" sz="1600" dirty="0"/>
              <a:t>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600" dirty="0"/>
              <a:t>image pull/push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600" dirty="0"/>
              <a:t>container run/stop/rm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1600" dirty="0"/>
              <a:t>container </a:t>
            </a:r>
            <a:r>
              <a:rPr lang="ko-KR" altLang="en-US" sz="1600" dirty="0"/>
              <a:t>격리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D9F9B-4868-C53B-68F9-AD4CBA9754BB}"/>
              </a:ext>
            </a:extLst>
          </p:cNvPr>
          <p:cNvSpPr txBox="1"/>
          <p:nvPr/>
        </p:nvSpPr>
        <p:spPr>
          <a:xfrm>
            <a:off x="5445760" y="1930400"/>
            <a:ext cx="1300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00FF"/>
                </a:solidFill>
              </a:rPr>
              <a:t>이미지 저장소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3FF4C-2AAD-FB0E-DA6B-11D0D4CB9FC7}"/>
              </a:ext>
            </a:extLst>
          </p:cNvPr>
          <p:cNvSpPr txBox="1"/>
          <p:nvPr/>
        </p:nvSpPr>
        <p:spPr>
          <a:xfrm>
            <a:off x="6938516" y="1930400"/>
            <a:ext cx="1300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00FF"/>
                </a:solidFill>
              </a:rPr>
              <a:t>실행 인스턴스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AA8E7A-54C9-C9F6-043B-24B4EDF6A53B}"/>
              </a:ext>
            </a:extLst>
          </p:cNvPr>
          <p:cNvSpPr txBox="1"/>
          <p:nvPr/>
        </p:nvSpPr>
        <p:spPr>
          <a:xfrm>
            <a:off x="8930640" y="1493520"/>
            <a:ext cx="1595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</a:rPr>
              <a:t>image </a:t>
            </a:r>
            <a:r>
              <a:rPr lang="ko-KR" altLang="en-US" sz="1100" dirty="0">
                <a:solidFill>
                  <a:srgbClr val="0000FF"/>
                </a:solidFill>
              </a:rPr>
              <a:t>원격 저장소</a:t>
            </a:r>
          </a:p>
        </p:txBody>
      </p:sp>
    </p:spTree>
    <p:extLst>
      <p:ext uri="{BB962C8B-B14F-4D97-AF65-F5344CB8AC3E}">
        <p14:creationId xmlns:p14="http://schemas.microsoft.com/office/powerpoint/2010/main" val="303328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5A7A-B912-0427-686D-97D5A988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67CAE5-A6AD-6410-A03F-1B801C659DE4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en-US" altLang="ko-KR" b="1" dirty="0"/>
              <a:t>WSL </a:t>
            </a:r>
            <a:r>
              <a:rPr lang="ko-KR" altLang="en-US" b="1" dirty="0"/>
              <a:t>필요한 경우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DEF9CA-189B-3B0D-416F-E9465607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89467"/>
            <a:ext cx="10358477" cy="273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indent="182563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dirty="0"/>
              <a:t>Docker</a:t>
            </a:r>
            <a:r>
              <a:rPr lang="ko-KR" altLang="en-US" dirty="0"/>
              <a:t>의 </a:t>
            </a:r>
            <a:r>
              <a:rPr lang="en-US" altLang="ko-KR" dirty="0"/>
              <a:t>‘Linux </a:t>
            </a:r>
            <a:r>
              <a:rPr lang="ko-KR" altLang="en-US" dirty="0"/>
              <a:t>컨테이너</a:t>
            </a:r>
            <a:r>
              <a:rPr lang="en-US" altLang="ko-KR" dirty="0"/>
              <a:t>’</a:t>
            </a:r>
            <a:r>
              <a:rPr lang="ko-KR" altLang="en-US" dirty="0"/>
              <a:t>는 원래 </a:t>
            </a:r>
            <a:r>
              <a:rPr lang="ko-KR" altLang="en-US" b="1" dirty="0"/>
              <a:t>리눅스 커널 기능</a:t>
            </a:r>
            <a:r>
              <a:rPr lang="en-US" altLang="ko-KR" b="1" dirty="0"/>
              <a:t>(</a:t>
            </a:r>
            <a:r>
              <a:rPr lang="en-US" altLang="ko-KR" b="1" dirty="0" err="1"/>
              <a:t>cgroups</a:t>
            </a:r>
            <a:r>
              <a:rPr lang="en-US" altLang="ko-KR" b="1" dirty="0"/>
              <a:t>, namespaces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  <a:r>
              <a:rPr lang="ko-KR" altLang="en-US" dirty="0"/>
              <a:t> 위에서 돌아간다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Windows</a:t>
            </a:r>
            <a:r>
              <a:rPr lang="ko-KR" altLang="en-US" dirty="0"/>
              <a:t>에는 리눅스 커널이 없으니</a:t>
            </a:r>
            <a:r>
              <a:rPr lang="en-US" altLang="ko-KR" dirty="0"/>
              <a:t>, Windows</a:t>
            </a:r>
            <a:r>
              <a:rPr lang="ko-KR" altLang="en-US" dirty="0"/>
              <a:t>에서 </a:t>
            </a:r>
            <a:r>
              <a:rPr lang="en-US" altLang="ko-KR" dirty="0"/>
              <a:t>Linux </a:t>
            </a:r>
            <a:r>
              <a:rPr lang="ko-KR" altLang="en-US" dirty="0"/>
              <a:t>컨테이너를 돌리려면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“리눅스 커널 </a:t>
            </a:r>
            <a:r>
              <a:rPr lang="ko-KR" altLang="en-US" dirty="0" err="1"/>
              <a:t>환경”이</a:t>
            </a:r>
            <a:r>
              <a:rPr lang="ko-KR" altLang="en-US" dirty="0"/>
              <a:t> 하나 필요하다</a:t>
            </a:r>
            <a:r>
              <a:rPr lang="en-US" altLang="ko-KR" dirty="0"/>
              <a:t>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1825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+mn-ea"/>
            </a:endParaRPr>
          </a:p>
          <a:p>
            <a:pPr marR="0" lvl="0" indent="1825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Windows에서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Docker로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Nginx/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Redis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/MySQL/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PostgreSQL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같은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Linux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이미지를 실행하려고 할 때</a:t>
            </a:r>
          </a:p>
          <a:p>
            <a:pPr marR="0" lvl="0" indent="1825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Windows에서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Linux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서버에 배포할 이미지(amd64/arm64 등)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빌드하고 싶을 때</a:t>
            </a:r>
          </a:p>
          <a:p>
            <a:pPr marR="0" lvl="0" indent="1825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Code에서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“리눅스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개발환경”을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쓰며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도커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컴포즈를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자연스럽게 쓰고 싶을 때(WSL 통합)</a:t>
            </a:r>
          </a:p>
        </p:txBody>
      </p:sp>
    </p:spTree>
    <p:extLst>
      <p:ext uri="{BB962C8B-B14F-4D97-AF65-F5344CB8AC3E}">
        <p14:creationId xmlns:p14="http://schemas.microsoft.com/office/powerpoint/2010/main" val="292229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EC36-B134-F006-2FBC-6DC7C958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3FF337-98BE-3293-C104-78D702B679AC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ko-KR" altLang="en-US" dirty="0"/>
              <a:t>사전 점검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B31CC8D-283D-1EFE-517D-260A9A6130EA}"/>
              </a:ext>
            </a:extLst>
          </p:cNvPr>
          <p:cNvGraphicFramePr>
            <a:graphicFrameLocks noGrp="1"/>
          </p:cNvGraphicFramePr>
          <p:nvPr/>
        </p:nvGraphicFramePr>
        <p:xfrm>
          <a:off x="299720" y="887254"/>
          <a:ext cx="11353800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7621">
                  <a:extLst>
                    <a:ext uri="{9D8B030D-6E8A-4147-A177-3AD203B41FA5}">
                      <a16:colId xmlns:a16="http://schemas.microsoft.com/office/drawing/2014/main" val="478135015"/>
                    </a:ext>
                  </a:extLst>
                </a:gridCol>
                <a:gridCol w="2852162">
                  <a:extLst>
                    <a:ext uri="{9D8B030D-6E8A-4147-A177-3AD203B41FA5}">
                      <a16:colId xmlns:a16="http://schemas.microsoft.com/office/drawing/2014/main" val="4186993433"/>
                    </a:ext>
                  </a:extLst>
                </a:gridCol>
                <a:gridCol w="3511937">
                  <a:extLst>
                    <a:ext uri="{9D8B030D-6E8A-4147-A177-3AD203B41FA5}">
                      <a16:colId xmlns:a16="http://schemas.microsoft.com/office/drawing/2014/main" val="3591607590"/>
                    </a:ext>
                  </a:extLst>
                </a:gridCol>
                <a:gridCol w="3942080">
                  <a:extLst>
                    <a:ext uri="{9D8B030D-6E8A-4147-A177-3AD203B41FA5}">
                      <a16:colId xmlns:a16="http://schemas.microsoft.com/office/drawing/2014/main" val="1017857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단계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작업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방법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명령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비고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5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Windows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버전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 → 시스템 → 정보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(OS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빌드 확인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Windows 10(2004+)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Windows 11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권장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192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>
                          <a:latin typeface="+mn-ea"/>
                          <a:ea typeface="+mn-ea"/>
                        </a:rPr>
                        <a:t>가상화 지원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작업 관리자 → 성능 →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CPU →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가상화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사용”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BIOS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Intel VT-x/AMD-V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활성화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589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ea"/>
                          <a:ea typeface="+mn-ea"/>
                        </a:rPr>
                        <a:t>PowerShell </a:t>
                      </a:r>
                      <a:r>
                        <a:rPr lang="ko-KR" altLang="en-US" sz="1600">
                          <a:latin typeface="+mn-ea"/>
                          <a:ea typeface="+mn-ea"/>
                        </a:rPr>
                        <a:t>관리자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 →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PowerShell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우클릭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→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관리자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이후 모든 명령은 관리자 권장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15450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07DEBB36-5D59-5F39-8EF8-CBF9249A8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3154488"/>
            <a:ext cx="10071807" cy="321583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7030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A560-1151-E2DD-2B53-9B43C656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D68789-EE5A-1758-D08D-5F48CF4384DA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ko-KR" altLang="en-US" dirty="0"/>
              <a:t>설치 절차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FE4AD6-B7D0-FD03-549A-88CF80AFF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599571"/>
              </p:ext>
            </p:extLst>
          </p:nvPr>
        </p:nvGraphicFramePr>
        <p:xfrm>
          <a:off x="147320" y="673895"/>
          <a:ext cx="11069320" cy="27551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1642">
                  <a:extLst>
                    <a:ext uri="{9D8B030D-6E8A-4147-A177-3AD203B41FA5}">
                      <a16:colId xmlns:a16="http://schemas.microsoft.com/office/drawing/2014/main" val="663477674"/>
                    </a:ext>
                  </a:extLst>
                </a:gridCol>
                <a:gridCol w="2737919">
                  <a:extLst>
                    <a:ext uri="{9D8B030D-6E8A-4147-A177-3AD203B41FA5}">
                      <a16:colId xmlns:a16="http://schemas.microsoft.com/office/drawing/2014/main" val="4250270532"/>
                    </a:ext>
                  </a:extLst>
                </a:gridCol>
                <a:gridCol w="3347533">
                  <a:extLst>
                    <a:ext uri="{9D8B030D-6E8A-4147-A177-3AD203B41FA5}">
                      <a16:colId xmlns:a16="http://schemas.microsoft.com/office/drawing/2014/main" val="53063287"/>
                    </a:ext>
                  </a:extLst>
                </a:gridCol>
                <a:gridCol w="4112226">
                  <a:extLst>
                    <a:ext uri="{9D8B030D-6E8A-4147-A177-3AD203B41FA5}">
                      <a16:colId xmlns:a16="http://schemas.microsoft.com/office/drawing/2014/main" val="4069221638"/>
                    </a:ext>
                  </a:extLst>
                </a:gridCol>
              </a:tblGrid>
              <a:tr h="551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단계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작업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명령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경로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dirty="0"/>
                        <a:t>확인 포인트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878130"/>
                  </a:ext>
                </a:extLst>
              </a:tr>
              <a:tr h="551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WSL </a:t>
                      </a:r>
                      <a:r>
                        <a:rPr lang="ko-KR" altLang="en-US" dirty="0"/>
                        <a:t>설치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wsl</a:t>
                      </a:r>
                      <a:r>
                        <a:rPr lang="en-US" dirty="0"/>
                        <a:t> --install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자동으로 </a:t>
                      </a:r>
                      <a:r>
                        <a:rPr lang="en-US" altLang="ko-KR"/>
                        <a:t>WSL + Ubuntu </a:t>
                      </a:r>
                      <a:r>
                        <a:rPr lang="ko-KR" altLang="en-US"/>
                        <a:t>설치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062697"/>
                  </a:ext>
                </a:extLst>
              </a:tr>
              <a:tr h="551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재부팅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안내에 따라 재부팅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최초 </a:t>
                      </a:r>
                      <a:r>
                        <a:rPr lang="en-US" altLang="ko-KR"/>
                        <a:t>Ubuntu </a:t>
                      </a:r>
                      <a:r>
                        <a:rPr lang="ko-KR" altLang="en-US"/>
                        <a:t>사용자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비번 생성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115977"/>
                  </a:ext>
                </a:extLst>
              </a:tr>
              <a:tr h="551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wsl --update / wsl --status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커널</a:t>
                      </a:r>
                      <a:r>
                        <a:rPr lang="en-US" altLang="ko-KR"/>
                        <a:t>/WSLg </a:t>
                      </a:r>
                      <a:r>
                        <a:rPr lang="ko-KR" altLang="en-US"/>
                        <a:t>최신화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상태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546244"/>
                  </a:ext>
                </a:extLst>
              </a:tr>
              <a:tr h="551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기본 버전 </a:t>
                      </a:r>
                      <a:r>
                        <a:rPr lang="en-US" altLang="ko-KR"/>
                        <a:t>WSL2 </a:t>
                      </a:r>
                      <a:r>
                        <a:rPr lang="ko-KR" altLang="en-US"/>
                        <a:t>지정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wsl --set-default-version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새로 설치되는 배포판은 </a:t>
                      </a:r>
                      <a:r>
                        <a:rPr lang="en-US" altLang="ko-KR" dirty="0"/>
                        <a:t>WSL2</a:t>
                      </a:r>
                      <a:r>
                        <a:rPr lang="ko-KR" altLang="en-US" dirty="0"/>
                        <a:t>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51828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867BC21-050A-BCFF-9A64-A93D6DF6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81" y="3584735"/>
            <a:ext cx="7763958" cy="31436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BBFCB80-696E-F032-2195-07C97292D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784" y="4110311"/>
            <a:ext cx="4058216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9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894B5-EECA-540E-848F-A8EEBB0C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B82002-E8BA-428E-C35C-909918B011AC}"/>
              </a:ext>
            </a:extLst>
          </p:cNvPr>
          <p:cNvSpPr/>
          <p:nvPr/>
        </p:nvSpPr>
        <p:spPr>
          <a:xfrm>
            <a:off x="0" y="0"/>
            <a:ext cx="3850640" cy="5181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ko-KR" altLang="en-US" dirty="0"/>
              <a:t>수동 설치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AE33FD-4FE1-BE7C-C1EE-151E4F8AE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95928"/>
              </p:ext>
            </p:extLst>
          </p:nvPr>
        </p:nvGraphicFramePr>
        <p:xfrm>
          <a:off x="619760" y="809624"/>
          <a:ext cx="11216640" cy="45243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190380114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870852097"/>
                    </a:ext>
                  </a:extLst>
                </a:gridCol>
                <a:gridCol w="5679440">
                  <a:extLst>
                    <a:ext uri="{9D8B030D-6E8A-4147-A177-3AD203B41FA5}">
                      <a16:colId xmlns:a16="http://schemas.microsoft.com/office/drawing/2014/main" val="850136977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82253305"/>
                    </a:ext>
                  </a:extLst>
                </a:gridCol>
              </a:tblGrid>
              <a:tr h="4545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72522" marR="72522" marT="36261" marB="3626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작업</a:t>
                      </a:r>
                    </a:p>
                  </a:txBody>
                  <a:tcPr marL="72522" marR="72522" marT="36261" marB="3626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명령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경로</a:t>
                      </a:r>
                    </a:p>
                  </a:txBody>
                  <a:tcPr marL="72522" marR="72522" marT="36261" marB="3626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2522" marR="72522" marT="36261" marB="3626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999117"/>
                  </a:ext>
                </a:extLst>
              </a:tr>
              <a:tr h="81397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72522" marR="72522" marT="36261" marB="36261" anchor="ctr"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필수 기능 켜기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ea"/>
                          <a:ea typeface="+mn-ea"/>
                        </a:rPr>
                        <a:t>dism /online /enable-feature /featurename:VirtualMachinePlatform /all /norestart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>
                          <a:latin typeface="+mn-ea"/>
                          <a:ea typeface="+mn-ea"/>
                        </a:rPr>
                        <a:t>가상화 플랫폼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84975255"/>
                  </a:ext>
                </a:extLst>
              </a:tr>
              <a:tr h="813974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72522" marR="72522" marT="36261" marB="36261" anchor="ctr"/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ea"/>
                          <a:ea typeface="+mn-ea"/>
                        </a:rPr>
                        <a:t>dism</a:t>
                      </a:r>
                      <a:r>
                        <a:rPr lang="en-US" sz="1800" dirty="0">
                          <a:latin typeface="+mn-ea"/>
                          <a:ea typeface="+mn-ea"/>
                        </a:rPr>
                        <a:t> /online /enable-feature /</a:t>
                      </a:r>
                      <a:r>
                        <a:rPr lang="en-US" sz="1800" dirty="0" err="1">
                          <a:latin typeface="+mn-ea"/>
                          <a:ea typeface="+mn-ea"/>
                        </a:rPr>
                        <a:t>featurename:Microsoft-Windows-Subsystem-Linux</a:t>
                      </a:r>
                      <a:r>
                        <a:rPr lang="en-US" sz="1800" dirty="0">
                          <a:latin typeface="+mn-ea"/>
                          <a:ea typeface="+mn-ea"/>
                        </a:rPr>
                        <a:t> /all /</a:t>
                      </a:r>
                      <a:r>
                        <a:rPr lang="en-US" sz="1800" dirty="0" err="1">
                          <a:latin typeface="+mn-ea"/>
                          <a:ea typeface="+mn-ea"/>
                        </a:rPr>
                        <a:t>norestart</a:t>
                      </a:r>
                      <a:endParaRPr lang="en-US" sz="1800" dirty="0">
                        <a:latin typeface="+mn-ea"/>
                        <a:ea typeface="+mn-ea"/>
                      </a:endParaRP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ea"/>
                          <a:ea typeface="+mn-ea"/>
                        </a:rPr>
                        <a:t>WSL </a:t>
                      </a:r>
                      <a:r>
                        <a:rPr lang="ko-KR" altLang="en-US" sz="180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3830311"/>
                  </a:ext>
                </a:extLst>
              </a:tr>
              <a:tr h="4545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>
                          <a:latin typeface="+mn-ea"/>
                          <a:ea typeface="+mn-ea"/>
                        </a:rPr>
                        <a:t>재부팅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—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>
                          <a:latin typeface="+mn-ea"/>
                          <a:ea typeface="+mn-ea"/>
                        </a:rPr>
                        <a:t>필수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213678085"/>
                  </a:ext>
                </a:extLst>
              </a:tr>
              <a:tr h="81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ea"/>
                          <a:ea typeface="+mn-ea"/>
                        </a:rPr>
                        <a:t>WSL2 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기본 지정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ea"/>
                          <a:ea typeface="+mn-ea"/>
                        </a:rPr>
                        <a:t>wsl --set-default-version 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>
                          <a:latin typeface="+mn-ea"/>
                          <a:ea typeface="+mn-ea"/>
                        </a:rPr>
                        <a:t>핵심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91460354"/>
                  </a:ext>
                </a:extLst>
              </a:tr>
              <a:tr h="1173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800" dirty="0" err="1">
                          <a:latin typeface="+mn-ea"/>
                          <a:ea typeface="+mn-ea"/>
                        </a:rPr>
                        <a:t>배포판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 설치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ea"/>
                          <a:ea typeface="+mn-ea"/>
                        </a:rPr>
                        <a:t>wsl</a:t>
                      </a:r>
                      <a:r>
                        <a:rPr lang="en-US" sz="1800" dirty="0">
                          <a:latin typeface="+mn-ea"/>
                          <a:ea typeface="+mn-ea"/>
                        </a:rPr>
                        <a:t> --list --online → </a:t>
                      </a:r>
                      <a:r>
                        <a:rPr lang="en-US" sz="1800" dirty="0" err="1">
                          <a:latin typeface="+mn-ea"/>
                          <a:ea typeface="+mn-ea"/>
                        </a:rPr>
                        <a:t>wsl</a:t>
                      </a:r>
                      <a:r>
                        <a:rPr lang="en-US" sz="1800" dirty="0">
                          <a:latin typeface="+mn-ea"/>
                          <a:ea typeface="+mn-ea"/>
                        </a:rPr>
                        <a:t> --install -d Ubuntu-24.04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ea"/>
                          <a:ea typeface="+mn-ea"/>
                        </a:rPr>
                        <a:t>Store </a:t>
                      </a:r>
                      <a:r>
                        <a:rPr lang="ko-KR" altLang="en-US" sz="1800" dirty="0">
                          <a:latin typeface="+mn-ea"/>
                          <a:ea typeface="+mn-ea"/>
                        </a:rPr>
                        <a:t>막히면 </a:t>
                      </a:r>
                      <a:r>
                        <a:rPr lang="en-US" sz="1800" dirty="0" err="1">
                          <a:latin typeface="+mn-ea"/>
                          <a:ea typeface="+mn-ea"/>
                        </a:rPr>
                        <a:t>wsl</a:t>
                      </a:r>
                      <a:r>
                        <a:rPr lang="en-US" sz="1800" dirty="0">
                          <a:latin typeface="+mn-ea"/>
                          <a:ea typeface="+mn-ea"/>
                        </a:rPr>
                        <a:t> --install --web-download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45428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82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B27D-8C97-434F-8CAF-568CC0B2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88114D-9B64-958D-7555-3C639A7BB9BB}"/>
              </a:ext>
            </a:extLst>
          </p:cNvPr>
          <p:cNvSpPr txBox="1"/>
          <p:nvPr/>
        </p:nvSpPr>
        <p:spPr>
          <a:xfrm>
            <a:off x="0" y="12700"/>
            <a:ext cx="182768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설치 중 </a:t>
            </a:r>
            <a:r>
              <a:rPr lang="en-US" altLang="ko-KR" dirty="0"/>
              <a:t>Error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1994C66-E414-DACE-171C-9B27E3A0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8" y="610353"/>
            <a:ext cx="6277532" cy="17304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632C1F-75CD-555C-E67E-3C2939CB2ACB}"/>
              </a:ext>
            </a:extLst>
          </p:cNvPr>
          <p:cNvSpPr txBox="1"/>
          <p:nvPr/>
        </p:nvSpPr>
        <p:spPr>
          <a:xfrm>
            <a:off x="123203" y="2477347"/>
            <a:ext cx="116522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필요한 </a:t>
            </a:r>
            <a:r>
              <a:rPr lang="en-US" altLang="ko-KR" sz="1600" dirty="0">
                <a:latin typeface="+mn-ea"/>
              </a:rPr>
              <a:t>Windows </a:t>
            </a:r>
            <a:r>
              <a:rPr lang="ko-KR" altLang="en-US" sz="1600" dirty="0">
                <a:latin typeface="+mn-ea"/>
              </a:rPr>
              <a:t>기능이 설치</a:t>
            </a:r>
            <a:r>
              <a:rPr lang="en-US" altLang="ko-KR" sz="1600" dirty="0">
                <a:latin typeface="+mn-ea"/>
              </a:rPr>
              <a:t>/</a:t>
            </a:r>
            <a:r>
              <a:rPr lang="ko-KR" altLang="en-US" sz="1600" dirty="0">
                <a:latin typeface="+mn-ea"/>
              </a:rPr>
              <a:t>활성화되어 있지 않아 </a:t>
            </a:r>
            <a:r>
              <a:rPr lang="en-US" altLang="ko-KR" sz="1600" dirty="0">
                <a:latin typeface="+mn-ea"/>
              </a:rPr>
              <a:t>WSL </a:t>
            </a:r>
            <a:r>
              <a:rPr lang="ko-KR" altLang="en-US" sz="1600" dirty="0" err="1">
                <a:latin typeface="+mn-ea"/>
              </a:rPr>
              <a:t>배포판</a:t>
            </a:r>
            <a:r>
              <a:rPr lang="ko-KR" altLang="en-US" sz="1600" dirty="0">
                <a:latin typeface="+mn-ea"/>
              </a:rPr>
              <a:t> 등록을 시작할 수 없다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보통 </a:t>
            </a:r>
            <a:r>
              <a:rPr lang="en-US" altLang="ko-KR" sz="1600" b="1" dirty="0">
                <a:latin typeface="+mn-ea"/>
              </a:rPr>
              <a:t>WSL2</a:t>
            </a:r>
            <a:r>
              <a:rPr lang="ko-KR" altLang="en-US" sz="1600" b="1" dirty="0">
                <a:latin typeface="+mn-ea"/>
              </a:rPr>
              <a:t>가 쓸 리눅스 가상화 기능</a:t>
            </a:r>
            <a:r>
              <a:rPr lang="en-US" altLang="ko-KR" sz="1600" b="1" dirty="0">
                <a:latin typeface="+mn-ea"/>
              </a:rPr>
              <a:t>(=Virtual Machine Platform/</a:t>
            </a:r>
            <a:r>
              <a:rPr lang="ko-KR" altLang="en-US" sz="1600" b="1" dirty="0" err="1">
                <a:latin typeface="+mn-ea"/>
              </a:rPr>
              <a:t>하이퍼바이저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쪽이 빠졌거나 꺼져 있을 때 나옵니다</a:t>
            </a:r>
          </a:p>
        </p:txBody>
      </p:sp>
    </p:spTree>
    <p:extLst>
      <p:ext uri="{BB962C8B-B14F-4D97-AF65-F5344CB8AC3E}">
        <p14:creationId xmlns:p14="http://schemas.microsoft.com/office/powerpoint/2010/main" val="38766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651F-C205-3273-F3AD-4B0B81587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F9E619-1E5F-B861-9D02-90510CAFD31E}"/>
              </a:ext>
            </a:extLst>
          </p:cNvPr>
          <p:cNvSpPr txBox="1"/>
          <p:nvPr/>
        </p:nvSpPr>
        <p:spPr>
          <a:xfrm>
            <a:off x="0" y="2540"/>
            <a:ext cx="3694922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Docker download &amp; </a:t>
            </a:r>
            <a:r>
              <a:rPr lang="ko-KR" altLang="en-US" dirty="0"/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E5538-0B98-CB95-27FF-7288338FA865}"/>
              </a:ext>
            </a:extLst>
          </p:cNvPr>
          <p:cNvSpPr txBox="1"/>
          <p:nvPr/>
        </p:nvSpPr>
        <p:spPr>
          <a:xfrm>
            <a:off x="4326501" y="0"/>
            <a:ext cx="61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Docker: Accelerated Container Application Development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AB0FCB-2B32-0089-A19A-33849891C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95" y="1414577"/>
            <a:ext cx="4944165" cy="18290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34DDEDA-78A5-9535-9E52-7BA8A85E0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51" y="3243633"/>
            <a:ext cx="2442849" cy="276653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8249D3A-3DAC-1068-4472-08A9C24A6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575" y="929385"/>
            <a:ext cx="5734850" cy="46393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" name="그림 3" descr="텍스트, 폰트, 로고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F99845-D9D4-177E-F827-D55B48D38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901" y="847828"/>
            <a:ext cx="2639166" cy="482354"/>
          </a:xfrm>
          <a:prstGeom prst="rect">
            <a:avLst/>
          </a:prstGeom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219A83F-EDEE-B7DB-EC43-FA23BAC51663}"/>
              </a:ext>
            </a:extLst>
          </p:cNvPr>
          <p:cNvSpPr/>
          <p:nvPr/>
        </p:nvSpPr>
        <p:spPr>
          <a:xfrm>
            <a:off x="4525347" y="606490"/>
            <a:ext cx="363894" cy="322895"/>
          </a:xfrm>
          <a:prstGeom prst="downArrow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75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433B-7F55-2581-117F-5819539A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8F6182-A833-729C-AF60-A1C1C414DC50}"/>
              </a:ext>
            </a:extLst>
          </p:cNvPr>
          <p:cNvSpPr txBox="1"/>
          <p:nvPr/>
        </p:nvSpPr>
        <p:spPr>
          <a:xfrm>
            <a:off x="0" y="2540"/>
            <a:ext cx="174586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Docker </a:t>
            </a:r>
            <a:r>
              <a:rPr lang="ko-KR" altLang="en-US" dirty="0"/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932E7-312C-3985-6E0F-0E987A72D5E3}"/>
              </a:ext>
            </a:extLst>
          </p:cNvPr>
          <p:cNvSpPr txBox="1"/>
          <p:nvPr/>
        </p:nvSpPr>
        <p:spPr>
          <a:xfrm>
            <a:off x="2021840" y="12700"/>
            <a:ext cx="61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Docker: Accelerated Container Application Development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016153-D2DE-EFB6-A179-53E120F4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00" y="690182"/>
            <a:ext cx="6058270" cy="37791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2F2FD3-35C8-A618-0E97-3E6381146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717" y="690182"/>
            <a:ext cx="5570037" cy="37791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532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84FE-8F29-E632-8023-731FAA2F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E3A243-5136-D832-739D-DDED2FC9FCC9}"/>
              </a:ext>
            </a:extLst>
          </p:cNvPr>
          <p:cNvSpPr txBox="1"/>
          <p:nvPr/>
        </p:nvSpPr>
        <p:spPr>
          <a:xfrm>
            <a:off x="0" y="2540"/>
            <a:ext cx="174586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Docker </a:t>
            </a:r>
            <a:r>
              <a:rPr lang="ko-KR" altLang="en-US" dirty="0"/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42C1B-AB11-9A06-8AF0-07DA59754EBC}"/>
              </a:ext>
            </a:extLst>
          </p:cNvPr>
          <p:cNvSpPr txBox="1"/>
          <p:nvPr/>
        </p:nvSpPr>
        <p:spPr>
          <a:xfrm>
            <a:off x="2021840" y="12700"/>
            <a:ext cx="611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Docker: Accelerated Container Application Development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798FC0-55E4-D12B-976E-CB0E12ED6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97" y="748778"/>
            <a:ext cx="9418003" cy="53604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6069689-0C1E-51E9-8016-24EE16E1DA72}"/>
              </a:ext>
            </a:extLst>
          </p:cNvPr>
          <p:cNvSpPr/>
          <p:nvPr/>
        </p:nvSpPr>
        <p:spPr>
          <a:xfrm>
            <a:off x="7447280" y="599440"/>
            <a:ext cx="314960" cy="21336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EED16A55-660C-DC59-42C3-5828ED4D9679}"/>
              </a:ext>
            </a:extLst>
          </p:cNvPr>
          <p:cNvSpPr/>
          <p:nvPr/>
        </p:nvSpPr>
        <p:spPr>
          <a:xfrm>
            <a:off x="1158240" y="3535680"/>
            <a:ext cx="314960" cy="21336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5F0A3791-185E-1E7B-715C-0A90F0EDE92C}"/>
              </a:ext>
            </a:extLst>
          </p:cNvPr>
          <p:cNvSpPr/>
          <p:nvPr/>
        </p:nvSpPr>
        <p:spPr>
          <a:xfrm>
            <a:off x="3992880" y="4775200"/>
            <a:ext cx="314960" cy="21336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5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6E0D-BB43-D3B3-942D-93D6F376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A53ADD-43C6-1B05-AC7D-E50A1BC540FC}"/>
              </a:ext>
            </a:extLst>
          </p:cNvPr>
          <p:cNvSpPr txBox="1"/>
          <p:nvPr/>
        </p:nvSpPr>
        <p:spPr>
          <a:xfrm>
            <a:off x="0" y="2540"/>
            <a:ext cx="2336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Docker </a:t>
            </a:r>
            <a:r>
              <a:rPr lang="ko-KR" altLang="en-US" dirty="0"/>
              <a:t>설치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6B481-8ACF-4825-A6E1-66BC3AA0D12B}"/>
              </a:ext>
            </a:extLst>
          </p:cNvPr>
          <p:cNvSpPr txBox="1"/>
          <p:nvPr/>
        </p:nvSpPr>
        <p:spPr>
          <a:xfrm>
            <a:off x="203200" y="563263"/>
            <a:ext cx="6116320" cy="1059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ko-KR" altLang="en-US" dirty="0"/>
              <a:t>docker --</a:t>
            </a:r>
            <a:r>
              <a:rPr lang="ko-KR" altLang="en-US" dirty="0" err="1"/>
              <a:t>version</a:t>
            </a:r>
            <a:endParaRPr lang="ko-KR" altLang="en-US" dirty="0"/>
          </a:p>
          <a:p>
            <a:pPr>
              <a:lnSpc>
                <a:spcPts val="2600"/>
              </a:lnSpc>
            </a:pPr>
            <a:r>
              <a:rPr lang="ko-KR" altLang="en-US" dirty="0"/>
              <a:t>docker </a:t>
            </a:r>
            <a:r>
              <a:rPr lang="ko-KR" altLang="en-US" dirty="0" err="1"/>
              <a:t>info</a:t>
            </a:r>
            <a:endParaRPr lang="ko-KR" altLang="en-US" dirty="0"/>
          </a:p>
          <a:p>
            <a:pPr>
              <a:lnSpc>
                <a:spcPts val="2600"/>
              </a:lnSpc>
            </a:pPr>
            <a:r>
              <a:rPr lang="ko-KR" altLang="en-US" dirty="0"/>
              <a:t>docker </a:t>
            </a:r>
            <a:r>
              <a:rPr lang="ko-KR" altLang="en-US" dirty="0" err="1"/>
              <a:t>run</a:t>
            </a:r>
            <a:r>
              <a:rPr lang="ko-KR" altLang="en-US" dirty="0"/>
              <a:t> --</a:t>
            </a:r>
            <a:r>
              <a:rPr lang="ko-KR" altLang="en-US" dirty="0" err="1"/>
              <a:t>rm</a:t>
            </a:r>
            <a:r>
              <a:rPr lang="ko-KR" altLang="en-US" dirty="0"/>
              <a:t> </a:t>
            </a:r>
            <a:r>
              <a:rPr lang="ko-KR" altLang="en-US" dirty="0" err="1"/>
              <a:t>hello-world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3F47D4-B9AF-9A1A-E070-108F69C6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3" y="1814241"/>
            <a:ext cx="5793770" cy="24538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97688CE-2CC9-EA30-577E-8165DBDD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847" y="1814240"/>
            <a:ext cx="6209260" cy="34587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0306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A3FD-3461-1AAE-706F-027F81CE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3B5540-0EC8-5149-9E74-E85EB65CA005}"/>
              </a:ext>
            </a:extLst>
          </p:cNvPr>
          <p:cNvSpPr/>
          <p:nvPr/>
        </p:nvSpPr>
        <p:spPr>
          <a:xfrm>
            <a:off x="0" y="1"/>
            <a:ext cx="12192000" cy="587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VS Code</a:t>
            </a:r>
            <a:r>
              <a:rPr lang="ko-KR" altLang="en-US" dirty="0">
                <a:solidFill>
                  <a:schemeClr val="tx1"/>
                </a:solidFill>
              </a:rPr>
              <a:t>에서 </a:t>
            </a:r>
            <a:r>
              <a:rPr lang="en-US" altLang="ko-KR" dirty="0">
                <a:solidFill>
                  <a:schemeClr val="tx1"/>
                </a:solidFill>
              </a:rPr>
              <a:t>‘Docker’ </a:t>
            </a:r>
            <a:r>
              <a:rPr lang="ko-KR" altLang="en-US" dirty="0">
                <a:solidFill>
                  <a:schemeClr val="tx1"/>
                </a:solidFill>
              </a:rPr>
              <a:t>확장 설치</a:t>
            </a:r>
          </a:p>
        </p:txBody>
      </p:sp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33908D-888E-E654-EECA-D58B1D690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87695"/>
            <a:ext cx="10839083" cy="62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8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EA41-AA42-0DFD-1709-9554BA0E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BE2944-D343-8DDA-66B4-BFF83C8C330C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/>
                </a:solidFill>
              </a:rPr>
              <a:t>프로젝트 폴더 구조 </a:t>
            </a:r>
            <a:r>
              <a:rPr lang="en-US" altLang="ko-KR" sz="2000" dirty="0">
                <a:solidFill>
                  <a:schemeClr val="tx1"/>
                </a:solidFill>
              </a:rPr>
              <a:t>: 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app.py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B3E40-7B75-DF44-E97E-731A19236F8B}"/>
              </a:ext>
            </a:extLst>
          </p:cNvPr>
          <p:cNvSpPr txBox="1"/>
          <p:nvPr/>
        </p:nvSpPr>
        <p:spPr>
          <a:xfrm>
            <a:off x="4043680" y="722416"/>
            <a:ext cx="7000240" cy="32531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360000" tIns="144000" rIns="360000" bIns="144000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'What is a docker?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'0.0.0.0'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4D0C93-7F38-11FF-F6EE-06C72F65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80" y="4178479"/>
            <a:ext cx="4429280" cy="176723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D279FC-2792-432C-0349-4E3BF447E3AE}"/>
              </a:ext>
            </a:extLst>
          </p:cNvPr>
          <p:cNvSpPr/>
          <p:nvPr/>
        </p:nvSpPr>
        <p:spPr>
          <a:xfrm>
            <a:off x="538480" y="924328"/>
            <a:ext cx="1402080" cy="4165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mydocker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D54C9-E3F4-18A2-3B00-CE2017ACD6DF}"/>
              </a:ext>
            </a:extLst>
          </p:cNvPr>
          <p:cNvSpPr txBox="1"/>
          <p:nvPr/>
        </p:nvSpPr>
        <p:spPr>
          <a:xfrm>
            <a:off x="1498772" y="148642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app.py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79007487-1E88-A54A-E91D-393DE1C93A22}"/>
              </a:ext>
            </a:extLst>
          </p:cNvPr>
          <p:cNvCxnSpPr>
            <a:stCxn id="9" idx="2"/>
            <a:endCxn id="10" idx="1"/>
          </p:cNvCxnSpPr>
          <p:nvPr/>
        </p:nvCxnSpPr>
        <p:spPr>
          <a:xfrm rot="16200000" flipH="1">
            <a:off x="1204046" y="1376362"/>
            <a:ext cx="330200" cy="25925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B3F510-EE2F-E3F5-1222-5D09060C6E9A}"/>
              </a:ext>
            </a:extLst>
          </p:cNvPr>
          <p:cNvSpPr txBox="1"/>
          <p:nvPr/>
        </p:nvSpPr>
        <p:spPr>
          <a:xfrm>
            <a:off x="1498771" y="1863850"/>
            <a:ext cx="1879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requirements.txt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705CD5-F74D-ACB6-04F2-6AEA7D1603E7}"/>
              </a:ext>
            </a:extLst>
          </p:cNvPr>
          <p:cNvSpPr txBox="1"/>
          <p:nvPr/>
        </p:nvSpPr>
        <p:spPr>
          <a:xfrm>
            <a:off x="1498771" y="2233182"/>
            <a:ext cx="122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Dockerfile</a:t>
            </a:r>
            <a:endParaRPr lang="ko-KR" altLang="en-US" dirty="0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BB08553-AE3E-FA4C-3BAE-EB9CACAF6DDD}"/>
              </a:ext>
            </a:extLst>
          </p:cNvPr>
          <p:cNvCxnSpPr>
            <a:cxnSpLocks/>
            <a:stCxn id="9" idx="2"/>
            <a:endCxn id="15" idx="1"/>
          </p:cNvCxnSpPr>
          <p:nvPr/>
        </p:nvCxnSpPr>
        <p:spPr>
          <a:xfrm rot="16200000" flipH="1">
            <a:off x="1015331" y="1565076"/>
            <a:ext cx="707628" cy="259251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E835266-CE3E-6DA5-127B-6EF4DCA68414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830665" y="1749742"/>
            <a:ext cx="1076960" cy="259251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BE1D53-2170-42B3-4FC1-10E152C3C323}"/>
              </a:ext>
            </a:extLst>
          </p:cNvPr>
          <p:cNvSpPr txBox="1"/>
          <p:nvPr/>
        </p:nvSpPr>
        <p:spPr>
          <a:xfrm>
            <a:off x="1498771" y="2567107"/>
            <a:ext cx="160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en-US" altLang="ko-KR" dirty="0" err="1"/>
              <a:t>dockerignore</a:t>
            </a:r>
            <a:endParaRPr lang="ko-KR" altLang="en-US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D34A5F2-7D3A-956D-1351-7F78DED709C0}"/>
              </a:ext>
            </a:extLst>
          </p:cNvPr>
          <p:cNvCxnSpPr>
            <a:cxnSpLocks/>
            <a:stCxn id="9" idx="2"/>
            <a:endCxn id="23" idx="1"/>
          </p:cNvCxnSpPr>
          <p:nvPr/>
        </p:nvCxnSpPr>
        <p:spPr>
          <a:xfrm rot="16200000" flipH="1">
            <a:off x="663703" y="1916704"/>
            <a:ext cx="1410885" cy="259251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68EA04-02C3-1039-6E52-A794B565FA37}"/>
              </a:ext>
            </a:extLst>
          </p:cNvPr>
          <p:cNvSpPr/>
          <p:nvPr/>
        </p:nvSpPr>
        <p:spPr>
          <a:xfrm>
            <a:off x="386560" y="723552"/>
            <a:ext cx="3260880" cy="2397553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576099-0F0B-2503-1112-A06EEE427C27}"/>
              </a:ext>
            </a:extLst>
          </p:cNvPr>
          <p:cNvSpPr txBox="1"/>
          <p:nvPr/>
        </p:nvSpPr>
        <p:spPr>
          <a:xfrm>
            <a:off x="1482370" y="4261403"/>
            <a:ext cx="228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docker </a:t>
            </a:r>
            <a:r>
              <a:rPr lang="ko-KR" altLang="en-US" dirty="0"/>
              <a:t>없이 실행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897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BC773-3546-CC6F-E997-38DCC542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B6531B-7623-94DA-CE04-A30935AB2BF3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chemeClr val="tx1"/>
                </a:solidFill>
              </a:rPr>
              <a:t>requirements.txt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76DCD2-DCB6-3FA6-799E-9E8FF647B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43" y="735226"/>
            <a:ext cx="5857857" cy="24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7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6828-8E97-DC8E-ABDA-0CD834CD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8B6A3B-E28E-2203-52E7-D91BCA4B38F7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chemeClr val="tx1"/>
                </a:solidFill>
              </a:rPr>
              <a:t>Dockerfile  </a:t>
            </a:r>
            <a:r>
              <a:rPr lang="en-US" altLang="ko-KR" sz="2000" dirty="0">
                <a:solidFill>
                  <a:schemeClr val="tx1"/>
                </a:solidFill>
                <a:sym typeface="Wingdings" panose="05000000000000000000" pitchFamily="2" charset="2"/>
              </a:rPr>
              <a:t> docker image </a:t>
            </a:r>
            <a:r>
              <a:rPr lang="ko-KR" alt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를 어떻게 만들지를 적어둔 설계도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EA337-DFF9-66C8-18D5-221D2BE0E596}"/>
              </a:ext>
            </a:extLst>
          </p:cNvPr>
          <p:cNvSpPr txBox="1"/>
          <p:nvPr/>
        </p:nvSpPr>
        <p:spPr>
          <a:xfrm>
            <a:off x="111760" y="572584"/>
            <a:ext cx="9286240" cy="406925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anchor="t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3.12-slim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/app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useradd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appuser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requirements.txt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--no-cache-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requirements.txt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5000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appuser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gunicorn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"-w"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"-b"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"0.0.0.0:5000"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app:app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714CE-A357-DE8E-A890-10821716893D}"/>
              </a:ext>
            </a:extLst>
          </p:cNvPr>
          <p:cNvSpPr txBox="1"/>
          <p:nvPr/>
        </p:nvSpPr>
        <p:spPr>
          <a:xfrm>
            <a:off x="213360" y="4726744"/>
            <a:ext cx="114132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gunicorn</a:t>
            </a:r>
            <a:r>
              <a:rPr lang="en-US" altLang="ko-KR" sz="1600" dirty="0"/>
              <a:t>(Green Unicorn) </a:t>
            </a:r>
            <a:r>
              <a:rPr lang="ko-KR" altLang="en-US" sz="1600" dirty="0"/>
              <a:t>은 </a:t>
            </a:r>
            <a:r>
              <a:rPr lang="en-US" altLang="ko-KR" sz="1600" dirty="0"/>
              <a:t>Flask/Django </a:t>
            </a:r>
            <a:r>
              <a:rPr lang="ko-KR" altLang="en-US" sz="1600" dirty="0"/>
              <a:t>같은 파이썬 </a:t>
            </a:r>
            <a:r>
              <a:rPr lang="ko-KR" altLang="en-US" sz="1600" dirty="0" err="1"/>
              <a:t>웹앱을</a:t>
            </a:r>
            <a:r>
              <a:rPr lang="ko-KR" altLang="en-US" sz="1600" dirty="0"/>
              <a:t> 실서비스로 돌릴 때 사용하는 웹 서버</a:t>
            </a:r>
            <a:r>
              <a:rPr lang="en-US" altLang="ko-KR" sz="1600" dirty="0"/>
              <a:t>(WSGI </a:t>
            </a:r>
            <a:r>
              <a:rPr lang="ko-KR" altLang="en-US" sz="1600" dirty="0"/>
              <a:t>서버</a:t>
            </a:r>
            <a:r>
              <a:rPr lang="en-US" altLang="ko-KR" sz="1600" dirty="0"/>
              <a:t>) </a:t>
            </a:r>
            <a:r>
              <a:rPr lang="ko-KR" altLang="en-US" sz="1600" dirty="0"/>
              <a:t>이다</a:t>
            </a:r>
            <a:r>
              <a:rPr lang="en-US" altLang="ko-KR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gunicorn</a:t>
            </a:r>
            <a:r>
              <a:rPr lang="ko-KR" altLang="en-US" sz="1600" dirty="0"/>
              <a:t>이 여러 개의 프로세스를 띄워 </a:t>
            </a:r>
            <a:r>
              <a:rPr lang="en-US" altLang="ko-KR" sz="1600" dirty="0"/>
              <a:t>Flask </a:t>
            </a:r>
            <a:r>
              <a:rPr lang="ko-KR" altLang="en-US" sz="1600" dirty="0"/>
              <a:t>앱을 실행하고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ko-KR" altLang="en-US" sz="1600" dirty="0"/>
              <a:t>앞 단에 </a:t>
            </a:r>
            <a:r>
              <a:rPr lang="en-US" altLang="ko-KR" sz="1600" dirty="0"/>
              <a:t>Nginx</a:t>
            </a:r>
            <a:r>
              <a:rPr lang="ko-KR" altLang="en-US" sz="1600" dirty="0"/>
              <a:t>를 두어 </a:t>
            </a:r>
            <a:r>
              <a:rPr lang="en-US" altLang="ko-KR" sz="1600" dirty="0"/>
              <a:t>80/443(https) </a:t>
            </a:r>
            <a:r>
              <a:rPr lang="ko-KR" altLang="en-US" sz="1600" dirty="0"/>
              <a:t>처리 및 프록시를 맡긴다</a:t>
            </a:r>
            <a:r>
              <a:rPr lang="en-US" altLang="ko-KR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브라이저</a:t>
            </a:r>
            <a:r>
              <a:rPr lang="ko-KR" altLang="en-US" sz="1600" dirty="0"/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 Nginx  </a:t>
            </a:r>
            <a:r>
              <a:rPr lang="en-US" altLang="ko-KR" sz="1600" dirty="0" err="1">
                <a:sym typeface="Wingdings" panose="05000000000000000000" pitchFamily="2" charset="2"/>
              </a:rPr>
              <a:t>gunicorn</a:t>
            </a:r>
            <a:r>
              <a:rPr lang="en-US" altLang="ko-KR" sz="1600" dirty="0">
                <a:sym typeface="Wingdings" panose="05000000000000000000" pitchFamily="2" charset="2"/>
              </a:rPr>
              <a:t>  Flask app code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83495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22F6-1112-47E6-A730-30B4D0B6F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6CB9B5-B780-E8BC-DDAA-DB74A9203272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/>
                </a:solidFill>
              </a:rPr>
              <a:t>로컬에서 빌드</a:t>
            </a:r>
          </a:p>
        </p:txBody>
      </p:sp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701B8D-CD21-E37C-49CB-EC7BFDBF7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2188527"/>
            <a:ext cx="12117491" cy="4553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604B14-6EE9-3A40-6B57-ED38B139D617}"/>
              </a:ext>
            </a:extLst>
          </p:cNvPr>
          <p:cNvSpPr txBox="1"/>
          <p:nvPr/>
        </p:nvSpPr>
        <p:spPr>
          <a:xfrm>
            <a:off x="162560" y="619760"/>
            <a:ext cx="11643360" cy="838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Dockerfile </a:t>
            </a:r>
            <a:r>
              <a:rPr lang="ko-KR" altLang="en-US" dirty="0"/>
              <a:t>이 있는 폴더 안에서 빌드  </a:t>
            </a:r>
            <a:r>
              <a:rPr lang="en-US" altLang="ko-KR" dirty="0"/>
              <a:t>:   Build </a:t>
            </a:r>
            <a:r>
              <a:rPr lang="en-US" altLang="ko-KR" dirty="0">
                <a:sym typeface="Wingdings" panose="05000000000000000000" pitchFamily="2" charset="2"/>
              </a:rPr>
              <a:t>  </a:t>
            </a:r>
            <a:r>
              <a:rPr lang="en-US" altLang="ko-KR" sz="2000" dirty="0">
                <a:solidFill>
                  <a:srgbClr val="0000FF"/>
                </a:solidFill>
              </a:rPr>
              <a:t>docker build –t mydocker:1.0 .</a:t>
            </a:r>
          </a:p>
          <a:p>
            <a:pPr marL="285750" indent="-2857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 폴더를 읽어서 </a:t>
            </a:r>
            <a:r>
              <a:rPr lang="en-US" altLang="ko-KR" dirty="0"/>
              <a:t>Docker </a:t>
            </a:r>
            <a:r>
              <a:rPr lang="ko-KR" altLang="en-US" dirty="0"/>
              <a:t>엔진으로 전송한다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097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94AF-89EB-16CA-5E9F-DC95FCF9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E46819-6415-1044-093D-E5D9387C95B1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/>
                </a:solidFill>
              </a:rPr>
              <a:t>로컬에서 </a:t>
            </a:r>
            <a:r>
              <a:rPr lang="en-US" altLang="ko-KR" sz="2000" dirty="0">
                <a:solidFill>
                  <a:schemeClr val="tx1"/>
                </a:solidFill>
              </a:rPr>
              <a:t>docker </a:t>
            </a:r>
            <a:r>
              <a:rPr lang="ko-KR" altLang="en-US" sz="2000" dirty="0">
                <a:solidFill>
                  <a:schemeClr val="tx1"/>
                </a:solidFill>
              </a:rPr>
              <a:t>실행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F68F4-AF53-4FDF-4965-B34719064987}"/>
              </a:ext>
            </a:extLst>
          </p:cNvPr>
          <p:cNvSpPr txBox="1"/>
          <p:nvPr/>
        </p:nvSpPr>
        <p:spPr>
          <a:xfrm>
            <a:off x="162560" y="619760"/>
            <a:ext cx="8577413" cy="843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Dockerfile </a:t>
            </a:r>
            <a:r>
              <a:rPr lang="ko-KR" altLang="en-US" dirty="0"/>
              <a:t>이 있는 폴더 안에서 실행</a:t>
            </a:r>
            <a:br>
              <a:rPr lang="en-US" altLang="ko-KR" dirty="0"/>
            </a:br>
            <a:r>
              <a:rPr lang="ko-KR" altLang="en-US" dirty="0"/>
              <a:t>실행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 </a:t>
            </a:r>
            <a:r>
              <a:rPr lang="en-US" altLang="ko-KR" sz="2000" dirty="0">
                <a:solidFill>
                  <a:srgbClr val="0000FF"/>
                </a:solidFill>
              </a:rPr>
              <a:t>docker run –rm –p 5000:5000 –name mydocker mydocker:1.0</a:t>
            </a:r>
            <a:endParaRPr lang="ko-KR" altLang="en-US" dirty="0">
              <a:solidFill>
                <a:srgbClr val="0000FF"/>
              </a:solidFill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990D4B-9260-11B1-64E7-B40C96DB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57" y="1595789"/>
            <a:ext cx="11593543" cy="1467055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BF06BE-1D91-AF2B-C474-0E2060210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20" y="3512654"/>
            <a:ext cx="4319620" cy="1587975"/>
          </a:xfrm>
          <a:prstGeom prst="rect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63177-204E-1881-63EB-8366F8087EA7}"/>
              </a:ext>
            </a:extLst>
          </p:cNvPr>
          <p:cNvSpPr txBox="1"/>
          <p:nvPr/>
        </p:nvSpPr>
        <p:spPr>
          <a:xfrm>
            <a:off x="598457" y="3194924"/>
            <a:ext cx="6899623" cy="29838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108000" tIns="144000" rIns="180000" bIns="144000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'Run the Docker.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'0.0.0.0'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0806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13DC6-E0B5-A993-6594-7A59282A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18C719-6AC9-4C45-D651-50BC239997B1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chemeClr val="tx1"/>
                </a:solidFill>
              </a:rPr>
              <a:t>라즈베리파이에</a:t>
            </a:r>
            <a:r>
              <a:rPr lang="ko-KR" altLang="en-US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>
                <a:solidFill>
                  <a:schemeClr val="tx1"/>
                </a:solidFill>
              </a:rPr>
              <a:t>Docker </a:t>
            </a:r>
            <a:r>
              <a:rPr lang="ko-KR" altLang="en-US" sz="2000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07F6F-678E-6DCB-717D-066CFC3F92C1}"/>
              </a:ext>
            </a:extLst>
          </p:cNvPr>
          <p:cNvSpPr txBox="1"/>
          <p:nvPr/>
        </p:nvSpPr>
        <p:spPr>
          <a:xfrm>
            <a:off x="0" y="616030"/>
            <a:ext cx="12192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1) 충돌 패키지 제거</a:t>
            </a:r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remove</a:t>
            </a:r>
            <a:r>
              <a:rPr lang="ko-KR" altLang="en-US" sz="1600" dirty="0"/>
              <a:t> -</a:t>
            </a:r>
            <a:r>
              <a:rPr lang="ko-KR" altLang="en-US" sz="1600" dirty="0" err="1"/>
              <a:t>y</a:t>
            </a:r>
            <a:r>
              <a:rPr lang="ko-KR" altLang="en-US" sz="1600" dirty="0"/>
              <a:t> $(</a:t>
            </a:r>
            <a:r>
              <a:rPr lang="ko-KR" altLang="en-US" sz="1600" dirty="0" err="1"/>
              <a:t>dpkg</a:t>
            </a:r>
            <a:r>
              <a:rPr lang="ko-KR" altLang="en-US" sz="1600" dirty="0"/>
              <a:t> --</a:t>
            </a:r>
            <a:r>
              <a:rPr lang="ko-KR" altLang="en-US" sz="1600" dirty="0" err="1"/>
              <a:t>get-selections</a:t>
            </a:r>
            <a:r>
              <a:rPr lang="ko-KR" altLang="en-US" sz="1600" dirty="0"/>
              <a:t> docker.io docker-</a:t>
            </a:r>
            <a:r>
              <a:rPr lang="ko-KR" altLang="en-US" sz="1600" dirty="0" err="1"/>
              <a:t>compose</a:t>
            </a:r>
            <a:r>
              <a:rPr lang="ko-KR" altLang="en-US" sz="1600" dirty="0"/>
              <a:t> docker-</a:t>
            </a:r>
            <a:r>
              <a:rPr lang="ko-KR" altLang="en-US" sz="1600" dirty="0" err="1"/>
              <a:t>doc</a:t>
            </a:r>
            <a:r>
              <a:rPr lang="ko-KR" altLang="en-US" sz="1600" dirty="0"/>
              <a:t> </a:t>
            </a:r>
            <a:r>
              <a:rPr lang="ko-KR" altLang="en-US" sz="1600" dirty="0" err="1"/>
              <a:t>podman</a:t>
            </a:r>
            <a:r>
              <a:rPr lang="ko-KR" altLang="en-US" sz="1600" dirty="0"/>
              <a:t>-docker </a:t>
            </a:r>
            <a:r>
              <a:rPr lang="ko-KR" altLang="en-US" sz="1600" dirty="0" err="1"/>
              <a:t>containerd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runc</a:t>
            </a:r>
            <a:r>
              <a:rPr lang="ko-KR" altLang="en-US" sz="1600" dirty="0"/>
              <a:t> | </a:t>
            </a:r>
            <a:r>
              <a:rPr lang="ko-KR" altLang="en-US" sz="1600" dirty="0" err="1"/>
              <a:t>cut</a:t>
            </a:r>
            <a:r>
              <a:rPr lang="ko-KR" altLang="en-US" sz="1600" dirty="0"/>
              <a:t> -f1)</a:t>
            </a:r>
          </a:p>
          <a:p>
            <a:endParaRPr lang="ko-KR" altLang="en-US" sz="1600" dirty="0"/>
          </a:p>
          <a:p>
            <a:r>
              <a:rPr lang="ko-KR" altLang="en-US" sz="1600" dirty="0"/>
              <a:t>2) 준비 패키지</a:t>
            </a:r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update</a:t>
            </a:r>
            <a:endParaRPr lang="ko-KR" altLang="en-US" sz="1600" dirty="0"/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install</a:t>
            </a:r>
            <a:r>
              <a:rPr lang="ko-KR" altLang="en-US" sz="1600" dirty="0"/>
              <a:t> -</a:t>
            </a:r>
            <a:r>
              <a:rPr lang="ko-KR" altLang="en-US" sz="1600" dirty="0" err="1"/>
              <a:t>y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ca-certificates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curl</a:t>
            </a:r>
            <a:r>
              <a:rPr lang="ko-KR" altLang="en-US" sz="1600" dirty="0"/>
              <a:t> </a:t>
            </a:r>
            <a:r>
              <a:rPr lang="ko-KR" altLang="en-US" sz="1600" dirty="0" err="1"/>
              <a:t>gnupg</a:t>
            </a:r>
            <a:endParaRPr lang="ko-KR" altLang="en-US" sz="1600" dirty="0"/>
          </a:p>
          <a:p>
            <a:endParaRPr lang="ko-KR" altLang="en-US" sz="1600" dirty="0"/>
          </a:p>
          <a:p>
            <a:r>
              <a:rPr lang="ko-KR" altLang="en-US" sz="1600" dirty="0"/>
              <a:t>3) GPG</a:t>
            </a:r>
            <a:r>
              <a:rPr lang="en-US" altLang="ko-KR" sz="1600" dirty="0"/>
              <a:t>(GNU Privacy Guard Key)</a:t>
            </a:r>
            <a:r>
              <a:rPr lang="ko-KR" altLang="en-US" sz="1600" dirty="0"/>
              <a:t> 키 등록</a:t>
            </a:r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install</a:t>
            </a:r>
            <a:r>
              <a:rPr lang="ko-KR" altLang="en-US" sz="1600" dirty="0"/>
              <a:t> -</a:t>
            </a:r>
            <a:r>
              <a:rPr lang="ko-KR" altLang="en-US" sz="1600" dirty="0" err="1"/>
              <a:t>m</a:t>
            </a:r>
            <a:r>
              <a:rPr lang="ko-KR" altLang="en-US" sz="1600" dirty="0"/>
              <a:t> 0755 -</a:t>
            </a:r>
            <a:r>
              <a:rPr lang="ko-KR" altLang="en-US" sz="1600" dirty="0" err="1"/>
              <a:t>d</a:t>
            </a:r>
            <a:r>
              <a:rPr lang="ko-KR" altLang="en-US" sz="1600" dirty="0"/>
              <a:t> /</a:t>
            </a:r>
            <a:r>
              <a:rPr lang="ko-KR" altLang="en-US" sz="1600" dirty="0" err="1"/>
              <a:t>etc</a:t>
            </a:r>
            <a:r>
              <a:rPr lang="ko-KR" altLang="en-US" sz="1600" dirty="0"/>
              <a:t>/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/</a:t>
            </a:r>
            <a:r>
              <a:rPr lang="ko-KR" altLang="en-US" sz="1600" dirty="0" err="1"/>
              <a:t>keyrings</a:t>
            </a:r>
            <a:endParaRPr lang="ko-KR" altLang="en-US" sz="1600" dirty="0"/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curl</a:t>
            </a:r>
            <a:r>
              <a:rPr lang="ko-KR" altLang="en-US" sz="1600" dirty="0"/>
              <a:t> -</a:t>
            </a:r>
            <a:r>
              <a:rPr lang="ko-KR" altLang="en-US" sz="1600" dirty="0" err="1"/>
              <a:t>fsSL</a:t>
            </a:r>
            <a:r>
              <a:rPr lang="ko-KR" altLang="en-US" sz="1600" dirty="0"/>
              <a:t> https://download.docker.com/linux/debian/gpg -</a:t>
            </a:r>
            <a:r>
              <a:rPr lang="ko-KR" altLang="en-US" sz="1600" dirty="0" err="1"/>
              <a:t>o</a:t>
            </a:r>
            <a:r>
              <a:rPr lang="ko-KR" altLang="en-US" sz="1600" dirty="0"/>
              <a:t> /</a:t>
            </a:r>
            <a:r>
              <a:rPr lang="ko-KR" altLang="en-US" sz="1600" dirty="0" err="1"/>
              <a:t>etc</a:t>
            </a:r>
            <a:r>
              <a:rPr lang="ko-KR" altLang="en-US" sz="1600" dirty="0"/>
              <a:t>/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/</a:t>
            </a:r>
            <a:r>
              <a:rPr lang="ko-KR" altLang="en-US" sz="1600" dirty="0" err="1"/>
              <a:t>keyrings</a:t>
            </a:r>
            <a:r>
              <a:rPr lang="ko-KR" altLang="en-US" sz="1600" dirty="0"/>
              <a:t>/</a:t>
            </a:r>
            <a:r>
              <a:rPr lang="ko-KR" altLang="en-US" sz="1600" dirty="0" err="1"/>
              <a:t>docker.asc</a:t>
            </a:r>
            <a:endParaRPr lang="ko-KR" altLang="en-US" sz="1600" dirty="0"/>
          </a:p>
          <a:p>
            <a:r>
              <a:rPr lang="ko-KR" altLang="en-US" sz="1600" dirty="0"/>
              <a:t>   sudo </a:t>
            </a:r>
            <a:r>
              <a:rPr lang="ko-KR" altLang="en-US" sz="1600" dirty="0" err="1"/>
              <a:t>chmod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a+r</a:t>
            </a:r>
            <a:r>
              <a:rPr lang="ko-KR" altLang="en-US" sz="1600" dirty="0"/>
              <a:t> /</a:t>
            </a:r>
            <a:r>
              <a:rPr lang="ko-KR" altLang="en-US" sz="1600" dirty="0" err="1"/>
              <a:t>etc</a:t>
            </a:r>
            <a:r>
              <a:rPr lang="ko-KR" altLang="en-US" sz="1600" dirty="0"/>
              <a:t>/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/</a:t>
            </a:r>
            <a:r>
              <a:rPr lang="ko-KR" altLang="en-US" sz="1600" dirty="0" err="1"/>
              <a:t>keyrings</a:t>
            </a:r>
            <a:r>
              <a:rPr lang="ko-KR" altLang="en-US" sz="1600" dirty="0"/>
              <a:t>/</a:t>
            </a:r>
            <a:r>
              <a:rPr lang="ko-KR" altLang="en-US" sz="1600" dirty="0" err="1"/>
              <a:t>docker.asc</a:t>
            </a:r>
            <a:endParaRPr lang="ko-KR" altLang="en-US" sz="1600" dirty="0"/>
          </a:p>
          <a:p>
            <a:endParaRPr lang="ko-KR" altLang="en-US" sz="1600" dirty="0"/>
          </a:p>
          <a:p>
            <a:r>
              <a:rPr lang="ko-KR" altLang="en-US" sz="1600" dirty="0"/>
              <a:t>4) 저장소 추가</a:t>
            </a:r>
          </a:p>
          <a:p>
            <a:r>
              <a:rPr lang="en-US" altLang="ko-KR" sz="1600" dirty="0"/>
              <a:t>echo "deb [arch=$(</a:t>
            </a:r>
            <a:r>
              <a:rPr lang="en-US" altLang="ko-KR" sz="1600" dirty="0" err="1"/>
              <a:t>dpkg</a:t>
            </a:r>
            <a:r>
              <a:rPr lang="en-US" altLang="ko-KR" sz="1600" dirty="0"/>
              <a:t> --print-architecture) signed-by=/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/apt/keyrings/</a:t>
            </a:r>
            <a:r>
              <a:rPr lang="en-US" altLang="ko-KR" sz="1600" dirty="0" err="1"/>
              <a:t>docker.asc</a:t>
            </a:r>
            <a:r>
              <a:rPr lang="en-US" altLang="ko-KR" sz="1600" dirty="0"/>
              <a:t>] https://download.docker.com/linux/debian $(. 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</a:t>
            </a:r>
            <a:r>
              <a:rPr lang="en-US" altLang="ko-KR" sz="1600" dirty="0" err="1"/>
              <a:t>os</a:t>
            </a:r>
            <a:r>
              <a:rPr lang="en-US" altLang="ko-KR" sz="1600" dirty="0"/>
              <a:t>-release &amp;&amp; echo "$VERSION_CODENAME") stable" | sudo tee 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/apt/</a:t>
            </a:r>
            <a:r>
              <a:rPr lang="en-US" altLang="ko-KR" sz="1600" dirty="0" err="1"/>
              <a:t>sources.list.d</a:t>
            </a:r>
            <a:r>
              <a:rPr lang="en-US" altLang="ko-KR" sz="1600" dirty="0"/>
              <a:t>/</a:t>
            </a:r>
            <a:r>
              <a:rPr lang="en-US" altLang="ko-KR" sz="1600" dirty="0" err="1"/>
              <a:t>docker.list</a:t>
            </a:r>
            <a:r>
              <a:rPr lang="en-US" altLang="ko-KR" sz="1600" dirty="0"/>
              <a:t> &gt; /dev/null</a:t>
            </a:r>
          </a:p>
          <a:p>
            <a:endParaRPr lang="ko-KR" altLang="en-US" sz="1600" dirty="0"/>
          </a:p>
          <a:p>
            <a:r>
              <a:rPr lang="ko-KR" altLang="en-US" sz="1600" dirty="0"/>
              <a:t>5) 설치</a:t>
            </a:r>
          </a:p>
          <a:p>
            <a:r>
              <a:rPr lang="ko-KR" altLang="en-US" sz="1600" dirty="0"/>
              <a:t>  sudo 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update</a:t>
            </a:r>
            <a:endParaRPr lang="ko-KR" altLang="en-US" sz="1600" dirty="0"/>
          </a:p>
          <a:p>
            <a:r>
              <a:rPr lang="ko-KR" altLang="en-US" sz="1600" dirty="0"/>
              <a:t>  sudo </a:t>
            </a:r>
            <a:r>
              <a:rPr lang="ko-KR" altLang="en-US" sz="1600" dirty="0" err="1"/>
              <a:t>apt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install</a:t>
            </a:r>
            <a:r>
              <a:rPr lang="ko-KR" altLang="en-US" sz="1600" dirty="0"/>
              <a:t> -</a:t>
            </a:r>
            <a:r>
              <a:rPr lang="ko-KR" altLang="en-US" sz="1600" dirty="0" err="1"/>
              <a:t>y</a:t>
            </a:r>
            <a:r>
              <a:rPr lang="ko-KR" altLang="en-US" sz="1600" dirty="0"/>
              <a:t> docker-</a:t>
            </a:r>
            <a:r>
              <a:rPr lang="ko-KR" altLang="en-US" sz="1600" dirty="0" err="1"/>
              <a:t>ce</a:t>
            </a:r>
            <a:r>
              <a:rPr lang="ko-KR" altLang="en-US" sz="1600" dirty="0"/>
              <a:t> docker-</a:t>
            </a:r>
            <a:r>
              <a:rPr lang="ko-KR" altLang="en-US" sz="1600" dirty="0" err="1"/>
              <a:t>ce</a:t>
            </a:r>
            <a:r>
              <a:rPr lang="ko-KR" altLang="en-US" sz="1600" dirty="0"/>
              <a:t>-</a:t>
            </a:r>
            <a:r>
              <a:rPr lang="ko-KR" altLang="en-US" sz="1600" dirty="0" err="1"/>
              <a:t>cli</a:t>
            </a:r>
            <a:r>
              <a:rPr lang="ko-KR" altLang="en-US" sz="1600" dirty="0"/>
              <a:t> containerd.io docker-</a:t>
            </a:r>
            <a:r>
              <a:rPr lang="ko-KR" altLang="en-US" sz="1600" dirty="0" err="1"/>
              <a:t>buildx</a:t>
            </a:r>
            <a:r>
              <a:rPr lang="ko-KR" altLang="en-US" sz="1600" dirty="0"/>
              <a:t>-</a:t>
            </a:r>
            <a:r>
              <a:rPr lang="ko-KR" altLang="en-US" sz="1600" dirty="0" err="1"/>
              <a:t>plugin</a:t>
            </a:r>
            <a:r>
              <a:rPr lang="ko-KR" altLang="en-US" sz="1600" dirty="0"/>
              <a:t> docker-</a:t>
            </a:r>
            <a:r>
              <a:rPr lang="ko-KR" altLang="en-US" sz="1600" dirty="0" err="1"/>
              <a:t>compose</a:t>
            </a:r>
            <a:r>
              <a:rPr lang="ko-KR" altLang="en-US" sz="1600" dirty="0"/>
              <a:t>-</a:t>
            </a:r>
            <a:r>
              <a:rPr lang="ko-KR" altLang="en-US" sz="1600" dirty="0" err="1"/>
              <a:t>plugin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6) </a:t>
            </a:r>
            <a:r>
              <a:rPr lang="ko-KR" altLang="en-US" sz="1600" dirty="0"/>
              <a:t>설치 성공 여부 확인</a:t>
            </a:r>
            <a:br>
              <a:rPr lang="en-US" altLang="ko-KR" sz="1600" dirty="0"/>
            </a:br>
            <a:r>
              <a:rPr lang="en-US" altLang="ko-KR" sz="1600" dirty="0"/>
              <a:t>  docker --version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6131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2F2E-DD4A-B32C-FA69-7754FB98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0FB3D77-98D0-9990-AD98-324D1FDDA623}"/>
              </a:ext>
            </a:extLst>
          </p:cNvPr>
          <p:cNvSpPr/>
          <p:nvPr/>
        </p:nvSpPr>
        <p:spPr>
          <a:xfrm>
            <a:off x="0" y="0"/>
            <a:ext cx="1219200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65113"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chemeClr val="tx1"/>
                </a:solidFill>
              </a:rPr>
              <a:t>라즈베리파이에서 실행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74B3E-E1DE-2D2B-EA2F-1360871495F1}"/>
              </a:ext>
            </a:extLst>
          </p:cNvPr>
          <p:cNvSpPr txBox="1"/>
          <p:nvPr/>
        </p:nvSpPr>
        <p:spPr>
          <a:xfrm>
            <a:off x="162560" y="619760"/>
            <a:ext cx="5048049" cy="8383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배포하는 서버에 </a:t>
            </a:r>
            <a:r>
              <a:rPr lang="en-US" altLang="ko-KR" dirty="0"/>
              <a:t>docker </a:t>
            </a:r>
            <a:r>
              <a:rPr lang="ko-KR" altLang="en-US" dirty="0"/>
              <a:t>설치되어 있어야 함</a:t>
            </a:r>
            <a:endParaRPr lang="en-US" altLang="ko-KR" dirty="0"/>
          </a:p>
          <a:p>
            <a:pPr marL="285750" indent="-2857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서버에 폴더 복사한 후 아래 명령 실행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3555A-DC34-C3A5-AC91-A3F452DB1B03}"/>
              </a:ext>
            </a:extLst>
          </p:cNvPr>
          <p:cNvSpPr txBox="1"/>
          <p:nvPr/>
        </p:nvSpPr>
        <p:spPr>
          <a:xfrm>
            <a:off x="520700" y="1590211"/>
            <a:ext cx="1088898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</a:rPr>
              <a:t>sudo </a:t>
            </a:r>
            <a:r>
              <a:rPr lang="ko-KR" altLang="en-US" dirty="0">
                <a:latin typeface="Consolas" panose="020B0609020204030204" pitchFamily="49" charset="0"/>
              </a:rPr>
              <a:t>docker </a:t>
            </a:r>
            <a:r>
              <a:rPr lang="ko-KR" altLang="en-US" dirty="0" err="1">
                <a:latin typeface="Consolas" panose="020B0609020204030204" pitchFamily="49" charset="0"/>
              </a:rPr>
              <a:t>build</a:t>
            </a:r>
            <a:r>
              <a:rPr lang="ko-KR" altLang="en-US" dirty="0">
                <a:latin typeface="Consolas" panose="020B0609020204030204" pitchFamily="49" charset="0"/>
              </a:rPr>
              <a:t> -</a:t>
            </a:r>
            <a:r>
              <a:rPr lang="ko-KR" altLang="en-US" dirty="0" err="1">
                <a:latin typeface="Consolas" panose="020B0609020204030204" pitchFamily="49" charset="0"/>
              </a:rPr>
              <a:t>t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my</a:t>
            </a:r>
            <a:r>
              <a:rPr lang="en-US" altLang="ko-KR" dirty="0">
                <a:latin typeface="Consolas" panose="020B0609020204030204" pitchFamily="49" charset="0"/>
              </a:rPr>
              <a:t>docker</a:t>
            </a:r>
            <a:r>
              <a:rPr lang="ko-KR" altLang="en-US" dirty="0">
                <a:latin typeface="Consolas" panose="020B0609020204030204" pitchFamily="49" charset="0"/>
              </a:rPr>
              <a:t>:1.0 .</a:t>
            </a:r>
          </a:p>
          <a:p>
            <a:r>
              <a:rPr lang="en-US" altLang="ko-KR" dirty="0">
                <a:latin typeface="Consolas" panose="020B0609020204030204" pitchFamily="49" charset="0"/>
              </a:rPr>
              <a:t>sudo </a:t>
            </a:r>
            <a:r>
              <a:rPr lang="ko-KR" altLang="en-US" dirty="0">
                <a:latin typeface="Consolas" panose="020B0609020204030204" pitchFamily="49" charset="0"/>
              </a:rPr>
              <a:t>docker </a:t>
            </a:r>
            <a:r>
              <a:rPr lang="ko-KR" altLang="en-US" dirty="0" err="1">
                <a:latin typeface="Consolas" panose="020B0609020204030204" pitchFamily="49" charset="0"/>
              </a:rPr>
              <a:t>run</a:t>
            </a:r>
            <a:r>
              <a:rPr lang="ko-KR" altLang="en-US" dirty="0">
                <a:latin typeface="Consolas" panose="020B0609020204030204" pitchFamily="49" charset="0"/>
              </a:rPr>
              <a:t> -</a:t>
            </a:r>
            <a:r>
              <a:rPr lang="ko-KR" altLang="en-US" dirty="0" err="1">
                <a:latin typeface="Consolas" panose="020B0609020204030204" pitchFamily="49" charset="0"/>
              </a:rPr>
              <a:t>d</a:t>
            </a:r>
            <a:r>
              <a:rPr lang="ko-KR" altLang="en-US" dirty="0">
                <a:latin typeface="Consolas" panose="020B0609020204030204" pitchFamily="49" charset="0"/>
              </a:rPr>
              <a:t> --</a:t>
            </a:r>
            <a:r>
              <a:rPr lang="ko-KR" altLang="en-US" dirty="0" err="1">
                <a:latin typeface="Consolas" panose="020B0609020204030204" pitchFamily="49" charset="0"/>
              </a:rPr>
              <a:t>restart</a:t>
            </a:r>
            <a:r>
              <a:rPr lang="ko-KR" altLang="en-US" dirty="0">
                <a:latin typeface="Consolas" panose="020B0609020204030204" pitchFamily="49" charset="0"/>
              </a:rPr>
              <a:t>=</a:t>
            </a:r>
            <a:r>
              <a:rPr lang="ko-KR" altLang="en-US" dirty="0" err="1">
                <a:latin typeface="Consolas" panose="020B0609020204030204" pitchFamily="49" charset="0"/>
              </a:rPr>
              <a:t>unless-stopped</a:t>
            </a:r>
            <a:r>
              <a:rPr lang="ko-KR" altLang="en-US" dirty="0">
                <a:latin typeface="Consolas" panose="020B0609020204030204" pitchFamily="49" charset="0"/>
              </a:rPr>
              <a:t> -</a:t>
            </a:r>
            <a:r>
              <a:rPr lang="ko-KR" altLang="en-US" dirty="0" err="1">
                <a:latin typeface="Consolas" panose="020B0609020204030204" pitchFamily="49" charset="0"/>
              </a:rPr>
              <a:t>p</a:t>
            </a:r>
            <a:r>
              <a:rPr lang="ko-KR" altLang="en-US" dirty="0">
                <a:latin typeface="Consolas" panose="020B0609020204030204" pitchFamily="49" charset="0"/>
              </a:rPr>
              <a:t> 80:5000 --</a:t>
            </a:r>
            <a:r>
              <a:rPr lang="ko-KR" altLang="en-US" dirty="0" err="1">
                <a:latin typeface="Consolas" panose="020B0609020204030204" pitchFamily="49" charset="0"/>
              </a:rPr>
              <a:t>name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my</a:t>
            </a:r>
            <a:r>
              <a:rPr lang="en-US" altLang="ko-KR" dirty="0">
                <a:latin typeface="Consolas" panose="020B0609020204030204" pitchFamily="49" charset="0"/>
              </a:rPr>
              <a:t>docker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my</a:t>
            </a:r>
            <a:r>
              <a:rPr lang="en-US" altLang="ko-KR" dirty="0">
                <a:latin typeface="Consolas" panose="020B0609020204030204" pitchFamily="49" charset="0"/>
              </a:rPr>
              <a:t>docker</a:t>
            </a:r>
            <a:r>
              <a:rPr lang="ko-KR" altLang="en-US" dirty="0">
                <a:latin typeface="Consolas" panose="020B0609020204030204" pitchFamily="49" charset="0"/>
              </a:rPr>
              <a:t>:1.0</a:t>
            </a:r>
            <a:endParaRPr lang="en-US" altLang="ko-KR" dirty="0">
              <a:latin typeface="Consolas" panose="020B0609020204030204" pitchFamily="49" charset="0"/>
            </a:endParaRPr>
          </a:p>
          <a:p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sudo docker stop mydocker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pic>
        <p:nvPicPr>
          <p:cNvPr id="10" name="그림 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1A120D-25B8-9F61-9F75-F31D1D6EA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2967062"/>
            <a:ext cx="4744112" cy="1343212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6D6BE8-1936-33DB-322E-E2FEF0EA8552}"/>
              </a:ext>
            </a:extLst>
          </p:cNvPr>
          <p:cNvSpPr txBox="1"/>
          <p:nvPr/>
        </p:nvSpPr>
        <p:spPr>
          <a:xfrm>
            <a:off x="5352746" y="3068320"/>
            <a:ext cx="6646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80:5000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포트 </a:t>
            </a:r>
            <a:r>
              <a:rPr lang="en-US" altLang="ko-KR" dirty="0">
                <a:sym typeface="Wingdings" panose="05000000000000000000" pitchFamily="2" charset="2"/>
              </a:rPr>
              <a:t>80</a:t>
            </a:r>
            <a:r>
              <a:rPr lang="ko-KR" altLang="en-US" dirty="0">
                <a:sym typeface="Wingdings" panose="05000000000000000000" pitchFamily="2" charset="2"/>
              </a:rPr>
              <a:t>으로 들어오면 </a:t>
            </a:r>
            <a:r>
              <a:rPr lang="en-US" altLang="ko-KR" dirty="0">
                <a:sym typeface="Wingdings" panose="05000000000000000000" pitchFamily="2" charset="2"/>
              </a:rPr>
              <a:t>flask </a:t>
            </a:r>
            <a:r>
              <a:rPr lang="ko-KR" altLang="en-US" dirty="0">
                <a:sym typeface="Wingdings" panose="05000000000000000000" pitchFamily="2" charset="2"/>
              </a:rPr>
              <a:t>서버 </a:t>
            </a:r>
            <a:r>
              <a:rPr lang="en-US" altLang="ko-KR" dirty="0">
                <a:sym typeface="Wingdings" panose="05000000000000000000" pitchFamily="2" charset="2"/>
              </a:rPr>
              <a:t>5000</a:t>
            </a:r>
            <a:r>
              <a:rPr lang="ko-KR" altLang="en-US" dirty="0">
                <a:sym typeface="Wingdings" panose="05000000000000000000" pitchFamily="2" charset="2"/>
              </a:rPr>
              <a:t>번으로 연결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7066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325D2-C065-4FC6-6D96-D996B7C4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F0EB92-B53E-6907-F629-1FB6C8E57A7B}"/>
              </a:ext>
            </a:extLst>
          </p:cNvPr>
          <p:cNvSpPr/>
          <p:nvPr/>
        </p:nvSpPr>
        <p:spPr>
          <a:xfrm>
            <a:off x="0" y="0"/>
            <a:ext cx="12192000" cy="20726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>
                <a:solidFill>
                  <a:schemeClr val="bg1">
                    <a:lumMod val="95000"/>
                  </a:schemeClr>
                </a:solidFill>
              </a:rPr>
              <a:t>wsl</a:t>
            </a:r>
            <a:r>
              <a:rPr lang="en-US" altLang="ko-KR" sz="4400" dirty="0">
                <a:solidFill>
                  <a:schemeClr val="bg1">
                    <a:lumMod val="95000"/>
                  </a:schemeClr>
                </a:solidFill>
              </a:rPr>
              <a:t>, ubuntu </a:t>
            </a:r>
            <a:r>
              <a:rPr lang="ko-KR" altLang="en-US" sz="4400" dirty="0">
                <a:solidFill>
                  <a:schemeClr val="bg1">
                    <a:lumMod val="95000"/>
                  </a:schemeClr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133341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32806-0495-307D-3E6A-1FDDE9AC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D2906F8-6409-8774-1E6A-16AB01CBF3A3}"/>
              </a:ext>
            </a:extLst>
          </p:cNvPr>
          <p:cNvSpPr/>
          <p:nvPr/>
        </p:nvSpPr>
        <p:spPr>
          <a:xfrm>
            <a:off x="0" y="0"/>
            <a:ext cx="12192000" cy="46736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263525"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WSL, Ubuntu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제거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EFC0F-6348-1AB5-24A4-77736427DEB8}"/>
              </a:ext>
            </a:extLst>
          </p:cNvPr>
          <p:cNvSpPr txBox="1"/>
          <p:nvPr/>
        </p:nvSpPr>
        <p:spPr>
          <a:xfrm>
            <a:off x="449580" y="843677"/>
            <a:ext cx="6101080" cy="4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1. </a:t>
            </a:r>
            <a:r>
              <a:rPr lang="ko-KR" altLang="en-US" b="1" dirty="0">
                <a:latin typeface="+mn-ea"/>
              </a:rPr>
              <a:t> (선택) 백업</a:t>
            </a:r>
          </a:p>
          <a:p>
            <a:pPr indent="92075">
              <a:lnSpc>
                <a:spcPts val="2500"/>
              </a:lnSpc>
            </a:pPr>
            <a:r>
              <a:rPr lang="ko-KR" altLang="en-US" dirty="0" err="1">
                <a:latin typeface="+mn-ea"/>
              </a:rPr>
              <a:t>wsl</a:t>
            </a:r>
            <a:r>
              <a:rPr lang="ko-KR" altLang="en-US" dirty="0">
                <a:latin typeface="+mn-ea"/>
              </a:rPr>
              <a:t> --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 --</a:t>
            </a:r>
            <a:r>
              <a:rPr lang="ko-KR" altLang="en-US" dirty="0" err="1">
                <a:latin typeface="+mn-ea"/>
              </a:rPr>
              <a:t>verbose</a:t>
            </a:r>
            <a:endParaRPr lang="ko-KR" altLang="en-US" dirty="0">
              <a:latin typeface="+mn-ea"/>
            </a:endParaRPr>
          </a:p>
          <a:p>
            <a:pPr indent="92075">
              <a:lnSpc>
                <a:spcPts val="2500"/>
              </a:lnSpc>
            </a:pPr>
            <a:r>
              <a:rPr lang="ko-KR" altLang="en-US" dirty="0" err="1">
                <a:latin typeface="+mn-ea"/>
              </a:rPr>
              <a:t>wsl</a:t>
            </a:r>
            <a:r>
              <a:rPr lang="ko-KR" altLang="en-US" dirty="0">
                <a:latin typeface="+mn-ea"/>
              </a:rPr>
              <a:t> --</a:t>
            </a:r>
            <a:r>
              <a:rPr lang="ko-KR" altLang="en-US" dirty="0" err="1">
                <a:latin typeface="+mn-ea"/>
              </a:rPr>
              <a:t>export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Ubuntu</a:t>
            </a:r>
            <a:r>
              <a:rPr lang="ko-KR" altLang="en-US" dirty="0">
                <a:latin typeface="+mn-ea"/>
              </a:rPr>
              <a:t> D:\backup\ubuntu.tar</a:t>
            </a: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2.</a:t>
            </a:r>
            <a:r>
              <a:rPr lang="ko-KR" altLang="en-US" b="1" dirty="0">
                <a:latin typeface="+mn-ea"/>
              </a:rPr>
              <a:t>  WSL 전체 종료</a:t>
            </a: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 </a:t>
            </a:r>
            <a:r>
              <a:rPr lang="ko-KR" altLang="en-US" dirty="0" err="1">
                <a:latin typeface="+mn-ea"/>
              </a:rPr>
              <a:t>wsl</a:t>
            </a:r>
            <a:r>
              <a:rPr lang="ko-KR" altLang="en-US" dirty="0">
                <a:latin typeface="+mn-ea"/>
              </a:rPr>
              <a:t> --</a:t>
            </a:r>
            <a:r>
              <a:rPr lang="ko-KR" altLang="en-US" dirty="0" err="1">
                <a:latin typeface="+mn-ea"/>
              </a:rPr>
              <a:t>shutdown</a:t>
            </a:r>
            <a:endParaRPr lang="ko-KR" altLang="en-US" dirty="0">
              <a:latin typeface="+mn-ea"/>
            </a:endParaRP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 우분투(또는 표시된 </a:t>
            </a:r>
            <a:r>
              <a:rPr lang="ko-KR" altLang="en-US" b="1" dirty="0" err="1">
                <a:latin typeface="+mn-ea"/>
              </a:rPr>
              <a:t>배포판</a:t>
            </a:r>
            <a:r>
              <a:rPr lang="ko-KR" altLang="en-US" b="1" dirty="0">
                <a:latin typeface="+mn-ea"/>
              </a:rPr>
              <a:t> 이름) 삭제</a:t>
            </a: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 </a:t>
            </a:r>
            <a:r>
              <a:rPr lang="ko-KR" altLang="en-US" dirty="0" err="1">
                <a:latin typeface="+mn-ea"/>
              </a:rPr>
              <a:t>wsl</a:t>
            </a:r>
            <a:r>
              <a:rPr lang="ko-KR" altLang="en-US" dirty="0">
                <a:latin typeface="+mn-ea"/>
              </a:rPr>
              <a:t> --</a:t>
            </a:r>
            <a:r>
              <a:rPr lang="ko-KR" altLang="en-US" dirty="0" err="1">
                <a:latin typeface="+mn-ea"/>
              </a:rPr>
              <a:t>unregister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Ubuntu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App </a:t>
            </a:r>
            <a:r>
              <a:rPr lang="ko-KR" altLang="en-US" b="1" dirty="0">
                <a:latin typeface="+mn-ea"/>
              </a:rPr>
              <a:t>삭제</a:t>
            </a: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설정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앱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설치된 앱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Ubuntu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제거</a:t>
            </a:r>
            <a:br>
              <a:rPr lang="en-US" altLang="ko-KR" dirty="0">
                <a:latin typeface="+mn-ea"/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  <a:sym typeface="Wingdings" panose="05000000000000000000" pitchFamily="2" charset="2"/>
              </a:rPr>
              <a:t>  - Windows Subsystem for Linux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보이면 제거</a:t>
            </a:r>
            <a:endParaRPr lang="ko-KR" altLang="en-US" dirty="0">
              <a:latin typeface="+mn-ea"/>
            </a:endParaRPr>
          </a:p>
          <a:p>
            <a:pPr>
              <a:lnSpc>
                <a:spcPts val="2500"/>
              </a:lnSpc>
            </a:pP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04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1132</Words>
  <Application>Microsoft Office PowerPoint</Application>
  <PresentationFormat>와이드스크린</PresentationFormat>
  <Paragraphs>191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52</cp:revision>
  <dcterms:created xsi:type="dcterms:W3CDTF">2025-10-26T07:58:30Z</dcterms:created>
  <dcterms:modified xsi:type="dcterms:W3CDTF">2026-01-19T11:36:45Z</dcterms:modified>
</cp:coreProperties>
</file>