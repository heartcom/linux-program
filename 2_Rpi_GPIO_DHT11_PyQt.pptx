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02" r:id="rId2"/>
    <p:sldId id="316" r:id="rId3"/>
    <p:sldId id="342" r:id="rId4"/>
    <p:sldId id="330" r:id="rId5"/>
    <p:sldId id="318" r:id="rId6"/>
    <p:sldId id="326" r:id="rId7"/>
    <p:sldId id="327" r:id="rId8"/>
    <p:sldId id="329" r:id="rId9"/>
    <p:sldId id="328" r:id="rId10"/>
    <p:sldId id="319" r:id="rId11"/>
    <p:sldId id="323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24" r:id="rId21"/>
    <p:sldId id="340" r:id="rId22"/>
    <p:sldId id="325" r:id="rId23"/>
    <p:sldId id="341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2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31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34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19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40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9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33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83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9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68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02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2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29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DC872-0E0F-4B71-97B1-1CA7CAEBA243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1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artcom/Linux-Progra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andomnerdtutorials.com/raspberry-pi-digital-inputs-python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andomnerdtutorials.com/raspberry-pi-dht11-dht22-python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realvnc.com/en/connect/download/viewer/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1301-DF23-EDC5-AA59-0048FD9A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B2DAE7-B487-80C9-452C-30917B35A51F}"/>
              </a:ext>
            </a:extLst>
          </p:cNvPr>
          <p:cNvSpPr/>
          <p:nvPr/>
        </p:nvSpPr>
        <p:spPr>
          <a:xfrm>
            <a:off x="0" y="0"/>
            <a:ext cx="12192000" cy="32004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6600" b="1" dirty="0"/>
              <a:t>Linux Programming</a:t>
            </a:r>
            <a:endParaRPr lang="en-US" altLang="ko-KR" sz="4800" b="1" dirty="0"/>
          </a:p>
          <a:p>
            <a:pPr algn="ctr"/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</a:rPr>
              <a:t>2. Rpi_GPIO_DHT11_PyQt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0CBAB-261B-204C-8A19-A024BE86B2B3}"/>
              </a:ext>
            </a:extLst>
          </p:cNvPr>
          <p:cNvSpPr txBox="1"/>
          <p:nvPr/>
        </p:nvSpPr>
        <p:spPr>
          <a:xfrm>
            <a:off x="5061117" y="4325227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학년 공통 선택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E73DD-0E49-C4C1-020C-407C6BC55F04}"/>
              </a:ext>
            </a:extLst>
          </p:cNvPr>
          <p:cNvSpPr txBox="1"/>
          <p:nvPr/>
        </p:nvSpPr>
        <p:spPr>
          <a:xfrm>
            <a:off x="522514" y="6164815"/>
            <a:ext cx="2817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heartcom/Linux-Program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511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B870-B3B2-8131-2E2C-4DBEFF3F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F95D38A-448F-1D31-20A6-CC309034619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목      차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A7B318-84A0-6944-9DA6-302CA5F38695}"/>
              </a:ext>
            </a:extLst>
          </p:cNvPr>
          <p:cNvSpPr txBox="1"/>
          <p:nvPr/>
        </p:nvSpPr>
        <p:spPr>
          <a:xfrm>
            <a:off x="774441" y="1184987"/>
            <a:ext cx="3768980" cy="1792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46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Rpi GPIO Control</a:t>
            </a:r>
          </a:p>
          <a:p>
            <a:pPr marL="285750" indent="-285750">
              <a:lnSpc>
                <a:spcPts val="46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DHT11 </a:t>
            </a:r>
            <a:r>
              <a:rPr lang="ko-KR" altLang="en-US" sz="2800" dirty="0">
                <a:latin typeface="+mn-ea"/>
              </a:rPr>
              <a:t>온</a:t>
            </a:r>
            <a:r>
              <a:rPr lang="en-US" altLang="ko-KR" sz="2800" dirty="0">
                <a:latin typeface="+mn-ea"/>
              </a:rPr>
              <a:t>/</a:t>
            </a:r>
            <a:r>
              <a:rPr lang="ko-KR" altLang="en-US" sz="2800" dirty="0">
                <a:latin typeface="+mn-ea"/>
              </a:rPr>
              <a:t>습도 읽기</a:t>
            </a:r>
            <a:endParaRPr lang="en-US" altLang="ko-KR" sz="2800" dirty="0">
              <a:latin typeface="+mn-ea"/>
            </a:endParaRPr>
          </a:p>
          <a:p>
            <a:pPr marL="285750" indent="-285750">
              <a:lnSpc>
                <a:spcPts val="46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PyQt </a:t>
            </a:r>
            <a:r>
              <a:rPr lang="ko-KR" altLang="en-US" sz="2800" dirty="0">
                <a:latin typeface="+mn-ea"/>
              </a:rPr>
              <a:t>기초 실습</a:t>
            </a:r>
            <a:r>
              <a:rPr lang="en-US" altLang="ko-KR" sz="2800" dirty="0">
                <a:latin typeface="+mn-ea"/>
              </a:rPr>
              <a:t>  </a:t>
            </a:r>
            <a:endParaRPr lang="ko-KR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7768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DFCE4-F747-B43C-0B15-6DEFABE6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BFC96E9-4DC4-DBA6-09D8-09436C94F2B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Raspberry pi 5 </a:t>
            </a:r>
            <a:r>
              <a:rPr lang="en-US" altLang="ko-KR" sz="2000" b="1" dirty="0">
                <a:sym typeface="Wingdings" panose="05000000000000000000" pitchFamily="2" charset="2"/>
              </a:rPr>
              <a:t> </a:t>
            </a:r>
            <a:r>
              <a:rPr lang="en-US" altLang="ko-KR" sz="2000" b="1" dirty="0"/>
              <a:t>Fan control</a:t>
            </a:r>
            <a:endParaRPr lang="ko-KR" alt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89E54-4024-D88B-7F84-8FE59E1EB49A}"/>
              </a:ext>
            </a:extLst>
          </p:cNvPr>
          <p:cNvSpPr txBox="1"/>
          <p:nvPr/>
        </p:nvSpPr>
        <p:spPr>
          <a:xfrm>
            <a:off x="107577" y="1020243"/>
            <a:ext cx="11338560" cy="3508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b="1" i="0" dirty="0">
                <a:effectLst/>
                <a:latin typeface="+mn-ea"/>
              </a:rPr>
              <a:t># config.txt </a:t>
            </a:r>
            <a:r>
              <a:rPr lang="ko-KR" altLang="en-US" b="1" i="0" dirty="0">
                <a:effectLst/>
                <a:latin typeface="+mn-ea"/>
              </a:rPr>
              <a:t>문서 열기 </a:t>
            </a:r>
            <a:endParaRPr lang="en-US" altLang="ko-KR" b="1" i="0" dirty="0">
              <a:effectLst/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b="1" i="0" dirty="0">
                <a:effectLst/>
                <a:latin typeface="+mn-ea"/>
              </a:rPr>
              <a:t>sudo nano /boot/firmware/config.txt </a:t>
            </a:r>
          </a:p>
          <a:p>
            <a:pPr>
              <a:lnSpc>
                <a:spcPts val="3000"/>
              </a:lnSpc>
            </a:pPr>
            <a:endParaRPr lang="en-US" altLang="ko-KR" b="1" i="0" dirty="0">
              <a:effectLst/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b="1" i="0" dirty="0">
                <a:effectLst/>
                <a:latin typeface="+mn-ea"/>
              </a:rPr>
              <a:t># </a:t>
            </a:r>
            <a:r>
              <a:rPr lang="ko-KR" altLang="en-US" b="1" i="0" dirty="0">
                <a:effectLst/>
                <a:latin typeface="+mn-ea"/>
              </a:rPr>
              <a:t>변경할 </a:t>
            </a:r>
            <a:r>
              <a:rPr lang="en-US" altLang="ko-KR" b="1" i="0" dirty="0">
                <a:effectLst/>
                <a:latin typeface="+mn-ea"/>
              </a:rPr>
              <a:t>FAN </a:t>
            </a:r>
            <a:r>
              <a:rPr lang="ko-KR" altLang="en-US" b="1" i="0" dirty="0">
                <a:effectLst/>
                <a:latin typeface="+mn-ea"/>
              </a:rPr>
              <a:t>동작 온도</a:t>
            </a:r>
            <a:r>
              <a:rPr lang="en-US" altLang="ko-KR" b="1" i="0" dirty="0">
                <a:effectLst/>
                <a:latin typeface="+mn-ea"/>
              </a:rPr>
              <a:t>&amp;</a:t>
            </a:r>
            <a:r>
              <a:rPr lang="ko-KR" altLang="en-US" b="1" i="0" dirty="0">
                <a:effectLst/>
                <a:latin typeface="+mn-ea"/>
              </a:rPr>
              <a:t>속도 정보 입력 </a:t>
            </a:r>
            <a:endParaRPr lang="en-US" altLang="ko-KR" b="1" i="0" dirty="0">
              <a:effectLst/>
              <a:latin typeface="+mn-ea"/>
            </a:endParaRPr>
          </a:p>
          <a:p>
            <a:pPr>
              <a:lnSpc>
                <a:spcPts val="3000"/>
              </a:lnSpc>
            </a:pPr>
            <a:r>
              <a:rPr lang="en-US" altLang="ko-KR" b="1" dirty="0" err="1">
                <a:effectLst/>
                <a:latin typeface="+mn-ea"/>
              </a:rPr>
              <a:t>dtoverlay</a:t>
            </a:r>
            <a:r>
              <a:rPr lang="en-US" altLang="ko-KR" b="1" dirty="0">
                <a:effectLst/>
                <a:latin typeface="+mn-ea"/>
              </a:rPr>
              <a:t>=</a:t>
            </a:r>
            <a:r>
              <a:rPr lang="en-US" altLang="ko-KR" b="1" dirty="0" err="1">
                <a:effectLst/>
                <a:latin typeface="+mn-ea"/>
              </a:rPr>
              <a:t>pwm</a:t>
            </a:r>
            <a:r>
              <a:rPr lang="en-US" altLang="ko-KR" b="1" dirty="0">
                <a:effectLst/>
                <a:latin typeface="+mn-ea"/>
              </a:rPr>
              <a:t>-fan </a:t>
            </a:r>
          </a:p>
          <a:p>
            <a:pPr>
              <a:lnSpc>
                <a:spcPts val="3000"/>
              </a:lnSpc>
            </a:pPr>
            <a:r>
              <a:rPr lang="en-US" altLang="ko-KR" b="1" dirty="0" err="1">
                <a:effectLst/>
                <a:latin typeface="+mn-ea"/>
              </a:rPr>
              <a:t>dtparam</a:t>
            </a:r>
            <a:r>
              <a:rPr lang="en-US" altLang="ko-KR" b="1" dirty="0">
                <a:effectLst/>
                <a:latin typeface="+mn-ea"/>
              </a:rPr>
              <a:t>=fan_temp0=20000,fan_temp0_hyst=5000,fan_temp0_speed=80 </a:t>
            </a:r>
            <a:r>
              <a:rPr lang="en-US" altLang="ko-KR" b="1" dirty="0" err="1">
                <a:effectLst/>
                <a:latin typeface="+mn-ea"/>
              </a:rPr>
              <a:t>dtparam</a:t>
            </a:r>
            <a:r>
              <a:rPr lang="en-US" altLang="ko-KR" b="1" dirty="0">
                <a:effectLst/>
                <a:latin typeface="+mn-ea"/>
              </a:rPr>
              <a:t>=fan_temp1=40000,fan_temp1_hyst=3000,fan_temp1_speed=150 </a:t>
            </a:r>
            <a:r>
              <a:rPr lang="en-US" altLang="ko-KR" b="1" dirty="0" err="1">
                <a:effectLst/>
                <a:latin typeface="+mn-ea"/>
              </a:rPr>
              <a:t>dtparam</a:t>
            </a:r>
            <a:r>
              <a:rPr lang="en-US" altLang="ko-KR" b="1" dirty="0">
                <a:effectLst/>
                <a:latin typeface="+mn-ea"/>
              </a:rPr>
              <a:t>=fan_temp2=35000,fan_temp2_hyst=4000,fan_temp2_speed=200 </a:t>
            </a:r>
            <a:r>
              <a:rPr lang="en-US" altLang="ko-KR" b="1" dirty="0" err="1">
                <a:effectLst/>
                <a:latin typeface="+mn-ea"/>
              </a:rPr>
              <a:t>dtparam</a:t>
            </a:r>
            <a:r>
              <a:rPr lang="en-US" altLang="ko-KR" b="1" dirty="0">
                <a:effectLst/>
                <a:latin typeface="+mn-ea"/>
              </a:rPr>
              <a:t>=fan_temp3=50000,fan_temp3_hyst=5000,fan_temp3_speed=255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437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2C3B-1443-A116-6354-C226FA22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6EA7FED-2E2C-E0B2-BEEC-9FB453BB45D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GPIO</a:t>
            </a:r>
            <a:endParaRPr lang="ko-KR" altLang="en-US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0E3B12-1011-76B3-FD7A-BE9BC3541B92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Rpi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279C8-8EA3-AA62-9882-790FBE633971}"/>
              </a:ext>
            </a:extLst>
          </p:cNvPr>
          <p:cNvSpPr txBox="1"/>
          <p:nvPr/>
        </p:nvSpPr>
        <p:spPr>
          <a:xfrm>
            <a:off x="8078771" y="0"/>
            <a:ext cx="36458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Raspberry Pi: Read Digital Inputs with Python (Buttons and Other Peripherals) | Random Nerd Tutorials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A28AC-07E2-9CB6-37C1-21888837A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257" y="1040863"/>
            <a:ext cx="8859486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8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2C51-160B-719D-09E8-FE6F2B20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7A89BE-BC0C-5581-0A35-B983ECAF8E9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GPIO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E60AF6-0901-5067-1900-7043F286C5DA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LED</a:t>
            </a:r>
            <a:r>
              <a:rPr lang="ko-KR" altLang="en-US" sz="2000" b="1" dirty="0"/>
              <a:t> 연결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4B20C41-9AAE-9A6A-E2F1-1CB588881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58" y="1090378"/>
            <a:ext cx="5576401" cy="163130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3C81552-38AC-4CB0-97DB-8370157B0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400" y="1267765"/>
            <a:ext cx="4638261" cy="1631304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0CFD8D94-152C-7D57-CB4A-82FBC855EBD4}"/>
              </a:ext>
            </a:extLst>
          </p:cNvPr>
          <p:cNvSpPr/>
          <p:nvPr/>
        </p:nvSpPr>
        <p:spPr>
          <a:xfrm>
            <a:off x="5045336" y="2409712"/>
            <a:ext cx="1667436" cy="150614"/>
          </a:xfrm>
          <a:custGeom>
            <a:avLst/>
            <a:gdLst>
              <a:gd name="connsiteX0" fmla="*/ 0 w 1667436"/>
              <a:gd name="connsiteY0" fmla="*/ 32273 h 150614"/>
              <a:gd name="connsiteX1" fmla="*/ 333488 w 1667436"/>
              <a:gd name="connsiteY1" fmla="*/ 0 h 150614"/>
              <a:gd name="connsiteX2" fmla="*/ 1409252 w 1667436"/>
              <a:gd name="connsiteY2" fmla="*/ 10758 h 150614"/>
              <a:gd name="connsiteX3" fmla="*/ 1484556 w 1667436"/>
              <a:gd name="connsiteY3" fmla="*/ 86061 h 150614"/>
              <a:gd name="connsiteX4" fmla="*/ 1506071 w 1667436"/>
              <a:gd name="connsiteY4" fmla="*/ 107577 h 150614"/>
              <a:gd name="connsiteX5" fmla="*/ 1516829 w 1667436"/>
              <a:gd name="connsiteY5" fmla="*/ 139850 h 150614"/>
              <a:gd name="connsiteX6" fmla="*/ 1635163 w 1667436"/>
              <a:gd name="connsiteY6" fmla="*/ 139850 h 150614"/>
              <a:gd name="connsiteX7" fmla="*/ 1667436 w 1667436"/>
              <a:gd name="connsiteY7" fmla="*/ 118334 h 15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67436" h="150614">
                <a:moveTo>
                  <a:pt x="0" y="32273"/>
                </a:moveTo>
                <a:cubicBezTo>
                  <a:pt x="124554" y="7364"/>
                  <a:pt x="142582" y="1515"/>
                  <a:pt x="333488" y="0"/>
                </a:cubicBezTo>
                <a:lnTo>
                  <a:pt x="1409252" y="10758"/>
                </a:lnTo>
                <a:lnTo>
                  <a:pt x="1484556" y="86061"/>
                </a:lnTo>
                <a:lnTo>
                  <a:pt x="1506071" y="107577"/>
                </a:lnTo>
                <a:cubicBezTo>
                  <a:pt x="1509657" y="118335"/>
                  <a:pt x="1507974" y="132766"/>
                  <a:pt x="1516829" y="139850"/>
                </a:cubicBezTo>
                <a:cubicBezTo>
                  <a:pt x="1545007" y="162392"/>
                  <a:pt x="1612883" y="143033"/>
                  <a:pt x="1635163" y="139850"/>
                </a:cubicBezTo>
                <a:lnTo>
                  <a:pt x="1667436" y="118334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7AE28D7B-5020-5957-30F4-31771F0AB981}"/>
              </a:ext>
            </a:extLst>
          </p:cNvPr>
          <p:cNvSpPr/>
          <p:nvPr/>
        </p:nvSpPr>
        <p:spPr>
          <a:xfrm>
            <a:off x="2474259" y="2452218"/>
            <a:ext cx="4206240" cy="850662"/>
          </a:xfrm>
          <a:custGeom>
            <a:avLst/>
            <a:gdLst>
              <a:gd name="connsiteX0" fmla="*/ 4206240 w 4206240"/>
              <a:gd name="connsiteY0" fmla="*/ 334012 h 850662"/>
              <a:gd name="connsiteX1" fmla="*/ 3668357 w 4206240"/>
              <a:gd name="connsiteY1" fmla="*/ 441588 h 850662"/>
              <a:gd name="connsiteX2" fmla="*/ 2807746 w 4206240"/>
              <a:gd name="connsiteY2" fmla="*/ 710529 h 850662"/>
              <a:gd name="connsiteX3" fmla="*/ 2377440 w 4206240"/>
              <a:gd name="connsiteY3" fmla="*/ 785833 h 850662"/>
              <a:gd name="connsiteX4" fmla="*/ 2226833 w 4206240"/>
              <a:gd name="connsiteY4" fmla="*/ 839621 h 850662"/>
              <a:gd name="connsiteX5" fmla="*/ 2043953 w 4206240"/>
              <a:gd name="connsiteY5" fmla="*/ 850379 h 850662"/>
              <a:gd name="connsiteX6" fmla="*/ 473336 w 4206240"/>
              <a:gd name="connsiteY6" fmla="*/ 818106 h 850662"/>
              <a:gd name="connsiteX7" fmla="*/ 322729 w 4206240"/>
              <a:gd name="connsiteY7" fmla="*/ 775075 h 850662"/>
              <a:gd name="connsiteX8" fmla="*/ 258183 w 4206240"/>
              <a:gd name="connsiteY8" fmla="*/ 753560 h 850662"/>
              <a:gd name="connsiteX9" fmla="*/ 75303 w 4206240"/>
              <a:gd name="connsiteY9" fmla="*/ 656741 h 850662"/>
              <a:gd name="connsiteX10" fmla="*/ 21515 w 4206240"/>
              <a:gd name="connsiteY10" fmla="*/ 559922 h 850662"/>
              <a:gd name="connsiteX11" fmla="*/ 0 w 4206240"/>
              <a:gd name="connsiteY11" fmla="*/ 430830 h 850662"/>
              <a:gd name="connsiteX12" fmla="*/ 21515 w 4206240"/>
              <a:gd name="connsiteY12" fmla="*/ 226435 h 850662"/>
              <a:gd name="connsiteX13" fmla="*/ 53788 w 4206240"/>
              <a:gd name="connsiteY13" fmla="*/ 151132 h 850662"/>
              <a:gd name="connsiteX14" fmla="*/ 86061 w 4206240"/>
              <a:gd name="connsiteY14" fmla="*/ 108101 h 850662"/>
              <a:gd name="connsiteX15" fmla="*/ 225910 w 4206240"/>
              <a:gd name="connsiteY15" fmla="*/ 54313 h 850662"/>
              <a:gd name="connsiteX16" fmla="*/ 301214 w 4206240"/>
              <a:gd name="connsiteY16" fmla="*/ 43555 h 850662"/>
              <a:gd name="connsiteX17" fmla="*/ 473336 w 4206240"/>
              <a:gd name="connsiteY17" fmla="*/ 32797 h 850662"/>
              <a:gd name="connsiteX18" fmla="*/ 580913 w 4206240"/>
              <a:gd name="connsiteY18" fmla="*/ 524 h 850662"/>
              <a:gd name="connsiteX19" fmla="*/ 602428 w 4206240"/>
              <a:gd name="connsiteY19" fmla="*/ 524 h 85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06240" h="850662">
                <a:moveTo>
                  <a:pt x="4206240" y="334012"/>
                </a:moveTo>
                <a:cubicBezTo>
                  <a:pt x="4014405" y="361415"/>
                  <a:pt x="3910842" y="374560"/>
                  <a:pt x="3668357" y="441588"/>
                </a:cubicBezTo>
                <a:cubicBezTo>
                  <a:pt x="3378669" y="521664"/>
                  <a:pt x="3103273" y="655802"/>
                  <a:pt x="2807746" y="710529"/>
                </a:cubicBezTo>
                <a:cubicBezTo>
                  <a:pt x="2470913" y="772905"/>
                  <a:pt x="2614609" y="749344"/>
                  <a:pt x="2377440" y="785833"/>
                </a:cubicBezTo>
                <a:cubicBezTo>
                  <a:pt x="2327238" y="803762"/>
                  <a:pt x="2279170" y="829491"/>
                  <a:pt x="2226833" y="839621"/>
                </a:cubicBezTo>
                <a:cubicBezTo>
                  <a:pt x="2166880" y="851225"/>
                  <a:pt x="2105014" y="851128"/>
                  <a:pt x="2043953" y="850379"/>
                </a:cubicBezTo>
                <a:lnTo>
                  <a:pt x="473336" y="818106"/>
                </a:lnTo>
                <a:lnTo>
                  <a:pt x="322729" y="775075"/>
                </a:lnTo>
                <a:cubicBezTo>
                  <a:pt x="301006" y="768558"/>
                  <a:pt x="278865" y="762867"/>
                  <a:pt x="258183" y="753560"/>
                </a:cubicBezTo>
                <a:cubicBezTo>
                  <a:pt x="133440" y="697426"/>
                  <a:pt x="145656" y="703642"/>
                  <a:pt x="75303" y="656741"/>
                </a:cubicBezTo>
                <a:cubicBezTo>
                  <a:pt x="57374" y="624468"/>
                  <a:pt x="36058" y="593856"/>
                  <a:pt x="21515" y="559922"/>
                </a:cubicBezTo>
                <a:cubicBezTo>
                  <a:pt x="14772" y="544188"/>
                  <a:pt x="879" y="436983"/>
                  <a:pt x="0" y="430830"/>
                </a:cubicBezTo>
                <a:cubicBezTo>
                  <a:pt x="7172" y="362698"/>
                  <a:pt x="8577" y="293710"/>
                  <a:pt x="21515" y="226435"/>
                </a:cubicBezTo>
                <a:cubicBezTo>
                  <a:pt x="26672" y="199617"/>
                  <a:pt x="40711" y="175107"/>
                  <a:pt x="53788" y="151132"/>
                </a:cubicBezTo>
                <a:cubicBezTo>
                  <a:pt x="62374" y="135392"/>
                  <a:pt x="72568" y="119908"/>
                  <a:pt x="86061" y="108101"/>
                </a:cubicBezTo>
                <a:cubicBezTo>
                  <a:pt x="127391" y="71937"/>
                  <a:pt x="173041" y="64887"/>
                  <a:pt x="225910" y="54313"/>
                </a:cubicBezTo>
                <a:cubicBezTo>
                  <a:pt x="250774" y="49340"/>
                  <a:pt x="275953" y="45752"/>
                  <a:pt x="301214" y="43555"/>
                </a:cubicBezTo>
                <a:cubicBezTo>
                  <a:pt x="358484" y="38575"/>
                  <a:pt x="415962" y="36383"/>
                  <a:pt x="473336" y="32797"/>
                </a:cubicBezTo>
                <a:cubicBezTo>
                  <a:pt x="502027" y="23233"/>
                  <a:pt x="548399" y="5943"/>
                  <a:pt x="580913" y="524"/>
                </a:cubicBezTo>
                <a:cubicBezTo>
                  <a:pt x="587987" y="-655"/>
                  <a:pt x="595256" y="524"/>
                  <a:pt x="602428" y="524"/>
                </a:cubicBezTo>
              </a:path>
            </a:pathLst>
          </a:custGeom>
          <a:noFill/>
          <a:ln w="6985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FFF325-503A-A42F-1B31-77BD6AFD0E71}"/>
              </a:ext>
            </a:extLst>
          </p:cNvPr>
          <p:cNvSpPr txBox="1"/>
          <p:nvPr/>
        </p:nvSpPr>
        <p:spPr>
          <a:xfrm>
            <a:off x="6551096" y="2933548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GPIO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148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CEA48-7F73-DB31-6F31-66C5C2B4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8BF490-2754-672E-8BF8-9F463D206DC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GPIO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7B8905-4B26-9ACD-A1F2-015C528D06AD}"/>
              </a:ext>
            </a:extLst>
          </p:cNvPr>
          <p:cNvSpPr/>
          <p:nvPr/>
        </p:nvSpPr>
        <p:spPr>
          <a:xfrm>
            <a:off x="3789058" y="-3715"/>
            <a:ext cx="395286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led_1.py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101D3-8CAA-3B23-FEF3-4703D5C8D1E4}"/>
              </a:ext>
            </a:extLst>
          </p:cNvPr>
          <p:cNvSpPr txBox="1"/>
          <p:nvPr/>
        </p:nvSpPr>
        <p:spPr>
          <a:xfrm flipH="1">
            <a:off x="7879393" y="125650"/>
            <a:ext cx="3074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  vs code</a:t>
            </a:r>
            <a:r>
              <a:rPr lang="ko-KR" altLang="en-US" dirty="0"/>
              <a:t>에서 </a:t>
            </a:r>
            <a:r>
              <a:rPr lang="en-US" altLang="ko-KR" dirty="0"/>
              <a:t>ssh </a:t>
            </a:r>
            <a:r>
              <a:rPr lang="ko-KR" altLang="en-US" dirty="0"/>
              <a:t>연결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49E7A-605A-4602-3829-18233BCD78EE}"/>
              </a:ext>
            </a:extLst>
          </p:cNvPr>
          <p:cNvSpPr txBox="1"/>
          <p:nvPr/>
        </p:nvSpPr>
        <p:spPr>
          <a:xfrm>
            <a:off x="172123" y="4715862"/>
            <a:ext cx="526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ModuleNotFoundError</a:t>
            </a:r>
            <a:r>
              <a:rPr lang="ko-KR" altLang="en-US" dirty="0"/>
              <a:t>: </a:t>
            </a:r>
            <a:r>
              <a:rPr lang="ko-KR" altLang="en-US" dirty="0" err="1"/>
              <a:t>No</a:t>
            </a:r>
            <a:r>
              <a:rPr lang="ko-KR" altLang="en-US" dirty="0"/>
              <a:t> </a:t>
            </a:r>
            <a:r>
              <a:rPr lang="ko-KR" altLang="en-US" dirty="0" err="1"/>
              <a:t>module</a:t>
            </a:r>
            <a:r>
              <a:rPr lang="ko-KR" altLang="en-US" dirty="0"/>
              <a:t> </a:t>
            </a:r>
            <a:r>
              <a:rPr lang="ko-KR" altLang="en-US" dirty="0" err="1"/>
              <a:t>named</a:t>
            </a:r>
            <a:r>
              <a:rPr lang="ko-KR" altLang="en-US" dirty="0"/>
              <a:t> '</a:t>
            </a:r>
            <a:r>
              <a:rPr lang="ko-KR" altLang="en-US" dirty="0" err="1"/>
              <a:t>gpiozero</a:t>
            </a:r>
            <a:r>
              <a:rPr lang="ko-KR" altLang="en-US" dirty="0"/>
              <a:t>'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F661AB-F26C-78A7-F1A8-7BD150C2215F}"/>
              </a:ext>
            </a:extLst>
          </p:cNvPr>
          <p:cNvSpPr txBox="1"/>
          <p:nvPr/>
        </p:nvSpPr>
        <p:spPr>
          <a:xfrm>
            <a:off x="1794" y="827778"/>
            <a:ext cx="6646432" cy="29281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gpiozero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LED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gpiozero.pins.lgpio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LGPIOFactory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signal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pause</a:t>
            </a:r>
          </a:p>
          <a:p>
            <a:pPr>
              <a:lnSpc>
                <a:spcPts val="24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LED(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pin_factory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LGPIOFactory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 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led.blink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on_time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off_time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pause()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59C570-89AD-D01E-F226-47BAC102E18A}"/>
              </a:ext>
            </a:extLst>
          </p:cNvPr>
          <p:cNvSpPr txBox="1"/>
          <p:nvPr/>
        </p:nvSpPr>
        <p:spPr>
          <a:xfrm>
            <a:off x="172123" y="5096710"/>
            <a:ext cx="6121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sudo </a:t>
            </a:r>
            <a:r>
              <a:rPr lang="ko-KR" altLang="en-US" b="1" dirty="0" err="1">
                <a:solidFill>
                  <a:srgbClr val="0000FF"/>
                </a:solidFill>
              </a:rPr>
              <a:t>apt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ko-KR" altLang="en-US" b="1" dirty="0" err="1">
                <a:solidFill>
                  <a:srgbClr val="0000FF"/>
                </a:solidFill>
              </a:rPr>
              <a:t>install</a:t>
            </a:r>
            <a:r>
              <a:rPr lang="ko-KR" altLang="en-US" b="1" dirty="0">
                <a:solidFill>
                  <a:srgbClr val="0000FF"/>
                </a:solidFill>
              </a:rPr>
              <a:t> -</a:t>
            </a:r>
            <a:r>
              <a:rPr lang="ko-KR" altLang="en-US" b="1" dirty="0" err="1">
                <a:solidFill>
                  <a:srgbClr val="0000FF"/>
                </a:solidFill>
              </a:rPr>
              <a:t>y</a:t>
            </a:r>
            <a:r>
              <a:rPr lang="ko-KR" altLang="en-US" b="1" dirty="0">
                <a:solidFill>
                  <a:srgbClr val="0000FF"/>
                </a:solidFill>
              </a:rPr>
              <a:t> python3-gpiozero python3-lgpio</a:t>
            </a:r>
            <a:endParaRPr lang="en-US" altLang="ko-KR" b="1" dirty="0">
              <a:solidFill>
                <a:srgbClr val="0000FF"/>
              </a:solidFill>
            </a:endParaRPr>
          </a:p>
          <a:p>
            <a:endParaRPr lang="en-US" altLang="ko-KR" b="1" dirty="0">
              <a:solidFill>
                <a:srgbClr val="0000FF"/>
              </a:solidFill>
            </a:endParaRPr>
          </a:p>
          <a:p>
            <a:r>
              <a:rPr lang="en-US" altLang="ko-KR" b="1" dirty="0">
                <a:solidFill>
                  <a:srgbClr val="0000FF"/>
                </a:solidFill>
              </a:rPr>
              <a:t>python led_1.py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1AF9E4-4225-B73B-88B9-F7B8A08D96BC}"/>
              </a:ext>
            </a:extLst>
          </p:cNvPr>
          <p:cNvSpPr txBox="1"/>
          <p:nvPr/>
        </p:nvSpPr>
        <p:spPr>
          <a:xfrm>
            <a:off x="172123" y="4121456"/>
            <a:ext cx="6121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source .</a:t>
            </a:r>
            <a:r>
              <a:rPr lang="en-US" altLang="ko-KR" b="1" dirty="0" err="1">
                <a:solidFill>
                  <a:srgbClr val="0000FF"/>
                </a:solidFill>
              </a:rPr>
              <a:t>venv</a:t>
            </a:r>
            <a:r>
              <a:rPr lang="en-US" altLang="ko-KR" b="1" dirty="0">
                <a:solidFill>
                  <a:srgbClr val="0000FF"/>
                </a:solidFill>
              </a:rPr>
              <a:t>/bin/activate</a:t>
            </a:r>
          </a:p>
          <a:p>
            <a:r>
              <a:rPr lang="en-US" altLang="ko-KR" b="1" dirty="0">
                <a:solidFill>
                  <a:srgbClr val="0000FF"/>
                </a:solidFill>
              </a:rPr>
              <a:t>python led_1.py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FC9CA-C686-B381-B461-EE29A0167AE2}"/>
              </a:ext>
            </a:extLst>
          </p:cNvPr>
          <p:cNvSpPr txBox="1"/>
          <p:nvPr/>
        </p:nvSpPr>
        <p:spPr>
          <a:xfrm>
            <a:off x="172123" y="6030222"/>
            <a:ext cx="439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Rpi</a:t>
            </a:r>
            <a:r>
              <a:rPr lang="ko-KR" altLang="en-US" dirty="0"/>
              <a:t>에 연결된 </a:t>
            </a:r>
            <a:r>
              <a:rPr lang="en-US" altLang="ko-KR" dirty="0"/>
              <a:t>LED</a:t>
            </a:r>
            <a:r>
              <a:rPr lang="ko-KR" altLang="en-US" dirty="0"/>
              <a:t>가 </a:t>
            </a:r>
            <a:r>
              <a:rPr lang="en-US" altLang="ko-KR" dirty="0"/>
              <a:t>0.5</a:t>
            </a:r>
            <a:r>
              <a:rPr lang="ko-KR" altLang="en-US" dirty="0"/>
              <a:t>초 간격으로 점멸함</a:t>
            </a:r>
          </a:p>
        </p:txBody>
      </p:sp>
    </p:spTree>
    <p:extLst>
      <p:ext uri="{BB962C8B-B14F-4D97-AF65-F5344CB8AC3E}">
        <p14:creationId xmlns:p14="http://schemas.microsoft.com/office/powerpoint/2010/main" val="4252920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5429-CA7D-8713-2358-03EDA616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0C527DC-3570-2D19-2719-C8C5867CDAA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GPIO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7498CE-E751-8D3D-CBFA-1C927C092AB1}"/>
              </a:ext>
            </a:extLst>
          </p:cNvPr>
          <p:cNvSpPr/>
          <p:nvPr/>
        </p:nvSpPr>
        <p:spPr>
          <a:xfrm>
            <a:off x="3789058" y="-3715"/>
            <a:ext cx="368961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DHT11</a:t>
            </a:r>
            <a:endParaRPr lang="ko-KR" alt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3A001-EC0F-0605-0FD6-A1DCB087A860}"/>
              </a:ext>
            </a:extLst>
          </p:cNvPr>
          <p:cNvSpPr txBox="1"/>
          <p:nvPr/>
        </p:nvSpPr>
        <p:spPr>
          <a:xfrm>
            <a:off x="1793" y="752599"/>
            <a:ext cx="9776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Raspberry Pi: DHT11/DHT22 Temperature and Humidity (Python) | Random Nerd Tutorials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69217B5-2B74-808E-92AD-74FA62C5C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9" y="1242934"/>
            <a:ext cx="7761882" cy="518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3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50F99-7F50-C220-EC1D-72C1BD97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26EF09-011C-B58A-31D5-A1EEA1FE7AA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GPIO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609EF3-F4F2-F997-E7AE-07CD557472D5}"/>
              </a:ext>
            </a:extLst>
          </p:cNvPr>
          <p:cNvSpPr/>
          <p:nvPr/>
        </p:nvSpPr>
        <p:spPr>
          <a:xfrm>
            <a:off x="3789058" y="-3715"/>
            <a:ext cx="368961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dht11_pi5.py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424A8-2C4A-52CE-EFCA-52EC80FD3D0A}"/>
              </a:ext>
            </a:extLst>
          </p:cNvPr>
          <p:cNvSpPr txBox="1"/>
          <p:nvPr/>
        </p:nvSpPr>
        <p:spPr>
          <a:xfrm flipH="1">
            <a:off x="7879393" y="125650"/>
            <a:ext cx="3074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  vs code</a:t>
            </a:r>
            <a:r>
              <a:rPr lang="ko-KR" altLang="en-US" dirty="0"/>
              <a:t>에서 </a:t>
            </a:r>
            <a:r>
              <a:rPr lang="en-US" altLang="ko-KR" dirty="0"/>
              <a:t>ssh </a:t>
            </a:r>
            <a:r>
              <a:rPr lang="ko-KR" altLang="en-US" dirty="0"/>
              <a:t>연결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E2F3C-D2D1-13E8-1D11-DB5C45254418}"/>
              </a:ext>
            </a:extLst>
          </p:cNvPr>
          <p:cNvSpPr txBox="1"/>
          <p:nvPr/>
        </p:nvSpPr>
        <p:spPr>
          <a:xfrm>
            <a:off x="0" y="627881"/>
            <a:ext cx="12192000" cy="59770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time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board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adafruit_dht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adafruit_dht.DHT11(board.D4)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sensor.temperature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humidity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sensor.humidity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{0:0.1f}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ºC, Humidity=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{1:0.1f}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.format(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humidity))</a:t>
            </a:r>
          </a:p>
          <a:p>
            <a:pPr>
              <a:lnSpc>
                <a:spcPts val="23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RuntimeError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error: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error.args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error: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sensor.exit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error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5354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C798-476C-00A3-B221-03A70C1C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19E740-7F4D-A2DA-A0E4-295D1917AFB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GPIO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3A7B29-AAF2-6D34-6552-85B126FC0F66}"/>
              </a:ext>
            </a:extLst>
          </p:cNvPr>
          <p:cNvSpPr/>
          <p:nvPr/>
        </p:nvSpPr>
        <p:spPr>
          <a:xfrm>
            <a:off x="3789058" y="-3715"/>
            <a:ext cx="3689612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176213">
              <a:buFont typeface="Arial" panose="020B0604020202020204" pitchFamily="34" charset="0"/>
              <a:buChar char="•"/>
            </a:pPr>
            <a:r>
              <a:rPr lang="en-US" altLang="ko-KR" sz="2000" b="1" dirty="0"/>
              <a:t>dht11_pi5.py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79B9F-5F33-42A1-AA90-51A1F160F26A}"/>
              </a:ext>
            </a:extLst>
          </p:cNvPr>
          <p:cNvSpPr txBox="1"/>
          <p:nvPr/>
        </p:nvSpPr>
        <p:spPr>
          <a:xfrm flipH="1">
            <a:off x="7879393" y="125650"/>
            <a:ext cx="3074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pc  vs code</a:t>
            </a:r>
            <a:r>
              <a:rPr lang="ko-KR" altLang="en-US" dirty="0"/>
              <a:t>에서 </a:t>
            </a:r>
            <a:r>
              <a:rPr lang="en-US" altLang="ko-KR" dirty="0"/>
              <a:t>ssh </a:t>
            </a:r>
            <a:r>
              <a:rPr lang="ko-KR" altLang="en-US" dirty="0"/>
              <a:t>연결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E06AD-042F-504E-68C2-76D922DAE0C7}"/>
              </a:ext>
            </a:extLst>
          </p:cNvPr>
          <p:cNvSpPr txBox="1"/>
          <p:nvPr/>
        </p:nvSpPr>
        <p:spPr>
          <a:xfrm>
            <a:off x="161640" y="1178307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ModuleNotFoundError</a:t>
            </a:r>
            <a:r>
              <a:rPr lang="ko-KR" altLang="en-US" dirty="0"/>
              <a:t>: </a:t>
            </a:r>
            <a:r>
              <a:rPr lang="ko-KR" altLang="en-US" dirty="0" err="1"/>
              <a:t>No</a:t>
            </a:r>
            <a:r>
              <a:rPr lang="ko-KR" altLang="en-US" dirty="0"/>
              <a:t> </a:t>
            </a:r>
            <a:r>
              <a:rPr lang="ko-KR" altLang="en-US" dirty="0" err="1"/>
              <a:t>module</a:t>
            </a:r>
            <a:r>
              <a:rPr lang="ko-KR" altLang="en-US" dirty="0"/>
              <a:t> </a:t>
            </a:r>
            <a:r>
              <a:rPr lang="ko-KR" altLang="en-US" dirty="0" err="1"/>
              <a:t>named</a:t>
            </a:r>
            <a:r>
              <a:rPr lang="ko-KR" altLang="en-US" dirty="0"/>
              <a:t> '</a:t>
            </a:r>
            <a:r>
              <a:rPr lang="ko-KR" altLang="en-US" dirty="0" err="1"/>
              <a:t>adafruit_dht</a:t>
            </a:r>
            <a:r>
              <a:rPr lang="ko-KR" altLang="en-US" dirty="0"/>
              <a:t>'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6922B-EC3F-F2A0-14CE-FD99D71EC86F}"/>
              </a:ext>
            </a:extLst>
          </p:cNvPr>
          <p:cNvSpPr txBox="1"/>
          <p:nvPr/>
        </p:nvSpPr>
        <p:spPr>
          <a:xfrm>
            <a:off x="161640" y="1547639"/>
            <a:ext cx="6989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0000FF"/>
                </a:solidFill>
              </a:rPr>
              <a:t>python</a:t>
            </a:r>
            <a:r>
              <a:rPr lang="ko-KR" altLang="en-US" b="1" dirty="0">
                <a:solidFill>
                  <a:srgbClr val="0000FF"/>
                </a:solidFill>
              </a:rPr>
              <a:t> -</a:t>
            </a:r>
            <a:r>
              <a:rPr lang="ko-KR" altLang="en-US" b="1" dirty="0" err="1">
                <a:solidFill>
                  <a:srgbClr val="0000FF"/>
                </a:solidFill>
              </a:rPr>
              <a:t>m</a:t>
            </a:r>
            <a:r>
              <a:rPr lang="ko-KR" altLang="en-US" b="1" dirty="0">
                <a:solidFill>
                  <a:srgbClr val="0000FF"/>
                </a:solidFill>
              </a:rPr>
              <a:t> pip </a:t>
            </a:r>
            <a:r>
              <a:rPr lang="ko-KR" altLang="en-US" b="1" dirty="0" err="1">
                <a:solidFill>
                  <a:srgbClr val="0000FF"/>
                </a:solidFill>
              </a:rPr>
              <a:t>install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ko-KR" altLang="en-US" b="1" dirty="0" err="1">
                <a:solidFill>
                  <a:srgbClr val="0000FF"/>
                </a:solidFill>
              </a:rPr>
              <a:t>adafruit-blinka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ko-KR" altLang="en-US" b="1" dirty="0" err="1">
                <a:solidFill>
                  <a:srgbClr val="0000FF"/>
                </a:solidFill>
              </a:rPr>
              <a:t>adafruit-circuitpython-dht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2725C-8F59-30C4-5001-672E36DE3F0F}"/>
              </a:ext>
            </a:extLst>
          </p:cNvPr>
          <p:cNvSpPr txBox="1"/>
          <p:nvPr/>
        </p:nvSpPr>
        <p:spPr>
          <a:xfrm>
            <a:off x="161639" y="808975"/>
            <a:ext cx="6989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0000FF"/>
                </a:solidFill>
              </a:rPr>
              <a:t>python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dht11_pi5.py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A7B690-B515-69F2-8D25-07C383FB9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2" y="2098065"/>
            <a:ext cx="5020376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5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315E-B11C-13EC-63C1-D4942703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DB5B5BD-380E-9DBA-7C64-50F8B82ABABA}"/>
              </a:ext>
            </a:extLst>
          </p:cNvPr>
          <p:cNvSpPr/>
          <p:nvPr/>
        </p:nvSpPr>
        <p:spPr>
          <a:xfrm>
            <a:off x="0" y="0"/>
            <a:ext cx="12192000" cy="316307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 algn="ctr"/>
            <a:r>
              <a:rPr lang="en-US" altLang="ko-KR" sz="4400" b="1" dirty="0"/>
              <a:t>PyQt </a:t>
            </a:r>
            <a:r>
              <a:rPr lang="ko-KR" altLang="en-US" sz="4400" b="1" dirty="0"/>
              <a:t>설치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388A2-BFB5-723B-F6B7-58DC2DB0B4E7}"/>
              </a:ext>
            </a:extLst>
          </p:cNvPr>
          <p:cNvSpPr txBox="1"/>
          <p:nvPr/>
        </p:nvSpPr>
        <p:spPr>
          <a:xfrm>
            <a:off x="3423920" y="3540760"/>
            <a:ext cx="10647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3200" dirty="0"/>
              <a:t>PC</a:t>
            </a:r>
          </a:p>
          <a:p>
            <a:pPr marL="342900" indent="-342900">
              <a:buAutoNum type="arabicPeriod"/>
            </a:pPr>
            <a:r>
              <a:rPr lang="en-US" altLang="ko-KR" sz="3200" dirty="0"/>
              <a:t>Rpi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4199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047C8B6-E84C-6FF9-9571-C16C34E0BDD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Windows  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F965B-4BC6-40A6-33C3-AB6F5344341B}"/>
              </a:ext>
            </a:extLst>
          </p:cNvPr>
          <p:cNvSpPr txBox="1"/>
          <p:nvPr/>
        </p:nvSpPr>
        <p:spPr>
          <a:xfrm>
            <a:off x="317350" y="966402"/>
            <a:ext cx="10666208" cy="390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>
                <a:latin typeface="+mn-ea"/>
              </a:rPr>
              <a:t>cmd </a:t>
            </a:r>
            <a:r>
              <a:rPr lang="ko-KR" altLang="en-US" dirty="0">
                <a:latin typeface="+mn-ea"/>
              </a:rPr>
              <a:t>창을 관리자 권한으로 열자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ts val="2500"/>
              </a:lnSpc>
              <a:buAutoNum type="arabicPeriod"/>
            </a:pPr>
            <a:endParaRPr lang="en-US" altLang="ko-KR" dirty="0">
              <a:latin typeface="+mn-ea"/>
            </a:endParaRPr>
          </a:p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 err="1">
                <a:latin typeface="+mn-ea"/>
              </a:rPr>
              <a:t>conda</a:t>
            </a:r>
            <a:r>
              <a:rPr lang="ko-KR" altLang="en-US" dirty="0">
                <a:latin typeface="+mn-ea"/>
              </a:rPr>
              <a:t> 가상 환경 만들기 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   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 create –n </a:t>
            </a:r>
            <a:r>
              <a:rPr lang="en-US" altLang="ko-KR" dirty="0" err="1">
                <a:latin typeface="+mn-ea"/>
              </a:rPr>
              <a:t>pyQtFlask</a:t>
            </a:r>
            <a:r>
              <a:rPr lang="en-US" altLang="ko-KR" dirty="0">
                <a:latin typeface="+mn-ea"/>
              </a:rPr>
              <a:t>  python=3.11</a:t>
            </a:r>
          </a:p>
          <a:p>
            <a:pPr marL="342900" indent="-342900">
              <a:lnSpc>
                <a:spcPts val="2500"/>
              </a:lnSpc>
              <a:buAutoNum type="arabicPeriod"/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3.  pyqt5 </a:t>
            </a:r>
            <a:r>
              <a:rPr lang="ko-KR" altLang="en-US" dirty="0">
                <a:latin typeface="+mn-ea"/>
              </a:rPr>
              <a:t>설치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  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 install -y -c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-forge </a:t>
            </a:r>
            <a:r>
              <a:rPr lang="en-US" altLang="ko-KR" dirty="0" err="1">
                <a:latin typeface="+mn-ea"/>
              </a:rPr>
              <a:t>pyqt</a:t>
            </a:r>
            <a:r>
              <a:rPr lang="en-US" altLang="ko-KR" dirty="0">
                <a:latin typeface="+mn-ea"/>
              </a:rPr>
              <a:t>=5 qt=5</a:t>
            </a: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4. Designer </a:t>
            </a:r>
            <a:r>
              <a:rPr lang="ko-KR" altLang="en-US" dirty="0">
                <a:latin typeface="+mn-ea"/>
              </a:rPr>
              <a:t>설치 위치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5. Designer </a:t>
            </a:r>
            <a:r>
              <a:rPr lang="ko-KR" altLang="en-US" dirty="0">
                <a:latin typeface="+mn-ea"/>
              </a:rPr>
              <a:t>실행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아래 명령 </a:t>
            </a:r>
            <a:r>
              <a:rPr lang="en-US" altLang="ko-KR" dirty="0">
                <a:latin typeface="+mn-ea"/>
              </a:rPr>
              <a:t>cmd</a:t>
            </a:r>
            <a:r>
              <a:rPr lang="ko-KR" altLang="en-US" dirty="0">
                <a:latin typeface="+mn-ea"/>
              </a:rPr>
              <a:t>에서 실행 혹은 </a:t>
            </a:r>
            <a:r>
              <a:rPr lang="en-US" altLang="ko-KR" dirty="0">
                <a:latin typeface="+mn-ea"/>
              </a:rPr>
              <a:t>designer.exe </a:t>
            </a:r>
            <a:r>
              <a:rPr lang="ko-KR" altLang="en-US" dirty="0">
                <a:latin typeface="+mn-ea"/>
              </a:rPr>
              <a:t>바탕화면 바로 가기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아이콘 클릭</a:t>
            </a:r>
            <a:r>
              <a:rPr lang="ko-KR" altLang="en-US" dirty="0">
                <a:latin typeface="+mn-ea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4329C-13F5-9353-46CA-678CF23BFC82}"/>
              </a:ext>
            </a:extLst>
          </p:cNvPr>
          <p:cNvSpPr txBox="1"/>
          <p:nvPr/>
        </p:nvSpPr>
        <p:spPr>
          <a:xfrm>
            <a:off x="629321" y="3879798"/>
            <a:ext cx="8665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C:\Users\heart\miniconda3\pkgs\qt-main-5.15.15-h9151539_4\Library\bin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5924C0-0B8D-8E5B-9915-20EF32B85DA7}"/>
              </a:ext>
            </a:extLst>
          </p:cNvPr>
          <p:cNvSpPr txBox="1"/>
          <p:nvPr/>
        </p:nvSpPr>
        <p:spPr>
          <a:xfrm>
            <a:off x="629321" y="4876127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%CONDA_PREFIX%\Library\bin\designer.exe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951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Qt Designer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6CCD8A-5C98-43F2-AF99-D7F8CCC3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16" y="892481"/>
            <a:ext cx="8556054" cy="549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84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7D0B-6782-F920-C2A9-91EA4027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42D1A1-825D-5EF2-006E-934F1A3739D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42CB05-A736-520B-2946-D279A288D66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5FCEA8-3E9A-00BD-77D8-30D9B839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5" y="1071787"/>
            <a:ext cx="3600400" cy="22456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922A37-AAB6-A65D-BB19-DD92CBF5B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040" y="1287810"/>
            <a:ext cx="3031744" cy="1920999"/>
          </a:xfrm>
          <a:prstGeom prst="rect">
            <a:avLst/>
          </a:prstGeom>
        </p:spPr>
      </p:pic>
      <p:sp>
        <p:nvSpPr>
          <p:cNvPr id="6" name="오른쪽 화살표 9">
            <a:extLst>
              <a:ext uri="{FF2B5EF4-FFF2-40B4-BE49-F238E27FC236}">
                <a16:creationId xmlns:a16="http://schemas.microsoft.com/office/drawing/2014/main" id="{4B0EB691-6CCC-FE05-5152-311E3531051E}"/>
              </a:ext>
            </a:extLst>
          </p:cNvPr>
          <p:cNvSpPr/>
          <p:nvPr/>
        </p:nvSpPr>
        <p:spPr>
          <a:xfrm>
            <a:off x="4520952" y="2223914"/>
            <a:ext cx="576064" cy="144016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105FC81E-986B-0922-05E8-B5264DB7B73F}"/>
              </a:ext>
            </a:extLst>
          </p:cNvPr>
          <p:cNvSpPr/>
          <p:nvPr/>
        </p:nvSpPr>
        <p:spPr>
          <a:xfrm>
            <a:off x="344488" y="1791866"/>
            <a:ext cx="504056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1E0530D5-F604-6557-C96C-D32A8AC41399}"/>
              </a:ext>
            </a:extLst>
          </p:cNvPr>
          <p:cNvSpPr/>
          <p:nvPr/>
        </p:nvSpPr>
        <p:spPr>
          <a:xfrm>
            <a:off x="5241032" y="1791866"/>
            <a:ext cx="504056" cy="17605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13">
            <a:extLst>
              <a:ext uri="{FF2B5EF4-FFF2-40B4-BE49-F238E27FC236}">
                <a16:creationId xmlns:a16="http://schemas.microsoft.com/office/drawing/2014/main" id="{97159C1A-4ECC-DE16-8561-490E4D0EFA2A}"/>
              </a:ext>
            </a:extLst>
          </p:cNvPr>
          <p:cNvSpPr/>
          <p:nvPr/>
        </p:nvSpPr>
        <p:spPr>
          <a:xfrm>
            <a:off x="5393432" y="2047857"/>
            <a:ext cx="504056" cy="17605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B619A-5717-848D-1CFC-2F1CA73E38D7}"/>
              </a:ext>
            </a:extLst>
          </p:cNvPr>
          <p:cNvSpPr txBox="1"/>
          <p:nvPr/>
        </p:nvSpPr>
        <p:spPr>
          <a:xfrm>
            <a:off x="1712640" y="855762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Label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B917A-EF51-3A12-F364-F5FF6C0B35A7}"/>
              </a:ext>
            </a:extLst>
          </p:cNvPr>
          <p:cNvSpPr txBox="1"/>
          <p:nvPr/>
        </p:nvSpPr>
        <p:spPr>
          <a:xfrm>
            <a:off x="6681192" y="8557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Line Edit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DAB811E-398C-FADC-CB9F-17656B4A4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12" y="4096122"/>
            <a:ext cx="4306808" cy="2160240"/>
          </a:xfrm>
          <a:prstGeom prst="rect">
            <a:avLst/>
          </a:prstGeom>
        </p:spPr>
      </p:pic>
      <p:sp>
        <p:nvSpPr>
          <p:cNvPr id="14" name="모서리가 둥근 직사각형 17">
            <a:extLst>
              <a:ext uri="{FF2B5EF4-FFF2-40B4-BE49-F238E27FC236}">
                <a16:creationId xmlns:a16="http://schemas.microsoft.com/office/drawing/2014/main" id="{EF2D140E-7731-3E53-9E94-5B626241CF44}"/>
              </a:ext>
            </a:extLst>
          </p:cNvPr>
          <p:cNvSpPr/>
          <p:nvPr/>
        </p:nvSpPr>
        <p:spPr>
          <a:xfrm>
            <a:off x="488504" y="4744194"/>
            <a:ext cx="504056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56771E-2252-BC15-F3C3-5CA20BDE1B31}"/>
              </a:ext>
            </a:extLst>
          </p:cNvPr>
          <p:cNvSpPr txBox="1"/>
          <p:nvPr/>
        </p:nvSpPr>
        <p:spPr>
          <a:xfrm>
            <a:off x="1856656" y="3736082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Push Button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6" name="오른쪽 화살표 19">
            <a:extLst>
              <a:ext uri="{FF2B5EF4-FFF2-40B4-BE49-F238E27FC236}">
                <a16:creationId xmlns:a16="http://schemas.microsoft.com/office/drawing/2014/main" id="{B72122F1-8BC3-2FBF-2110-0AF3EBC224B5}"/>
              </a:ext>
            </a:extLst>
          </p:cNvPr>
          <p:cNvSpPr/>
          <p:nvPr/>
        </p:nvSpPr>
        <p:spPr>
          <a:xfrm rot="7777388" flipV="1">
            <a:off x="4674297" y="3650313"/>
            <a:ext cx="576064" cy="108184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608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7757-EDCB-2CA2-E094-FE355A2F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FAE35E-8444-3636-EEA7-2AD829536C6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F0F89D-E34D-0919-7A04-8782FC46CBEF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3B9209-A7E2-48C1-4CDF-5DF7AFF0F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034827"/>
            <a:ext cx="6415633" cy="4761287"/>
          </a:xfrm>
          <a:prstGeom prst="rect">
            <a:avLst/>
          </a:prstGeom>
        </p:spPr>
      </p:pic>
      <p:sp>
        <p:nvSpPr>
          <p:cNvPr id="17" name="모서리가 둥근 직사각형 21">
            <a:extLst>
              <a:ext uri="{FF2B5EF4-FFF2-40B4-BE49-F238E27FC236}">
                <a16:creationId xmlns:a16="http://schemas.microsoft.com/office/drawing/2014/main" id="{CFC3031A-5F3A-02F9-BC1F-1E9B1EBE9EF3}"/>
              </a:ext>
            </a:extLst>
          </p:cNvPr>
          <p:cNvSpPr/>
          <p:nvPr/>
        </p:nvSpPr>
        <p:spPr>
          <a:xfrm>
            <a:off x="2792760" y="1178843"/>
            <a:ext cx="216024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22">
            <a:extLst>
              <a:ext uri="{FF2B5EF4-FFF2-40B4-BE49-F238E27FC236}">
                <a16:creationId xmlns:a16="http://schemas.microsoft.com/office/drawing/2014/main" id="{058314D1-E736-7D31-F579-61E2F70A7C11}"/>
              </a:ext>
            </a:extLst>
          </p:cNvPr>
          <p:cNvSpPr/>
          <p:nvPr/>
        </p:nvSpPr>
        <p:spPr>
          <a:xfrm>
            <a:off x="4016896" y="4203179"/>
            <a:ext cx="93610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23">
            <a:extLst>
              <a:ext uri="{FF2B5EF4-FFF2-40B4-BE49-F238E27FC236}">
                <a16:creationId xmlns:a16="http://schemas.microsoft.com/office/drawing/2014/main" id="{571F16EE-9C65-F208-A347-6A524F5755EC}"/>
              </a:ext>
            </a:extLst>
          </p:cNvPr>
          <p:cNvSpPr/>
          <p:nvPr/>
        </p:nvSpPr>
        <p:spPr>
          <a:xfrm>
            <a:off x="5961112" y="3771131"/>
            <a:ext cx="720080" cy="14401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1CCDB5D-B242-387E-C94D-750E089A16A2}"/>
              </a:ext>
            </a:extLst>
          </p:cNvPr>
          <p:cNvCxnSpPr>
            <a:stCxn id="17" idx="2"/>
          </p:cNvCxnSpPr>
          <p:nvPr/>
        </p:nvCxnSpPr>
        <p:spPr>
          <a:xfrm>
            <a:off x="2900772" y="1610891"/>
            <a:ext cx="1116124" cy="1152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1BDE829-C90A-F3F2-BA3B-366D3D763C9F}"/>
              </a:ext>
            </a:extLst>
          </p:cNvPr>
          <p:cNvCxnSpPr/>
          <p:nvPr/>
        </p:nvCxnSpPr>
        <p:spPr>
          <a:xfrm>
            <a:off x="4088904" y="3123059"/>
            <a:ext cx="144016" cy="10801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DFC518-48BA-B7A5-7602-D2EED3BB2DED}"/>
              </a:ext>
            </a:extLst>
          </p:cNvPr>
          <p:cNvCxnSpPr>
            <a:endCxn id="19" idx="1"/>
          </p:cNvCxnSpPr>
          <p:nvPr/>
        </p:nvCxnSpPr>
        <p:spPr>
          <a:xfrm flipV="1">
            <a:off x="4953000" y="3843139"/>
            <a:ext cx="1008112" cy="5040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984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603F-2849-0ED2-B9FA-97BE98C87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D5BCBE4-467C-80AB-0504-04C84C0A59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D475A0-0BE4-CB3D-4BF9-7A4388E1445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C89324-053D-B05A-6CB0-B7176D29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043211"/>
            <a:ext cx="7200800" cy="5117809"/>
          </a:xfrm>
          <a:prstGeom prst="rect">
            <a:avLst/>
          </a:prstGeom>
        </p:spPr>
      </p:pic>
      <p:sp>
        <p:nvSpPr>
          <p:cNvPr id="4" name="모서리가 둥근 직사각형 12">
            <a:extLst>
              <a:ext uri="{FF2B5EF4-FFF2-40B4-BE49-F238E27FC236}">
                <a16:creationId xmlns:a16="http://schemas.microsoft.com/office/drawing/2014/main" id="{BC3D1A18-8548-156C-DB72-568570CC46E3}"/>
              </a:ext>
            </a:extLst>
          </p:cNvPr>
          <p:cNvSpPr/>
          <p:nvPr/>
        </p:nvSpPr>
        <p:spPr>
          <a:xfrm>
            <a:off x="2648744" y="1259235"/>
            <a:ext cx="216024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7ADCCF3-2611-C417-9D4F-44232FDDFF68}"/>
              </a:ext>
            </a:extLst>
          </p:cNvPr>
          <p:cNvCxnSpPr/>
          <p:nvPr/>
        </p:nvCxnSpPr>
        <p:spPr>
          <a:xfrm>
            <a:off x="2864768" y="1619275"/>
            <a:ext cx="1872208" cy="13681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14">
            <a:extLst>
              <a:ext uri="{FF2B5EF4-FFF2-40B4-BE49-F238E27FC236}">
                <a16:creationId xmlns:a16="http://schemas.microsoft.com/office/drawing/2014/main" id="{AE5EAEED-8815-E2B8-7782-848E580470C5}"/>
              </a:ext>
            </a:extLst>
          </p:cNvPr>
          <p:cNvSpPr/>
          <p:nvPr/>
        </p:nvSpPr>
        <p:spPr>
          <a:xfrm>
            <a:off x="4376936" y="3923531"/>
            <a:ext cx="936104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15">
            <a:extLst>
              <a:ext uri="{FF2B5EF4-FFF2-40B4-BE49-F238E27FC236}">
                <a16:creationId xmlns:a16="http://schemas.microsoft.com/office/drawing/2014/main" id="{4C3DEF33-9C93-8D71-E80B-BAEA4C24C5BE}"/>
              </a:ext>
            </a:extLst>
          </p:cNvPr>
          <p:cNvSpPr/>
          <p:nvPr/>
        </p:nvSpPr>
        <p:spPr>
          <a:xfrm>
            <a:off x="6321152" y="3923531"/>
            <a:ext cx="720080" cy="2160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58A9DEA-D377-8D98-773F-E780F11B508A}"/>
              </a:ext>
            </a:extLst>
          </p:cNvPr>
          <p:cNvCxnSpPr/>
          <p:nvPr/>
        </p:nvCxnSpPr>
        <p:spPr>
          <a:xfrm flipH="1">
            <a:off x="4736976" y="3203451"/>
            <a:ext cx="144016" cy="720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B142400-9AC8-D9E7-F430-8F4C154521E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13040" y="4031543"/>
            <a:ext cx="100811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0F1E9D-B7C3-971C-8B58-49D38FF8AF83}"/>
              </a:ext>
            </a:extLst>
          </p:cNvPr>
          <p:cNvSpPr txBox="1"/>
          <p:nvPr/>
        </p:nvSpPr>
        <p:spPr>
          <a:xfrm>
            <a:off x="272480" y="4283571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0000FF"/>
                </a:solidFill>
              </a:rPr>
              <a:t>Ctrl+R  </a:t>
            </a:r>
            <a:r>
              <a:rPr lang="ko-KR" altLang="en-US" sz="1400" b="1">
                <a:solidFill>
                  <a:srgbClr val="0000FF"/>
                </a:solidFill>
              </a:rPr>
              <a:t>로 실행</a:t>
            </a:r>
            <a:endParaRPr lang="en-US" altLang="ko-KR" sz="1400" b="1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FF"/>
                </a:solidFill>
              </a:rPr>
              <a:t>저장</a:t>
            </a:r>
            <a:r>
              <a:rPr lang="en-US" altLang="ko-KR" sz="1400" b="1">
                <a:solidFill>
                  <a:srgbClr val="0000FF"/>
                </a:solidFill>
              </a:rPr>
              <a:t>(.ui)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9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DEC6E-610C-8295-4A08-9A8AAB5AB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718227-DB46-9E88-9A62-F3DD8262E18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Label &amp; Button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DD93C5-F339-91AC-1D62-9A78CF0EF60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55203-2FA1-744F-659A-9158BC8D70C3}"/>
              </a:ext>
            </a:extLst>
          </p:cNvPr>
          <p:cNvSpPr txBox="1"/>
          <p:nvPr/>
        </p:nvSpPr>
        <p:spPr>
          <a:xfrm>
            <a:off x="268288" y="980728"/>
            <a:ext cx="2996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.ui</a:t>
            </a:r>
            <a:r>
              <a:rPr lang="ko-KR" altLang="en-US" sz="1400" b="1"/>
              <a:t>를 </a:t>
            </a:r>
            <a:r>
              <a:rPr lang="en-US" altLang="ko-KR" sz="1400" b="1"/>
              <a:t>.py </a:t>
            </a:r>
            <a:r>
              <a:rPr lang="ko-KR" altLang="en-US" sz="1400" b="1"/>
              <a:t>파일로 변경하여 실행하기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C0F957-2B6E-FB7B-9964-A8E41ABF0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1" y="1412776"/>
            <a:ext cx="8776270" cy="4933950"/>
          </a:xfrm>
          <a:prstGeom prst="rect">
            <a:avLst/>
          </a:prstGeom>
        </p:spPr>
      </p:pic>
      <p:sp>
        <p:nvSpPr>
          <p:cNvPr id="5" name="모서리가 둥근 직사각형 21">
            <a:extLst>
              <a:ext uri="{FF2B5EF4-FFF2-40B4-BE49-F238E27FC236}">
                <a16:creationId xmlns:a16="http://schemas.microsoft.com/office/drawing/2014/main" id="{8C8A5749-B9B8-161B-13B5-A23E1F7DDF33}"/>
              </a:ext>
            </a:extLst>
          </p:cNvPr>
          <p:cNvSpPr/>
          <p:nvPr/>
        </p:nvSpPr>
        <p:spPr>
          <a:xfrm>
            <a:off x="196280" y="2636912"/>
            <a:ext cx="3744416" cy="216024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22">
            <a:extLst>
              <a:ext uri="{FF2B5EF4-FFF2-40B4-BE49-F238E27FC236}">
                <a16:creationId xmlns:a16="http://schemas.microsoft.com/office/drawing/2014/main" id="{A4BCC8F7-40AB-A512-E069-0409190BBD0E}"/>
              </a:ext>
            </a:extLst>
          </p:cNvPr>
          <p:cNvSpPr/>
          <p:nvPr/>
        </p:nvSpPr>
        <p:spPr>
          <a:xfrm>
            <a:off x="2068488" y="3212976"/>
            <a:ext cx="2160240" cy="288032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23">
            <a:extLst>
              <a:ext uri="{FF2B5EF4-FFF2-40B4-BE49-F238E27FC236}">
                <a16:creationId xmlns:a16="http://schemas.microsoft.com/office/drawing/2014/main" id="{9940D602-3179-ECB7-3621-6738AF75B1DA}"/>
              </a:ext>
            </a:extLst>
          </p:cNvPr>
          <p:cNvSpPr/>
          <p:nvPr/>
        </p:nvSpPr>
        <p:spPr>
          <a:xfrm>
            <a:off x="348680" y="5229200"/>
            <a:ext cx="3744416" cy="216024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24">
            <a:extLst>
              <a:ext uri="{FF2B5EF4-FFF2-40B4-BE49-F238E27FC236}">
                <a16:creationId xmlns:a16="http://schemas.microsoft.com/office/drawing/2014/main" id="{ADF0064A-1B13-B715-3CC2-F53CC27BAE06}"/>
              </a:ext>
            </a:extLst>
          </p:cNvPr>
          <p:cNvSpPr/>
          <p:nvPr/>
        </p:nvSpPr>
        <p:spPr>
          <a:xfrm>
            <a:off x="1996480" y="5949280"/>
            <a:ext cx="1296144" cy="288032"/>
          </a:xfrm>
          <a:prstGeom prst="roundRect">
            <a:avLst/>
          </a:pr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2D599-699F-1FE0-A135-70A62040C568}"/>
              </a:ext>
            </a:extLst>
          </p:cNvPr>
          <p:cNvSpPr txBox="1"/>
          <p:nvPr/>
        </p:nvSpPr>
        <p:spPr>
          <a:xfrm>
            <a:off x="3359738" y="837519"/>
            <a:ext cx="273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pyuic5 –x </a:t>
            </a:r>
            <a:r>
              <a:rPr lang="en-US" altLang="ko-KR" b="1" dirty="0" err="1">
                <a:solidFill>
                  <a:srgbClr val="0000FF"/>
                </a:solidFill>
              </a:rPr>
              <a:t>test.ui</a:t>
            </a:r>
            <a:r>
              <a:rPr lang="en-US" altLang="ko-KR" b="1" dirty="0">
                <a:solidFill>
                  <a:srgbClr val="0000FF"/>
                </a:solidFill>
              </a:rPr>
              <a:t> –o test.py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717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4E23-BF28-1025-7B1B-93575F01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053CBE6-1480-A06B-E135-8350AF40BA02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calculator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cal.ui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4FC8DF-412D-DCCA-314E-B06DBB8249A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8B22E3-CF28-3F61-593F-A3358FBA6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3" y="1628800"/>
            <a:ext cx="8734425" cy="4410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24C76-6C85-27C0-21D6-AFB2579226F6}"/>
              </a:ext>
            </a:extLst>
          </p:cNvPr>
          <p:cNvSpPr txBox="1"/>
          <p:nvPr/>
        </p:nvSpPr>
        <p:spPr>
          <a:xfrm>
            <a:off x="220663" y="908720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0000FF"/>
                </a:solidFill>
              </a:rPr>
              <a:t>mainwindow </a:t>
            </a:r>
            <a:r>
              <a:rPr lang="ko-KR" altLang="en-US" sz="1600" b="1">
                <a:solidFill>
                  <a:srgbClr val="0000FF"/>
                </a:solidFill>
              </a:rPr>
              <a:t>생성</a:t>
            </a:r>
            <a:endParaRPr lang="en-US" altLang="ko-KR" sz="1600" b="1">
              <a:solidFill>
                <a:srgbClr val="0000FF"/>
              </a:solidFill>
            </a:endParaRPr>
          </a:p>
          <a:p>
            <a:r>
              <a:rPr lang="en-US" altLang="ko-KR" sz="1600" b="1">
                <a:solidFill>
                  <a:srgbClr val="0000FF"/>
                </a:solidFill>
              </a:rPr>
              <a:t>geometry : 400 x 200</a:t>
            </a:r>
            <a:endParaRPr lang="ko-KR" altLang="en-US" sz="16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59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17ED-A6D6-89C9-61C3-AF9BB2BCF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A454359-6AA9-BE40-C692-E106FBE00D0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calculator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cal.ui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261337-0F3C-4F98-1358-C3002EC625A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7A02BB-8EF0-9BE6-BDE7-251F45EC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94" y="1340768"/>
            <a:ext cx="8086725" cy="4838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47E2F-6FDF-51B8-3CBC-FD7E379AF218}"/>
              </a:ext>
            </a:extLst>
          </p:cNvPr>
          <p:cNvSpPr txBox="1"/>
          <p:nvPr/>
        </p:nvSpPr>
        <p:spPr>
          <a:xfrm>
            <a:off x="473646" y="908720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Line Edit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A55A540-0E03-2AD1-0410-0F528D2C5D1A}"/>
              </a:ext>
            </a:extLst>
          </p:cNvPr>
          <p:cNvCxnSpPr>
            <a:stCxn id="6" idx="2"/>
          </p:cNvCxnSpPr>
          <p:nvPr/>
        </p:nvCxnSpPr>
        <p:spPr>
          <a:xfrm>
            <a:off x="929861" y="1216497"/>
            <a:ext cx="263865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01F66FA-A112-B011-F9E0-9FCA42C43E6A}"/>
              </a:ext>
            </a:extLst>
          </p:cNvPr>
          <p:cNvCxnSpPr>
            <a:stCxn id="6" idx="2"/>
          </p:cNvCxnSpPr>
          <p:nvPr/>
        </p:nvCxnSpPr>
        <p:spPr>
          <a:xfrm>
            <a:off x="929861" y="1216497"/>
            <a:ext cx="1992057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1FB2865-1A66-4884-FBF7-A52C13DC4F89}"/>
              </a:ext>
            </a:extLst>
          </p:cNvPr>
          <p:cNvCxnSpPr>
            <a:stCxn id="6" idx="2"/>
          </p:cNvCxnSpPr>
          <p:nvPr/>
        </p:nvCxnSpPr>
        <p:spPr>
          <a:xfrm>
            <a:off x="929861" y="1216497"/>
            <a:ext cx="3072177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ED6328-AA4A-912E-71DC-9FD025229B76}"/>
              </a:ext>
            </a:extLst>
          </p:cNvPr>
          <p:cNvSpPr txBox="1"/>
          <p:nvPr/>
        </p:nvSpPr>
        <p:spPr>
          <a:xfrm>
            <a:off x="1841798" y="908720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Combo Box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0DFC795-9C20-3ED1-2581-93B688A74946}"/>
              </a:ext>
            </a:extLst>
          </p:cNvPr>
          <p:cNvCxnSpPr>
            <a:stCxn id="11" idx="2"/>
          </p:cNvCxnSpPr>
          <p:nvPr/>
        </p:nvCxnSpPr>
        <p:spPr>
          <a:xfrm flipH="1">
            <a:off x="2273846" y="1216497"/>
            <a:ext cx="147598" cy="120439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DB0B87C-DE87-70D9-C1D2-B3E989178930}"/>
              </a:ext>
            </a:extLst>
          </p:cNvPr>
          <p:cNvCxnSpPr/>
          <p:nvPr/>
        </p:nvCxnSpPr>
        <p:spPr>
          <a:xfrm>
            <a:off x="3569990" y="1196752"/>
            <a:ext cx="72008" cy="129614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93EED1-0ED4-F4E9-1253-51DFDF5CF7B4}"/>
              </a:ext>
            </a:extLst>
          </p:cNvPr>
          <p:cNvSpPr txBox="1"/>
          <p:nvPr/>
        </p:nvSpPr>
        <p:spPr>
          <a:xfrm>
            <a:off x="3137942" y="908720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Label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EE1BA2-8E9A-B3A2-D748-56DDB9D96F22}"/>
              </a:ext>
            </a:extLst>
          </p:cNvPr>
          <p:cNvSpPr txBox="1"/>
          <p:nvPr/>
        </p:nvSpPr>
        <p:spPr>
          <a:xfrm>
            <a:off x="56828" y="3501008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00FF"/>
                </a:solidFill>
              </a:rPr>
              <a:t>Push button</a:t>
            </a:r>
            <a:endParaRPr lang="ko-KR" altLang="en-US" sz="1400" b="1">
              <a:solidFill>
                <a:srgbClr val="0000FF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12EFBE6-2BC9-CDB2-0430-434D55C4AB7B}"/>
              </a:ext>
            </a:extLst>
          </p:cNvPr>
          <p:cNvCxnSpPr>
            <a:stCxn id="15" idx="3"/>
          </p:cNvCxnSpPr>
          <p:nvPr/>
        </p:nvCxnSpPr>
        <p:spPr>
          <a:xfrm flipV="1">
            <a:off x="1238562" y="3356992"/>
            <a:ext cx="747252" cy="29790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67F3831F-BFEF-E37F-9175-EDB26FE636D1}"/>
              </a:ext>
            </a:extLst>
          </p:cNvPr>
          <p:cNvSpPr/>
          <p:nvPr/>
        </p:nvSpPr>
        <p:spPr>
          <a:xfrm>
            <a:off x="5010150" y="4221088"/>
            <a:ext cx="3960440" cy="1296144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B0FD7CC-64C2-60B8-9990-7F5B3A400445}"/>
              </a:ext>
            </a:extLst>
          </p:cNvPr>
          <p:cNvCxnSpPr/>
          <p:nvPr/>
        </p:nvCxnSpPr>
        <p:spPr>
          <a:xfrm flipV="1">
            <a:off x="2849910" y="5013176"/>
            <a:ext cx="2160240" cy="21602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16C78DB-186C-90EF-77FC-204BDA48F829}"/>
              </a:ext>
            </a:extLst>
          </p:cNvPr>
          <p:cNvSpPr txBox="1"/>
          <p:nvPr/>
        </p:nvSpPr>
        <p:spPr>
          <a:xfrm>
            <a:off x="5154166" y="5517232"/>
            <a:ext cx="1872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C00000"/>
                </a:solidFill>
              </a:rPr>
              <a:t>Clear </a:t>
            </a:r>
            <a:r>
              <a:rPr lang="ko-KR" altLang="en-US" sz="1400" b="1">
                <a:solidFill>
                  <a:srgbClr val="C00000"/>
                </a:solidFill>
              </a:rPr>
              <a:t>버튼 기능 추가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780DDF-84AF-11F7-270A-BD97C2E1FBF0}"/>
              </a:ext>
            </a:extLst>
          </p:cNvPr>
          <p:cNvSpPr txBox="1"/>
          <p:nvPr/>
        </p:nvSpPr>
        <p:spPr>
          <a:xfrm>
            <a:off x="3641998" y="6237312"/>
            <a:ext cx="379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pyuic5 -x cal_gui.ui -o cal_gui.py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64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B924-A6A3-D404-D0B2-95AD9FCB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A86B20-8A7A-847B-8497-85B6D82E5A9C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calculator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cal.ui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126F93-6C52-F28A-E684-924A01D7F20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Designer</a:t>
            </a:r>
            <a:endParaRPr lang="ko-KR" altLang="en-US" sz="20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83E27B-4BCE-C023-B0FD-D7A43B5830F8}"/>
              </a:ext>
            </a:extLst>
          </p:cNvPr>
          <p:cNvSpPr/>
          <p:nvPr/>
        </p:nvSpPr>
        <p:spPr>
          <a:xfrm>
            <a:off x="374664" y="889866"/>
            <a:ext cx="907300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/>
              <a:t>from cal_gui import *</a:t>
            </a:r>
          </a:p>
          <a:p>
            <a:r>
              <a:rPr lang="ko-KR" altLang="en-US" sz="1400" b="1"/>
              <a:t>def signals(self):</a:t>
            </a:r>
          </a:p>
          <a:p>
            <a:r>
              <a:rPr lang="ko-KR" altLang="en-US" sz="1400" b="1"/>
              <a:t>    self.cal_button.clicked.connect(self.calc)</a:t>
            </a:r>
          </a:p>
          <a:p>
            <a:r>
              <a:rPr lang="ko-KR" altLang="en-US" sz="1400" b="1"/>
              <a:t>def calc(self):</a:t>
            </a:r>
          </a:p>
          <a:p>
            <a:r>
              <a:rPr lang="ko-KR" altLang="en-US" sz="1400" b="1"/>
              <a:t>    a = self.input1.text()</a:t>
            </a:r>
          </a:p>
          <a:p>
            <a:r>
              <a:rPr lang="ko-KR" altLang="en-US" sz="1400" b="1"/>
              <a:t>    b = self.input2.text()</a:t>
            </a:r>
          </a:p>
          <a:p>
            <a:r>
              <a:rPr lang="ko-KR" altLang="en-US" sz="1400" b="1"/>
              <a:t>    operator = self.comboBox.currentText()</a:t>
            </a:r>
          </a:p>
          <a:p>
            <a:endParaRPr lang="ko-KR" altLang="en-US" sz="1400" b="1"/>
          </a:p>
          <a:p>
            <a:r>
              <a:rPr lang="ko-KR" altLang="en-US" sz="1400" b="1"/>
              <a:t>    try:</a:t>
            </a:r>
          </a:p>
          <a:p>
            <a:r>
              <a:rPr lang="ko-KR" altLang="en-US" sz="1400" b="1"/>
              <a:t>        c=eval(a + operator + b)</a:t>
            </a:r>
          </a:p>
          <a:p>
            <a:r>
              <a:rPr lang="ko-KR" altLang="en-US" sz="1400" b="1"/>
              <a:t>        self.result.setText(str(c))</a:t>
            </a:r>
          </a:p>
          <a:p>
            <a:r>
              <a:rPr lang="ko-KR" altLang="en-US" sz="1400" b="1"/>
              <a:t>    except:</a:t>
            </a:r>
          </a:p>
          <a:p>
            <a:r>
              <a:rPr lang="ko-KR" altLang="en-US" sz="1400" b="1"/>
              <a:t>        Qtwidgets.QMessageBox.critical(MainWindow, 'Error', 'Invalid inputs!', </a:t>
            </a:r>
          </a:p>
          <a:p>
            <a:r>
              <a:rPr lang="ko-KR" altLang="en-US" sz="1400" b="1"/>
              <a:t>            Qtwidgets.QMessageBox.Ok)</a:t>
            </a:r>
          </a:p>
          <a:p>
            <a:r>
              <a:rPr lang="ko-KR" altLang="en-US" sz="1400" b="1"/>
              <a:t>Ui_Calculator.signals = signals</a:t>
            </a:r>
          </a:p>
          <a:p>
            <a:r>
              <a:rPr lang="ko-KR" altLang="en-US" sz="1400" b="1"/>
              <a:t>Ui_Calculator.calc = calc</a:t>
            </a:r>
          </a:p>
          <a:p>
            <a:r>
              <a:rPr lang="ko-KR" altLang="en-US" sz="1400" b="1"/>
              <a:t>if __name__=="__main__":</a:t>
            </a:r>
          </a:p>
          <a:p>
            <a:r>
              <a:rPr lang="ko-KR" altLang="en-US" sz="1400" b="1"/>
              <a:t>    import sys</a:t>
            </a:r>
          </a:p>
          <a:p>
            <a:r>
              <a:rPr lang="ko-KR" altLang="en-US" sz="1400" b="1"/>
              <a:t>    app = QtWidgets.QApplication(sys.argv)</a:t>
            </a:r>
          </a:p>
          <a:p>
            <a:endParaRPr lang="ko-KR" altLang="en-US" sz="1400" b="1"/>
          </a:p>
          <a:p>
            <a:r>
              <a:rPr lang="ko-KR" altLang="en-US" sz="1400" b="1"/>
              <a:t>    MainWindow = QtWidgets.QMainWindow()</a:t>
            </a:r>
          </a:p>
          <a:p>
            <a:r>
              <a:rPr lang="ko-KR" altLang="en-US" sz="1400" b="1"/>
              <a:t>    ui = Ui_Calculator()</a:t>
            </a:r>
          </a:p>
          <a:p>
            <a:r>
              <a:rPr lang="ko-KR" altLang="en-US" sz="1400" b="1"/>
              <a:t>    ui.setupUi(MainWindow)</a:t>
            </a:r>
          </a:p>
          <a:p>
            <a:r>
              <a:rPr lang="ko-KR" altLang="en-US" sz="1400" b="1"/>
              <a:t>    ui.signals()</a:t>
            </a:r>
          </a:p>
          <a:p>
            <a:r>
              <a:rPr lang="ko-KR" altLang="en-US" sz="1400" b="1"/>
              <a:t>    MainWindow.show()</a:t>
            </a:r>
          </a:p>
          <a:p>
            <a:r>
              <a:rPr lang="ko-KR" altLang="en-US" sz="1400" b="1"/>
              <a:t>    sys.exit(app.exec_())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B9B6DA-BCAB-1203-4C40-D71EE158E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320" y="1177898"/>
            <a:ext cx="2743535" cy="164337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84E25BD-4B0D-D202-405B-DE3019058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328" y="4130226"/>
            <a:ext cx="2808312" cy="225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67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7A31-D527-73FD-04E0-D93BACB5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4A8830-6750-D893-B306-5C5A9D1E26BF}"/>
              </a:ext>
            </a:extLst>
          </p:cNvPr>
          <p:cNvSpPr/>
          <p:nvPr/>
        </p:nvSpPr>
        <p:spPr>
          <a:xfrm>
            <a:off x="0" y="1659"/>
            <a:ext cx="12192000" cy="22324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4800" b="1" dirty="0">
                <a:solidFill>
                  <a:schemeClr val="tx1"/>
                </a:solidFill>
                <a:latin typeface="+mn-ea"/>
              </a:rPr>
              <a:t>Raspberry pi</a:t>
            </a:r>
            <a:endParaRPr lang="ko-KR" altLang="en-US" sz="48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0780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E2A8-2506-3F24-0EB2-E86ACE97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A015AC-1C67-BA63-AC94-EC60E72C3FE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설치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C91CB7-E174-4AF8-A497-662D5DEFF191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</a:t>
            </a:r>
            <a:r>
              <a:rPr lang="en-US" altLang="ko-KR" sz="2000" b="1" dirty="0"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ym typeface="Wingdings" panose="05000000000000000000" pitchFamily="2" charset="2"/>
              </a:rPr>
              <a:t>venv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1DFA6-D2B9-621C-98D7-CE4326DCC646}"/>
              </a:ext>
            </a:extLst>
          </p:cNvPr>
          <p:cNvSpPr txBox="1"/>
          <p:nvPr/>
        </p:nvSpPr>
        <p:spPr>
          <a:xfrm>
            <a:off x="416560" y="1016060"/>
            <a:ext cx="11551920" cy="226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ko-KR" dirty="0"/>
              <a:t>1. </a:t>
            </a:r>
            <a:r>
              <a:rPr lang="ko-KR" altLang="en-US" dirty="0"/>
              <a:t> 최신 패키지 목록으로 갱신</a:t>
            </a:r>
          </a:p>
          <a:p>
            <a:pPr>
              <a:lnSpc>
                <a:spcPts val="2900"/>
              </a:lnSpc>
            </a:pPr>
            <a:r>
              <a:rPr lang="ko-KR" altLang="en-US" dirty="0"/>
              <a:t>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update</a:t>
            </a:r>
            <a:endParaRPr lang="ko-KR" altLang="en-US" dirty="0"/>
          </a:p>
          <a:p>
            <a:pPr>
              <a:lnSpc>
                <a:spcPts val="2900"/>
              </a:lnSpc>
            </a:pPr>
            <a:endParaRPr lang="ko-KR" altLang="en-US" dirty="0"/>
          </a:p>
          <a:p>
            <a:pPr>
              <a:lnSpc>
                <a:spcPts val="2900"/>
              </a:lnSpc>
            </a:pPr>
            <a:r>
              <a:rPr lang="en-US" altLang="ko-KR" dirty="0"/>
              <a:t>2. </a:t>
            </a:r>
            <a:r>
              <a:rPr lang="ko-KR" altLang="en-US" dirty="0"/>
              <a:t> </a:t>
            </a:r>
            <a:r>
              <a:rPr lang="ko-KR" altLang="en-US" dirty="0" err="1"/>
              <a:t>venv</a:t>
            </a:r>
            <a:r>
              <a:rPr lang="ko-KR" altLang="en-US" dirty="0"/>
              <a:t> 모듈/</a:t>
            </a:r>
            <a:r>
              <a:rPr lang="ko-KR" altLang="en-US" dirty="0" err="1"/>
              <a:t>빌드도구</a:t>
            </a:r>
            <a:r>
              <a:rPr lang="ko-KR" altLang="en-US" dirty="0"/>
              <a:t>/pip 등 기본 준비</a:t>
            </a:r>
          </a:p>
          <a:p>
            <a:pPr>
              <a:lnSpc>
                <a:spcPts val="2900"/>
              </a:lnSpc>
            </a:pPr>
            <a:r>
              <a:rPr lang="ko-KR" altLang="en-US" dirty="0"/>
              <a:t>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install</a:t>
            </a:r>
            <a:r>
              <a:rPr lang="ko-KR" altLang="en-US" dirty="0"/>
              <a:t> -</a:t>
            </a:r>
            <a:r>
              <a:rPr lang="ko-KR" altLang="en-US" dirty="0" err="1"/>
              <a:t>y</a:t>
            </a:r>
            <a:r>
              <a:rPr lang="ko-KR" altLang="en-US" dirty="0"/>
              <a:t> python3-venv python3-pip python3-dev </a:t>
            </a:r>
            <a:r>
              <a:rPr lang="ko-KR" altLang="en-US" dirty="0" err="1"/>
              <a:t>build-essential</a:t>
            </a:r>
            <a:endParaRPr lang="ko-KR" altLang="en-US" dirty="0"/>
          </a:p>
          <a:p>
            <a:pPr>
              <a:lnSpc>
                <a:spcPts val="26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19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A5A8-A3F2-273F-4010-702E2F0D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CBEBCCD-6449-E63A-CF90-D97418F7DAF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tx1"/>
                </a:solidFill>
              </a:rPr>
              <a:t>주요 명령어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FA70AA-DC30-FBE7-2780-AFAC6121B16A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Rpi </a:t>
            </a:r>
            <a:r>
              <a:rPr lang="en-US" altLang="ko-KR" sz="2000" b="1" dirty="0"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ym typeface="Wingdings" panose="05000000000000000000" pitchFamily="2" charset="2"/>
              </a:rPr>
              <a:t>venv</a:t>
            </a:r>
            <a:endParaRPr lang="ko-KR" altLang="en-US" sz="20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63AF00-AF57-E035-09A0-DFDB3B60B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615380"/>
              </p:ext>
            </p:extLst>
          </p:nvPr>
        </p:nvGraphicFramePr>
        <p:xfrm>
          <a:off x="432652" y="782318"/>
          <a:ext cx="11251347" cy="565912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46868">
                  <a:extLst>
                    <a:ext uri="{9D8B030D-6E8A-4147-A177-3AD203B41FA5}">
                      <a16:colId xmlns:a16="http://schemas.microsoft.com/office/drawing/2014/main" val="1604387024"/>
                    </a:ext>
                  </a:extLst>
                </a:gridCol>
                <a:gridCol w="4154030">
                  <a:extLst>
                    <a:ext uri="{9D8B030D-6E8A-4147-A177-3AD203B41FA5}">
                      <a16:colId xmlns:a16="http://schemas.microsoft.com/office/drawing/2014/main" val="2686152777"/>
                    </a:ext>
                  </a:extLst>
                </a:gridCol>
                <a:gridCol w="3750449">
                  <a:extLst>
                    <a:ext uri="{9D8B030D-6E8A-4147-A177-3AD203B41FA5}">
                      <a16:colId xmlns:a16="http://schemas.microsoft.com/office/drawing/2014/main" val="76995238"/>
                    </a:ext>
                  </a:extLst>
                </a:gridCol>
              </a:tblGrid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목적</a:t>
                      </a:r>
                    </a:p>
                  </a:txBody>
                  <a:tcPr marL="32232" marR="32232" marT="16116" marB="161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명령어</a:t>
                      </a:r>
                    </a:p>
                  </a:txBody>
                  <a:tcPr marL="32232" marR="32232" marT="16116" marB="161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예시 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2232" marR="32232" marT="16116" marB="1611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439395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가상환경 생성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python3 -m venv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python3 -m 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 .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endParaRPr lang="en-US" sz="1400" dirty="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366747118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특정 버전으로 생성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+mn-ea"/>
                          <a:ea typeface="+mn-ea"/>
                        </a:rPr>
                        <a:t>python3.X -m </a:t>
                      </a:r>
                      <a:r>
                        <a:rPr lang="en-US" sz="1400" b="1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 &lt;</a:t>
                      </a: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+mn-ea"/>
                          <a:ea typeface="+mn-ea"/>
                        </a:rPr>
                        <a:t>python3.11 -m </a:t>
                      </a:r>
                      <a:r>
                        <a:rPr lang="en-US" sz="1400" b="1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b="1" dirty="0">
                          <a:latin typeface="+mn-ea"/>
                          <a:ea typeface="+mn-ea"/>
                        </a:rPr>
                        <a:t> .</a:t>
                      </a:r>
                      <a:r>
                        <a:rPr lang="en-US" sz="1400" b="1" dirty="0" err="1">
                          <a:latin typeface="+mn-ea"/>
                          <a:ea typeface="+mn-ea"/>
                        </a:rPr>
                        <a:t>venv</a:t>
                      </a:r>
                      <a:endParaRPr lang="en-US" sz="1400" b="1" dirty="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35229977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활성화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source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&gt;/</a:t>
                      </a:r>
                      <a:r>
                        <a:rPr lang="en-US" sz="1400">
                          <a:latin typeface="+mn-ea"/>
                          <a:ea typeface="+mn-ea"/>
                        </a:rPr>
                        <a:t>bin/activate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source .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/bin/activate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118387088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비활성화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deactivate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603750260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latin typeface="+mn-ea"/>
                          <a:ea typeface="+mn-ea"/>
                        </a:rPr>
                        <a:t>pip/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빌드툴 업그레이드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python -m pip install -U pip 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setuptools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 wheel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b="1">
                          <a:latin typeface="+mn-ea"/>
                          <a:ea typeface="+mn-ea"/>
                        </a:rPr>
                        <a:t>항상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python -m pip ...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 권장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946914919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 설치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install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install requests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850081977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 제거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uninstall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패키지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uninstall requests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626109515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설치 목록 보기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python -m pip list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181777386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현재 파이썬 경로 확인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which python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면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.../.</a:t>
                      </a:r>
                      <a:r>
                        <a:rPr lang="en-US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/bin/python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265047882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 확인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which pip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venv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면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.../.</a:t>
                      </a:r>
                      <a:r>
                        <a:rPr lang="en-US" sz="1400">
                          <a:latin typeface="+mn-ea"/>
                          <a:ea typeface="+mn-ea"/>
                        </a:rPr>
                        <a:t>venv/bin/pip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414825989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venv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 확인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echo $VIRTUAL_ENV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latin typeface="+mn-ea"/>
                          <a:ea typeface="+mn-ea"/>
                        </a:rPr>
                        <a:t>활성화 시 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venv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루트 표시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070787142"/>
                  </a:ext>
                </a:extLst>
              </a:tr>
              <a:tr h="435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환경 삭제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+mn-ea"/>
                          <a:ea typeface="+mn-ea"/>
                        </a:rPr>
                        <a:t>rm -rf &lt;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경로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400">
                        <a:latin typeface="+mn-ea"/>
                        <a:ea typeface="+mn-ea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rm -rf .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venv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폴더 삭제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제거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653142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00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E58C-C5EB-BAC1-B432-06372AA1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86B6B3E-9E65-EEB6-B13F-44CEB993813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b="1" dirty="0" err="1">
                <a:solidFill>
                  <a:schemeClr val="tx1"/>
                </a:solidFill>
              </a:rPr>
              <a:t>venv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환경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1A1233-255F-A7EF-2C9D-6EEC24263D95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pyQt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72873-B7D0-E76C-600D-D79A36ACE8C4}"/>
              </a:ext>
            </a:extLst>
          </p:cNvPr>
          <p:cNvSpPr txBox="1"/>
          <p:nvPr/>
        </p:nvSpPr>
        <p:spPr>
          <a:xfrm>
            <a:off x="311086" y="924648"/>
            <a:ext cx="102752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1) OS 패키지 업데이트</a:t>
            </a:r>
          </a:p>
          <a:p>
            <a:r>
              <a:rPr lang="ko-KR" altLang="en-US" dirty="0"/>
              <a:t> 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update</a:t>
            </a:r>
            <a:r>
              <a:rPr lang="ko-KR" altLang="en-US" dirty="0"/>
              <a:t> &amp;&amp;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full-upgrade</a:t>
            </a:r>
            <a:r>
              <a:rPr lang="ko-KR" altLang="en-US" dirty="0"/>
              <a:t> -</a:t>
            </a:r>
            <a:r>
              <a:rPr lang="ko-KR" altLang="en-US" dirty="0" err="1"/>
              <a:t>y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 2) </a:t>
            </a:r>
            <a:r>
              <a:rPr lang="ko-KR" altLang="en-US" dirty="0" err="1"/>
              <a:t>Qt</a:t>
            </a:r>
            <a:r>
              <a:rPr lang="ko-KR" altLang="en-US" dirty="0"/>
              <a:t> </a:t>
            </a:r>
            <a:r>
              <a:rPr lang="ko-KR" altLang="en-US" dirty="0" err="1"/>
              <a:t>Designer</a:t>
            </a:r>
            <a:r>
              <a:rPr lang="ko-KR" altLang="en-US" dirty="0"/>
              <a:t> 설치</a:t>
            </a:r>
            <a:br>
              <a:rPr lang="en-US" altLang="ko-KR" dirty="0"/>
            </a:br>
            <a:r>
              <a:rPr lang="en-US" altLang="ko-KR" dirty="0"/>
              <a:t>     sudo apt install pyqt5-dev-tools</a:t>
            </a:r>
            <a:endParaRPr lang="ko-KR" altLang="en-US" dirty="0"/>
          </a:p>
          <a:p>
            <a:r>
              <a:rPr lang="ko-KR" altLang="en-US" dirty="0"/>
              <a:t>    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install</a:t>
            </a:r>
            <a:r>
              <a:rPr lang="ko-KR" altLang="en-US" dirty="0"/>
              <a:t> -</a:t>
            </a:r>
            <a:r>
              <a:rPr lang="ko-KR" altLang="en-US" dirty="0" err="1"/>
              <a:t>y</a:t>
            </a:r>
            <a:r>
              <a:rPr lang="ko-KR" altLang="en-US" dirty="0"/>
              <a:t> qttools5-dev-tools qtwayland5</a:t>
            </a:r>
          </a:p>
          <a:p>
            <a:endParaRPr lang="ko-KR" altLang="en-US" dirty="0"/>
          </a:p>
          <a:p>
            <a:r>
              <a:rPr lang="ko-KR" altLang="en-US" dirty="0"/>
              <a:t> 3) 가상환경 생성/활성화</a:t>
            </a:r>
          </a:p>
          <a:p>
            <a:r>
              <a:rPr lang="ko-KR" altLang="en-US" dirty="0"/>
              <a:t>     python3 -</a:t>
            </a:r>
            <a:r>
              <a:rPr lang="ko-KR" altLang="en-US" dirty="0" err="1"/>
              <a:t>m</a:t>
            </a:r>
            <a:r>
              <a:rPr lang="ko-KR" altLang="en-US" dirty="0"/>
              <a:t> </a:t>
            </a:r>
            <a:r>
              <a:rPr lang="ko-KR" altLang="en-US" dirty="0" err="1"/>
              <a:t>venv</a:t>
            </a:r>
            <a:r>
              <a:rPr lang="ko-KR" altLang="en-US" dirty="0"/>
              <a:t>  </a:t>
            </a:r>
            <a:r>
              <a:rPr lang="en-US" altLang="ko-KR" dirty="0"/>
              <a:t>.</a:t>
            </a:r>
            <a:r>
              <a:rPr lang="en-US" altLang="ko-KR" dirty="0" err="1"/>
              <a:t>venv</a:t>
            </a:r>
            <a:endParaRPr lang="ko-KR" altLang="en-US" dirty="0"/>
          </a:p>
          <a:p>
            <a:r>
              <a:rPr lang="ko-KR" altLang="en-US" dirty="0"/>
              <a:t>     </a:t>
            </a:r>
            <a:r>
              <a:rPr lang="ko-KR" altLang="en-US" dirty="0" err="1"/>
              <a:t>source</a:t>
            </a:r>
            <a:r>
              <a:rPr lang="ko-KR" altLang="en-US" dirty="0"/>
              <a:t> </a:t>
            </a:r>
            <a:r>
              <a:rPr lang="en-US" altLang="ko-KR" dirty="0"/>
              <a:t>.</a:t>
            </a:r>
            <a:r>
              <a:rPr lang="ko-KR" altLang="en-US" dirty="0" err="1"/>
              <a:t>venvs</a:t>
            </a:r>
            <a:r>
              <a:rPr lang="ko-KR" altLang="en-US" dirty="0"/>
              <a:t>/</a:t>
            </a:r>
            <a:r>
              <a:rPr lang="ko-KR" altLang="en-US" dirty="0" err="1"/>
              <a:t>bin</a:t>
            </a:r>
            <a:r>
              <a:rPr lang="ko-KR" altLang="en-US" dirty="0"/>
              <a:t>/</a:t>
            </a:r>
            <a:r>
              <a:rPr lang="ko-KR" altLang="en-US" dirty="0" err="1"/>
              <a:t>activate</a:t>
            </a:r>
            <a:endParaRPr lang="ko-KR" altLang="en-US" dirty="0"/>
          </a:p>
          <a:p>
            <a:r>
              <a:rPr lang="ko-KR" altLang="en-US" dirty="0"/>
              <a:t>     </a:t>
            </a:r>
            <a:r>
              <a:rPr lang="ko-KR" altLang="en-US" dirty="0" err="1"/>
              <a:t>python</a:t>
            </a:r>
            <a:r>
              <a:rPr lang="ko-KR" altLang="en-US" dirty="0"/>
              <a:t> -</a:t>
            </a:r>
            <a:r>
              <a:rPr lang="ko-KR" altLang="en-US" dirty="0" err="1"/>
              <a:t>m</a:t>
            </a:r>
            <a:r>
              <a:rPr lang="ko-KR" altLang="en-US" dirty="0"/>
              <a:t> pip </a:t>
            </a:r>
            <a:r>
              <a:rPr lang="ko-KR" altLang="en-US" dirty="0" err="1"/>
              <a:t>install</a:t>
            </a:r>
            <a:r>
              <a:rPr lang="ko-KR" altLang="en-US" dirty="0"/>
              <a:t> --</a:t>
            </a:r>
            <a:r>
              <a:rPr lang="ko-KR" altLang="en-US" dirty="0" err="1"/>
              <a:t>upgrade</a:t>
            </a:r>
            <a:r>
              <a:rPr lang="ko-KR" altLang="en-US" dirty="0"/>
              <a:t> pip </a:t>
            </a:r>
            <a:r>
              <a:rPr lang="ko-KR" altLang="en-US" dirty="0" err="1"/>
              <a:t>wheel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4) </a:t>
            </a:r>
            <a:r>
              <a:rPr lang="ko-KR" altLang="en-US" dirty="0" err="1"/>
              <a:t>venv에</a:t>
            </a:r>
            <a:r>
              <a:rPr lang="ko-KR" altLang="en-US" dirty="0"/>
              <a:t> PyQt5 설치</a:t>
            </a:r>
          </a:p>
          <a:p>
            <a:r>
              <a:rPr lang="ko-KR" altLang="en-US" dirty="0"/>
              <a:t>     pip </a:t>
            </a:r>
            <a:r>
              <a:rPr lang="ko-KR" altLang="en-US" dirty="0" err="1"/>
              <a:t>install</a:t>
            </a:r>
            <a:r>
              <a:rPr lang="ko-KR" altLang="en-US" dirty="0"/>
              <a:t> "PyQt5&gt;=5.15"</a:t>
            </a:r>
          </a:p>
          <a:p>
            <a:endParaRPr lang="ko-KR" altLang="en-US" dirty="0"/>
          </a:p>
          <a:p>
            <a:r>
              <a:rPr lang="ko-KR" altLang="en-US" dirty="0"/>
              <a:t> 5) 설치 버전 확인</a:t>
            </a:r>
          </a:p>
          <a:p>
            <a:r>
              <a:rPr lang="ko-KR" altLang="en-US" dirty="0"/>
              <a:t>     pyuic5 --</a:t>
            </a:r>
            <a:r>
              <a:rPr lang="ko-KR" altLang="en-US" dirty="0" err="1"/>
              <a:t>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452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E20E8-1E01-CB6B-8187-75405FCB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C73FC3-A932-8362-17FB-A12A57C1688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67BE68-8328-4D95-135E-5A0ADC6B3B89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0C4B19-1A09-C197-BE79-BF3BA3C39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187" y="891561"/>
            <a:ext cx="2667372" cy="4515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9D21B3-A362-4918-ED11-6D6EBCB1741C}"/>
              </a:ext>
            </a:extLst>
          </p:cNvPr>
          <p:cNvSpPr txBox="1"/>
          <p:nvPr/>
        </p:nvSpPr>
        <p:spPr>
          <a:xfrm>
            <a:off x="2108499" y="3791230"/>
            <a:ext cx="10550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LED </a:t>
            </a:r>
            <a:r>
              <a:rPr lang="ko-KR" altLang="en-US" b="1" dirty="0">
                <a:solidFill>
                  <a:srgbClr val="0000FF"/>
                </a:solidFill>
              </a:rPr>
              <a:t>연결</a:t>
            </a:r>
            <a:endParaRPr lang="en-US" altLang="ko-KR" b="1" dirty="0">
              <a:solidFill>
                <a:srgbClr val="0000FF"/>
              </a:solidFill>
            </a:endParaRPr>
          </a:p>
          <a:p>
            <a:r>
              <a:rPr lang="en-US" altLang="ko-KR" dirty="0">
                <a:solidFill>
                  <a:srgbClr val="0000FF"/>
                </a:solidFill>
              </a:rPr>
              <a:t>GPIO13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GPIO19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GPIO26</a:t>
            </a:r>
          </a:p>
          <a:p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5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designer  </a:t>
            </a:r>
            <a:r>
              <a:rPr lang="en-US" altLang="ko-KR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led_gui.ui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6E54E5-E31C-DBBE-DB33-FE62BA980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8" y="990666"/>
            <a:ext cx="3583241" cy="3318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B40F51-1CB0-28CC-8C02-94F7B4D22B75}"/>
              </a:ext>
            </a:extLst>
          </p:cNvPr>
          <p:cNvSpPr txBox="1"/>
          <p:nvPr/>
        </p:nvSpPr>
        <p:spPr>
          <a:xfrm>
            <a:off x="5070275" y="968705"/>
            <a:ext cx="2263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solidFill>
                  <a:schemeClr val="accent2">
                    <a:lumMod val="75000"/>
                  </a:schemeClr>
                </a:solidFill>
              </a:rPr>
              <a:t>objectName</a:t>
            </a:r>
            <a:endParaRPr lang="ko-KR" altLang="en-US" sz="32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1B083-4B38-D97C-D879-813ED7C5538B}"/>
              </a:ext>
            </a:extLst>
          </p:cNvPr>
          <p:cNvSpPr txBox="1"/>
          <p:nvPr/>
        </p:nvSpPr>
        <p:spPr>
          <a:xfrm>
            <a:off x="5413493" y="1710713"/>
            <a:ext cx="181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LED1_Button</a:t>
            </a:r>
            <a:endParaRPr lang="ko-KR" alt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7E898-A9A1-A985-62FD-77EF4D6557EC}"/>
              </a:ext>
            </a:extLst>
          </p:cNvPr>
          <p:cNvSpPr txBox="1"/>
          <p:nvPr/>
        </p:nvSpPr>
        <p:spPr>
          <a:xfrm>
            <a:off x="5413493" y="2486843"/>
            <a:ext cx="181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LED2_Button</a:t>
            </a:r>
            <a:endParaRPr lang="ko-KR" alt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D25D7-FA19-801E-728B-CE3010B8F0F7}"/>
              </a:ext>
            </a:extLst>
          </p:cNvPr>
          <p:cNvSpPr txBox="1"/>
          <p:nvPr/>
        </p:nvSpPr>
        <p:spPr>
          <a:xfrm>
            <a:off x="5413493" y="3284380"/>
            <a:ext cx="181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LED3_Button</a:t>
            </a:r>
            <a:endParaRPr lang="ko-KR" altLang="en-US" sz="240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2848920-17F3-B65F-AC90-AEBA5A791913}"/>
              </a:ext>
            </a:extLst>
          </p:cNvPr>
          <p:cNvCxnSpPr/>
          <p:nvPr/>
        </p:nvCxnSpPr>
        <p:spPr>
          <a:xfrm flipV="1">
            <a:off x="3330357" y="1941546"/>
            <a:ext cx="2034691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2792CA2-B2BD-A247-F310-778F78A73B73}"/>
              </a:ext>
            </a:extLst>
          </p:cNvPr>
          <p:cNvCxnSpPr>
            <a:endCxn id="8" idx="1"/>
          </p:cNvCxnSpPr>
          <p:nvPr/>
        </p:nvCxnSpPr>
        <p:spPr>
          <a:xfrm flipV="1">
            <a:off x="3330357" y="2717676"/>
            <a:ext cx="2083136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B0C61E0-A9C9-FFF7-8B7B-3A9D65A7C085}"/>
              </a:ext>
            </a:extLst>
          </p:cNvPr>
          <p:cNvCxnSpPr/>
          <p:nvPr/>
        </p:nvCxnSpPr>
        <p:spPr>
          <a:xfrm flipV="1">
            <a:off x="3330357" y="3515213"/>
            <a:ext cx="2083136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A78971-E3CB-68B5-04B7-C8DDC5378E78}"/>
              </a:ext>
            </a:extLst>
          </p:cNvPr>
          <p:cNvSpPr txBox="1"/>
          <p:nvPr/>
        </p:nvSpPr>
        <p:spPr>
          <a:xfrm>
            <a:off x="710605" y="4697364"/>
            <a:ext cx="6062237" cy="1515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sz="2800" b="1"/>
              <a:t>led_gui.ui   </a:t>
            </a:r>
            <a:r>
              <a:rPr lang="ko-KR" altLang="en-US" sz="2800" b="1"/>
              <a:t>로 저장</a:t>
            </a:r>
            <a:endParaRPr lang="en-US" altLang="ko-KR" sz="2800" b="1"/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sz="2800" b="1"/>
              <a:t>.ui </a:t>
            </a:r>
            <a:r>
              <a:rPr lang="en-US" altLang="ko-KR" sz="2800" b="1">
                <a:sym typeface="Wingdings" panose="05000000000000000000" pitchFamily="2" charset="2"/>
              </a:rPr>
              <a:t> .py </a:t>
            </a:r>
            <a:r>
              <a:rPr lang="ko-KR" altLang="en-US" sz="2800" b="1">
                <a:sym typeface="Wingdings" panose="05000000000000000000" pitchFamily="2" charset="2"/>
              </a:rPr>
              <a:t>변환</a:t>
            </a:r>
            <a:endParaRPr lang="en-US" altLang="ko-KR" sz="2800" b="1"/>
          </a:p>
          <a:p>
            <a:pPr>
              <a:lnSpc>
                <a:spcPts val="3700"/>
              </a:lnSpc>
            </a:pPr>
            <a:r>
              <a:rPr lang="en-US" altLang="ko-KR" sz="2800" b="1"/>
              <a:t>    </a:t>
            </a:r>
            <a:r>
              <a:rPr lang="en-US" altLang="ko-KR" sz="2800" b="1">
                <a:sym typeface="Wingdings" panose="05000000000000000000" pitchFamily="2" charset="2"/>
              </a:rPr>
              <a:t>  </a:t>
            </a:r>
            <a:r>
              <a:rPr lang="en-US" altLang="ko-KR" sz="2800" b="1"/>
              <a:t>pyuic5 –x led_gui.ui –o led_gui.py</a:t>
            </a:r>
            <a:endParaRPr lang="ko-KR" altLang="en-US" sz="2800" b="1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3D58E9F-ED54-637C-4F14-3A2688ACC716}"/>
              </a:ext>
            </a:extLst>
          </p:cNvPr>
          <p:cNvCxnSpPr/>
          <p:nvPr/>
        </p:nvCxnSpPr>
        <p:spPr>
          <a:xfrm flipV="1">
            <a:off x="4230589" y="4134111"/>
            <a:ext cx="1134459" cy="605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5D9ACB3-ABE0-B663-331B-DAECCD3094AF}"/>
              </a:ext>
            </a:extLst>
          </p:cNvPr>
          <p:cNvSpPr txBox="1"/>
          <p:nvPr/>
        </p:nvSpPr>
        <p:spPr>
          <a:xfrm>
            <a:off x="5365048" y="3872427"/>
            <a:ext cx="1730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/>
              <a:t>LED_Control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69818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1C51-159E-20B2-2021-F956E4E3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0E266E-DCF4-B5C8-D9C7-DF2577E758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vs code   ledRun.py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EF66CF-73BA-9698-C6A9-396E0200217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AE7CC8-C141-D808-6413-D51D33DB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917"/>
            <a:ext cx="11220226" cy="616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74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AD8C-B27D-4B6F-8B6B-17E3BB61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FB70BB-B7CB-5738-AA04-5A6B8056213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 </a:t>
            </a:r>
            <a:r>
              <a:rPr lang="ko-KR" altLang="en-US" sz="2000" b="1" dirty="0">
                <a:solidFill>
                  <a:schemeClr val="tx1"/>
                </a:solidFill>
              </a:rPr>
              <a:t>제어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vs code 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E10C58-E6A5-E5EE-2E81-91DDB1ECE96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340FB2-F11E-7E8A-9C49-46B9D19A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8746"/>
            <a:ext cx="12192000" cy="234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33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AE56-2531-0AB2-CD16-37EBA421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4DDD9D-C37A-87DF-297D-BE1BC55E6C2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raspberry pi </a:t>
            </a:r>
            <a:r>
              <a:rPr lang="ko-KR" altLang="en-US" sz="2000" b="1" dirty="0">
                <a:solidFill>
                  <a:schemeClr val="tx1"/>
                </a:solidFill>
              </a:rPr>
              <a:t>설치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A21FBD-E8F5-0F88-43DB-35D4ECDAF4C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DDE88-1512-A575-A57F-79B736200687}"/>
              </a:ext>
            </a:extLst>
          </p:cNvPr>
          <p:cNvSpPr txBox="1"/>
          <p:nvPr/>
        </p:nvSpPr>
        <p:spPr>
          <a:xfrm>
            <a:off x="500230" y="1088787"/>
            <a:ext cx="60995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sudo </a:t>
            </a:r>
            <a:r>
              <a:rPr lang="ko-KR" altLang="en-US" sz="2000" dirty="0" err="1"/>
              <a:t>apt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update</a:t>
            </a:r>
            <a:endParaRPr lang="ko-KR" altLang="en-US" sz="2000" dirty="0"/>
          </a:p>
          <a:p>
            <a:r>
              <a:rPr lang="ko-KR" altLang="en-US" sz="2000" dirty="0"/>
              <a:t>sudo </a:t>
            </a:r>
            <a:r>
              <a:rPr lang="ko-KR" altLang="en-US" sz="2000" dirty="0" err="1"/>
              <a:t>apt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install</a:t>
            </a:r>
            <a:r>
              <a:rPr lang="ko-KR" altLang="en-US" sz="2000" dirty="0"/>
              <a:t> -</a:t>
            </a:r>
            <a:r>
              <a:rPr lang="ko-KR" altLang="en-US" sz="2000" dirty="0" err="1"/>
              <a:t>y</a:t>
            </a:r>
            <a:r>
              <a:rPr lang="ko-KR" altLang="en-US" sz="2000" dirty="0"/>
              <a:t> </a:t>
            </a:r>
            <a:r>
              <a:rPr lang="ko-KR" altLang="en-US" sz="2000" dirty="0" err="1"/>
              <a:t>realvnc-vnc-server</a:t>
            </a:r>
            <a:endParaRPr lang="ko-KR" altLang="en-US" sz="2000" dirty="0"/>
          </a:p>
          <a:p>
            <a:r>
              <a:rPr lang="ko-KR" altLang="en-US" sz="2000" dirty="0"/>
              <a:t>sudo </a:t>
            </a:r>
            <a:r>
              <a:rPr lang="ko-KR" altLang="en-US" sz="2000" dirty="0" err="1"/>
              <a:t>systemctl</a:t>
            </a:r>
            <a:r>
              <a:rPr lang="ko-KR" altLang="en-US" sz="2000" dirty="0"/>
              <a:t> </a:t>
            </a:r>
            <a:r>
              <a:rPr lang="ko-KR" altLang="en-US" sz="2000" dirty="0" err="1"/>
              <a:t>enable</a:t>
            </a:r>
            <a:r>
              <a:rPr lang="ko-KR" altLang="en-US" sz="2000" dirty="0"/>
              <a:t> --</a:t>
            </a:r>
            <a:r>
              <a:rPr lang="ko-KR" altLang="en-US" sz="2000" dirty="0" err="1"/>
              <a:t>now</a:t>
            </a:r>
            <a:r>
              <a:rPr lang="ko-KR" altLang="en-US" sz="2000" dirty="0"/>
              <a:t> vncserver-x11-serviced</a:t>
            </a:r>
          </a:p>
          <a:p>
            <a:r>
              <a:rPr lang="ko-KR" altLang="en-US" sz="2000" dirty="0" err="1"/>
              <a:t>systemctl</a:t>
            </a:r>
            <a:r>
              <a:rPr lang="ko-KR" altLang="en-US" sz="2000" dirty="0"/>
              <a:t> </a:t>
            </a:r>
            <a:r>
              <a:rPr lang="ko-KR" altLang="en-US" sz="2000" dirty="0" err="1"/>
              <a:t>status</a:t>
            </a:r>
            <a:r>
              <a:rPr lang="ko-KR" altLang="en-US" sz="2000" dirty="0"/>
              <a:t> vncserver-x11-serviced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FE72A-8E55-FB3C-ED9F-BD3963BA3753}"/>
              </a:ext>
            </a:extLst>
          </p:cNvPr>
          <p:cNvSpPr txBox="1"/>
          <p:nvPr/>
        </p:nvSpPr>
        <p:spPr>
          <a:xfrm>
            <a:off x="500230" y="2869416"/>
            <a:ext cx="6099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Courier New" panose="02070309020205020404" pitchFamily="49" charset="0"/>
              </a:rPr>
              <a:t>active (running)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이면 </a:t>
            </a:r>
            <a:r>
              <a:rPr lang="en-US" altLang="ko-KR" sz="2000" b="1" dirty="0"/>
              <a:t>OK.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68982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DF12BC-A266-AA1D-2A2F-0F7A45B304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 windows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2DACD5-BBFB-FDF8-DC0C-E920026C23B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57878-5C67-5583-318E-E8414319D54E}"/>
              </a:ext>
            </a:extLst>
          </p:cNvPr>
          <p:cNvSpPr txBox="1"/>
          <p:nvPr/>
        </p:nvSpPr>
        <p:spPr>
          <a:xfrm>
            <a:off x="245011" y="84806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Download VNC Viewer by </a:t>
            </a:r>
            <a:r>
              <a:rPr lang="en-US" altLang="ko-KR" dirty="0" err="1">
                <a:hlinkClick r:id="rId2"/>
              </a:rPr>
              <a:t>RealVNC</a:t>
            </a:r>
            <a:r>
              <a:rPr lang="en-US" altLang="ko-KR" dirty="0">
                <a:hlinkClick r:id="rId2"/>
              </a:rPr>
              <a:t>®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B3AEE-E453-AD78-6B7A-815DE967B820}"/>
              </a:ext>
            </a:extLst>
          </p:cNvPr>
          <p:cNvSpPr txBox="1"/>
          <p:nvPr/>
        </p:nvSpPr>
        <p:spPr>
          <a:xfrm>
            <a:off x="245011" y="1332162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UltraVNC_1640_x64_Setup.exe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377DDD3-F827-E636-A868-A8991FDC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14" y="1979214"/>
            <a:ext cx="5087060" cy="19528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BA0CB7-4B42-9207-6D4E-83F8ACA2E5F5}"/>
              </a:ext>
            </a:extLst>
          </p:cNvPr>
          <p:cNvSpPr txBox="1"/>
          <p:nvPr/>
        </p:nvSpPr>
        <p:spPr>
          <a:xfrm>
            <a:off x="5806715" y="1979214"/>
            <a:ext cx="452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윈도우 환경에서 </a:t>
            </a:r>
            <a:r>
              <a:rPr lang="en-US" altLang="ko-KR" dirty="0"/>
              <a:t>raspberry pi </a:t>
            </a:r>
            <a:r>
              <a:rPr lang="ko-KR" altLang="en-US" dirty="0"/>
              <a:t>윈도우 표시됨</a:t>
            </a:r>
          </a:p>
        </p:txBody>
      </p:sp>
    </p:spTree>
    <p:extLst>
      <p:ext uri="{BB962C8B-B14F-4D97-AF65-F5344CB8AC3E}">
        <p14:creationId xmlns:p14="http://schemas.microsoft.com/office/powerpoint/2010/main" val="2422240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5661-95CB-E112-71DE-1ED0112C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6476CC-1EEB-845D-E1B7-139E297CDD3B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 windows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AC26D7-8F9B-3BDD-F306-C0A7ABB03EEE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실습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5B086B-730F-2F61-9364-2B0A593DB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09" y="940867"/>
            <a:ext cx="7630590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32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50EF-3C1E-E72E-C0A2-5B9110C2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35D009-3078-58DC-D4C3-600E4FAE84F0}"/>
              </a:ext>
            </a:extLst>
          </p:cNvPr>
          <p:cNvSpPr txBox="1"/>
          <p:nvPr/>
        </p:nvSpPr>
        <p:spPr>
          <a:xfrm>
            <a:off x="10720799" y="5949864"/>
            <a:ext cx="101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u="sng" dirty="0">
                <a:solidFill>
                  <a:schemeClr val="accent1">
                    <a:lumMod val="50000"/>
                  </a:schemeClr>
                </a:solidFill>
              </a:rPr>
              <a:t>END.</a:t>
            </a:r>
            <a:endParaRPr lang="ko-KR" altLang="en-US" sz="32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161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2669</TotalTime>
  <Words>1307</Words>
  <Application>Microsoft Office PowerPoint</Application>
  <PresentationFormat>와이드스크린</PresentationFormat>
  <Paragraphs>246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 영달</dc:creator>
  <cp:lastModifiedBy>Dev DW</cp:lastModifiedBy>
  <cp:revision>199</cp:revision>
  <dcterms:created xsi:type="dcterms:W3CDTF">2024-07-30T13:51:44Z</dcterms:created>
  <dcterms:modified xsi:type="dcterms:W3CDTF">2025-11-02T15:20:30Z</dcterms:modified>
</cp:coreProperties>
</file>